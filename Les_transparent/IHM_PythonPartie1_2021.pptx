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0" r:id="rId13"/>
    <p:sldId id="267" r:id="rId14"/>
    <p:sldId id="268" r:id="rId15"/>
    <p:sldId id="309" r:id="rId16"/>
    <p:sldId id="269" r:id="rId17"/>
    <p:sldId id="270" r:id="rId18"/>
    <p:sldId id="271" r:id="rId19"/>
    <p:sldId id="308" r:id="rId20"/>
    <p:sldId id="272" r:id="rId21"/>
    <p:sldId id="273" r:id="rId22"/>
    <p:sldId id="274" r:id="rId23"/>
    <p:sldId id="275" r:id="rId24"/>
    <p:sldId id="301" r:id="rId25"/>
    <p:sldId id="276" r:id="rId26"/>
    <p:sldId id="277" r:id="rId27"/>
    <p:sldId id="278" r:id="rId28"/>
    <p:sldId id="279" r:id="rId29"/>
    <p:sldId id="280" r:id="rId30"/>
    <p:sldId id="281" r:id="rId31"/>
    <p:sldId id="306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86" d="100"/>
          <a:sy n="86" d="100"/>
        </p:scale>
        <p:origin x="126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F8E06-3E75-4826-A046-1406F30977EA}" type="datetimeFigureOut">
              <a:rPr lang="fr-FR" smtClean="0"/>
              <a:t>29/03/2021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2550D-BA1D-4133-A4E3-E61D0B2A75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76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D2550D-BA1D-4133-A4E3-E61D0B2A75E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2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8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PlaceHolder 8"/>
          <p:cNvSpPr>
            <a:spLocks noGrp="1"/>
          </p:cNvSpPr>
          <p:nvPr>
            <p:ph type="title"/>
          </p:nvPr>
        </p:nvSpPr>
        <p:spPr>
          <a:xfrm>
            <a:off x="-468560" y="25811"/>
            <a:ext cx="8280000" cy="472757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9"/>
          <p:cNvSpPr>
            <a:spLocks noGrp="1"/>
          </p:cNvSpPr>
          <p:nvPr>
            <p:ph idx="13"/>
          </p:nvPr>
        </p:nvSpPr>
        <p:spPr>
          <a:xfrm>
            <a:off x="351000" y="609916"/>
            <a:ext cx="8229240" cy="5051331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32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Cliquez pour éditer le format du plan de texte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niveau de plan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Troisième niveau de plan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Quatrième niveau de plan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Cinquième niveau de plan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Sixième niveau de plan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354208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8224" y="6381328"/>
            <a:ext cx="2133600" cy="365125"/>
          </a:xfrm>
        </p:spPr>
        <p:txBody>
          <a:bodyPr/>
          <a:lstStyle>
            <a:lvl1pPr>
              <a:defRPr sz="1100"/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33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48072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 hasCustomPrompt="1"/>
          </p:nvPr>
        </p:nvSpPr>
        <p:spPr>
          <a:xfrm>
            <a:off x="467544" y="23664"/>
            <a:ext cx="8208963" cy="576064"/>
          </a:xfrm>
        </p:spPr>
        <p:txBody>
          <a:bodyPr>
            <a:normAutofit/>
          </a:bodyPr>
          <a:lstStyle>
            <a:lvl1pPr marL="0" indent="0" algn="r">
              <a:buNone/>
              <a:defRPr sz="2000" u="none" baseline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fr-FR" dirty="0"/>
              <a:t>Titre 2</a:t>
            </a:r>
          </a:p>
        </p:txBody>
      </p:sp>
    </p:spTree>
    <p:extLst>
      <p:ext uri="{BB962C8B-B14F-4D97-AF65-F5344CB8AC3E}">
        <p14:creationId xmlns:p14="http://schemas.microsoft.com/office/powerpoint/2010/main" val="1784727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5"/>
          <p:cNvPicPr/>
          <p:nvPr/>
        </p:nvPicPr>
        <p:blipFill>
          <a:blip r:embed="rId5"/>
          <a:stretch/>
        </p:blipFill>
        <p:spPr>
          <a:xfrm>
            <a:off x="0" y="6172200"/>
            <a:ext cx="9143280" cy="668880"/>
          </a:xfrm>
          <a:prstGeom prst="rect">
            <a:avLst/>
          </a:prstGeom>
          <a:ln>
            <a:noFill/>
          </a:ln>
        </p:spPr>
      </p:pic>
      <p:pic>
        <p:nvPicPr>
          <p:cNvPr id="14" name="Picture 16"/>
          <p:cNvPicPr/>
          <p:nvPr/>
        </p:nvPicPr>
        <p:blipFill>
          <a:blip r:embed="rId6"/>
          <a:stretch/>
        </p:blipFill>
        <p:spPr>
          <a:xfrm>
            <a:off x="0" y="6822360"/>
            <a:ext cx="9143280" cy="43920"/>
          </a:xfrm>
          <a:prstGeom prst="rect">
            <a:avLst/>
          </a:prstGeom>
          <a:ln>
            <a:noFill/>
          </a:ln>
        </p:spPr>
      </p:pic>
      <p:pic>
        <p:nvPicPr>
          <p:cNvPr id="2" name="Picture 14"/>
          <p:cNvPicPr/>
          <p:nvPr/>
        </p:nvPicPr>
        <p:blipFill>
          <a:blip r:embed="rId7"/>
          <a:stretch/>
        </p:blipFill>
        <p:spPr>
          <a:xfrm>
            <a:off x="407880" y="6298920"/>
            <a:ext cx="376920" cy="386280"/>
          </a:xfrm>
          <a:prstGeom prst="rect">
            <a:avLst/>
          </a:prstGeom>
          <a:ln>
            <a:noFill/>
          </a:ln>
        </p:spPr>
      </p:pic>
      <p:sp>
        <p:nvSpPr>
          <p:cNvPr id="3" name="CustomShape 1"/>
          <p:cNvSpPr/>
          <p:nvPr/>
        </p:nvSpPr>
        <p:spPr>
          <a:xfrm>
            <a:off x="795240" y="6224040"/>
            <a:ext cx="1075320" cy="21168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YOU ARE </a:t>
            </a:r>
            <a:r>
              <a:rPr lang="fr-FR" sz="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LOOKING AT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CustomShape 3"/>
          <p:cNvSpPr/>
          <p:nvPr/>
        </p:nvSpPr>
        <p:spPr>
          <a:xfrm>
            <a:off x="795240" y="6442393"/>
            <a:ext cx="616680" cy="19656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200" b="1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PRESENTER : A. TOUMI</a:t>
            </a:r>
            <a:endParaRPr lang="fr-FR" sz="1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CustomShape 4"/>
          <p:cNvSpPr/>
          <p:nvPr/>
        </p:nvSpPr>
        <p:spPr>
          <a:xfrm>
            <a:off x="2702160" y="6224040"/>
            <a:ext cx="1499040" cy="21168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2021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CustomShape 5"/>
          <p:cNvSpPr/>
          <p:nvPr/>
        </p:nvSpPr>
        <p:spPr>
          <a:xfrm>
            <a:off x="2461320" y="6345000"/>
            <a:ext cx="1444320" cy="34920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700" b="0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Python. PyQT5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CustomShape 6"/>
          <p:cNvSpPr/>
          <p:nvPr/>
        </p:nvSpPr>
        <p:spPr>
          <a:xfrm>
            <a:off x="7453080" y="6224040"/>
            <a:ext cx="1255320" cy="21168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WE ARE CURRENTLY </a:t>
            </a:r>
            <a:r>
              <a:rPr lang="fr-FR" sz="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HERE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" name="Picture 18"/>
          <p:cNvPicPr/>
          <p:nvPr/>
        </p:nvPicPr>
        <p:blipFill>
          <a:blip r:embed="rId8"/>
          <a:stretch/>
        </p:blipFill>
        <p:spPr>
          <a:xfrm>
            <a:off x="8071920" y="6434293"/>
            <a:ext cx="212760" cy="212760"/>
          </a:xfrm>
          <a:prstGeom prst="rect">
            <a:avLst/>
          </a:prstGeom>
          <a:ln>
            <a:noFill/>
          </a:ln>
        </p:spPr>
      </p:pic>
      <p:sp>
        <p:nvSpPr>
          <p:cNvPr id="11" name="PlaceHolder 8"/>
          <p:cNvSpPr>
            <a:spLocks noGrp="1"/>
          </p:cNvSpPr>
          <p:nvPr>
            <p:ph type="title"/>
          </p:nvPr>
        </p:nvSpPr>
        <p:spPr>
          <a:xfrm>
            <a:off x="300240" y="0"/>
            <a:ext cx="8280000" cy="472757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4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9"/>
          <p:cNvSpPr>
            <a:spLocks noGrp="1"/>
          </p:cNvSpPr>
          <p:nvPr>
            <p:ph type="body"/>
          </p:nvPr>
        </p:nvSpPr>
        <p:spPr>
          <a:xfrm>
            <a:off x="351000" y="609916"/>
            <a:ext cx="8229240" cy="5051331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32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Cliquez pour éditer le format du plan de texte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niveau de plan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Troisième niveau de plan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Quatrième niveau de plan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Cinquième niveau de plan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Sixième niveau de plan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86" r:id="rId2"/>
    <p:sldLayoutId id="2147483687" r:id="rId3"/>
  </p:sldLayoutIdLst>
  <p:hf hdr="0" dt="0"/>
  <p:txStyles>
    <p:titleStyle>
      <a:lvl1pPr>
        <a:defRPr sz="3600"/>
      </a:lvl1pPr>
    </p:titleStyle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782" y="44624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010" y="11967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2646" y="642106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7" name="Picture 15" descr="BottomLineLight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143650"/>
            <a:ext cx="9144000" cy="669726"/>
          </a:xfrm>
          <a:prstGeom prst="rect">
            <a:avLst/>
          </a:prstGeom>
        </p:spPr>
      </p:pic>
      <p:pic>
        <p:nvPicPr>
          <p:cNvPr id="8" name="Picture 16" descr="BottomLineDarker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822401"/>
            <a:ext cx="9144000" cy="44648"/>
          </a:xfrm>
          <a:prstGeom prst="rect">
            <a:avLst/>
          </a:prstGeom>
        </p:spPr>
      </p:pic>
      <p:pic>
        <p:nvPicPr>
          <p:cNvPr id="9" name="Picture 14" descr="Avatar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07995" y="6298997"/>
            <a:ext cx="377791" cy="387005"/>
          </a:xfrm>
          <a:prstGeom prst="rect">
            <a:avLst/>
          </a:prstGeom>
        </p:spPr>
      </p:pic>
      <p:sp>
        <p:nvSpPr>
          <p:cNvPr id="10" name="TextBox 4"/>
          <p:cNvSpPr txBox="1"/>
          <p:nvPr userDrawn="1"/>
        </p:nvSpPr>
        <p:spPr>
          <a:xfrm>
            <a:off x="785786" y="6224107"/>
            <a:ext cx="1095172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 ARE </a:t>
            </a:r>
            <a:r>
              <a:rPr lang="en-US" sz="800" dirty="0"/>
              <a:t>LOOKING AT</a:t>
            </a:r>
          </a:p>
        </p:txBody>
      </p:sp>
      <p:sp>
        <p:nvSpPr>
          <p:cNvPr id="15" name="TextBox 11"/>
          <p:cNvSpPr txBox="1"/>
          <p:nvPr userDrawn="1"/>
        </p:nvSpPr>
        <p:spPr>
          <a:xfrm>
            <a:off x="7447108" y="6224107"/>
            <a:ext cx="1268296" cy="215444"/>
          </a:xfrm>
          <a:prstGeom prst="rect">
            <a:avLst/>
          </a:prstGeom>
          <a:noFill/>
          <a:effectLst>
            <a:outerShdw dist="12700" dir="2700000" algn="tl" rotWithShape="0">
              <a:schemeClr val="bg1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WE ARE 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dist="12700" dir="2700000" sx="200000" sy="200000" algn="tl" rotWithShape="0">
                    <a:schemeClr val="bg1">
                      <a:alpha val="0"/>
                    </a:schemeClr>
                  </a:outerShdw>
                </a:effectLst>
              </a:rPr>
              <a:t>CURRENTLY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800"/>
              <a:t>HERE</a:t>
            </a:r>
          </a:p>
        </p:txBody>
      </p:sp>
      <p:pic>
        <p:nvPicPr>
          <p:cNvPr id="17" name="Picture 18" descr="PrevArrow.png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990123" y="6457190"/>
            <a:ext cx="213333" cy="213333"/>
          </a:xfrm>
          <a:prstGeom prst="rect">
            <a:avLst/>
          </a:prstGeom>
        </p:spPr>
      </p:pic>
      <p:sp>
        <p:nvSpPr>
          <p:cNvPr id="18" name="CustomShape 3"/>
          <p:cNvSpPr/>
          <p:nvPr userDrawn="1"/>
        </p:nvSpPr>
        <p:spPr>
          <a:xfrm>
            <a:off x="795240" y="6442393"/>
            <a:ext cx="616680" cy="19656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200" b="1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PRESENTER : A. TOUMI</a:t>
            </a:r>
            <a:endParaRPr lang="fr-FR" sz="1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CustomShape 4"/>
          <p:cNvSpPr/>
          <p:nvPr userDrawn="1"/>
        </p:nvSpPr>
        <p:spPr>
          <a:xfrm>
            <a:off x="2702160" y="6224040"/>
            <a:ext cx="1499040" cy="21168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2020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CustomShape 5"/>
          <p:cNvSpPr/>
          <p:nvPr userDrawn="1"/>
        </p:nvSpPr>
        <p:spPr>
          <a:xfrm>
            <a:off x="2461320" y="6345000"/>
            <a:ext cx="1444320" cy="34920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700" b="0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Python. PyQT5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8303741" y="6439007"/>
            <a:ext cx="5633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CFFF0D-0199-40F6-98A2-0B4E765CD128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82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Base_de_donn%C3%A9es" TargetMode="External"/><Relationship Id="rId2" Type="http://schemas.openxmlformats.org/officeDocument/2006/relationships/hyperlink" Target="https://fr.wikipedia.org/wiki/OpenG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r.wikipedia.org/wiki/Extensible_Markup_Language" TargetMode="External"/><Relationship Id="rId4" Type="http://schemas.openxmlformats.org/officeDocument/2006/relationships/hyperlink" Target="https://fr.wikipedia.org/wiki/Structured_Query_Languag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2827080" y="1879200"/>
            <a:ext cx="4330800" cy="1674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0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5" name="Picture 21"/>
          <p:cNvPicPr/>
          <p:nvPr/>
        </p:nvPicPr>
        <p:blipFill>
          <a:blip r:embed="rId2"/>
          <a:stretch/>
        </p:blipFill>
        <p:spPr>
          <a:xfrm>
            <a:off x="1150920" y="1857240"/>
            <a:ext cx="1554840" cy="1803960"/>
          </a:xfrm>
          <a:prstGeom prst="rect">
            <a:avLst/>
          </a:prstGeom>
          <a:ln>
            <a:noFill/>
          </a:ln>
        </p:spPr>
      </p:pic>
      <p:pic>
        <p:nvPicPr>
          <p:cNvPr id="96" name="Picture 22"/>
          <p:cNvPicPr/>
          <p:nvPr/>
        </p:nvPicPr>
        <p:blipFill>
          <a:blip r:embed="rId3"/>
          <a:stretch/>
        </p:blipFill>
        <p:spPr>
          <a:xfrm>
            <a:off x="1224000" y="4248000"/>
            <a:ext cx="1901520" cy="242640"/>
          </a:xfrm>
          <a:prstGeom prst="rect">
            <a:avLst/>
          </a:prstGeom>
          <a:ln>
            <a:noFill/>
          </a:ln>
        </p:spPr>
      </p:pic>
      <p:pic>
        <p:nvPicPr>
          <p:cNvPr id="97" name="Picture 23"/>
          <p:cNvPicPr/>
          <p:nvPr/>
        </p:nvPicPr>
        <p:blipFill>
          <a:blip r:embed="rId4"/>
          <a:stretch/>
        </p:blipFill>
        <p:spPr>
          <a:xfrm>
            <a:off x="3222360" y="4248000"/>
            <a:ext cx="5201280" cy="269640"/>
          </a:xfrm>
          <a:prstGeom prst="rect">
            <a:avLst/>
          </a:prstGeom>
          <a:ln>
            <a:noFill/>
          </a:ln>
        </p:spPr>
      </p:pic>
      <p:sp>
        <p:nvSpPr>
          <p:cNvPr id="103" name="CustomShape 5"/>
          <p:cNvSpPr/>
          <p:nvPr/>
        </p:nvSpPr>
        <p:spPr>
          <a:xfrm>
            <a:off x="8221236" y="6355201"/>
            <a:ext cx="404808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4235611-807C-4EBE-B4D3-076CE26A7FC0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1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CustomShape 6"/>
          <p:cNvSpPr/>
          <p:nvPr/>
        </p:nvSpPr>
        <p:spPr>
          <a:xfrm>
            <a:off x="2448000" y="3528000"/>
            <a:ext cx="4548600" cy="85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500" b="0" strike="noStrike" spc="-1" dirty="0" err="1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PyQt</a:t>
            </a:r>
            <a:r>
              <a:rPr lang="fr-FR" sz="2500" b="0" strike="noStrike" spc="-1" dirty="0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  pour les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500" b="0" strike="noStrike" spc="-1" dirty="0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Interfaces Homme-Machine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2525335" y="4653135"/>
            <a:ext cx="4452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 err="1">
                <a:solidFill>
                  <a:srgbClr val="FFFF00"/>
                </a:solidFill>
              </a:rPr>
              <a:t>Toumi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 smtClean="0">
                <a:solidFill>
                  <a:srgbClr val="FFFF00"/>
                </a:solidFill>
              </a:rPr>
              <a:t>toumiab@ensta-Bretagne.fr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9" dur="500" fill="hold"/>
                                        <p:tgtEl>
                                          <p:spTgt spid="95"/>
                                        </p:tgtEl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13" dur="500" fill="hold"/>
                                        <p:tgtEl>
                                          <p:spTgt spid="96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4" dur="500" fill="hold"/>
                                        <p:tgtEl>
                                          <p:spTgt spid="96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5" dur="500" fill="hold"/>
                                        <p:tgtEl>
                                          <p:spTgt spid="96"/>
                                        </p:tgtEl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2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5" dur="500" fill="hold"/>
                                        <p:tgtEl>
                                          <p:spTgt spid="97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26" dur="500" fill="hold"/>
                                        <p:tgtEl>
                                          <p:spTgt spid="97"/>
                                        </p:tgtEl>
                                      </p:cBhvr>
                                      <p:tavLst>
                                        <p:tav tm="0">
                                          <p:val>
                                            <p:strVal val="height"/>
                                          </p:val>
                                        </p:tav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3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4"/>
          <p:cNvPicPr/>
          <p:nvPr/>
        </p:nvPicPr>
        <p:blipFill>
          <a:blip r:embed="rId3"/>
          <a:stretch/>
        </p:blipFill>
        <p:spPr>
          <a:xfrm>
            <a:off x="407880" y="6317280"/>
            <a:ext cx="376920" cy="386280"/>
          </a:xfrm>
          <a:prstGeom prst="rect">
            <a:avLst/>
          </a:prstGeom>
          <a:ln>
            <a:noFill/>
          </a:ln>
        </p:spPr>
      </p:pic>
      <p:sp>
        <p:nvSpPr>
          <p:cNvPr id="116" name="CustomShape 8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Sommaire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7" name="CustomShape 9"/>
          <p:cNvSpPr/>
          <p:nvPr/>
        </p:nvSpPr>
        <p:spPr>
          <a:xfrm>
            <a:off x="408806" y="1025624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d’interface graphique (IHM)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Généralités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Composants graphiques de base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principaux modules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</a:t>
            </a:r>
            <a:r>
              <a:rPr lang="fr-FR" sz="26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modules de </a:t>
            </a:r>
            <a:r>
              <a:rPr lang="fr-FR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Définition de classe graphique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8" name="CustomShape 10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AE8163F-5827-4AA8-ABAE-76EEBCF1A49B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Généralités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76590EB-449C-40AD-842B-5357B6D904A6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d’IHM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31" name="Picture 14"/>
          <p:cNvPicPr/>
          <p:nvPr/>
        </p:nvPicPr>
        <p:blipFill>
          <a:blip r:embed="rId2"/>
          <a:stretch/>
        </p:blipFill>
        <p:spPr>
          <a:xfrm>
            <a:off x="407880" y="6446880"/>
            <a:ext cx="376920" cy="386280"/>
          </a:xfrm>
          <a:prstGeom prst="rect">
            <a:avLst/>
          </a:prstGeom>
          <a:ln>
            <a:noFill/>
          </a:ln>
        </p:spPr>
      </p:pic>
      <p:sp>
        <p:nvSpPr>
          <p:cNvPr id="137" name="CustomShape 9"/>
          <p:cNvSpPr/>
          <p:nvPr/>
        </p:nvSpPr>
        <p:spPr>
          <a:xfrm>
            <a:off x="435960" y="1351440"/>
            <a:ext cx="8065080" cy="411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Intérêt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Présenter des informations de manière synthétique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Permettre d'interagir avec le programme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Caractéristiques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sans difficulté technique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souvent long et peu lisible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pas intéressant à écrire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Solution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Utilisation des « boîtes à outils (toolkit graphique)»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Programmation événementielle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31F48C9-63BF-4F0C-9883-9EAFFA69DF50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455400" y="2207880"/>
            <a:ext cx="566424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treet Corner Slab"/>
                <a:ea typeface="DejaVu Sans"/>
              </a:rPr>
              <a:t>Quelques boîtes à outils graphiques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140" name="Table 3"/>
          <p:cNvGraphicFramePr/>
          <p:nvPr/>
        </p:nvGraphicFramePr>
        <p:xfrm>
          <a:off x="487440" y="3061800"/>
          <a:ext cx="8229240" cy="2224440"/>
        </p:xfrm>
        <a:graphic>
          <a:graphicData uri="http://schemas.openxmlformats.org/drawingml/2006/table">
            <a:tbl>
              <a:tblPr/>
              <a:tblGrid>
                <a:gridCol w="145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3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Toolkit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Nom Python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Plate-formes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Licence 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Qt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PyQt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Toutes (installée)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LGPL(Qt4)+GPL(PyQt4)/cciale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Qt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PySide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Toutes 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LGPL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wxWidgets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wxPython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Toutes (installée)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LGPL 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Tcl/Tk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Tkinter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Toutes (installée)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Licence Python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Gtk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pyGtk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Toutes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LGPL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1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d’IHM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Composants graphiques de base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8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Sommaire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9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chemeClr val="bg1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d’interface graphique (IHM)</a:t>
            </a:r>
            <a:endParaRPr lang="fr-FR" sz="1800" b="0" strike="noStrike" spc="-1" dirty="0">
              <a:solidFill>
                <a:schemeClr val="bg1">
                  <a:lumMod val="7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Généralités</a:t>
            </a:r>
            <a:endParaRPr lang="fr-FR" sz="1800" b="0" strike="noStrike" spc="-1" dirty="0">
              <a:solidFill>
                <a:schemeClr val="bg1">
                  <a:lumMod val="7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Composants graphiques de base</a:t>
            </a:r>
            <a:endParaRPr lang="fr-FR" sz="1800" b="0" strike="noStrike" spc="-1" dirty="0">
              <a:solidFill>
                <a:schemeClr val="bg1">
                  <a:lumMod val="7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principaux modules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</a:t>
            </a:r>
            <a:r>
              <a:rPr lang="fr-FR" sz="26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modules de </a:t>
            </a:r>
            <a:r>
              <a:rPr lang="fr-FR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Définition de classe graphique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0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 est une bibliothèque C++ pour le développement d’application indépendantes des plateformes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 permet la portabilité des applications qui n'utilisent que ses composants par simple recompilation du code source.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 offre des composants d'interface graphique (widgets), d'accès aux données, de connexions réseaux, de gestion des fils d'exécution, d'analyse XML, </a:t>
            </a:r>
            <a:r>
              <a:rPr lang="fr-FR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etc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 supporte des bindings avec plus d'une dizaine de langages autres que le C++, comme Java, Python, Ruby, Ada, C#, Pascal, Perl, Common Lisp, etc.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 est disponible en licence commerciale ou libre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08947854-87C0-4C4A-BE32-3271DC40A4F5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" dur="500"/>
                                        <p:tgtEl>
                                          <p:spTgt spid="180">
                                            <p:txEl>
                                              <p:pRg st="562" end="5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principaux modules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QtCore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les fonctionnalités non graphiques utilisées par les autres modules : mécanisme de support pour les signaux et les slots, …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QtGui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les composants graphiques 2D, image,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text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et fonts 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QtWidgets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contient des classes qui fournissent  l’ensemble de composants graphiques dans l’IHM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QtNetwork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la programmation réseau 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QtOpenGL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3D basée sur </a:t>
            </a:r>
            <a:r>
              <a:rPr lang="fr-F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2"/>
              </a:rPr>
              <a:t>OpenGL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QtSql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l'utilisation de </a:t>
            </a:r>
            <a:r>
              <a:rPr lang="fr-F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3"/>
              </a:rPr>
              <a:t>base de données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fr-F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4"/>
              </a:rPr>
              <a:t>SQL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QtXml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la manipulation et la génération de fichiers </a:t>
            </a:r>
            <a:r>
              <a:rPr lang="fr-FR" sz="2000" b="0" u="sng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5"/>
              </a:rPr>
              <a:t>XML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étendre les fonctionnalités de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Designer, l'assistant de création d'interfaces graphiques 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QtAssistant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l'utilisation de l'aide de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QtWebKit</a:t>
            </a: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widget navigateur web (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webkit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QtTest</a:t>
            </a: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tests unitaires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Consulter </a:t>
            </a:r>
            <a:r>
              <a:rPr lang="fr-FR" sz="2000" b="0" strike="noStrike" spc="-1" dirty="0">
                <a:solidFill>
                  <a:srgbClr val="99FF33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https://fr.wikipedia.org/wiki/Qt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1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BE14770-18B3-490E-B589-5E78D810D356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2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 documentation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 documentation est accessible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1" i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En ligne : </a:t>
            </a:r>
            <a:r>
              <a:rPr lang="fr-FR" sz="2000" i="1" spc="-1" dirty="0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http://doc.qt.io/qt-5/ </a:t>
            </a:r>
          </a:p>
          <a:p>
            <a:pPr>
              <a:lnSpc>
                <a:spcPct val="100000"/>
              </a:lnSpc>
            </a:pPr>
            <a:r>
              <a:rPr lang="fr-FR" sz="2000" i="1" spc="-1" dirty="0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            http://pyqt.sourceforge.net/Docs/PyQt5/</a:t>
            </a: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Documentation de référence</a:t>
            </a:r>
            <a:r>
              <a:rPr lang="fr-FR" sz="2000" b="0" i="1" strike="noStrike" spc="-1" dirty="0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</a:t>
            </a:r>
            <a:r>
              <a:rPr lang="fr-FR" sz="2000" i="1" spc="-1" dirty="0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http://doc.qt.io/qt-5/qtmodules.html                                                  http://pyqt.sourceforge.net/Docs/PyQt5/modules.html#ref-module-index</a:t>
            </a:r>
          </a:p>
          <a:p>
            <a:pPr>
              <a:lnSpc>
                <a:spcPct val="100000"/>
              </a:lnSpc>
            </a:pPr>
            <a:r>
              <a:rPr lang="fr-FR" sz="2000" b="0" i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Via le navigateur  d’aide QT Assistant : la commande
</a:t>
            </a:r>
            <a:r>
              <a:rPr lang="fr-FR" sz="2000" b="0" i="1" strike="noStrike" spc="-1" dirty="0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&gt;&gt; assistant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Documentation de la liste des classes  : </a:t>
            </a:r>
            <a:r>
              <a:rPr lang="fr-FR" sz="2000" i="1" spc="-1" dirty="0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http://pyqt.sourceforge.net/Docs/PyQt5/sip-classes.html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Codes sources des exemples de démos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Des centaines d’exemples et leurs codes sont accessibles et fournis
</a:t>
            </a:r>
            <a:r>
              <a:rPr lang="fr-FR" sz="2000" b="0" i="1" strike="noStrike" spc="-1" dirty="0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&gt;&gt; QT </a:t>
            </a:r>
            <a:r>
              <a:rPr lang="fr-FR" sz="2000" b="0" i="1" strike="noStrike" spc="-1" dirty="0" err="1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demos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1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F3E09DA0-9C69-4771-AB17-7FEE326A4531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2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8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Sommaire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1" name="CustomShape 9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d’interface graphique (IHM)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Généralités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Composants graphiques de base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principaux modules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Documentation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modules de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widgets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Définition de classe graphique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2" name="CustomShape 10"/>
          <p:cNvSpPr/>
          <p:nvPr/>
        </p:nvSpPr>
        <p:spPr>
          <a:xfrm>
            <a:off x="6536880" y="634824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55CB7CDD-27F9-4E3C-9F02-FE1BCC2B1B9F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9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Modules de PyQt5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QtCore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les fonctionnalités non graphiques utilisées par les autres modules : mécanisme de support pour les </a:t>
            </a: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les slots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…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QtWidgets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contient des classes (composants) graphiques :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QMainWindow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QApplication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QWidget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QPushButton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QtGui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: pour les composants graphiques ;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QtNetwork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,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Qtbluetooth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QtOpenGL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QtSql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QtXml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/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QtXmlPatterns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i="1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QtAssistant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QtWebKit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QtTest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…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A040434-FD2E-43C1-BC95-712E1C11665C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2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6563520" y="6326778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5FCBA4D-7934-4F13-8F30-36F7A3E5AA10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11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8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Deux grandes catégories de composants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00"/>
              </a:buClr>
              <a:buFont typeface="Calibri"/>
              <a:buAutoNum type="arabicPeriod"/>
            </a:pPr>
            <a:r>
              <a:rPr lang="fr-FR" sz="28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conteneurs : </a:t>
            </a: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peuvent contenir d’autres composants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20">
              <a:lnSpc>
                <a:spcPct val="100000"/>
              </a:lnSpc>
              <a:buClr>
                <a:srgbClr val="FFFF00"/>
              </a:buClr>
            </a:pPr>
            <a:r>
              <a:rPr lang="fr-FR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fr-FR" sz="2400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 </a:t>
            </a:r>
            <a:r>
              <a:rPr lang="fr-FR" sz="2400" b="0" strike="noStrike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 </a:t>
            </a: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zone, zone scrollable, groupement, ...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16040" indent="-26604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fr-FR" sz="2400" b="0" strike="noStrike" spc="-1" dirty="0">
                <a:solidFill>
                  <a:srgbClr val="99FF33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conteneurs de haut niveau</a:t>
            </a: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(top </a:t>
            </a:r>
            <a:r>
              <a:rPr lang="fr-FR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level</a:t>
            </a: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containers) ne peuvent pas être contenus dans d’autres conteneurs. Exemple : Fenêtre , boîte de dialogue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00"/>
              </a:buClr>
              <a:buFont typeface="Calibri"/>
              <a:buAutoNum type="arabicPeriod" startAt="2"/>
            </a:pPr>
            <a:r>
              <a:rPr lang="fr-FR" sz="28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Autres </a:t>
            </a: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 ne peuvent contenir d’autre composants</a:t>
            </a: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     Exemple : Barre de défilement,  Bouton de  bascule, ...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Composants graphiques de base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6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d’IHM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/>
          <p:nvPr/>
        </p:nvPicPr>
        <p:blipFill>
          <a:blip r:embed="rId2"/>
          <a:stretch/>
        </p:blipFill>
        <p:spPr>
          <a:xfrm>
            <a:off x="5364088" y="3645024"/>
            <a:ext cx="3610843" cy="2393087"/>
          </a:xfrm>
          <a:prstGeom prst="rect">
            <a:avLst/>
          </a:prstGeom>
          <a:ln>
            <a:noFill/>
          </a:ln>
        </p:spPr>
      </p:pic>
      <p:sp>
        <p:nvSpPr>
          <p:cNvPr id="240" name="CustomShape 1"/>
          <p:cNvSpPr/>
          <p:nvPr/>
        </p:nvSpPr>
        <p:spPr>
          <a:xfrm>
            <a:off x="446760" y="260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Module : QtWidgets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1" name="CustomShape 2"/>
          <p:cNvSpPr/>
          <p:nvPr/>
        </p:nvSpPr>
        <p:spPr>
          <a:xfrm>
            <a:off x="6542640" y="6352865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46DE6D68-537C-4B10-B665-FCEDE4EA56ED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12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2" name="CustomShape 3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3" name="CustomShape 4"/>
          <p:cNvSpPr/>
          <p:nvPr/>
        </p:nvSpPr>
        <p:spPr>
          <a:xfrm>
            <a:off x="179640" y="980640"/>
            <a:ext cx="8712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widgets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Qwidget</a:t>
            </a: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la classe de base de tous les objets visibles dans l’IHM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: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QMainWindow</a:t>
            </a:r>
            <a:r>
              <a:rPr lang="fr-FR" sz="24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QDialog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conteneurs :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QFrame</a:t>
            </a:r>
            <a:r>
              <a:rPr lang="fr-FR" sz="24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QGroupBox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objets graphiques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boutons :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QPushButton</a:t>
            </a:r>
            <a:r>
              <a:rPr lang="fr-FR" sz="24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QRadioButton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menus  :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QMenuBar</a:t>
            </a:r>
            <a:r>
              <a:rPr lang="fr-FR" sz="24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QPopMenu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barres d’outils :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QToolBar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9" name="Picture 4"/>
          <p:cNvPicPr/>
          <p:nvPr/>
        </p:nvPicPr>
        <p:blipFill>
          <a:blip r:embed="rId2"/>
          <a:stretch/>
        </p:blipFill>
        <p:spPr>
          <a:xfrm>
            <a:off x="631719" y="1844824"/>
            <a:ext cx="8352448" cy="419434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446760" y="260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Module : QtWidgets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6532063" y="6352905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D6EABFBD-D54C-4449-9483-D29120EB4329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13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2" name="CustomShape 3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53" name="Picture 3"/>
          <p:cNvPicPr/>
          <p:nvPr/>
        </p:nvPicPr>
        <p:blipFill>
          <a:blip r:embed="rId2"/>
          <a:stretch/>
        </p:blipFill>
        <p:spPr>
          <a:xfrm>
            <a:off x="467640" y="1106602"/>
            <a:ext cx="8064800" cy="469866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Structure </a:t>
            </a:r>
            <a:r>
              <a:rPr lang="fr-FR" sz="4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d’un programme 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2" name="CustomShape 2"/>
          <p:cNvSpPr/>
          <p:nvPr/>
        </p:nvSpPr>
        <p:spPr>
          <a:xfrm>
            <a:off x="251640" y="1196640"/>
            <a:ext cx="8784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programme </a:t>
            </a:r>
            <a:r>
              <a:rPr lang="fr-FR" sz="28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typique contient les étapes suivante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de l’instance de </a:t>
            </a: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Création et affichage de la fenêtre principale et ses composants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00680" lvl="1">
              <a:lnSpc>
                <a:spcPct val="100000"/>
              </a:lnSpc>
              <a:buClr>
                <a:srgbClr val="FFFFFF"/>
              </a:buClr>
            </a:pPr>
            <a:r>
              <a:rPr lang="fr-FR" sz="2000" b="0" strike="noStrike" spc="-1" dirty="0" smtClean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  -  Connexion </a:t>
            </a: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des signaux aux slots : gestion des évènements (</a:t>
            </a: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QtCore</a:t>
            </a: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 startAt="4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Appel de la méthode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exec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 de l’application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3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A5A567BC-B087-41A7-911C-3F92D57A9536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14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4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5" name="CustomShape 5"/>
          <p:cNvSpPr/>
          <p:nvPr/>
        </p:nvSpPr>
        <p:spPr>
          <a:xfrm>
            <a:off x="504000" y="3240000"/>
            <a:ext cx="8424360" cy="2736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PyQt5 import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# 1 - Création d’une instance </a:t>
            </a:r>
            <a:r>
              <a:rPr lang="fr-FR" sz="1400" b="0" i="1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QtWidgets.Application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args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2 - Création de fenêtre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fen.setWindowTitle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Demo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")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fen.resize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(40,80)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</a:t>
            </a:r>
            <a:r>
              <a:rPr lang="fr-FR" sz="1400" b="0" i="1" strike="noStrike" spc="-1" dirty="0" smtClean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2 –a  </a:t>
            </a: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– Connexion des signaux aux slots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# TODO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4 - Création de fenêtre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192583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charRg st="0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charRg st="271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charRg st="271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charRg st="271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charRg st="271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charRg st="271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434517" y="10656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 1 : widget simple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6533634" y="6342212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5DF533E8-0915-4D38-B613-03F91D696027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15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323528" y="2757720"/>
            <a:ext cx="6408832" cy="3407584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args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on doit disposer d'une instance de </a:t>
            </a:r>
            <a:r>
              <a:rPr lang="fr-FR" sz="1400" b="0" i="1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gérant l'ensemble des widgets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args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une </a:t>
            </a:r>
            <a:r>
              <a:rPr lang="fr-FR" sz="1400" b="0" i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fenetre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titre de la </a:t>
            </a:r>
            <a:r>
              <a:rPr lang="fr-FR" sz="1400" b="0" i="1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fenetre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fen.setWindowTitle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Demo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")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taille de la </a:t>
            </a:r>
            <a:r>
              <a:rPr lang="fr-FR" sz="1400" b="0" i="1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fenetre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fen.resize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(840,480)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 == "__main__"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main(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64" name="Picture 3"/>
          <p:cNvPicPr/>
          <p:nvPr/>
        </p:nvPicPr>
        <p:blipFill>
          <a:blip r:embed="rId2"/>
          <a:stretch/>
        </p:blipFill>
        <p:spPr>
          <a:xfrm>
            <a:off x="5868144" y="770177"/>
            <a:ext cx="3166888" cy="2370791"/>
          </a:xfrm>
          <a:prstGeom prst="rect">
            <a:avLst/>
          </a:prstGeom>
          <a:ln>
            <a:noFill/>
          </a:ln>
        </p:spPr>
      </p:pic>
      <p:sp>
        <p:nvSpPr>
          <p:cNvPr id="265" name="CustomShape 5"/>
          <p:cNvSpPr/>
          <p:nvPr/>
        </p:nvSpPr>
        <p:spPr>
          <a:xfrm>
            <a:off x="399477" y="798480"/>
            <a:ext cx="5040000" cy="1899360"/>
          </a:xfrm>
          <a:prstGeom prst="rect">
            <a:avLst/>
          </a:prstGeom>
          <a:solidFill>
            <a:srgbClr val="FFFFFF"/>
          </a:solidFill>
          <a:ln w="25560">
            <a:solidFill>
              <a:srgbClr val="F796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PyQt5 </a:t>
            </a:r>
            <a:r>
              <a:rPr lang="fr-FR" sz="1400" b="0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import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sys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QtWidgets.QApplication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) </a:t>
            </a:r>
            <a:endParaRPr lang="fr-FR" sz="1800" b="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QtWidgets.QWidget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5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fen.setWindowTitle</a:t>
            </a:r>
            <a:r>
              <a:rPr lang="fr-FR" sz="15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("</a:t>
            </a:r>
            <a:r>
              <a:rPr lang="fr-FR" sz="15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Demo</a:t>
            </a:r>
            <a:r>
              <a:rPr lang="fr-FR" sz="15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</a:t>
            </a:r>
            <a:r>
              <a:rPr lang="fr-FR" sz="15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QMainWindow</a:t>
            </a:r>
            <a:r>
              <a:rPr lang="fr-FR" sz="15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")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5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fen.resize</a:t>
            </a:r>
            <a:r>
              <a:rPr lang="fr-FR" sz="15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(840,480)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500" b="0" strike="noStrike" spc="-1" dirty="0" err="1"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fen.show</a:t>
            </a:r>
            <a:r>
              <a:rPr lang="fr-FR" sz="1500" b="0" strike="noStrike" spc="-1" dirty="0"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()</a:t>
            </a:r>
            <a:endParaRPr lang="fr-FR" sz="18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5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app.exec</a:t>
            </a:r>
            <a:r>
              <a:rPr lang="fr-FR" sz="15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_()</a:t>
            </a:r>
            <a:endParaRPr lang="fr-FR" sz="1800" b="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446760" y="260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 2 : création d’un bouton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2736000" y="1080000"/>
            <a:ext cx="5796440" cy="1431720"/>
          </a:xfrm>
          <a:prstGeom prst="rect">
            <a:avLst/>
          </a:prstGeom>
          <a:solidFill>
            <a:srgbClr val="FFFFFF"/>
          </a:solidFill>
          <a:ln w="25560">
            <a:solidFill>
              <a:srgbClr val="F796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PyQt5 </a:t>
            </a:r>
            <a:r>
              <a:rPr lang="fr-FR" sz="1400" b="0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import </a:t>
            </a:r>
            <a:r>
              <a:rPr lang="fr-FR" sz="1400" b="0" strike="noStrike" spc="-1" dirty="0" err="1" smtClean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import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sys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 = </a:t>
            </a:r>
            <a:r>
              <a:rPr lang="fr-FR" sz="1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QtWidgets.QApplication</a:t>
            </a:r>
            <a:r>
              <a:rPr lang="fr-FR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</a:t>
            </a:r>
            <a:r>
              <a:rPr lang="fr-FR" sz="1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hello = </a:t>
            </a:r>
            <a:r>
              <a:rPr lang="fr-FR" sz="1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QtWidgets.QPushButton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("Hello World!", None)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hello.show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_()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4" name="CustomShape 3"/>
          <p:cNvSpPr/>
          <p:nvPr/>
        </p:nvSpPr>
        <p:spPr>
          <a:xfrm>
            <a:off x="6542640" y="6346492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4F1C757-3F3C-468E-8F1A-7CC05E302C28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16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5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76" name="Picture 2"/>
          <p:cNvPicPr/>
          <p:nvPr/>
        </p:nvPicPr>
        <p:blipFill>
          <a:blip r:embed="rId2"/>
          <a:stretch/>
        </p:blipFill>
        <p:spPr>
          <a:xfrm>
            <a:off x="360000" y="1368360"/>
            <a:ext cx="2016000" cy="935640"/>
          </a:xfrm>
          <a:prstGeom prst="rect">
            <a:avLst/>
          </a:prstGeom>
          <a:ln>
            <a:noFill/>
          </a:ln>
        </p:spPr>
      </p:pic>
      <p:sp>
        <p:nvSpPr>
          <p:cNvPr id="277" name="CustomShape 5"/>
          <p:cNvSpPr/>
          <p:nvPr/>
        </p:nvSpPr>
        <p:spPr>
          <a:xfrm>
            <a:off x="467640" y="2893680"/>
            <a:ext cx="8424360" cy="316764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main(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args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on doit disposer d'une instance de </a:t>
            </a:r>
            <a:r>
              <a:rPr lang="fr-FR" sz="1400" b="0" i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r>
              <a:rPr lang="fr-FR" sz="1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gérant l'ensemble des 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QtWidgets.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args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un nouveau bouton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QtWidgets.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("Hello World !", None)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qu'on affiche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button.show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 == "__main__"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main(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8" name="CustomShape 6"/>
          <p:cNvSpPr/>
          <p:nvPr/>
        </p:nvSpPr>
        <p:spPr>
          <a:xfrm>
            <a:off x="467640" y="836640"/>
            <a:ext cx="3095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Version simple :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9" name="CustomShape 7"/>
          <p:cNvSpPr/>
          <p:nvPr/>
        </p:nvSpPr>
        <p:spPr>
          <a:xfrm>
            <a:off x="467640" y="2524320"/>
            <a:ext cx="3095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Version recommandée :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Agencement des widgets (</a:t>
            </a:r>
            <a:r>
              <a:rPr lang="fr-FR" sz="4000" b="0" i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layout</a:t>
            </a: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251640" y="1196640"/>
            <a:ext cx="8444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Plusieurs types d’agencement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QHBoxLayout</a:t>
            </a:r>
            <a:r>
              <a:rPr lang="fr-FR" sz="20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et </a:t>
            </a:r>
            <a:r>
              <a:rPr lang="fr-FR" sz="20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QVBoxLayout</a:t>
            </a:r>
            <a:r>
              <a:rPr lang="fr-FR" sz="20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placement des widgets horizontalement et verticalement</a:t>
            </a:r>
          </a:p>
          <a:p>
            <a:pPr marL="1143000" lvl="2" indent="-227880">
              <a:lnSpc>
                <a:spcPct val="100000"/>
              </a:lnSpc>
              <a:buClr>
                <a:srgbClr val="FFFF00"/>
              </a:buClr>
              <a:buFont typeface="Courier New"/>
              <a:buChar char="o"/>
            </a:pP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addWidget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(widget) </a:t>
            </a:r>
            <a:r>
              <a:rPr lang="fr-FR" sz="1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 ajouter un widget :</a:t>
            </a:r>
            <a:endParaRPr lang="fr-FR" sz="16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7880">
              <a:lnSpc>
                <a:spcPct val="100000"/>
              </a:lnSpc>
              <a:buClr>
                <a:srgbClr val="FFFF00"/>
              </a:buClr>
              <a:buFont typeface="Courier New"/>
              <a:buChar char="o"/>
            </a:pP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addSpacing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(size) </a:t>
            </a:r>
            <a:r>
              <a:rPr lang="fr-FR" sz="1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ajouter d’un espace de taille fixe</a:t>
            </a:r>
            <a:endParaRPr lang="fr-FR" sz="16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7880">
              <a:lnSpc>
                <a:spcPct val="100000"/>
              </a:lnSpc>
              <a:buClr>
                <a:srgbClr val="FFFF00"/>
              </a:buClr>
              <a:buFont typeface="Courier New"/>
              <a:buChar char="o"/>
            </a:pP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addStretch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</a:t>
            </a: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stretch_factor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 </a:t>
            </a:r>
            <a:r>
              <a:rPr lang="fr-FR" sz="1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ajout un espace de taille extensible</a:t>
            </a:r>
            <a:endParaRPr lang="fr-FR" sz="16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QGridLayout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placement des widgets en grille</a:t>
            </a:r>
            <a:endParaRPr lang="fr-FR" sz="20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7880">
              <a:lnSpc>
                <a:spcPct val="100000"/>
              </a:lnSpc>
              <a:buClr>
                <a:srgbClr val="FFFF00"/>
              </a:buClr>
              <a:buFont typeface="Courier New"/>
              <a:buChar char="o"/>
            </a:pP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addWidget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(widget, </a:t>
            </a: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row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col) </a:t>
            </a:r>
            <a:r>
              <a:rPr lang="fr-FR" sz="1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ajouter un widget à la position (</a:t>
            </a:r>
            <a:r>
              <a:rPr lang="fr-FR" sz="16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row</a:t>
            </a:r>
            <a:r>
              <a:rPr lang="fr-FR" sz="16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col)</a:t>
            </a:r>
            <a:endParaRPr lang="fr-FR" sz="16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7880">
              <a:lnSpc>
                <a:spcPct val="100000"/>
              </a:lnSpc>
              <a:buClr>
                <a:srgbClr val="FFFF00"/>
              </a:buClr>
              <a:buFont typeface="Courier New"/>
              <a:buChar char="o"/>
            </a:pP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addMultiCellWidget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(widget, </a:t>
            </a: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fromRow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toRow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fromCol</a:t>
            </a:r>
            <a:r>
              <a:rPr lang="fr-FR" sz="16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fr-FR" sz="16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toCol</a:t>
            </a:r>
            <a:r>
              <a:rPr lang="fr-FR" sz="1600" b="0" strike="noStrike" spc="-1" dirty="0" smtClean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</a:t>
            </a:r>
          </a:p>
          <a:p>
            <a:pPr marL="685800" lvl="1" indent="-227880">
              <a:buClr>
                <a:srgbClr val="FFFF00"/>
              </a:buClr>
              <a:buFont typeface="Courier New"/>
              <a:buChar char="o"/>
            </a:pPr>
            <a:r>
              <a:rPr lang="fr-FR" sz="2000" spc="-1" dirty="0" err="1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QFormLayout</a:t>
            </a:r>
            <a:r>
              <a:rPr lang="fr-FR" sz="2000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…</a:t>
            </a:r>
            <a:endParaRPr lang="fr-FR" sz="20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8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CF6309B-6B2D-42EF-AAEB-F59B129C8B7C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17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9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91" name="Picture 3"/>
          <p:cNvPicPr/>
          <p:nvPr/>
        </p:nvPicPr>
        <p:blipFill>
          <a:blip r:embed="rId2"/>
          <a:stretch/>
        </p:blipFill>
        <p:spPr>
          <a:xfrm>
            <a:off x="241778" y="4293096"/>
            <a:ext cx="3964320" cy="1716480"/>
          </a:xfrm>
          <a:prstGeom prst="rect">
            <a:avLst/>
          </a:prstGeom>
          <a:ln>
            <a:noFill/>
          </a:ln>
        </p:spPr>
      </p:pic>
      <p:pic>
        <p:nvPicPr>
          <p:cNvPr id="292" name="Picture 5"/>
          <p:cNvPicPr/>
          <p:nvPr/>
        </p:nvPicPr>
        <p:blipFill>
          <a:blip r:embed="rId3"/>
          <a:stretch/>
        </p:blipFill>
        <p:spPr>
          <a:xfrm>
            <a:off x="4732200" y="4148376"/>
            <a:ext cx="3964320" cy="2005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Agencement des widgets (</a:t>
            </a:r>
            <a:r>
              <a:rPr lang="fr-FR" sz="4000" b="0" i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layout</a:t>
            </a: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8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CF6309B-6B2D-42EF-AAEB-F59B129C8B7C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18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9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91" name="Picture 3"/>
          <p:cNvPicPr/>
          <p:nvPr/>
        </p:nvPicPr>
        <p:blipFill>
          <a:blip r:embed="rId2"/>
          <a:stretch/>
        </p:blipFill>
        <p:spPr>
          <a:xfrm>
            <a:off x="4860032" y="4037355"/>
            <a:ext cx="3964320" cy="1716480"/>
          </a:xfrm>
          <a:prstGeom prst="rect">
            <a:avLst/>
          </a:prstGeom>
          <a:ln>
            <a:noFill/>
          </a:ln>
        </p:spPr>
      </p:pic>
      <p:pic>
        <p:nvPicPr>
          <p:cNvPr id="292" name="Picture 5"/>
          <p:cNvPicPr/>
          <p:nvPr/>
        </p:nvPicPr>
        <p:blipFill>
          <a:blip r:embed="rId3"/>
          <a:stretch/>
        </p:blipFill>
        <p:spPr>
          <a:xfrm>
            <a:off x="4860032" y="1432800"/>
            <a:ext cx="3964320" cy="2005920"/>
          </a:xfrm>
          <a:prstGeom prst="rect">
            <a:avLst/>
          </a:prstGeom>
          <a:ln>
            <a:noFill/>
          </a:ln>
        </p:spPr>
      </p:pic>
      <p:sp>
        <p:nvSpPr>
          <p:cNvPr id="8" name="CustomShape 5"/>
          <p:cNvSpPr/>
          <p:nvPr/>
        </p:nvSpPr>
        <p:spPr>
          <a:xfrm>
            <a:off x="323528" y="1432800"/>
            <a:ext cx="4392488" cy="4444472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endParaRPr lang="fr-FR" sz="14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4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fen.setWindowTitle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Demo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")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fen.resize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(640,480)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400" b="0" strike="noStrike" spc="-1" dirty="0" smtClean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Calibri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</a:t>
            </a:r>
            <a:r>
              <a:rPr lang="fr-FR" sz="1400" b="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</a:t>
            </a:r>
            <a:r>
              <a:rPr lang="fr-FR" sz="1400" b="0" strike="noStrike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QtWidgets.QVBoxLayout</a:t>
            </a:r>
            <a:r>
              <a:rPr lang="fr-FR" sz="1400" b="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400" b="0" strike="noStrike" spc="-1" dirty="0" smtClean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bouton1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("bouton 1",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bouton2=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("bouton 2",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bouton3=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("bouton 3",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layout.addWidget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(bouton1)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layout.addWidget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(bouton2)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layout.addWidget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(bouton3)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4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fen.setLayout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89964" y="3634934"/>
            <a:ext cx="3341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fr-FR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</a:t>
            </a:r>
            <a:r>
              <a:rPr lang="fr-FR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</a:t>
            </a:r>
            <a:r>
              <a:rPr lang="fr-FR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QtWidgets.QHBoxLayout</a:t>
            </a:r>
            <a:r>
              <a:rPr lang="fr-F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232663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Définition d’une classe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Classe héritant d’un QWidget , QMainWindow, QDialog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Variables d’instance : divers composants de l’interface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 :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7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B6B64CC-5565-49BE-943A-51AB8603C121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19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8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09" name="Picture 4"/>
          <p:cNvPicPr/>
          <p:nvPr/>
        </p:nvPicPr>
        <p:blipFill>
          <a:blip r:embed="rId2"/>
          <a:stretch/>
        </p:blipFill>
        <p:spPr>
          <a:xfrm>
            <a:off x="5860080" y="2585880"/>
            <a:ext cx="2275920" cy="1590120"/>
          </a:xfrm>
          <a:prstGeom prst="rect">
            <a:avLst/>
          </a:prstGeom>
          <a:ln>
            <a:noFill/>
          </a:ln>
        </p:spPr>
      </p:pic>
      <p:sp>
        <p:nvSpPr>
          <p:cNvPr id="310" name="CustomShape 5"/>
          <p:cNvSpPr/>
          <p:nvPr/>
        </p:nvSpPr>
        <p:spPr>
          <a:xfrm>
            <a:off x="441000" y="2736000"/>
            <a:ext cx="4860360" cy="2880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Fenetre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QtWidgets.QDialog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super().__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self.setWindowTitle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("Ma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fenetre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")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self.bouton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('un texte', </a:t>
            </a:r>
            <a:r>
              <a:rPr lang="fr-FR" sz="14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    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__=='__main__' :      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Fenetre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11" name="Picture 2"/>
          <p:cNvPicPr/>
          <p:nvPr/>
        </p:nvPicPr>
        <p:blipFill>
          <a:blip r:embed="rId3"/>
          <a:stretch/>
        </p:blipFill>
        <p:spPr>
          <a:xfrm>
            <a:off x="6408000" y="4608000"/>
            <a:ext cx="1666080" cy="894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Remarques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3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Toutes les instances des classes PyQt héritant de la classe QObject peuvent avoir un « parent »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 un objet parent est supprimé,
tous les objets « fils » sont supprimés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5E8921C6-DCA1-4BD4-9A91-4DF7D4D335A6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20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5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PyQT4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16" name="Picture 3"/>
          <p:cNvPicPr/>
          <p:nvPr/>
        </p:nvPicPr>
        <p:blipFill>
          <a:blip r:embed="rId2"/>
          <a:stretch/>
        </p:blipFill>
        <p:spPr>
          <a:xfrm>
            <a:off x="5688000" y="3656880"/>
            <a:ext cx="3433680" cy="2460960"/>
          </a:xfrm>
          <a:prstGeom prst="rect">
            <a:avLst/>
          </a:prstGeom>
          <a:ln>
            <a:noFill/>
          </a:ln>
        </p:spPr>
      </p:pic>
      <p:sp>
        <p:nvSpPr>
          <p:cNvPr id="317" name="CustomShape 5"/>
          <p:cNvSpPr/>
          <p:nvPr/>
        </p:nvSpPr>
        <p:spPr>
          <a:xfrm>
            <a:off x="481320" y="2853000"/>
            <a:ext cx="4881960" cy="3267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QuitButton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__(self, 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parent=None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 super().__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parent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self.setGeometry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(300, 300, 250, 150)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self.setWindowTitle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('Simple')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quit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('Close</a:t>
            </a:r>
            <a:r>
              <a:rPr lang="fr-FR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', </a:t>
            </a:r>
            <a:r>
              <a:rPr lang="fr-FR" sz="1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</a:t>
            </a:r>
            <a:r>
              <a:rPr lang="fr-FR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quit.setGeometry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(10, 10, 60, 35)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__=='__main__' :      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QuitButton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8" name="CustomShape 6"/>
          <p:cNvSpPr/>
          <p:nvPr/>
        </p:nvSpPr>
        <p:spPr>
          <a:xfrm>
            <a:off x="1979712" y="3717032"/>
            <a:ext cx="791280" cy="287280"/>
          </a:xfrm>
          <a:prstGeom prst="ellipse">
            <a:avLst/>
          </a:prstGeom>
          <a:noFill/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</p:sp>
      <p:pic>
        <p:nvPicPr>
          <p:cNvPr id="319" name="Picture 5"/>
          <p:cNvPicPr/>
          <p:nvPr/>
        </p:nvPicPr>
        <p:blipFill>
          <a:blip r:embed="rId3"/>
          <a:stretch/>
        </p:blipFill>
        <p:spPr>
          <a:xfrm>
            <a:off x="6356880" y="1671480"/>
            <a:ext cx="2571120" cy="1856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ustomShape 8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Sommaire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8" name="CustomShape 9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d’interface graphique (IHM)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Généralités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Composants graphiques de base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</a:t>
            </a:r>
            <a:r>
              <a:rPr lang="fr-FR" sz="2600" b="0" strike="noStrike" spc="-1" dirty="0" err="1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principaux modules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Documentation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</a:t>
            </a:r>
            <a:r>
              <a:rPr lang="fr-FR" sz="2600" b="0" strike="noStrike" spc="-1" dirty="0" err="1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modules de </a:t>
            </a:r>
            <a:r>
              <a:rPr lang="fr-FR" sz="2400" b="0" strike="noStrike" spc="-1" dirty="0" err="1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widgets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chemeClr val="bg1">
                    <a:lumMod val="65000"/>
                  </a:schemeClr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Définition de classe graphique</a:t>
            </a:r>
            <a:endParaRPr lang="fr-FR" sz="1800" b="0" strike="noStrike" spc="-1" dirty="0">
              <a:solidFill>
                <a:schemeClr val="bg1">
                  <a:lumMod val="6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9" name="CustomShape 10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CB96DEB-F315-4FB9-A154-AC0022CFE6BB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21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CustomShape 1"/>
          <p:cNvSpPr/>
          <p:nvPr/>
        </p:nvSpPr>
        <p:spPr>
          <a:xfrm>
            <a:off x="446760" y="260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3" name="CustomShape 2"/>
          <p:cNvSpPr/>
          <p:nvPr/>
        </p:nvSpPr>
        <p:spPr>
          <a:xfrm>
            <a:off x="6574404" y="6340749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A9E66A16-0352-4425-BC88-EA0859AE04B9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22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4" name="CustomShape 3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5" name="CustomShape 4"/>
          <p:cNvSpPr/>
          <p:nvPr/>
        </p:nvSpPr>
        <p:spPr>
          <a:xfrm>
            <a:off x="179640" y="980640"/>
            <a:ext cx="8712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 fenêtre principale  est de type :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00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QMainWindow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00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Qdialog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QMainWindow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Barre de menus  : QMenuBar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 conteneur (widget) central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7880">
              <a:lnSpc>
                <a:spcPct val="100000"/>
              </a:lnSpc>
              <a:buClr>
                <a:srgbClr val="FFFF00"/>
              </a:buClr>
              <a:buFont typeface="Courier New"/>
              <a:buChar char="o"/>
            </a:pPr>
            <a:r>
              <a:rPr lang="fr-FR" sz="16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setCentralWidget()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Barre d’outils : QToolBarre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Une barre d’état : QStatusBar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ancres (docks)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56" name="Picture 2"/>
          <p:cNvPicPr/>
          <p:nvPr/>
        </p:nvPicPr>
        <p:blipFill>
          <a:blip r:embed="rId2"/>
          <a:stretch/>
        </p:blipFill>
        <p:spPr>
          <a:xfrm>
            <a:off x="5508000" y="1989000"/>
            <a:ext cx="2475720" cy="2247120"/>
          </a:xfrm>
          <a:prstGeom prst="rect">
            <a:avLst/>
          </a:prstGeom>
          <a:ln>
            <a:noFill/>
          </a:ln>
        </p:spPr>
      </p:pic>
      <p:pic>
        <p:nvPicPr>
          <p:cNvPr id="357" name="Picture 3"/>
          <p:cNvPicPr/>
          <p:nvPr/>
        </p:nvPicPr>
        <p:blipFill>
          <a:blip r:embed="rId3"/>
          <a:stretch/>
        </p:blipFill>
        <p:spPr>
          <a:xfrm>
            <a:off x="4218480" y="2016360"/>
            <a:ext cx="4781520" cy="352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2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2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2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2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2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2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22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856" y="260648"/>
            <a:ext cx="8229600" cy="648072"/>
          </a:xfrm>
        </p:spPr>
        <p:txBody>
          <a:bodyPr/>
          <a:lstStyle/>
          <a:p>
            <a:r>
              <a:rPr lang="fr-FR" dirty="0"/>
              <a:t>Les fenêtres 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IHM avec </a:t>
            </a:r>
            <a:r>
              <a:rPr lang="fr-FR" dirty="0" err="1"/>
              <a:t>PyQt</a:t>
            </a:r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4525963"/>
          </a:xfrm>
        </p:spPr>
        <p:txBody>
          <a:bodyPr>
            <a:normAutofit/>
          </a:bodyPr>
          <a:lstStyle/>
          <a:p>
            <a:r>
              <a:rPr lang="fr-FR" sz="2400" dirty="0" err="1"/>
              <a:t>QMainWindow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Exemple 1: 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467544" y="2060848"/>
            <a:ext cx="8424936" cy="35283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fr-FR" spc="-1" dirty="0" err="1"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pc="-1" dirty="0"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pc="-1" dirty="0" err="1"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800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import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class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MyForm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QtWidget.QMainWindow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def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__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self, parent =None):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   super().__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init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__(parent)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the_button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=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QtWidget.QPushButton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(‘Close’, self)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 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self.setCentralWidget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the_button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/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</a:b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if __name__=='__main__'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app =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QApplication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sys.argv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fen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MyForm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fen.show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app.exec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_() 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080" y="2132856"/>
            <a:ext cx="20574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>
          <a:xfrm>
            <a:off x="1907704" y="2492896"/>
            <a:ext cx="2304256" cy="30630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8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5" name="CustomShape 2"/>
          <p:cNvSpPr/>
          <p:nvPr/>
        </p:nvSpPr>
        <p:spPr>
          <a:xfrm>
            <a:off x="411120" y="105192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 2 :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6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EB679EE-EFC7-476B-818D-7CF3D9E3CA3F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24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7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68" name="Picture 2"/>
          <p:cNvPicPr/>
          <p:nvPr/>
        </p:nvPicPr>
        <p:blipFill>
          <a:blip r:embed="rId2"/>
          <a:stretch/>
        </p:blipFill>
        <p:spPr>
          <a:xfrm>
            <a:off x="390353" y="2600460"/>
            <a:ext cx="2504520" cy="1428120"/>
          </a:xfrm>
          <a:prstGeom prst="rect">
            <a:avLst/>
          </a:prstGeom>
          <a:ln>
            <a:noFill/>
          </a:ln>
        </p:spPr>
      </p:pic>
      <p:sp>
        <p:nvSpPr>
          <p:cNvPr id="369" name="CustomShape 5"/>
          <p:cNvSpPr/>
          <p:nvPr/>
        </p:nvSpPr>
        <p:spPr>
          <a:xfrm>
            <a:off x="3419872" y="1225953"/>
            <a:ext cx="4968000" cy="483012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PyQt5.QtWidgets import *</a:t>
            </a:r>
            <a:endParaRPr lang="fr-FR" sz="1800" b="0" strike="noStrike" spc="-1" dirty="0" smtClean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MaFenetre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__init__(self, parent=None):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super().__init__(parent)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zoneCentrale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nom 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QLineEdit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prenom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QLineEdit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age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QLineEdit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endParaRPr lang="fr-FR" sz="14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fr-FR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QFormLayout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layout.addRow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("Votre nom", nom)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layout.addRow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("Votre prénom",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prenom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layout.addRow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("Votre âge",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age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zoneCentrale.setLayout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layout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endParaRPr lang="fr-FR" sz="14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fr-FR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self.setCentralWidget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zoneCentrale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__=='__main__' 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app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MaFenetre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CustomShape 8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Sommaire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2" name="CustomShape 9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d’interface graphique (IHM)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Généralités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Composants graphiques de base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Présentation de 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Introduction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principaux modules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Documentation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14440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modules de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widgets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Définition de classe graphique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fenêtres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57160" lvl="1" indent="-456480">
              <a:lnSpc>
                <a:spcPct val="100000"/>
              </a:lnSpc>
              <a:buClr>
                <a:srgbClr val="FFFF00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3" name="CustomShape 10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2D19A79-D346-4D97-8B3E-62F71311A8A3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25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1" name="CustomShape 2"/>
          <p:cNvSpPr/>
          <p:nvPr/>
        </p:nvSpPr>
        <p:spPr>
          <a:xfrm>
            <a:off x="214920" y="1164600"/>
            <a:ext cx="8928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Mécanisme utilisé dans QT pour assurer la communication entre les objets.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signal </a:t>
            </a: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c'est un message envoyé par un widget lorsqu'un évènement se produit. Exemple : on a cliqué sur un bouton.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slot </a:t>
            </a: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 c'est la fonction qui est appelée lorsqu'un évènement s'est produit. On dit que le signal appelle le slot. Concrètement, un slot est une méthode d'une classe.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2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61E95659-07D2-4377-91C0-C29E0369A92A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26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3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94" name="Picture 2"/>
          <p:cNvPicPr/>
          <p:nvPr/>
        </p:nvPicPr>
        <p:blipFill>
          <a:blip r:embed="rId2"/>
          <a:stretch/>
        </p:blipFill>
        <p:spPr>
          <a:xfrm>
            <a:off x="3168360" y="2880000"/>
            <a:ext cx="2988720" cy="316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Rappel : Structure d’un programme Qt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2" name="CustomShape 2"/>
          <p:cNvSpPr/>
          <p:nvPr/>
        </p:nvSpPr>
        <p:spPr>
          <a:xfrm>
            <a:off x="251640" y="1196640"/>
            <a:ext cx="8784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programme </a:t>
            </a:r>
            <a:r>
              <a:rPr lang="fr-FR" sz="28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r>
              <a:rPr lang="fr-FR" sz="2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typique contient les étapes suivante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Création de l’instance de </a:t>
            </a: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Création et affichage de la fenêtre principale et ses composants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00680" lvl="1">
              <a:lnSpc>
                <a:spcPct val="100000"/>
              </a:lnSpc>
              <a:buClr>
                <a:srgbClr val="FFFFFF"/>
              </a:buClr>
            </a:pPr>
            <a:r>
              <a:rPr lang="fr-FR" sz="2000" b="0" strike="noStrike" spc="-1" dirty="0" smtClean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	Connexion </a:t>
            </a: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des signaux aux slots : gestion des évènements (</a:t>
            </a: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QtCore</a:t>
            </a: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914400" lvl="1" indent="-513720">
              <a:lnSpc>
                <a:spcPct val="100000"/>
              </a:lnSpc>
              <a:buClr>
                <a:srgbClr val="FFFFFF"/>
              </a:buClr>
              <a:buFont typeface="Calibri"/>
              <a:buAutoNum type="arabicPeriod" startAt="4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Appel de la méthode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exec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 de l’application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3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A5A567BC-B087-41A7-911C-3F92D57A9536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27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4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5" name="CustomShape 5"/>
          <p:cNvSpPr/>
          <p:nvPr/>
        </p:nvSpPr>
        <p:spPr>
          <a:xfrm>
            <a:off x="504000" y="3240000"/>
            <a:ext cx="8424360" cy="2736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PyQt5 import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# 1 - Création d’une instance </a:t>
            </a:r>
            <a:r>
              <a:rPr lang="fr-FR" sz="1400" b="0" i="1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QApplication</a:t>
            </a: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QtWidgets.Application</a:t>
            </a:r>
            <a:r>
              <a:rPr lang="fr-FR" sz="14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args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2 - Création de fenêtre</a:t>
            </a:r>
            <a:endParaRPr lang="fr-FR" sz="1800" b="0" strike="noStrike" spc="-1" dirty="0">
              <a:solidFill>
                <a:srgbClr val="00B05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fen.setWindowTitle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Demo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")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fen.resize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(40,80)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fen.show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</a:t>
            </a:r>
            <a:r>
              <a:rPr lang="fr-FR" sz="1400" b="0" i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2-a </a:t>
            </a:r>
            <a:r>
              <a:rPr lang="fr-FR" sz="1400" b="0" i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– Connexion des signaux aux slots</a:t>
            </a:r>
            <a:endParaRPr lang="fr-FR" sz="1800" b="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# TODO</a:t>
            </a:r>
            <a:endParaRPr lang="fr-FR" sz="1800" b="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i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# 4 - Création de fenêtre</a:t>
            </a:r>
            <a:endParaRPr lang="fr-FR" sz="1800" b="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9" name="CustomShape 2"/>
          <p:cNvSpPr/>
          <p:nvPr/>
        </p:nvSpPr>
        <p:spPr>
          <a:xfrm>
            <a:off x="179640" y="1196640"/>
            <a:ext cx="8928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Mécanisme utilisé dans QT pour assurer la communication entre les objets.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fr-FR" sz="16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Noto Sans"/>
                <a:ea typeface="Noto Sans"/>
              </a:rPr>
              <a:t>→</a:t>
            </a:r>
            <a:r>
              <a:rPr lang="fr-FR" sz="1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Module </a:t>
            </a:r>
            <a:r>
              <a:rPr lang="fr-FR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QtCore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signal </a:t>
            </a: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c'est un message envoyé par un widget lorsqu'un événement se produit. Exemple : on a cliqué sur un bouton.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slot </a:t>
            </a: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 c'est la fonction qui est appelée lorsqu'un évènement s'est produit. On dit que le signal appelle le slot. Concrètement, un slot est une méthode d'une classe.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0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E2DC3D1-4484-46A9-A619-6CFE9E594F80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28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1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23" name="Picture 2"/>
          <p:cNvPicPr/>
          <p:nvPr/>
        </p:nvPicPr>
        <p:blipFill>
          <a:blip r:embed="rId2"/>
          <a:stretch/>
        </p:blipFill>
        <p:spPr>
          <a:xfrm>
            <a:off x="3132000" y="3285000"/>
            <a:ext cx="4070880" cy="2336400"/>
          </a:xfrm>
          <a:prstGeom prst="rect">
            <a:avLst/>
          </a:prstGeom>
          <a:ln>
            <a:noFill/>
          </a:ln>
        </p:spPr>
      </p:pic>
      <p:sp>
        <p:nvSpPr>
          <p:cNvPr id="8" name="ZoneTexte 7"/>
          <p:cNvSpPr txBox="1"/>
          <p:nvPr/>
        </p:nvSpPr>
        <p:spPr>
          <a:xfrm>
            <a:off x="611560" y="5632534"/>
            <a:ext cx="8280920" cy="468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sz="2000" dirty="0" err="1" smtClean="0">
                <a:solidFill>
                  <a:schemeClr val="tx1"/>
                </a:solidFill>
              </a:rPr>
              <a:t>ObjetA.signalName.connect</a:t>
            </a:r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 err="1" smtClean="0">
                <a:solidFill>
                  <a:schemeClr val="tx1"/>
                </a:solidFill>
              </a:rPr>
              <a:t>ObjetB.slotName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1" name="CustomShape 2"/>
          <p:cNvSpPr/>
          <p:nvPr/>
        </p:nvSpPr>
        <p:spPr>
          <a:xfrm>
            <a:off x="214920" y="1164600"/>
            <a:ext cx="8928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Mécanisme utilisé dans QT pour assurer la communication entre les objets.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signal 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c'est un message envoyé par un widget lorsqu'un évènement se produit. Exemple : on a cliqué sur un bouton.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00"/>
              </a:buClr>
              <a:buFont typeface="Wingdings" charset="2"/>
              <a:buChar char=""/>
            </a:pPr>
            <a:r>
              <a:rPr lang="fr-FR" sz="20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slot 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:  c'est la fonction qui est appelée lorsqu'un évènement s'est produit. On dit que le signal appelle le slot. Concrètement, un slot est une méthode d'une classe.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2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9569821-1D13-4DB7-A805-7F8F061D561E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29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3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34" name="Picture 2"/>
          <p:cNvPicPr/>
          <p:nvPr/>
        </p:nvPicPr>
        <p:blipFill>
          <a:blip r:embed="rId2"/>
          <a:stretch/>
        </p:blipFill>
        <p:spPr>
          <a:xfrm>
            <a:off x="3168360" y="2880000"/>
            <a:ext cx="2988720" cy="316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4294967295"/>
          </p:nvPr>
        </p:nvSpPr>
        <p:spPr>
          <a:xfrm>
            <a:off x="113334" y="1173274"/>
            <a:ext cx="8229600" cy="4768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Principe : </a:t>
            </a:r>
          </a:p>
          <a:p>
            <a:r>
              <a:rPr lang="fr-FR" sz="20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La connexion : la méthode </a:t>
            </a:r>
            <a:r>
              <a:rPr lang="fr-FR" sz="2000" kern="1200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connect</a:t>
            </a:r>
            <a:r>
              <a:rPr lang="fr-FR" sz="2000" kern="1200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() </a:t>
            </a:r>
            <a:r>
              <a:rPr lang="fr-FR" sz="20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de l’objet </a:t>
            </a:r>
            <a:r>
              <a:rPr lang="fr-FR" sz="2000" kern="12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QObject</a:t>
            </a:r>
            <a:endParaRPr lang="fr-FR" sz="2000" kern="12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r>
              <a:rPr lang="fr-FR" sz="2000" kern="12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Syntaxe </a:t>
            </a:r>
            <a:r>
              <a:rPr lang="fr-FR" sz="2400" dirty="0" smtClean="0">
                <a:solidFill>
                  <a:schemeClr val="bg1"/>
                </a:solidFill>
              </a:rPr>
              <a:t>:</a:t>
            </a:r>
            <a:endParaRPr lang="fr-F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 smtClean="0">
                <a:solidFill>
                  <a:schemeClr val="bg1"/>
                </a:solidFill>
              </a:rPr>
              <a:t> Nous avons 4 éléments  </a:t>
            </a:r>
            <a:r>
              <a:rPr lang="fr-FR" sz="2400" dirty="0">
                <a:solidFill>
                  <a:schemeClr val="bg1"/>
                </a:solidFill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l'objet qui émet le signal.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Le nom du signal que l'on veut </a:t>
            </a:r>
            <a:r>
              <a:rPr lang="fr-FR" sz="2000" i="1" kern="1200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intercepter</a:t>
            </a:r>
            <a:r>
              <a:rPr lang="fr-FR" sz="2000" kern="1200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 </a:t>
            </a:r>
            <a:endParaRPr lang="fr-FR" sz="2000" kern="12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  <a:ea typeface="+mn-ea"/>
              <a:cs typeface="+mn-cs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0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L’objet qui contient le slot récepteur.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Le nom du slot qui doit s'exécuter </a:t>
            </a:r>
          </a:p>
          <a:p>
            <a:r>
              <a:rPr lang="fr-FR" sz="2000" kern="12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  <a:cs typeface="+mn-cs"/>
              </a:rPr>
              <a:t>        lorsque le signal se produit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8" name="ZoneTexte 7"/>
          <p:cNvSpPr txBox="1"/>
          <p:nvPr/>
        </p:nvSpPr>
        <p:spPr>
          <a:xfrm>
            <a:off x="326476" y="2276872"/>
            <a:ext cx="8280920" cy="4680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20000"/>
              </a:spcBef>
              <a:buFont typeface="Wingdings" panose="05000000000000000000" pitchFamily="2" charset="2"/>
              <a:buNone/>
              <a:defRPr sz="1400">
                <a:solidFill>
                  <a:srgbClr val="00B050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800">
                <a:solidFill>
                  <a:schemeClr val="dk1"/>
                </a:solidFill>
              </a:defRPr>
            </a:lvl2pPr>
            <a:lvl3pPr marL="11430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2400">
                <a:solidFill>
                  <a:schemeClr val="dk1"/>
                </a:solidFill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dk1"/>
                </a:solidFill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dk1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dk1"/>
                </a:solidFill>
              </a:defRPr>
            </a:lvl9pPr>
          </a:lstStyle>
          <a:p>
            <a:r>
              <a:rPr lang="en-US" sz="2000" dirty="0" err="1">
                <a:solidFill>
                  <a:schemeClr val="tx1"/>
                </a:solidFill>
              </a:rPr>
              <a:t>sender.signalName.connect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receiver.slotName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5148064" y="3557364"/>
            <a:ext cx="3960440" cy="2247900"/>
            <a:chOff x="4976976" y="3557364"/>
            <a:chExt cx="4131528" cy="2247900"/>
          </a:xfrm>
        </p:grpSpPr>
        <p:grpSp>
          <p:nvGrpSpPr>
            <p:cNvPr id="12" name="Groupe 11"/>
            <p:cNvGrpSpPr/>
            <p:nvPr/>
          </p:nvGrpSpPr>
          <p:grpSpPr>
            <a:xfrm>
              <a:off x="4976976" y="3557364"/>
              <a:ext cx="4131528" cy="2247900"/>
              <a:chOff x="4860032" y="3356992"/>
              <a:chExt cx="4131528" cy="2247900"/>
            </a:xfrm>
          </p:grpSpPr>
          <p:pic>
            <p:nvPicPr>
              <p:cNvPr id="9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4104456" cy="2247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91360" y="3356992"/>
                <a:ext cx="1600200" cy="742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032" y="3356992"/>
                <a:ext cx="1323975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ZoneTexte 2"/>
            <p:cNvSpPr txBox="1"/>
            <p:nvPr/>
          </p:nvSpPr>
          <p:spPr>
            <a:xfrm>
              <a:off x="7740352" y="4993431"/>
              <a:ext cx="864096" cy="30777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fr-FR" sz="1400" dirty="0"/>
                <a:t>Close()</a:t>
              </a:r>
              <a:endParaRPr lang="en-US" sz="1400" dirty="0"/>
            </a:p>
          </p:txBody>
        </p:sp>
      </p:grpSp>
      <p:sp>
        <p:nvSpPr>
          <p:cNvPr id="17" name="CustomShape 1">
            <a:extLst>
              <a:ext uri="{FF2B5EF4-FFF2-40B4-BE49-F238E27FC236}">
                <a16:creationId xmlns:a16="http://schemas.microsoft.com/office/drawing/2014/main" id="{1D808917-D83D-4ABC-8D51-8FD26BD0FBE9}"/>
              </a:ext>
            </a:extLst>
          </p:cNvPr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4">
            <a:extLst>
              <a:ext uri="{FF2B5EF4-FFF2-40B4-BE49-F238E27FC236}">
                <a16:creationId xmlns:a16="http://schemas.microsoft.com/office/drawing/2014/main" id="{421CD087-A8D0-4D19-B673-64846889F818}"/>
              </a:ext>
            </a:extLst>
          </p:cNvPr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9E2DC3D1-4484-46A9-A619-6CFE9E594F80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30</a:t>
            </a:fld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803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2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Exemples :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4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Fermer la fenêtre en cliquant sur un bouton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4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Afficher ‘Hello’ en cliquant sur un bouton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3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CD49BEA-A383-4FE6-93DB-05F46DA6FFD3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31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4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5" name="CustomShape 5"/>
          <p:cNvSpPr/>
          <p:nvPr/>
        </p:nvSpPr>
        <p:spPr>
          <a:xfrm>
            <a:off x="216000" y="2592000"/>
            <a:ext cx="8712360" cy="316764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PyQt5.QtWidgets import *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20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PyQt5.QtCore import *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MyForm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__(self, parent=None):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20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super().__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20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__(parent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20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20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self.the_button</a:t>
            </a:r>
            <a:r>
              <a:rPr lang="fr-FR" sz="20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QPushButton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(‘Close‘, self)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20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2000" b="0" strike="noStrike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self.the_button.clicked</a:t>
            </a:r>
            <a:r>
              <a:rPr lang="fr-FR" sz="2000" b="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self.close</a:t>
            </a:r>
            <a:r>
              <a:rPr lang="fr-FR" sz="20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20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20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self.setCentralWidget</a:t>
            </a:r>
            <a:r>
              <a:rPr lang="fr-FR" sz="20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the_button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freeze">
                      <p:stCondLst>
                        <p:cond delay="indefinite"/>
                      </p:stCondLst>
                      <p:childTnLst>
                        <p:par>
                          <p:cTn id="4" fill="freeze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442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freeze">
                      <p:stCondLst>
                        <p:cond delay="indefinite"/>
                      </p:stCondLst>
                      <p:childTnLst>
                        <p:par>
                          <p:cTn id="9" fill="freeze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freeze">
                      <p:stCondLst>
                        <p:cond delay="indefinite"/>
                      </p:stCondLst>
                      <p:childTnLst>
                        <p:par>
                          <p:cTn id="14" fill="freeze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" dur="500"/>
                                        <p:tgtEl>
                                          <p:spTgt spid="442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3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Exemples :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4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Fermer la fenêtre en cliquant sur un bouton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4564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fr-FR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Afficher ‘Hello’ en cliquant sur un bouton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4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3FD8EBF8-F43C-4AC9-BC77-52021F33E399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32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5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r"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2" name="CustomShape 9"/>
          <p:cNvSpPr/>
          <p:nvPr/>
        </p:nvSpPr>
        <p:spPr>
          <a:xfrm>
            <a:off x="215280" y="2592000"/>
            <a:ext cx="8712720" cy="3168000"/>
          </a:xfrm>
          <a:prstGeom prst="rect">
            <a:avLst/>
          </a:prstGeom>
          <a:solidFill>
            <a:srgbClr val="FFFFFF"/>
          </a:solidFill>
          <a:ln w="25560">
            <a:solidFill>
              <a:srgbClr val="F796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PyQt5.QtWidgets import *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6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PyQt5.QtCore import *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MyForm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__(self, parent=None):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super().__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__(parent)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self.the_button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6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QPushButton</a:t>
            </a:r>
            <a:r>
              <a:rPr lang="fr-FR" sz="1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(‘Hello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‘, self)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self.the_button.clicked.connect</a:t>
            </a:r>
            <a:r>
              <a:rPr lang="fr-FR" sz="1600" b="0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(self.do) </a:t>
            </a:r>
          </a:p>
          <a:p>
            <a:pPr>
              <a:lnSpc>
                <a:spcPct val="100000"/>
              </a:lnSpc>
            </a:pPr>
            <a:r>
              <a:rPr lang="fr-FR" sz="16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600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</a:t>
            </a:r>
            <a:r>
              <a:rPr lang="fr-FR" sz="1600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self.the_button.clicked.connect</a:t>
            </a:r>
            <a:r>
              <a:rPr lang="fr-FR" sz="1600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spc="-1" dirty="0" err="1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self.close</a:t>
            </a:r>
            <a:r>
              <a:rPr lang="fr-FR" sz="1600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self.setCentralWidget</a:t>
            </a:r>
            <a:r>
              <a:rPr lang="fr-FR" sz="1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self.the_button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do(self):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print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(‘Hello’)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freeze">
                      <p:stCondLst>
                        <p:cond delay="indefinite"/>
                      </p:stCondLst>
                      <p:childTnLst>
                        <p:par>
                          <p:cTn id="4" fill="freeze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45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freeze">
                      <p:stCondLst>
                        <p:cond delay="indefinite"/>
                      </p:stCondLst>
                      <p:childTnLst>
                        <p:par>
                          <p:cTn id="9" fill="freeze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" dur="500"/>
                                        <p:tgtEl>
                                          <p:spTgt spid="45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Signaux et slots en 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4" name="CustomShape 2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AE61D0E-525A-4655-8D47-9DF78020E893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33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5" name="CustomShape 3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6" name="CustomShape 4"/>
          <p:cNvSpPr/>
          <p:nvPr/>
        </p:nvSpPr>
        <p:spPr>
          <a:xfrm>
            <a:off x="323640" y="1196640"/>
            <a:ext cx="8712856" cy="48246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32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Remarques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signal peut se connecter à plusieurs slots.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Noto Sans"/>
                <a:ea typeface="Noto Sans"/>
              </a:rPr>
              <a:t>→</a:t>
            </a: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slots connectés sont activés dans un ordre arbitraire.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signal/slot peut avoir des arguments.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Pour connecter un signal à un slot, le slot (méthode) doit avoir au moins les mêmes arguments (nombre)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1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 le signal connecté à un slot a plus de paramètres que ce slot, les paramètres supplémentaires seront ignorés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arguments entre signal et slot connectés doivent avoir les même types.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 signal peut se connecter à un autre signal.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 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On ne peut connecter directement le signal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valueChanged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</a:t>
            </a: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int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 du widget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Qdial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au slot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setText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</a:t>
            </a:r>
            <a:r>
              <a:rPr lang="fr-FR" sz="20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QString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 du widget </a:t>
            </a:r>
            <a:r>
              <a:rPr lang="fr-FR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QLineEdit</a:t>
            </a:r>
            <a:r>
              <a:rPr lang="fr-FR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Définition un nouveau signal/slot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4" name="CustomShape 2"/>
          <p:cNvSpPr/>
          <p:nvPr/>
        </p:nvSpPr>
        <p:spPr>
          <a:xfrm>
            <a:off x="441000" y="1196640"/>
            <a:ext cx="87022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Signal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Utilisation de la méthode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pyqtsignal</a:t>
            </a:r>
            <a:r>
              <a:rPr lang="fr-FR" sz="24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() </a:t>
            </a: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avec la liste des types de paramètres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L’émission manuelle d’un signal est réalisée par la méthode </a:t>
            </a:r>
            <a:r>
              <a:rPr lang="fr-FR" sz="2400" b="0" strike="noStrike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emit</a:t>
            </a:r>
            <a:r>
              <a:rPr lang="fr-FR" sz="2400" b="0" strike="noStrike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 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36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fr-FR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 signal créé se connecte à un slot avec
la même liste de types de paramètres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5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D397D217-ED09-4B8B-A13E-3E2C3A216BDC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34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6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7" name="CustomShape 5"/>
          <p:cNvSpPr/>
          <p:nvPr/>
        </p:nvSpPr>
        <p:spPr>
          <a:xfrm>
            <a:off x="1886111" y="2999677"/>
            <a:ext cx="6003000" cy="13752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 PyQt5 import QtCore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mysignal = QtCore.pyqtSignal(list, int)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mysignal.emit([1,2,3,6],3)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# mysignal.emit([1,2,3,6], ’3’) </a:t>
            </a:r>
            <a:r>
              <a:rPr lang="fr-FR" sz="2000" b="0" strike="noStrike" spc="-1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Wingdings"/>
                <a:ea typeface="Verdana"/>
              </a:rPr>
              <a:t>#</a:t>
            </a:r>
            <a:r>
              <a:rPr lang="fr-FR" sz="2000" b="0" strike="noStrike" spc="-1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error  !!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78" name="CustomShape 6"/>
          <p:cNvSpPr/>
          <p:nvPr/>
        </p:nvSpPr>
        <p:spPr>
          <a:xfrm>
            <a:off x="1512000" y="5328720"/>
            <a:ext cx="6291000" cy="43128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fr-FR" sz="2000" spc="-1" dirty="0" err="1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</a:t>
            </a:r>
            <a:r>
              <a:rPr lang="fr-FR" sz="2000" b="0" strike="noStrike" spc="-1" dirty="0" err="1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ysignal.connect</a:t>
            </a:r>
            <a:r>
              <a:rPr lang="fr-FR" sz="2000" b="0" strike="noStrike" spc="-1" dirty="0" smtClean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(slot/méthode)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CustomShape 1"/>
          <p:cNvSpPr/>
          <p:nvPr/>
        </p:nvSpPr>
        <p:spPr>
          <a:xfrm>
            <a:off x="467640" y="404640"/>
            <a:ext cx="8228880" cy="6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6" name="CustomShape 2"/>
          <p:cNvSpPr/>
          <p:nvPr/>
        </p:nvSpPr>
        <p:spPr>
          <a:xfrm>
            <a:off x="441000" y="1196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7" name="CustomShape 3"/>
          <p:cNvSpPr/>
          <p:nvPr/>
        </p:nvSpPr>
        <p:spPr>
          <a:xfrm>
            <a:off x="6553080" y="633816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81FFEA2-6750-4EBF-AE72-6F7ECF23D950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35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8" name="CustomShape 4"/>
          <p:cNvSpPr/>
          <p:nvPr/>
        </p:nvSpPr>
        <p:spPr>
          <a:xfrm>
            <a:off x="467640" y="23760"/>
            <a:ext cx="8208360" cy="57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fr-FR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89" name="Picture 2"/>
          <p:cNvPicPr/>
          <p:nvPr/>
        </p:nvPicPr>
        <p:blipFill>
          <a:blip r:embed="rId2"/>
          <a:stretch/>
        </p:blipFill>
        <p:spPr>
          <a:xfrm>
            <a:off x="5966280" y="448920"/>
            <a:ext cx="2961720" cy="847080"/>
          </a:xfrm>
          <a:prstGeom prst="rect">
            <a:avLst/>
          </a:prstGeom>
          <a:ln>
            <a:noFill/>
          </a:ln>
        </p:spPr>
      </p:pic>
      <p:pic>
        <p:nvPicPr>
          <p:cNvPr id="490" name="Picture 3"/>
          <p:cNvPicPr/>
          <p:nvPr/>
        </p:nvPicPr>
        <p:blipFill>
          <a:blip r:embed="rId3"/>
          <a:stretch/>
        </p:blipFill>
        <p:spPr>
          <a:xfrm>
            <a:off x="5909400" y="1530000"/>
            <a:ext cx="3018600" cy="990000"/>
          </a:xfrm>
          <a:prstGeom prst="rect">
            <a:avLst/>
          </a:prstGeom>
          <a:ln>
            <a:noFill/>
          </a:ln>
        </p:spPr>
      </p:pic>
      <p:sp>
        <p:nvSpPr>
          <p:cNvPr id="491" name="CustomShape 5"/>
          <p:cNvSpPr/>
          <p:nvPr/>
        </p:nvSpPr>
        <p:spPr>
          <a:xfrm flipH="1">
            <a:off x="7415280" y="1296000"/>
            <a:ext cx="360" cy="256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60"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2" name="CustomShape 6"/>
          <p:cNvSpPr/>
          <p:nvPr/>
        </p:nvSpPr>
        <p:spPr>
          <a:xfrm>
            <a:off x="5920200" y="2628720"/>
            <a:ext cx="2887200" cy="118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Préciser la valeur val de SpinBox, cliquer sur le ok, la liste (range(val)) est envoyée et affichée sur QlineEdit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3" name="CustomShape 7"/>
          <p:cNvSpPr/>
          <p:nvPr/>
        </p:nvSpPr>
        <p:spPr>
          <a:xfrm>
            <a:off x="107640" y="1196640"/>
            <a:ext cx="5616000" cy="499572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,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QtCore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MyWidget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QtWidgets.QWidget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</a:t>
            </a:r>
            <a:r>
              <a:rPr lang="fr-FR" sz="20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mysignal</a:t>
            </a:r>
            <a:r>
              <a:rPr lang="fr-FR" sz="20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20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QtCore.pyqtSignal</a:t>
            </a:r>
            <a:r>
              <a:rPr lang="fr-FR" sz="20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list</a:t>
            </a:r>
            <a:r>
              <a:rPr lang="fr-FR" sz="20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</a:t>
            </a:r>
            <a:r>
              <a:rPr lang="fr-FR" sz="2000" b="1" strike="noStrike" spc="-1" dirty="0" err="1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__(self, parent=None):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super().__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__(parent)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self.button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QtWidgets.QPushButton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("OK", self)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self.text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QtWidgets.QLineEdit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self.spin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QtWidgets.QSpinBox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self.grid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QtWidgets.QGridLayout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self.grid.addWidget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(self.button,0,1)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self.grid.addWidget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(self.spin,0,0)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self.grid.addWidget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(self.text,0,2)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self.setLayout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self.grid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self.button.clicked.connect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self.OnClicked</a:t>
            </a: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20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self.mysignal.connect</a:t>
            </a:r>
            <a:r>
              <a:rPr lang="fr-FR" sz="20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20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self.OnPrint</a:t>
            </a:r>
            <a:r>
              <a:rPr lang="fr-FR" sz="20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4" name="CustomShape 8"/>
          <p:cNvSpPr/>
          <p:nvPr/>
        </p:nvSpPr>
        <p:spPr>
          <a:xfrm>
            <a:off x="4824360" y="3960000"/>
            <a:ext cx="4391640" cy="208764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OnClicked(self):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val=self.spin.value()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</a:t>
            </a:r>
            <a:r>
              <a:rPr lang="fr-FR" sz="1400" b="0" strike="noStrike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self.mysignal.emit(list(range(val)))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fr-FR" sz="1400" b="1" strike="noStrike" spc="-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OnPrint(self, val):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s= ''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for el in val: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s+=str(el)+' '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self.text.setText(s)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12" dur="500"/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17" dur="500"/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22" dur="500"/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25" dur="500"/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28" dur="500"/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31" dur="500"/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34" dur="500"/>
                                        <p:tgtEl>
                                          <p:spTgt spid="494">
                                            <p:txEl>
                                              <p:pRg st="181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CustomShape 1"/>
          <p:cNvSpPr/>
          <p:nvPr/>
        </p:nvSpPr>
        <p:spPr>
          <a:xfrm>
            <a:off x="1983600" y="2036520"/>
            <a:ext cx="7227720" cy="143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800" b="1" strike="noStrike" spc="-39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QtDesigner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2" name="CustomShape 2"/>
          <p:cNvSpPr/>
          <p:nvPr/>
        </p:nvSpPr>
        <p:spPr>
          <a:xfrm>
            <a:off x="2634840" y="3150720"/>
            <a:ext cx="3222720" cy="470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500" b="0" strike="noStrike" spc="-1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Projet informatique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3" name="Picture 21"/>
          <p:cNvPicPr/>
          <p:nvPr/>
        </p:nvPicPr>
        <p:blipFill>
          <a:blip r:embed="rId2"/>
          <a:stretch/>
        </p:blipFill>
        <p:spPr>
          <a:xfrm>
            <a:off x="620280" y="1857240"/>
            <a:ext cx="1630800" cy="1803960"/>
          </a:xfrm>
          <a:prstGeom prst="rect">
            <a:avLst/>
          </a:prstGeom>
          <a:ln>
            <a:noFill/>
          </a:ln>
        </p:spPr>
      </p:pic>
      <p:pic>
        <p:nvPicPr>
          <p:cNvPr id="504" name="Picture 22"/>
          <p:cNvPicPr/>
          <p:nvPr/>
        </p:nvPicPr>
        <p:blipFill>
          <a:blip r:embed="rId3"/>
          <a:stretch/>
        </p:blipFill>
        <p:spPr>
          <a:xfrm>
            <a:off x="445680" y="3714840"/>
            <a:ext cx="1901520" cy="242640"/>
          </a:xfrm>
          <a:prstGeom prst="rect">
            <a:avLst/>
          </a:prstGeom>
          <a:ln>
            <a:noFill/>
          </a:ln>
        </p:spPr>
      </p:pic>
      <p:pic>
        <p:nvPicPr>
          <p:cNvPr id="505" name="Picture 23"/>
          <p:cNvPicPr/>
          <p:nvPr/>
        </p:nvPicPr>
        <p:blipFill>
          <a:blip r:embed="rId4"/>
          <a:stretch/>
        </p:blipFill>
        <p:spPr>
          <a:xfrm>
            <a:off x="2475000" y="3661920"/>
            <a:ext cx="6344640" cy="269640"/>
          </a:xfrm>
          <a:prstGeom prst="rect">
            <a:avLst/>
          </a:prstGeom>
          <a:ln>
            <a:noFill/>
          </a:ln>
        </p:spPr>
      </p:pic>
      <p:sp>
        <p:nvSpPr>
          <p:cNvPr id="506" name="CustomShape 3"/>
          <p:cNvSpPr/>
          <p:nvPr/>
        </p:nvSpPr>
        <p:spPr>
          <a:xfrm>
            <a:off x="6709680" y="6330600"/>
            <a:ext cx="2133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8A7E50AA-9787-4607-A9B5-B6034434DB83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36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7" dur="500" fill="hold"/>
                                        <p:tgtEl>
                                          <p:spTgt spid="503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8" dur="500" fill="hold"/>
                                        <p:tgtEl>
                                          <p:spTgt spid="503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9" dur="500" fill="hold"/>
                                        <p:tgtEl>
                                          <p:spTgt spid="503"/>
                                        </p:tgtEl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13" dur="500" fill="hold"/>
                                        <p:tgtEl>
                                          <p:spTgt spid="504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4" dur="500" fill="hold"/>
                                        <p:tgtEl>
                                          <p:spTgt spid="504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15" dur="500" fill="hold"/>
                                        <p:tgtEl>
                                          <p:spTgt spid="504"/>
                                        </p:tgtEl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10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22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str">
                                      <p:cBhvr additive="repl">
                                        <p:cTn id="25" dur="500" fill="hold"/>
                                        <p:tgtEl>
                                          <p:spTgt spid="505"/>
                                        </p:tgtEl>
                                      </p:cBhvr>
                                      <p:tavLst>
                                        <p:tav tm="100000">
                                          <p:val>
                                            <p:strVal val="width"/>
                                          </p:val>
                                        </p:tav>
                                      </p:tavLst>
                                    </p:anim>
                                    <p:anim calcmode="lin" valueType="str">
                                      <p:cBhvr additive="repl">
                                        <p:cTn id="26" dur="500" fill="hold"/>
                                        <p:tgtEl>
                                          <p:spTgt spid="505"/>
                                        </p:tgtEl>
                                      </p:cBhvr>
                                      <p:tavLst>
                                        <p:tav tm="0">
                                          <p:val>
                                            <p:strVal val="height"/>
                                          </p:val>
                                        </p:tav>
                                        <p:tav tm="100000">
                                          <p:val>
                                            <p:strVal val="height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32"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Powerpoint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3815</TotalTime>
  <Words>2714</Words>
  <Application>Microsoft Office PowerPoint</Application>
  <PresentationFormat>Affichage à l'écran (4:3)</PresentationFormat>
  <Paragraphs>555</Paragraphs>
  <Slides>36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36</vt:i4>
      </vt:variant>
    </vt:vector>
  </HeadingPairs>
  <TitlesOfParts>
    <vt:vector size="48" baseType="lpstr">
      <vt:lpstr>Arial</vt:lpstr>
      <vt:lpstr>Calibri</vt:lpstr>
      <vt:lpstr>Courier New</vt:lpstr>
      <vt:lpstr>DejaVu Sans</vt:lpstr>
      <vt:lpstr>Noto Sans</vt:lpstr>
      <vt:lpstr>Street Corner Slab</vt:lpstr>
      <vt:lpstr>Symbol</vt:lpstr>
      <vt:lpstr>TypoSlabserif-Light</vt:lpstr>
      <vt:lpstr>Verdana</vt:lpstr>
      <vt:lpstr>Wingdings</vt:lpstr>
      <vt:lpstr>Office Theme</vt:lpstr>
      <vt:lpstr>DarkPowerpointTemplate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Les fenêtres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ensta</dc:creator>
  <cp:lastModifiedBy>Abdelmalek TOUMI</cp:lastModifiedBy>
  <cp:revision>252</cp:revision>
  <dcterms:created xsi:type="dcterms:W3CDTF">2016-03-15T18:06:02Z</dcterms:created>
  <dcterms:modified xsi:type="dcterms:W3CDTF">2021-03-29T16:41:43Z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Affichage à l'écran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38</vt:i4>
  </property>
</Properties>
</file>