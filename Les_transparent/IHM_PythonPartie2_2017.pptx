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97" r:id="rId3"/>
    <p:sldId id="279" r:id="rId4"/>
    <p:sldId id="304" r:id="rId5"/>
    <p:sldId id="306" r:id="rId6"/>
    <p:sldId id="303" r:id="rId7"/>
    <p:sldId id="283" r:id="rId8"/>
    <p:sldId id="307" r:id="rId9"/>
    <p:sldId id="310" r:id="rId10"/>
    <p:sldId id="309" r:id="rId11"/>
    <p:sldId id="289" r:id="rId12"/>
    <p:sldId id="290" r:id="rId13"/>
    <p:sldId id="316" r:id="rId14"/>
    <p:sldId id="317" r:id="rId15"/>
    <p:sldId id="321" r:id="rId16"/>
    <p:sldId id="319" r:id="rId17"/>
    <p:sldId id="325" r:id="rId18"/>
    <p:sldId id="326" r:id="rId19"/>
    <p:sldId id="327" r:id="rId20"/>
    <p:sldId id="328" r:id="rId21"/>
    <p:sldId id="329" r:id="rId22"/>
    <p:sldId id="331" r:id="rId23"/>
    <p:sldId id="330" r:id="rId24"/>
    <p:sldId id="257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C2BB77C0-C172-4496-90B6-A3D8A326893A}">
          <p14:sldIdLst>
            <p14:sldId id="256"/>
            <p14:sldId id="297"/>
            <p14:sldId id="279"/>
            <p14:sldId id="304"/>
            <p14:sldId id="306"/>
            <p14:sldId id="303"/>
            <p14:sldId id="283"/>
            <p14:sldId id="307"/>
            <p14:sldId id="310"/>
            <p14:sldId id="309"/>
            <p14:sldId id="289"/>
            <p14:sldId id="290"/>
            <p14:sldId id="316"/>
            <p14:sldId id="317"/>
            <p14:sldId id="321"/>
            <p14:sldId id="319"/>
            <p14:sldId id="325"/>
            <p14:sldId id="326"/>
            <p14:sldId id="327"/>
            <p14:sldId id="328"/>
            <p14:sldId id="329"/>
            <p14:sldId id="331"/>
            <p14:sldId id="330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CC00"/>
    <a:srgbClr val="99FF33"/>
    <a:srgbClr val="CCFF33"/>
    <a:srgbClr val="3837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yle à thème 1 - Accentuation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985" autoAdjust="0"/>
    <p:restoredTop sz="94286" autoAdjust="0"/>
  </p:normalViewPr>
  <p:slideViewPr>
    <p:cSldViewPr>
      <p:cViewPr>
        <p:scale>
          <a:sx n="68" d="100"/>
          <a:sy n="68" d="100"/>
        </p:scale>
        <p:origin x="-1622" y="-3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 smtClean="0"/>
              <a:t>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B09E36-4607-432C-A5A8-ECF49ED23085}" type="datetimeFigureOut">
              <a:rPr lang="fr-FR" smtClean="0"/>
              <a:t>04/04/2017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1A2791-0049-4703-88B7-A017233F8C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7798303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smtClean="0"/>
              <a:t>Titre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FE8E1C-2662-4E6E-A1FD-77715E78031E}" type="datetimeFigureOut">
              <a:rPr lang="en-US" smtClean="0"/>
              <a:pPr/>
              <a:t>4/4/2017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FC9CF-D339-4A1B-9AF2-43BD7CEDA5C9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963110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77960" y="6332180"/>
            <a:ext cx="2133600" cy="365125"/>
          </a:xfrm>
        </p:spPr>
        <p:txBody>
          <a:bodyPr/>
          <a:lstStyle>
            <a:lvl1pPr>
              <a:defRPr sz="1100"/>
            </a:lvl1pPr>
          </a:lstStyle>
          <a:p>
            <a:fld id="{BECFFF0D-0199-40F6-98A2-0B4E765CD128}" type="slidenum">
              <a:rPr lang="en-US" smtClean="0"/>
              <a:pPr/>
              <a:t>‹N°›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fr-FR" dirty="0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3" hasCustomPrompt="1"/>
          </p:nvPr>
        </p:nvSpPr>
        <p:spPr>
          <a:xfrm>
            <a:off x="467544" y="23664"/>
            <a:ext cx="8208963" cy="576064"/>
          </a:xfrm>
        </p:spPr>
        <p:txBody>
          <a:bodyPr>
            <a:normAutofit/>
          </a:bodyPr>
          <a:lstStyle>
            <a:lvl1pPr marL="0" indent="0" algn="r">
              <a:buNone/>
              <a:defRPr sz="2000" u="none" baseline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fr-FR" dirty="0" smtClean="0"/>
              <a:t>Titre 2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smtClean="0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7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5782" y="44624"/>
            <a:ext cx="8229600" cy="6480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dirty="0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1010" y="119675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 smtClean="0"/>
              <a:t>Modifiez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3801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7" name="Picture 15" descr="BottomLineLight.png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6172049"/>
            <a:ext cx="9144000" cy="669726"/>
          </a:xfrm>
          <a:prstGeom prst="rect">
            <a:avLst/>
          </a:prstGeom>
        </p:spPr>
      </p:pic>
      <p:pic>
        <p:nvPicPr>
          <p:cNvPr id="8" name="Picture 16" descr="BottomLineDarker.png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822401"/>
            <a:ext cx="9144000" cy="44648"/>
          </a:xfrm>
          <a:prstGeom prst="rect">
            <a:avLst/>
          </a:prstGeom>
        </p:spPr>
      </p:pic>
      <p:pic>
        <p:nvPicPr>
          <p:cNvPr id="9" name="Picture 14" descr="Avatar.png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407995" y="6298997"/>
            <a:ext cx="377791" cy="387005"/>
          </a:xfrm>
          <a:prstGeom prst="rect">
            <a:avLst/>
          </a:prstGeom>
        </p:spPr>
      </p:pic>
      <p:sp>
        <p:nvSpPr>
          <p:cNvPr id="10" name="TextBox 4"/>
          <p:cNvSpPr txBox="1"/>
          <p:nvPr userDrawn="1"/>
        </p:nvSpPr>
        <p:spPr>
          <a:xfrm>
            <a:off x="785786" y="6224107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11" name="TextBox 5"/>
          <p:cNvSpPr txBox="1"/>
          <p:nvPr userDrawn="1"/>
        </p:nvSpPr>
        <p:spPr>
          <a:xfrm>
            <a:off x="785786" y="6344958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12" name="TextBox 6"/>
          <p:cNvSpPr txBox="1"/>
          <p:nvPr userDrawn="1"/>
        </p:nvSpPr>
        <p:spPr>
          <a:xfrm>
            <a:off x="785786" y="6524118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13" name="TextBox 9"/>
          <p:cNvSpPr txBox="1"/>
          <p:nvPr userDrawn="1"/>
        </p:nvSpPr>
        <p:spPr>
          <a:xfrm>
            <a:off x="2694634" y="6224107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14" name="TextBox 10"/>
          <p:cNvSpPr txBox="1"/>
          <p:nvPr userDrawn="1"/>
        </p:nvSpPr>
        <p:spPr>
          <a:xfrm>
            <a:off x="2694634" y="6344958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15" name="TextBox 11"/>
          <p:cNvSpPr txBox="1"/>
          <p:nvPr userDrawn="1"/>
        </p:nvSpPr>
        <p:spPr>
          <a:xfrm>
            <a:off x="7447108" y="6224107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16" name="TextBox 12"/>
          <p:cNvSpPr txBox="1"/>
          <p:nvPr userDrawn="1"/>
        </p:nvSpPr>
        <p:spPr>
          <a:xfrm>
            <a:off x="8685382" y="6381328"/>
            <a:ext cx="461986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40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17" name="Picture 18" descr="PrevArrow.png">
            <a:hlinkClick r:id="" action="ppaction://hlinkshowjump?jump=nextslide"/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8395200" y="6429177"/>
            <a:ext cx="213333" cy="21333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spcBef>
          <a:spcPct val="0"/>
        </a:spcBef>
        <a:buNone/>
        <a:defRPr sz="4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3200" kern="1200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17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1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11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13" name="TextBox 12"/>
          <p:cNvSpPr txBox="1"/>
          <p:nvPr/>
        </p:nvSpPr>
        <p:spPr>
          <a:xfrm>
            <a:off x="7776000" y="6433112"/>
            <a:ext cx="558166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TypoSlabserif-Light" pitchFamily="2" charset="0"/>
              </a:rPr>
              <a:t>1</a:t>
            </a:r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19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917549" y="1879105"/>
            <a:ext cx="4150752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00" b="1" dirty="0" smtClean="0">
                <a:solidFill>
                  <a:schemeClr val="bg1"/>
                </a:solidFill>
              </a:rPr>
              <a:t>Python</a:t>
            </a:r>
            <a:endParaRPr lang="en-US" sz="10400" b="1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147312" y="3389398"/>
            <a:ext cx="189827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PyQT</a:t>
            </a:r>
            <a:r>
              <a:rPr lang="en-US" sz="2500" dirty="0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  pour </a:t>
            </a:r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l’IHM</a:t>
            </a:r>
            <a:endParaRPr lang="en-US" sz="2500" dirty="0">
              <a:solidFill>
                <a:schemeClr val="bg1">
                  <a:lumMod val="75000"/>
                </a:schemeClr>
              </a:solidFill>
              <a:latin typeface="TypoSlabserif-Light" pitchFamily="2" charset="0"/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961" y="1857364"/>
            <a:ext cx="1555665" cy="1804572"/>
          </a:xfrm>
          <a:prstGeom prst="rect">
            <a:avLst/>
          </a:prstGeom>
        </p:spPr>
      </p:pic>
      <p:pic>
        <p:nvPicPr>
          <p:cNvPr id="23" name="Picture 22" descr="MainTitleImageShad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102" y="3714752"/>
            <a:ext cx="1902349" cy="243428"/>
          </a:xfrm>
          <a:prstGeom prst="rect">
            <a:avLst/>
          </a:prstGeom>
        </p:spPr>
      </p:pic>
      <p:pic>
        <p:nvPicPr>
          <p:cNvPr id="24" name="Picture 23" descr="MainTitleShado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00364" y="3714752"/>
            <a:ext cx="5202159" cy="270476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2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3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 Structure d’un programme QT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1520" y="1196752"/>
            <a:ext cx="8784976" cy="4525963"/>
          </a:xfrm>
        </p:spPr>
        <p:txBody>
          <a:bodyPr>
            <a:normAutofit/>
          </a:bodyPr>
          <a:lstStyle/>
          <a:p>
            <a:r>
              <a:rPr lang="fr-FR" sz="2800" dirty="0" smtClean="0"/>
              <a:t>Un programme </a:t>
            </a:r>
            <a:r>
              <a:rPr lang="fr-FR" sz="2800" dirty="0" err="1" smtClean="0"/>
              <a:t>PyQt</a:t>
            </a:r>
            <a:r>
              <a:rPr lang="fr-FR" sz="2800" dirty="0" smtClean="0"/>
              <a:t> typique contient les étapes suivante </a:t>
            </a:r>
          </a:p>
          <a:p>
            <a:pPr marL="914400" lvl="1" indent="-514350">
              <a:buFont typeface="+mj-lt"/>
              <a:buAutoNum type="arabicPeriod"/>
            </a:pPr>
            <a:r>
              <a:rPr lang="fr-FR" sz="2000" dirty="0" smtClean="0"/>
              <a:t>Création de l’instance de </a:t>
            </a:r>
            <a:r>
              <a:rPr lang="fr-FR" sz="2000" dirty="0" err="1" smtClean="0">
                <a:solidFill>
                  <a:srgbClr val="FFFF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QApplication</a:t>
            </a:r>
            <a:endParaRPr lang="fr-FR" sz="2000" dirty="0">
              <a:solidFill>
                <a:srgbClr val="FFFF00"/>
              </a:solidFill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914400" lvl="1" indent="-514350">
              <a:buFont typeface="+mj-lt"/>
              <a:buAutoNum type="arabicPeriod"/>
            </a:pPr>
            <a:r>
              <a:rPr lang="fr-FR" sz="2000" dirty="0" smtClean="0"/>
              <a:t>Création et affichage de la fenêtre principale et ses composants</a:t>
            </a:r>
          </a:p>
          <a:p>
            <a:pPr lvl="2" indent="-342900">
              <a:buFont typeface="+mj-lt"/>
              <a:buAutoNum type="arabicPeriod" startAt="3"/>
            </a:pPr>
            <a:r>
              <a:rPr lang="fr-FR" sz="1600" dirty="0" smtClean="0">
                <a:solidFill>
                  <a:srgbClr val="FFFF00"/>
                </a:solidFill>
              </a:rPr>
              <a:t>Connexion des signaux aux slots : gestion des évènements (</a:t>
            </a:r>
            <a:r>
              <a:rPr lang="fr-FR" sz="1600" dirty="0" err="1" smtClean="0">
                <a:solidFill>
                  <a:srgbClr val="FFFF00"/>
                </a:solidFill>
              </a:rPr>
              <a:t>QtCore</a:t>
            </a:r>
            <a:r>
              <a:rPr lang="fr-FR" sz="1600" dirty="0" smtClean="0">
                <a:solidFill>
                  <a:srgbClr val="FFFF00"/>
                </a:solidFill>
              </a:rPr>
              <a:t>)</a:t>
            </a:r>
          </a:p>
          <a:p>
            <a:pPr marL="914400" lvl="1" indent="-514350">
              <a:buFont typeface="+mj-lt"/>
              <a:buAutoNum type="arabicPeriod" startAt="4"/>
            </a:pPr>
            <a:r>
              <a:rPr lang="fr-FR" sz="2000" dirty="0" smtClean="0"/>
              <a:t>Appel de la méthode </a:t>
            </a:r>
            <a:r>
              <a:rPr lang="fr-FR" sz="20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exec</a:t>
            </a:r>
            <a:r>
              <a:rPr lang="fr-FR" sz="20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__() </a:t>
            </a:r>
            <a:r>
              <a:rPr lang="fr-FR" sz="2000" dirty="0" smtClean="0"/>
              <a:t>de l’application</a:t>
            </a:r>
          </a:p>
          <a:p>
            <a:pPr marL="400050" lvl="1" indent="0">
              <a:buNone/>
            </a:pPr>
            <a:r>
              <a:rPr lang="fr-FR" sz="2000" dirty="0" smtClean="0"/>
              <a:t>Exemple :</a:t>
            </a:r>
            <a:endParaRPr lang="fr-FR" sz="20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500708" y="3429000"/>
            <a:ext cx="8424936" cy="2592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smtClean="0"/>
              <a:t># 1 - Création d’une instance </a:t>
            </a:r>
            <a:r>
              <a:rPr lang="fr-FR" dirty="0" err="1">
                <a:solidFill>
                  <a:schemeClr val="tx1"/>
                </a:solidFill>
              </a:rPr>
              <a:t>QApplication</a:t>
            </a:r>
            <a:r>
              <a:rPr lang="fr-FR" dirty="0" smtClean="0"/>
              <a:t> </a:t>
            </a:r>
            <a:endParaRPr lang="fr-FR" dirty="0"/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QApplication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args</a:t>
            </a:r>
            <a:r>
              <a:rPr lang="fr-FR" dirty="0" smtClean="0">
                <a:solidFill>
                  <a:schemeClr val="tx1"/>
                </a:solidFill>
              </a:rPr>
              <a:t>) 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 smtClean="0"/>
              <a:t># 2 - Création de fenêtre</a:t>
            </a:r>
            <a:endParaRPr lang="fr-FR" dirty="0"/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= </a:t>
            </a:r>
            <a:r>
              <a:rPr lang="fr-FR" dirty="0" err="1" smtClean="0">
                <a:solidFill>
                  <a:schemeClr val="tx1"/>
                </a:solidFill>
              </a:rPr>
              <a:t>QMainWindow</a:t>
            </a:r>
            <a:r>
              <a:rPr lang="fr-FR" dirty="0" smtClean="0">
                <a:solidFill>
                  <a:schemeClr val="tx1"/>
                </a:solidFill>
              </a:rPr>
              <a:t>() 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fen.setWindowTitle</a:t>
            </a:r>
            <a:r>
              <a:rPr lang="fr-FR" dirty="0">
                <a:solidFill>
                  <a:schemeClr val="tx1"/>
                </a:solidFill>
              </a:rPr>
              <a:t>("</a:t>
            </a:r>
            <a:r>
              <a:rPr lang="fr-FR" dirty="0" err="1">
                <a:solidFill>
                  <a:schemeClr val="tx1"/>
                </a:solidFill>
              </a:rPr>
              <a:t>Demo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QMainWindow</a:t>
            </a:r>
            <a:r>
              <a:rPr lang="fr-FR" dirty="0" smtClean="0">
                <a:solidFill>
                  <a:schemeClr val="tx1"/>
                </a:solidFill>
              </a:rPr>
              <a:t>")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fen.resize</a:t>
            </a:r>
            <a:r>
              <a:rPr lang="fr-FR" dirty="0" smtClean="0">
                <a:solidFill>
                  <a:schemeClr val="tx1"/>
                </a:solidFill>
              </a:rPr>
              <a:t>(40,80</a:t>
            </a:r>
            <a:r>
              <a:rPr lang="fr-FR" dirty="0">
                <a:solidFill>
                  <a:schemeClr val="tx1"/>
                </a:solidFill>
              </a:rPr>
              <a:t>) </a:t>
            </a:r>
            <a:endParaRPr lang="fr-FR" dirty="0" smtClean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 err="1" smtClean="0">
                <a:solidFill>
                  <a:schemeClr val="tx1"/>
                </a:solidFill>
              </a:rPr>
              <a:t>fen.show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 smtClean="0"/>
              <a:t>   # 3 – Connexion des signaux aux slots</a:t>
            </a:r>
            <a:endParaRPr lang="fr-FR" dirty="0"/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smtClean="0"/>
              <a:t># TODO</a:t>
            </a:r>
            <a:endParaRPr lang="fr-FR" dirty="0"/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smtClean="0"/>
              <a:t># 4 - Création </a:t>
            </a:r>
            <a:r>
              <a:rPr lang="fr-FR" dirty="0"/>
              <a:t>de fenêtre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  <a:p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253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196752"/>
            <a:ext cx="8928992" cy="4525963"/>
          </a:xfrm>
        </p:spPr>
        <p:txBody>
          <a:bodyPr>
            <a:normAutofit/>
          </a:bodyPr>
          <a:lstStyle/>
          <a:p>
            <a:r>
              <a:rPr lang="fr-FR" sz="2000" dirty="0" smtClean="0"/>
              <a:t>Mécanisme utilisé dans QT pour assurer </a:t>
            </a:r>
            <a:r>
              <a:rPr lang="fr-FR" sz="2000" dirty="0"/>
              <a:t>la communication entre les objets</a:t>
            </a:r>
            <a:r>
              <a:rPr lang="fr-FR" sz="2000" dirty="0" smtClean="0"/>
              <a:t>.</a:t>
            </a:r>
          </a:p>
          <a:p>
            <a:pPr lvl="1"/>
            <a:r>
              <a:rPr lang="fr-FR" sz="1600" dirty="0"/>
              <a:t> </a:t>
            </a:r>
            <a:r>
              <a:rPr lang="fr-FR" sz="1600" dirty="0" err="1" smtClean="0"/>
              <a:t>QTCore</a:t>
            </a:r>
            <a:endParaRPr lang="fr-FR" sz="1600" dirty="0" smtClean="0"/>
          </a:p>
          <a:p>
            <a:r>
              <a:rPr lang="fr-FR" sz="2000" dirty="0">
                <a:solidFill>
                  <a:srgbClr val="FFFF00"/>
                </a:solidFill>
              </a:rPr>
              <a:t>Un </a:t>
            </a:r>
            <a:r>
              <a:rPr lang="fr-FR" sz="2000" dirty="0" smtClean="0">
                <a:solidFill>
                  <a:srgbClr val="FFFF00"/>
                </a:solidFill>
              </a:rPr>
              <a:t>signal </a:t>
            </a:r>
            <a:r>
              <a:rPr lang="fr-FR" sz="2000" dirty="0" smtClean="0"/>
              <a:t>: </a:t>
            </a:r>
            <a:r>
              <a:rPr lang="fr-FR" sz="2000" dirty="0"/>
              <a:t>c'est un message envoyé par un widget lorsqu'un évènement se </a:t>
            </a:r>
            <a:r>
              <a:rPr lang="fr-FR" sz="2000" dirty="0" smtClean="0"/>
              <a:t>produit. Exemple </a:t>
            </a:r>
            <a:r>
              <a:rPr lang="fr-FR" sz="2000" dirty="0"/>
              <a:t>: on a cliqué sur un bouton. </a:t>
            </a:r>
          </a:p>
          <a:p>
            <a:r>
              <a:rPr lang="fr-FR" sz="2000" dirty="0" smtClean="0">
                <a:solidFill>
                  <a:srgbClr val="FFFF00"/>
                </a:solidFill>
              </a:rPr>
              <a:t>Un slot </a:t>
            </a:r>
            <a:r>
              <a:rPr lang="fr-FR" sz="2000" dirty="0" smtClean="0"/>
              <a:t>:  </a:t>
            </a:r>
            <a:r>
              <a:rPr lang="fr-FR" sz="2000" dirty="0"/>
              <a:t>c'est la fonction qui est appelée lorsqu'un évènement s'est produit. On dit que le signal appelle le slot. </a:t>
            </a:r>
            <a:r>
              <a:rPr lang="fr-FR" sz="2000" dirty="0" smtClean="0"/>
              <a:t>Concrètement</a:t>
            </a:r>
            <a:r>
              <a:rPr lang="fr-FR" sz="2000" dirty="0"/>
              <a:t>, un </a:t>
            </a:r>
            <a:r>
              <a:rPr lang="fr-FR" sz="2000" dirty="0" smtClean="0"/>
              <a:t>slot est </a:t>
            </a:r>
            <a:r>
              <a:rPr lang="fr-FR" sz="2000" dirty="0"/>
              <a:t>une méthode d'une </a:t>
            </a:r>
            <a:r>
              <a:rPr lang="fr-FR" sz="2000" dirty="0" smtClean="0"/>
              <a:t>classe.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382628" y="5805264"/>
            <a:ext cx="8280920" cy="3077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>
                <a:solidFill>
                  <a:schemeClr val="tx1"/>
                </a:solidFill>
              </a:rPr>
              <a:t>PyQt4.QtCore.QObject.connect(</a:t>
            </a:r>
            <a:r>
              <a:rPr lang="fr-FR" dirty="0" err="1">
                <a:solidFill>
                  <a:schemeClr val="tx1"/>
                </a:solidFill>
              </a:rPr>
              <a:t>emeteur</a:t>
            </a:r>
            <a:r>
              <a:rPr lang="fr-FR" dirty="0">
                <a:solidFill>
                  <a:schemeClr val="tx1"/>
                </a:solidFill>
              </a:rPr>
              <a:t>, SIGNAL(), </a:t>
            </a:r>
            <a:r>
              <a:rPr lang="fr-FR" dirty="0" err="1">
                <a:solidFill>
                  <a:schemeClr val="tx1"/>
                </a:solidFill>
              </a:rPr>
              <a:t>recepteur</a:t>
            </a:r>
            <a:r>
              <a:rPr lang="fr-FR" dirty="0">
                <a:solidFill>
                  <a:schemeClr val="tx1"/>
                </a:solidFill>
              </a:rPr>
              <a:t>, SLOT())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40" y="3284984"/>
            <a:ext cx="4071508" cy="2336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7014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15008" y="1164586"/>
            <a:ext cx="8928992" cy="4525963"/>
          </a:xfrm>
        </p:spPr>
        <p:txBody>
          <a:bodyPr>
            <a:normAutofit/>
          </a:bodyPr>
          <a:lstStyle/>
          <a:p>
            <a:r>
              <a:rPr lang="fr-FR" sz="2000" dirty="0" smtClean="0"/>
              <a:t>Mécanisme utilisé dans QT pour assurer </a:t>
            </a:r>
            <a:r>
              <a:rPr lang="fr-FR" sz="2000" dirty="0"/>
              <a:t>la communication entre les objets</a:t>
            </a:r>
            <a:r>
              <a:rPr lang="fr-FR" sz="2000" dirty="0" smtClean="0"/>
              <a:t>.</a:t>
            </a:r>
          </a:p>
          <a:p>
            <a:r>
              <a:rPr lang="fr-FR" sz="2000" dirty="0">
                <a:solidFill>
                  <a:srgbClr val="FFFF00"/>
                </a:solidFill>
              </a:rPr>
              <a:t>Un </a:t>
            </a:r>
            <a:r>
              <a:rPr lang="fr-FR" sz="2000" dirty="0" smtClean="0">
                <a:solidFill>
                  <a:srgbClr val="FFFF00"/>
                </a:solidFill>
              </a:rPr>
              <a:t>signal </a:t>
            </a:r>
            <a:r>
              <a:rPr lang="fr-FR" sz="2000" dirty="0" smtClean="0"/>
              <a:t>: </a:t>
            </a:r>
            <a:r>
              <a:rPr lang="fr-FR" sz="2000" dirty="0"/>
              <a:t>c'est un message envoyé par un widget lorsqu'un évènement se </a:t>
            </a:r>
            <a:r>
              <a:rPr lang="fr-FR" sz="2000" dirty="0" smtClean="0"/>
              <a:t>produit. Exemple </a:t>
            </a:r>
            <a:r>
              <a:rPr lang="fr-FR" sz="2000" dirty="0"/>
              <a:t>: on a cliqué sur un bouton. </a:t>
            </a:r>
          </a:p>
          <a:p>
            <a:r>
              <a:rPr lang="fr-FR" sz="2000" dirty="0" smtClean="0">
                <a:solidFill>
                  <a:srgbClr val="FFFF00"/>
                </a:solidFill>
              </a:rPr>
              <a:t>Un slot </a:t>
            </a:r>
            <a:r>
              <a:rPr lang="fr-FR" sz="2000" dirty="0" smtClean="0"/>
              <a:t>:  </a:t>
            </a:r>
            <a:r>
              <a:rPr lang="fr-FR" sz="2000" dirty="0"/>
              <a:t>c'est la fonction qui est appelée lorsqu'un évènement s'est produit. On dit que le signal appelle le slot. </a:t>
            </a:r>
            <a:r>
              <a:rPr lang="fr-FR" sz="2000" dirty="0" smtClean="0"/>
              <a:t>Concrètement</a:t>
            </a:r>
            <a:r>
              <a:rPr lang="fr-FR" sz="2000" dirty="0"/>
              <a:t>, un </a:t>
            </a:r>
            <a:r>
              <a:rPr lang="fr-FR" sz="2000" dirty="0" smtClean="0"/>
              <a:t>slot est </a:t>
            </a:r>
            <a:r>
              <a:rPr lang="fr-FR" sz="2000" dirty="0"/>
              <a:t>une méthode d'une </a:t>
            </a:r>
            <a:r>
              <a:rPr lang="fr-FR" sz="2000" dirty="0" smtClean="0"/>
              <a:t>classe.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3284984"/>
            <a:ext cx="2232248" cy="23661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38491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Principe : </a:t>
            </a:r>
          </a:p>
          <a:p>
            <a:r>
              <a:rPr lang="fr-FR" sz="2400" dirty="0" smtClean="0"/>
              <a:t>La connexion : la méthode </a:t>
            </a:r>
            <a:r>
              <a:rPr lang="fr-FR" sz="2400" dirty="0" err="1" smtClean="0">
                <a:solidFill>
                  <a:srgbClr val="FFFF00"/>
                </a:solidFill>
              </a:rPr>
              <a:t>connect</a:t>
            </a:r>
            <a:r>
              <a:rPr lang="fr-FR" sz="2400" dirty="0" smtClean="0"/>
              <a:t>() de l’objet </a:t>
            </a:r>
            <a:r>
              <a:rPr lang="fr-FR" sz="2400" dirty="0" err="1" smtClean="0"/>
              <a:t>Qobject</a:t>
            </a:r>
            <a:endParaRPr lang="fr-FR" sz="2400" dirty="0" smtClean="0"/>
          </a:p>
          <a:p>
            <a:pPr marL="0" indent="0">
              <a:buNone/>
            </a:pPr>
            <a:r>
              <a:rPr lang="fr-FR" sz="2400" dirty="0" smtClean="0"/>
              <a:t>Syntaxe :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dirty="0"/>
              <a:t>Elle prend  4 arguments :</a:t>
            </a:r>
          </a:p>
          <a:p>
            <a:pPr>
              <a:buFont typeface="+mj-lt"/>
              <a:buAutoNum type="arabicPeriod"/>
            </a:pPr>
            <a:r>
              <a:rPr lang="fr-FR" sz="1800" dirty="0" smtClean="0"/>
              <a:t>l'objet </a:t>
            </a:r>
            <a:r>
              <a:rPr lang="fr-FR" sz="1800" dirty="0"/>
              <a:t>qui émet le signal. </a:t>
            </a:r>
          </a:p>
          <a:p>
            <a:pPr>
              <a:buFont typeface="+mj-lt"/>
              <a:buAutoNum type="arabicPeriod"/>
            </a:pPr>
            <a:r>
              <a:rPr lang="fr-FR" sz="1800" dirty="0" smtClean="0"/>
              <a:t>Le </a:t>
            </a:r>
            <a:r>
              <a:rPr lang="fr-FR" sz="1800" dirty="0"/>
              <a:t>nom du signal que l'on veut "intercepter". </a:t>
            </a:r>
            <a:endParaRPr lang="fr-FR" sz="1800" dirty="0" smtClean="0"/>
          </a:p>
          <a:p>
            <a:pPr>
              <a:buFont typeface="+mj-lt"/>
              <a:buAutoNum type="arabicPeriod"/>
            </a:pPr>
            <a:r>
              <a:rPr lang="fr-FR" sz="1800" dirty="0" smtClean="0"/>
              <a:t>L’objet </a:t>
            </a:r>
            <a:r>
              <a:rPr lang="fr-FR" sz="1800" dirty="0"/>
              <a:t>qui contient le slot récepteur. </a:t>
            </a:r>
          </a:p>
          <a:p>
            <a:pPr>
              <a:buFont typeface="+mj-lt"/>
              <a:buAutoNum type="arabicPeriod"/>
            </a:pPr>
            <a:r>
              <a:rPr lang="fr-FR" sz="1800" dirty="0" smtClean="0"/>
              <a:t>Le </a:t>
            </a:r>
            <a:r>
              <a:rPr lang="fr-FR" sz="1800" dirty="0"/>
              <a:t>nom du slot qui doit s'exécuter lorsque </a:t>
            </a:r>
            <a:endParaRPr lang="fr-FR" sz="1800" dirty="0" smtClean="0"/>
          </a:p>
          <a:p>
            <a:pPr marL="0" indent="0">
              <a:buNone/>
            </a:pPr>
            <a:r>
              <a:rPr lang="fr-FR" sz="1800" dirty="0"/>
              <a:t> </a:t>
            </a:r>
            <a:r>
              <a:rPr lang="fr-FR" sz="1800" dirty="0" smtClean="0"/>
              <a:t>     le </a:t>
            </a:r>
            <a:r>
              <a:rPr lang="fr-FR" sz="1800" dirty="0"/>
              <a:t>signal se </a:t>
            </a:r>
            <a:r>
              <a:rPr lang="fr-FR" sz="1800" dirty="0" smtClean="0"/>
              <a:t>produit</a:t>
            </a:r>
            <a:endParaRPr lang="fr-FR" sz="1800" dirty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</p:txBody>
      </p:sp>
      <p:sp>
        <p:nvSpPr>
          <p:cNvPr id="8" name="ZoneTexte 7"/>
          <p:cNvSpPr txBox="1"/>
          <p:nvPr/>
        </p:nvSpPr>
        <p:spPr>
          <a:xfrm>
            <a:off x="536164" y="2600908"/>
            <a:ext cx="8280920" cy="3600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 smtClean="0">
                <a:solidFill>
                  <a:schemeClr val="tx1"/>
                </a:solidFill>
              </a:rPr>
              <a:t>QObject.connect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emeteur</a:t>
            </a:r>
            <a:r>
              <a:rPr lang="fr-FR" dirty="0">
                <a:solidFill>
                  <a:schemeClr val="tx1"/>
                </a:solidFill>
              </a:rPr>
              <a:t>, </a:t>
            </a:r>
            <a:r>
              <a:rPr lang="fr-FR" dirty="0">
                <a:solidFill>
                  <a:srgbClr val="FF0000"/>
                </a:solidFill>
              </a:rPr>
              <a:t>SIGNAL()</a:t>
            </a:r>
            <a:r>
              <a:rPr lang="fr-FR" dirty="0">
                <a:solidFill>
                  <a:schemeClr val="tx1"/>
                </a:solidFill>
              </a:rPr>
              <a:t>,</a:t>
            </a:r>
            <a:r>
              <a:rPr lang="fr-FR" dirty="0">
                <a:solidFill>
                  <a:srgbClr val="FF0000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recepteur</a:t>
            </a:r>
            <a:r>
              <a:rPr lang="fr-FR" dirty="0">
                <a:solidFill>
                  <a:schemeClr val="tx1"/>
                </a:solidFill>
              </a:rPr>
              <a:t>, </a:t>
            </a:r>
            <a:r>
              <a:rPr lang="fr-FR" dirty="0">
                <a:solidFill>
                  <a:srgbClr val="FF0000"/>
                </a:solidFill>
              </a:rPr>
              <a:t>SLOT()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6" name="Groupe 5"/>
          <p:cNvGrpSpPr/>
          <p:nvPr/>
        </p:nvGrpSpPr>
        <p:grpSpPr>
          <a:xfrm>
            <a:off x="4976976" y="3557364"/>
            <a:ext cx="4131528" cy="2247900"/>
            <a:chOff x="4976976" y="3557364"/>
            <a:chExt cx="4131528" cy="2247900"/>
          </a:xfrm>
        </p:grpSpPr>
        <p:grpSp>
          <p:nvGrpSpPr>
            <p:cNvPr id="12" name="Groupe 11"/>
            <p:cNvGrpSpPr/>
            <p:nvPr/>
          </p:nvGrpSpPr>
          <p:grpSpPr>
            <a:xfrm>
              <a:off x="4976976" y="3557364"/>
              <a:ext cx="4131528" cy="2247900"/>
              <a:chOff x="4860032" y="3356992"/>
              <a:chExt cx="4131528" cy="2247900"/>
            </a:xfrm>
          </p:grpSpPr>
          <p:pic>
            <p:nvPicPr>
              <p:cNvPr id="9" name="Picture 3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0032" y="3356992"/>
                <a:ext cx="4104456" cy="22479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" name="Picture 2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91360" y="3356992"/>
                <a:ext cx="1600200" cy="7429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" name="Picture 4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0032" y="3356992"/>
                <a:ext cx="1323975" cy="2762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3" name="ZoneTexte 2"/>
            <p:cNvSpPr txBox="1"/>
            <p:nvPr/>
          </p:nvSpPr>
          <p:spPr>
            <a:xfrm>
              <a:off x="7740352" y="4993431"/>
              <a:ext cx="864096" cy="30777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fr-FR" sz="1400" dirty="0" smtClean="0"/>
                <a:t>Close()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228031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Signaux et slots en Python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Exemples : 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smtClean="0"/>
              <a:t>Fermer la fenêtre en cliquant sur un bouton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smtClean="0"/>
              <a:t>Afficher ‘Hello’ en cliquant sur un bouton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/>
              <a:t>IHM avec </a:t>
            </a:r>
            <a:r>
              <a:rPr lang="fr-FR" dirty="0" err="1"/>
              <a:t>PyQt</a:t>
            </a:r>
            <a:endParaRPr lang="fr-FR" dirty="0"/>
          </a:p>
          <a:p>
            <a:endParaRPr lang="en-US" dirty="0"/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323528" y="2463572"/>
            <a:ext cx="8712968" cy="31683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/>
              <a:t>from</a:t>
            </a:r>
            <a:r>
              <a:rPr lang="fr-FR" dirty="0"/>
              <a:t> PyQt4.QtGui import * </a:t>
            </a:r>
            <a:endParaRPr lang="fr-FR" dirty="0" smtClean="0"/>
          </a:p>
          <a:p>
            <a:r>
              <a:rPr lang="fr-FR" dirty="0" err="1" smtClean="0">
                <a:solidFill>
                  <a:srgbClr val="FF0000"/>
                </a:solidFill>
              </a:rPr>
              <a:t>from</a:t>
            </a:r>
            <a:r>
              <a:rPr lang="fr-FR" dirty="0" smtClean="0">
                <a:solidFill>
                  <a:srgbClr val="FF0000"/>
                </a:solidFill>
              </a:rPr>
              <a:t> </a:t>
            </a:r>
            <a:r>
              <a:rPr lang="fr-FR" dirty="0">
                <a:solidFill>
                  <a:srgbClr val="FF0000"/>
                </a:solidFill>
              </a:rPr>
              <a:t>PyQt4.QtCore import *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class </a:t>
            </a:r>
            <a:r>
              <a:rPr lang="en-US" dirty="0" err="1">
                <a:solidFill>
                  <a:schemeClr val="tx1"/>
                </a:solidFill>
              </a:rPr>
              <a:t>MyForm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):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def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__(self, parent=None):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</a:t>
            </a:r>
            <a:r>
              <a:rPr lang="en-US" dirty="0" err="1">
                <a:solidFill>
                  <a:schemeClr val="tx1"/>
                </a:solidFill>
              </a:rPr>
              <a:t>self,parent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QPushButton</a:t>
            </a:r>
            <a:r>
              <a:rPr lang="en-US" dirty="0">
                <a:solidFill>
                  <a:schemeClr val="tx1"/>
                </a:solidFill>
              </a:rPr>
              <a:t>(‘Close')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</a:t>
            </a:r>
            <a:r>
              <a:rPr lang="en-US" dirty="0" err="1" smtClean="0">
                <a:solidFill>
                  <a:schemeClr val="tx1"/>
                </a:solidFill>
              </a:rPr>
              <a:t>self.connect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>
                <a:solidFill>
                  <a:schemeClr val="tx1"/>
                </a:solidFill>
              </a:rPr>
              <a:t>, SIGNAL('clicked()'), self, </a:t>
            </a:r>
            <a:r>
              <a:rPr lang="en-US" dirty="0" smtClean="0">
                <a:solidFill>
                  <a:schemeClr val="tx1"/>
                </a:solidFill>
              </a:rPr>
              <a:t>SLOT(‘close</a:t>
            </a:r>
            <a:r>
              <a:rPr lang="en-US" dirty="0">
                <a:solidFill>
                  <a:schemeClr val="tx1"/>
                </a:solidFill>
              </a:rPr>
              <a:t>()’))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self.setCentralWidget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>
                <a:solidFill>
                  <a:schemeClr val="tx1"/>
                </a:solidFill>
              </a:rPr>
              <a:t>) 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" name="Espace réservé du contenu 2"/>
          <p:cNvSpPr txBox="1">
            <a:spLocks/>
          </p:cNvSpPr>
          <p:nvPr/>
        </p:nvSpPr>
        <p:spPr>
          <a:xfrm>
            <a:off x="338728" y="2463572"/>
            <a:ext cx="8712968" cy="31683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/>
              <a:t>from</a:t>
            </a:r>
            <a:r>
              <a:rPr lang="fr-FR" dirty="0"/>
              <a:t> PyQt4.QtGui import * </a:t>
            </a:r>
            <a:endParaRPr lang="fr-FR" dirty="0" smtClean="0"/>
          </a:p>
          <a:p>
            <a:r>
              <a:rPr lang="fr-FR" dirty="0" err="1" smtClean="0">
                <a:solidFill>
                  <a:srgbClr val="FF0000"/>
                </a:solidFill>
              </a:rPr>
              <a:t>from</a:t>
            </a:r>
            <a:r>
              <a:rPr lang="fr-FR" dirty="0" smtClean="0">
                <a:solidFill>
                  <a:srgbClr val="FF0000"/>
                </a:solidFill>
              </a:rPr>
              <a:t> </a:t>
            </a:r>
            <a:r>
              <a:rPr lang="fr-FR" dirty="0">
                <a:solidFill>
                  <a:srgbClr val="FF0000"/>
                </a:solidFill>
              </a:rPr>
              <a:t>PyQt4.QtCore import *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class </a:t>
            </a:r>
            <a:r>
              <a:rPr lang="en-US" dirty="0" err="1">
                <a:solidFill>
                  <a:schemeClr val="tx1"/>
                </a:solidFill>
              </a:rPr>
              <a:t>MyForm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):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def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__(self, parent=None):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   super().__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 smtClean="0">
                <a:solidFill>
                  <a:schemeClr val="tx1"/>
                </a:solidFill>
              </a:rPr>
              <a:t>__(parent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   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QPushButton</a:t>
            </a:r>
            <a:r>
              <a:rPr lang="en-US" dirty="0" smtClean="0">
                <a:solidFill>
                  <a:schemeClr val="tx1"/>
                </a:solidFill>
              </a:rPr>
              <a:t>(‘Hello') 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    </a:t>
            </a:r>
            <a:r>
              <a:rPr lang="en-US" dirty="0" err="1" smtClean="0">
                <a:solidFill>
                  <a:schemeClr val="tx1"/>
                </a:solidFill>
              </a:rPr>
              <a:t>self.connect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>
                <a:solidFill>
                  <a:schemeClr val="tx1"/>
                </a:solidFill>
              </a:rPr>
              <a:t>, SIGNAL('clicked()'), </a:t>
            </a:r>
            <a:r>
              <a:rPr lang="en-US" dirty="0" smtClean="0">
                <a:solidFill>
                  <a:schemeClr val="tx1"/>
                </a:solidFill>
              </a:rPr>
              <a:t>self.do) 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 smtClean="0">
                <a:solidFill>
                  <a:schemeClr val="tx1"/>
                </a:solidFill>
              </a:rPr>
              <a:t>       </a:t>
            </a:r>
            <a:r>
              <a:rPr lang="en-US" dirty="0" err="1" smtClean="0">
                <a:solidFill>
                  <a:schemeClr val="tx1"/>
                </a:solidFill>
              </a:rPr>
              <a:t>self.setCentralWidget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>
                <a:solidFill>
                  <a:schemeClr val="tx1"/>
                </a:solidFill>
              </a:rPr>
              <a:t>)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 err="1" smtClean="0">
                <a:solidFill>
                  <a:schemeClr val="tx1"/>
                </a:solidFill>
              </a:rPr>
              <a:t>def</a:t>
            </a:r>
            <a:r>
              <a:rPr lang="fr-FR" dirty="0" smtClean="0">
                <a:solidFill>
                  <a:schemeClr val="tx1"/>
                </a:solidFill>
              </a:rPr>
              <a:t> do(self):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   </a:t>
            </a:r>
            <a:r>
              <a:rPr lang="fr-FR" dirty="0" err="1" smtClean="0">
                <a:solidFill>
                  <a:schemeClr val="tx1"/>
                </a:solidFill>
              </a:rPr>
              <a:t>print</a:t>
            </a:r>
            <a:r>
              <a:rPr lang="fr-FR" dirty="0" smtClean="0">
                <a:solidFill>
                  <a:schemeClr val="tx1"/>
                </a:solidFill>
              </a:rPr>
              <a:t>(‘Hello’)</a:t>
            </a:r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060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Principe : </a:t>
            </a:r>
          </a:p>
          <a:p>
            <a:r>
              <a:rPr lang="fr-FR" sz="2400" dirty="0" smtClean="0"/>
              <a:t>La connexion : la méthode </a:t>
            </a:r>
            <a:r>
              <a:rPr lang="fr-FR" sz="2400" dirty="0" err="1" smtClean="0">
                <a:solidFill>
                  <a:srgbClr val="FFFF00"/>
                </a:solidFill>
              </a:rPr>
              <a:t>connect</a:t>
            </a:r>
            <a:r>
              <a:rPr lang="fr-FR" sz="2400" dirty="0" smtClean="0"/>
              <a:t>() de l’objet </a:t>
            </a:r>
            <a:r>
              <a:rPr lang="fr-FR" sz="2400" dirty="0" err="1" smtClean="0"/>
              <a:t>QObject</a:t>
            </a:r>
            <a:endParaRPr lang="fr-FR" sz="2400" dirty="0" smtClean="0"/>
          </a:p>
          <a:p>
            <a:pPr marL="0" indent="0">
              <a:buNone/>
            </a:pPr>
            <a:r>
              <a:rPr lang="fr-FR" sz="2400" dirty="0" smtClean="0"/>
              <a:t>Nouvelle Syntaxe (à partir de PyQt4.5)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</p:txBody>
      </p:sp>
      <p:sp>
        <p:nvSpPr>
          <p:cNvPr id="8" name="ZoneTexte 7"/>
          <p:cNvSpPr txBox="1"/>
          <p:nvPr/>
        </p:nvSpPr>
        <p:spPr>
          <a:xfrm>
            <a:off x="536164" y="2600908"/>
            <a:ext cx="8280920" cy="4680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25000" lnSpcReduction="20000"/>
          </a:bodyPr>
          <a:lstStyle>
            <a:defPPr>
              <a:defRPr lang="en-US"/>
            </a:defPPr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endParaRPr lang="en-US" dirty="0"/>
          </a:p>
          <a:p>
            <a:r>
              <a:rPr lang="en-US" sz="7200" dirty="0" err="1">
                <a:solidFill>
                  <a:schemeClr val="tx1"/>
                </a:solidFill>
              </a:rPr>
              <a:t>sender.signalName.connect</a:t>
            </a:r>
            <a:r>
              <a:rPr lang="en-US" sz="7200" dirty="0">
                <a:solidFill>
                  <a:schemeClr val="tx1"/>
                </a:solidFill>
              </a:rPr>
              <a:t>(</a:t>
            </a:r>
            <a:r>
              <a:rPr lang="en-US" sz="7200" dirty="0" err="1">
                <a:solidFill>
                  <a:schemeClr val="tx1"/>
                </a:solidFill>
              </a:rPr>
              <a:t>receiver.slotName</a:t>
            </a:r>
            <a:r>
              <a:rPr lang="en-US" sz="7200" dirty="0">
                <a:solidFill>
                  <a:schemeClr val="tx1"/>
                </a:solidFill>
              </a:rPr>
              <a:t>) </a:t>
            </a:r>
            <a:endParaRPr lang="fr-FR" sz="7200" dirty="0">
              <a:solidFill>
                <a:schemeClr val="tx1"/>
              </a:solidFill>
            </a:endParaRPr>
          </a:p>
        </p:txBody>
      </p:sp>
      <p:sp>
        <p:nvSpPr>
          <p:cNvPr id="13" name="Espace réservé du contenu 2"/>
          <p:cNvSpPr txBox="1">
            <a:spLocks/>
          </p:cNvSpPr>
          <p:nvPr/>
        </p:nvSpPr>
        <p:spPr>
          <a:xfrm>
            <a:off x="536164" y="3573016"/>
            <a:ext cx="6003616" cy="17281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smtClean="0"/>
              <a:t>…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QPushButton</a:t>
            </a:r>
            <a:r>
              <a:rPr lang="en-US" dirty="0">
                <a:solidFill>
                  <a:schemeClr val="tx1"/>
                </a:solidFill>
              </a:rPr>
              <a:t>('Close</a:t>
            </a:r>
            <a:r>
              <a:rPr lang="en-US" dirty="0" smtClean="0">
                <a:solidFill>
                  <a:schemeClr val="tx1"/>
                </a:solidFill>
              </a:rPr>
              <a:t>')</a:t>
            </a:r>
          </a:p>
          <a:p>
            <a:r>
              <a:rPr lang="en-US" dirty="0" err="1" smtClean="0">
                <a:solidFill>
                  <a:schemeClr val="tx1"/>
                </a:solidFill>
              </a:rPr>
              <a:t>the_button.clicked.connect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self.close</a:t>
            </a:r>
            <a:r>
              <a:rPr lang="en-US" dirty="0" smtClean="0">
                <a:solidFill>
                  <a:schemeClr val="tx1"/>
                </a:solidFill>
              </a:rPr>
              <a:t>)</a:t>
            </a:r>
          </a:p>
          <a:p>
            <a:r>
              <a:rPr lang="fr-FR" dirty="0" smtClean="0"/>
              <a:t># Pour appeler une méthode hello()</a:t>
            </a:r>
          </a:p>
          <a:p>
            <a:r>
              <a:rPr lang="en-US" dirty="0" err="1" smtClean="0">
                <a:solidFill>
                  <a:schemeClr val="tx1"/>
                </a:solidFill>
              </a:rPr>
              <a:t>the_button.clicked.connect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self.hello</a:t>
            </a:r>
            <a:r>
              <a:rPr lang="en-US" dirty="0" smtClean="0">
                <a:solidFill>
                  <a:schemeClr val="tx1"/>
                </a:solidFill>
              </a:rPr>
              <a:t>)</a:t>
            </a:r>
            <a:endParaRPr lang="en-US" dirty="0">
              <a:solidFill>
                <a:schemeClr val="tx1"/>
              </a:solidFill>
            </a:endParaRPr>
          </a:p>
          <a:p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6505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FR" dirty="0" smtClean="0"/>
              <a:t>Remarques </a:t>
            </a:r>
          </a:p>
          <a:p>
            <a:r>
              <a:rPr lang="fr-FR" sz="2400" dirty="0" smtClean="0"/>
              <a:t>Un signal peut se connecter à plusieurs slots. </a:t>
            </a:r>
          </a:p>
          <a:p>
            <a:pPr marL="0" indent="182563">
              <a:buNone/>
            </a:pPr>
            <a:r>
              <a:rPr lang="fr-FR" sz="2400" dirty="0" smtClean="0"/>
              <a:t> </a:t>
            </a:r>
            <a:r>
              <a:rPr lang="fr-FR" sz="2400" dirty="0" smtClean="0">
                <a:sym typeface="Wingdings" panose="05000000000000000000" pitchFamily="2" charset="2"/>
              </a:rPr>
              <a:t> Les slots connectés sont activés dans un ordre arbitraire</a:t>
            </a:r>
            <a:r>
              <a:rPr lang="fr-FR" sz="2400" dirty="0" smtClean="0"/>
              <a:t>. </a:t>
            </a:r>
          </a:p>
          <a:p>
            <a:r>
              <a:rPr lang="fr-FR" sz="2400" dirty="0" smtClean="0"/>
              <a:t>Un signal/slot peut avoir des arguments.</a:t>
            </a:r>
          </a:p>
          <a:p>
            <a:pPr lvl="1"/>
            <a:r>
              <a:rPr lang="fr-FR" sz="2000" dirty="0" smtClean="0"/>
              <a:t>Pour connecter un signal à un slot, le slot (méthode) doit avoir au moins les même arguments (nombre)</a:t>
            </a:r>
          </a:p>
          <a:p>
            <a:pPr lvl="1"/>
            <a:r>
              <a:rPr lang="fr-FR" sz="2000" dirty="0" smtClean="0"/>
              <a:t>Si le signal connecté à un slot a plus de paramètres que ce slot, les paramètres supplémentaires seront ignorés </a:t>
            </a:r>
          </a:p>
          <a:p>
            <a:r>
              <a:rPr lang="fr-FR" sz="2400" dirty="0" smtClean="0"/>
              <a:t>Les </a:t>
            </a:r>
            <a:r>
              <a:rPr lang="fr-FR" sz="2400" dirty="0"/>
              <a:t>arguments </a:t>
            </a:r>
            <a:r>
              <a:rPr lang="fr-FR" sz="2400" dirty="0" smtClean="0"/>
              <a:t>entre </a:t>
            </a:r>
            <a:r>
              <a:rPr lang="fr-FR" sz="2400" dirty="0"/>
              <a:t>signal et slot </a:t>
            </a:r>
            <a:r>
              <a:rPr lang="fr-FR" sz="2400" dirty="0" smtClean="0"/>
              <a:t>connectés doivent </a:t>
            </a:r>
            <a:r>
              <a:rPr lang="fr-FR" sz="2400" dirty="0"/>
              <a:t>avoir les même types. </a:t>
            </a:r>
            <a:endParaRPr lang="fr-FR" sz="2000" dirty="0" smtClean="0"/>
          </a:p>
          <a:p>
            <a:r>
              <a:rPr lang="fr-FR" sz="2400" dirty="0"/>
              <a:t>Un signal peut se connecter à un autre signal. </a:t>
            </a:r>
          </a:p>
          <a:p>
            <a:pPr marL="0" indent="0">
              <a:buNone/>
            </a:pPr>
            <a:r>
              <a:rPr lang="fr-FR" sz="2400" dirty="0" smtClean="0"/>
              <a:t>Exemple : </a:t>
            </a:r>
          </a:p>
          <a:p>
            <a:pPr marL="0" indent="0">
              <a:buNone/>
            </a:pPr>
            <a:r>
              <a:rPr lang="fr-FR" sz="2000" dirty="0" smtClean="0"/>
              <a:t>On ne peut connecter directement le signal </a:t>
            </a:r>
            <a:r>
              <a:rPr lang="fr-FR" sz="2000" dirty="0" err="1" smtClean="0"/>
              <a:t>valueChanged</a:t>
            </a:r>
            <a:r>
              <a:rPr lang="fr-FR" sz="2000" dirty="0" smtClean="0"/>
              <a:t>(</a:t>
            </a:r>
            <a:r>
              <a:rPr lang="fr-FR" sz="2000" dirty="0" err="1" smtClean="0"/>
              <a:t>int</a:t>
            </a:r>
            <a:r>
              <a:rPr lang="fr-FR" sz="2000" dirty="0" smtClean="0"/>
              <a:t>) du widget </a:t>
            </a:r>
            <a:r>
              <a:rPr lang="fr-FR" sz="2000" dirty="0" err="1" smtClean="0"/>
              <a:t>Qdial</a:t>
            </a:r>
            <a:r>
              <a:rPr lang="fr-FR" sz="2000" dirty="0" smtClean="0"/>
              <a:t> au slot </a:t>
            </a:r>
            <a:r>
              <a:rPr lang="fr-FR" sz="2000" dirty="0" err="1" smtClean="0"/>
              <a:t>setText</a:t>
            </a:r>
            <a:r>
              <a:rPr lang="fr-FR" sz="2000" dirty="0" smtClean="0"/>
              <a:t>(</a:t>
            </a:r>
            <a:r>
              <a:rPr lang="fr-FR" sz="2000" dirty="0" err="1" smtClean="0"/>
              <a:t>QString</a:t>
            </a:r>
            <a:r>
              <a:rPr lang="fr-FR" sz="2000" dirty="0" smtClean="0"/>
              <a:t>) du widget </a:t>
            </a:r>
            <a:r>
              <a:rPr lang="fr-FR" sz="2000" dirty="0" err="1" smtClean="0"/>
              <a:t>QLineEdit</a:t>
            </a:r>
            <a:r>
              <a:rPr lang="fr-FR" sz="2000" dirty="0" smtClean="0"/>
              <a:t>. </a:t>
            </a:r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</p:txBody>
      </p:sp>
    </p:spTree>
    <p:extLst>
      <p:ext uri="{BB962C8B-B14F-4D97-AF65-F5344CB8AC3E}">
        <p14:creationId xmlns:p14="http://schemas.microsoft.com/office/powerpoint/2010/main" val="37742152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Exemple :</a:t>
            </a:r>
            <a:endParaRPr lang="fr-FR" sz="2400" dirty="0" smtClean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</p:txBody>
      </p:sp>
      <p:sp>
        <p:nvSpPr>
          <p:cNvPr id="13" name="Espace réservé du contenu 2"/>
          <p:cNvSpPr txBox="1">
            <a:spLocks/>
          </p:cNvSpPr>
          <p:nvPr/>
        </p:nvSpPr>
        <p:spPr>
          <a:xfrm>
            <a:off x="536164" y="1916832"/>
            <a:ext cx="6003616" cy="410445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 smtClean="0">
                <a:solidFill>
                  <a:schemeClr val="tx1"/>
                </a:solidFill>
              </a:rPr>
              <a:t>from </a:t>
            </a:r>
            <a:r>
              <a:rPr lang="en-US" dirty="0">
                <a:solidFill>
                  <a:schemeClr val="tx1"/>
                </a:solidFill>
              </a:rPr>
              <a:t>PyQt4 import </a:t>
            </a:r>
            <a:r>
              <a:rPr lang="en-US" dirty="0" err="1">
                <a:solidFill>
                  <a:schemeClr val="tx1"/>
                </a:solidFill>
              </a:rPr>
              <a:t>QtGui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QtCore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class </a:t>
            </a:r>
            <a:r>
              <a:rPr lang="fr-FR" dirty="0" smtClean="0">
                <a:solidFill>
                  <a:schemeClr val="tx1"/>
                </a:solidFill>
              </a:rPr>
              <a:t>Composant(</a:t>
            </a:r>
            <a:r>
              <a:rPr lang="fr-FR" dirty="0" err="1" smtClean="0">
                <a:solidFill>
                  <a:schemeClr val="tx1"/>
                </a:solidFill>
              </a:rPr>
              <a:t>QtGui.QWidget</a:t>
            </a:r>
            <a:r>
              <a:rPr lang="fr-FR" dirty="0">
                <a:solidFill>
                  <a:schemeClr val="tx1"/>
                </a:solidFill>
              </a:rPr>
              <a:t>): 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def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__</a:t>
            </a:r>
            <a:r>
              <a:rPr lang="fr-FR" dirty="0" err="1">
                <a:solidFill>
                  <a:schemeClr val="tx1"/>
                </a:solidFill>
              </a:rPr>
              <a:t>init</a:t>
            </a:r>
            <a:r>
              <a:rPr lang="fr-FR" dirty="0">
                <a:solidFill>
                  <a:schemeClr val="tx1"/>
                </a:solidFill>
              </a:rPr>
              <a:t>__(</a:t>
            </a:r>
            <a:r>
              <a:rPr lang="fr-FR" dirty="0" err="1">
                <a:solidFill>
                  <a:schemeClr val="tx1"/>
                </a:solidFill>
              </a:rPr>
              <a:t>self,parent</a:t>
            </a:r>
            <a:r>
              <a:rPr lang="fr-FR" dirty="0">
                <a:solidFill>
                  <a:schemeClr val="tx1"/>
                </a:solidFill>
              </a:rPr>
              <a:t>=None): </a:t>
            </a:r>
          </a:p>
          <a:p>
            <a:pPr marL="857250" lvl="2" indent="0">
              <a:buNone/>
            </a:pP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.__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init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__(self, parent)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self.setWindowTitle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('Simple‘)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self.setGeometry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(300,300,250,150)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QtGui.QLineEdit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 ',self)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('Item1')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('Item2')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QtGui.QGridLayout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(self.Line,0,0)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(self.ComboBox,0,1)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self.connect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self.ComboBox,QtCore.SIGNAL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currentIndexChanged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)'),</a:t>
            </a:r>
            <a:r>
              <a:rPr lang="fr-FR" sz="11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self.Line,QtCore.SLOT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setText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)'))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2348880"/>
            <a:ext cx="2705100" cy="182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7688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Exemple :</a:t>
            </a:r>
            <a:endParaRPr lang="fr-FR" sz="2400" dirty="0" smtClean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</p:txBody>
      </p:sp>
      <p:sp>
        <p:nvSpPr>
          <p:cNvPr id="13" name="Espace réservé du contenu 2"/>
          <p:cNvSpPr txBox="1">
            <a:spLocks/>
          </p:cNvSpPr>
          <p:nvPr/>
        </p:nvSpPr>
        <p:spPr>
          <a:xfrm>
            <a:off x="536164" y="1916832"/>
            <a:ext cx="6003616" cy="410445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 smtClean="0">
                <a:solidFill>
                  <a:schemeClr val="tx1"/>
                </a:solidFill>
              </a:rPr>
              <a:t>from </a:t>
            </a:r>
            <a:r>
              <a:rPr lang="en-US" dirty="0">
                <a:solidFill>
                  <a:schemeClr val="tx1"/>
                </a:solidFill>
              </a:rPr>
              <a:t>PyQt4 import </a:t>
            </a:r>
            <a:r>
              <a:rPr lang="en-US" dirty="0" err="1">
                <a:solidFill>
                  <a:schemeClr val="tx1"/>
                </a:solidFill>
              </a:rPr>
              <a:t>QtGui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QtCore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class </a:t>
            </a:r>
            <a:r>
              <a:rPr lang="fr-FR" dirty="0" smtClean="0">
                <a:solidFill>
                  <a:schemeClr val="tx1"/>
                </a:solidFill>
              </a:rPr>
              <a:t>Composant(</a:t>
            </a:r>
            <a:r>
              <a:rPr lang="fr-FR" dirty="0" err="1" smtClean="0">
                <a:solidFill>
                  <a:schemeClr val="tx1"/>
                </a:solidFill>
              </a:rPr>
              <a:t>QtGui.QWidget</a:t>
            </a:r>
            <a:r>
              <a:rPr lang="fr-FR" dirty="0">
                <a:solidFill>
                  <a:schemeClr val="tx1"/>
                </a:solidFill>
              </a:rPr>
              <a:t>): 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def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__</a:t>
            </a:r>
            <a:r>
              <a:rPr lang="fr-FR" dirty="0" err="1">
                <a:solidFill>
                  <a:schemeClr val="tx1"/>
                </a:solidFill>
              </a:rPr>
              <a:t>init</a:t>
            </a:r>
            <a:r>
              <a:rPr lang="fr-FR" dirty="0">
                <a:solidFill>
                  <a:schemeClr val="tx1"/>
                </a:solidFill>
              </a:rPr>
              <a:t>__(</a:t>
            </a:r>
            <a:r>
              <a:rPr lang="fr-FR" dirty="0" err="1">
                <a:solidFill>
                  <a:schemeClr val="tx1"/>
                </a:solidFill>
              </a:rPr>
              <a:t>self,parent</a:t>
            </a:r>
            <a:r>
              <a:rPr lang="fr-FR" dirty="0">
                <a:solidFill>
                  <a:schemeClr val="tx1"/>
                </a:solidFill>
              </a:rPr>
              <a:t>=None): </a:t>
            </a:r>
          </a:p>
          <a:p>
            <a:pPr marL="857250" lvl="2" indent="0">
              <a:buNone/>
            </a:pPr>
            <a:r>
              <a:rPr lang="fr-FR" sz="11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Super().__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init</a:t>
            </a:r>
            <a:r>
              <a:rPr lang="fr-FR" sz="11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__(parent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self.setWindowTitle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('Simple‘)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self.setGeometry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(300,300,250,150)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QtGui.QLineEdit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 ',self)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('Item1')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('Item2')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QtGui.QGridLayout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(self.Line,0,0)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(self.ComboBox,0,1)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self.connect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self.ComboBox,QtCore.SIGNAL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currentIndexChanged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)'),</a:t>
            </a:r>
            <a:r>
              <a:rPr lang="fr-FR" sz="11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self.Line,QtCore.SLOT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setText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)'))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2348880"/>
            <a:ext cx="2705100" cy="182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7688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Définition</a:t>
            </a:r>
            <a:r>
              <a:rPr lang="en-US" dirty="0" smtClean="0"/>
              <a:t> signal/slot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 smtClean="0"/>
              <a:t>Signal</a:t>
            </a:r>
          </a:p>
          <a:p>
            <a:r>
              <a:rPr lang="fr-FR" sz="2000" dirty="0" smtClean="0"/>
              <a:t>Utilisation de la méthode </a:t>
            </a:r>
            <a:r>
              <a:rPr lang="fr-FR" sz="2000" dirty="0" err="1" smtClean="0">
                <a:solidFill>
                  <a:srgbClr val="FFFF00"/>
                </a:solidFill>
              </a:rPr>
              <a:t>pyqtsignal</a:t>
            </a:r>
            <a:r>
              <a:rPr lang="fr-FR" sz="2000" dirty="0" smtClean="0">
                <a:solidFill>
                  <a:srgbClr val="FFFF00"/>
                </a:solidFill>
              </a:rPr>
              <a:t>() </a:t>
            </a:r>
            <a:r>
              <a:rPr lang="fr-FR" sz="2000" dirty="0" smtClean="0"/>
              <a:t>avec la liste des types de paramètres</a:t>
            </a:r>
          </a:p>
          <a:p>
            <a:r>
              <a:rPr lang="fr-FR" sz="2000" dirty="0" smtClean="0"/>
              <a:t>Emission manuelle d’un signal est réalisée par la méthode : </a:t>
            </a:r>
            <a:r>
              <a:rPr lang="fr-FR" sz="2000" dirty="0" err="1" smtClean="0">
                <a:solidFill>
                  <a:srgbClr val="FFFF00"/>
                </a:solidFill>
              </a:rPr>
              <a:t>emit</a:t>
            </a:r>
            <a:r>
              <a:rPr lang="fr-FR" sz="2000" dirty="0" smtClean="0">
                <a:solidFill>
                  <a:srgbClr val="FFFF00"/>
                </a:solidFill>
              </a:rPr>
              <a:t>()</a:t>
            </a:r>
          </a:p>
          <a:p>
            <a:pPr marL="0" indent="0">
              <a:buNone/>
            </a:pPr>
            <a:r>
              <a:rPr lang="fr-FR" sz="2000" dirty="0" smtClean="0"/>
              <a:t>Exemple :</a:t>
            </a:r>
          </a:p>
          <a:p>
            <a:endParaRPr lang="fr-FR" dirty="0" smtClean="0"/>
          </a:p>
          <a:p>
            <a:endParaRPr lang="fr-FR" sz="2400" dirty="0" smtClean="0"/>
          </a:p>
          <a:p>
            <a:r>
              <a:rPr lang="fr-FR" sz="2000" dirty="0" smtClean="0"/>
              <a:t>Le </a:t>
            </a:r>
            <a:r>
              <a:rPr lang="fr-FR" sz="2000" dirty="0"/>
              <a:t>signal crée se connecte à un slot avec </a:t>
            </a:r>
            <a:r>
              <a:rPr lang="fr-FR" sz="2000" dirty="0" smtClean="0"/>
              <a:t>la même </a:t>
            </a:r>
            <a:r>
              <a:rPr lang="fr-FR" sz="2000" dirty="0"/>
              <a:t>liste de </a:t>
            </a:r>
            <a:r>
              <a:rPr lang="fr-FR" sz="2000" dirty="0" smtClean="0"/>
              <a:t>types de paramètres</a:t>
            </a:r>
            <a:endParaRPr lang="fr-FR" sz="20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/>
              <a:t>IHM avec </a:t>
            </a:r>
            <a:r>
              <a:rPr lang="fr-FR" dirty="0" err="1"/>
              <a:t>PyQt</a:t>
            </a:r>
            <a:endParaRPr lang="fr-FR" dirty="0"/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1691680" y="2924944"/>
            <a:ext cx="6003616" cy="11521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 smtClean="0">
                <a:solidFill>
                  <a:schemeClr val="tx1"/>
                </a:solidFill>
              </a:rPr>
              <a:t>from PyQt4 import </a:t>
            </a:r>
            <a:r>
              <a:rPr lang="en-US" dirty="0" err="1" smtClean="0">
                <a:solidFill>
                  <a:schemeClr val="tx1"/>
                </a:solidFill>
              </a:rPr>
              <a:t>QtGui</a:t>
            </a:r>
            <a:r>
              <a:rPr lang="en-US" dirty="0" smtClean="0">
                <a:solidFill>
                  <a:schemeClr val="tx1"/>
                </a:solidFill>
              </a:rPr>
              <a:t>, </a:t>
            </a:r>
            <a:r>
              <a:rPr lang="en-US" dirty="0" err="1" smtClean="0">
                <a:solidFill>
                  <a:schemeClr val="tx1"/>
                </a:solidFill>
              </a:rPr>
              <a:t>QtCore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endParaRPr lang="fr-FR" dirty="0" smtClean="0">
              <a:solidFill>
                <a:schemeClr val="tx1"/>
              </a:solidFill>
            </a:endParaRPr>
          </a:p>
          <a:p>
            <a:r>
              <a:rPr lang="fr-FR" dirty="0" err="1" smtClean="0">
                <a:solidFill>
                  <a:schemeClr val="tx1"/>
                </a:solidFill>
              </a:rPr>
              <a:t>mysignal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 smtClean="0">
                <a:solidFill>
                  <a:schemeClr val="tx1"/>
                </a:solidFill>
              </a:rPr>
              <a:t>QtCore.pyqtSignal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list</a:t>
            </a:r>
            <a:r>
              <a:rPr lang="fr-FR" dirty="0" smtClean="0">
                <a:solidFill>
                  <a:schemeClr val="tx1"/>
                </a:solidFill>
              </a:rPr>
              <a:t>, </a:t>
            </a:r>
            <a:r>
              <a:rPr lang="fr-FR" dirty="0" err="1" smtClean="0">
                <a:solidFill>
                  <a:schemeClr val="tx1"/>
                </a:solidFill>
              </a:rPr>
              <a:t>int</a:t>
            </a:r>
            <a:r>
              <a:rPr lang="fr-FR" dirty="0" smtClean="0">
                <a:solidFill>
                  <a:schemeClr val="tx1"/>
                </a:solidFill>
              </a:rPr>
              <a:t>)</a:t>
            </a:r>
          </a:p>
          <a:p>
            <a:r>
              <a:rPr lang="fr-FR" dirty="0" err="1" smtClean="0">
                <a:solidFill>
                  <a:schemeClr val="tx1"/>
                </a:solidFill>
              </a:rPr>
              <a:t>mysignal.emit</a:t>
            </a:r>
            <a:r>
              <a:rPr lang="fr-FR" dirty="0" smtClean="0">
                <a:solidFill>
                  <a:schemeClr val="tx1"/>
                </a:solidFill>
              </a:rPr>
              <a:t>([1,2,3,6],3)</a:t>
            </a:r>
          </a:p>
          <a:p>
            <a:r>
              <a:rPr lang="fr-FR" dirty="0" smtClean="0">
                <a:solidFill>
                  <a:srgbClr val="C00000"/>
                </a:solidFill>
              </a:rPr>
              <a:t># </a:t>
            </a:r>
            <a:r>
              <a:rPr lang="fr-FR" dirty="0" err="1" smtClean="0">
                <a:solidFill>
                  <a:srgbClr val="C00000"/>
                </a:solidFill>
              </a:rPr>
              <a:t>error</a:t>
            </a:r>
            <a:r>
              <a:rPr lang="fr-FR" dirty="0" smtClean="0">
                <a:solidFill>
                  <a:srgbClr val="C00000"/>
                </a:solidFill>
              </a:rPr>
              <a:t>  :  </a:t>
            </a:r>
            <a:r>
              <a:rPr lang="fr-FR" dirty="0" err="1" smtClean="0">
                <a:solidFill>
                  <a:srgbClr val="C00000"/>
                </a:solidFill>
              </a:rPr>
              <a:t>mysignal.emit</a:t>
            </a:r>
            <a:r>
              <a:rPr lang="fr-FR" dirty="0">
                <a:solidFill>
                  <a:srgbClr val="C00000"/>
                </a:solidFill>
              </a:rPr>
              <a:t>([1,2,3,6</a:t>
            </a:r>
            <a:r>
              <a:rPr lang="fr-FR" dirty="0" smtClean="0">
                <a:solidFill>
                  <a:srgbClr val="C00000"/>
                </a:solidFill>
              </a:rPr>
              <a:t>], ’3’)</a:t>
            </a:r>
            <a:endParaRPr lang="fr-FR" dirty="0">
              <a:solidFill>
                <a:srgbClr val="C00000"/>
              </a:solidFill>
            </a:endParaRPr>
          </a:p>
          <a:p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1619672" y="5000520"/>
            <a:ext cx="6003616" cy="43204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dirty="0" err="1">
                <a:solidFill>
                  <a:srgbClr val="C00000"/>
                </a:solidFill>
              </a:rPr>
              <a:t>c</a:t>
            </a:r>
            <a:r>
              <a:rPr lang="fr-FR" dirty="0" err="1" smtClean="0">
                <a:solidFill>
                  <a:srgbClr val="C00000"/>
                </a:solidFill>
              </a:rPr>
              <a:t>onnect</a:t>
            </a:r>
            <a:r>
              <a:rPr lang="fr-FR" dirty="0" smtClean="0">
                <a:solidFill>
                  <a:srgbClr val="C00000"/>
                </a:solidFill>
              </a:rPr>
              <a:t>(</a:t>
            </a:r>
            <a:r>
              <a:rPr lang="fr-FR" dirty="0" err="1" smtClean="0">
                <a:solidFill>
                  <a:srgbClr val="C00000"/>
                </a:solidFill>
              </a:rPr>
              <a:t>emetteur</a:t>
            </a:r>
            <a:r>
              <a:rPr lang="fr-FR" dirty="0" smtClean="0">
                <a:solidFill>
                  <a:srgbClr val="C00000"/>
                </a:solidFill>
              </a:rPr>
              <a:t>, SIGNAL(‘‘</a:t>
            </a:r>
            <a:r>
              <a:rPr lang="fr-FR" dirty="0" err="1" smtClean="0">
                <a:solidFill>
                  <a:srgbClr val="C00000"/>
                </a:solidFill>
              </a:rPr>
              <a:t>mysignal</a:t>
            </a:r>
            <a:r>
              <a:rPr lang="fr-FR" dirty="0" smtClean="0">
                <a:solidFill>
                  <a:srgbClr val="C00000"/>
                </a:solidFill>
              </a:rPr>
              <a:t>(</a:t>
            </a:r>
            <a:r>
              <a:rPr lang="fr-FR" dirty="0" err="1" smtClean="0">
                <a:solidFill>
                  <a:srgbClr val="C00000"/>
                </a:solidFill>
              </a:rPr>
              <a:t>list,int</a:t>
            </a:r>
            <a:r>
              <a:rPr lang="fr-FR" dirty="0" smtClean="0">
                <a:solidFill>
                  <a:srgbClr val="C00000"/>
                </a:solidFill>
              </a:rPr>
              <a:t>)″), </a:t>
            </a:r>
            <a:r>
              <a:rPr lang="fr-FR" dirty="0" err="1" smtClean="0">
                <a:solidFill>
                  <a:srgbClr val="C00000"/>
                </a:solidFill>
              </a:rPr>
              <a:t>methode</a:t>
            </a:r>
            <a:r>
              <a:rPr lang="fr-FR" dirty="0" smtClean="0">
                <a:solidFill>
                  <a:srgbClr val="C00000"/>
                </a:solidFill>
              </a:rPr>
              <a:t>)</a:t>
            </a:r>
            <a:endParaRPr lang="fr-FR" dirty="0">
              <a:solidFill>
                <a:srgbClr val="C00000"/>
              </a:solidFill>
            </a:endParaRPr>
          </a:p>
          <a:p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642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8229600" cy="648072"/>
          </a:xfrm>
        </p:spPr>
        <p:txBody>
          <a:bodyPr/>
          <a:lstStyle/>
          <a:p>
            <a:r>
              <a:rPr lang="en-US" dirty="0" err="1" smtClean="0"/>
              <a:t>Exemple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 smtClean="0"/>
              <a:t>IHM avec </a:t>
            </a:r>
            <a:r>
              <a:rPr lang="en-US" dirty="0" err="1" smtClean="0"/>
              <a:t>PyQt</a:t>
            </a:r>
            <a:endParaRPr lang="en-US" dirty="0"/>
          </a:p>
        </p:txBody>
      </p:sp>
      <p:grpSp>
        <p:nvGrpSpPr>
          <p:cNvPr id="9" name="Groupe 8"/>
          <p:cNvGrpSpPr/>
          <p:nvPr/>
        </p:nvGrpSpPr>
        <p:grpSpPr>
          <a:xfrm>
            <a:off x="5940152" y="695843"/>
            <a:ext cx="3019425" cy="3864625"/>
            <a:chOff x="6053137" y="836712"/>
            <a:chExt cx="3019425" cy="3864625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81713" y="836712"/>
              <a:ext cx="2962275" cy="847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53137" y="2132856"/>
              <a:ext cx="3019425" cy="990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7" name="Connecteur droit avec flèche 6"/>
            <p:cNvCxnSpPr>
              <a:stCxn id="1026" idx="2"/>
              <a:endCxn id="1027" idx="0"/>
            </p:cNvCxnSpPr>
            <p:nvPr/>
          </p:nvCxnSpPr>
          <p:spPr>
            <a:xfrm flipH="1">
              <a:off x="7562850" y="1684437"/>
              <a:ext cx="1" cy="448419"/>
            </a:xfrm>
            <a:prstGeom prst="straightConnector1">
              <a:avLst/>
            </a:prstGeom>
            <a:ln w="381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ZoneTexte 7"/>
            <p:cNvSpPr txBox="1"/>
            <p:nvPr/>
          </p:nvSpPr>
          <p:spPr>
            <a:xfrm>
              <a:off x="6156176" y="3501008"/>
              <a:ext cx="288781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</a:rPr>
                <a:t>Préciser la valeur val de </a:t>
              </a:r>
              <a:r>
                <a:rPr lang="fr-FR" dirty="0" err="1" smtClean="0">
                  <a:solidFill>
                    <a:schemeClr val="bg1"/>
                  </a:solidFill>
                </a:rPr>
                <a:t>SpinBox</a:t>
              </a:r>
              <a:r>
                <a:rPr lang="fr-FR" dirty="0" smtClean="0">
                  <a:solidFill>
                    <a:schemeClr val="bg1"/>
                  </a:solidFill>
                </a:rPr>
                <a:t>, cliquer sur le ok, la liste (range(val)) est envoyée et affichée sur </a:t>
              </a:r>
              <a:r>
                <a:rPr lang="fr-FR" dirty="0" err="1" smtClean="0">
                  <a:solidFill>
                    <a:schemeClr val="bg1"/>
                  </a:solidFill>
                </a:rPr>
                <a:t>QlineEdit</a:t>
              </a:r>
              <a:endParaRPr lang="fr-FR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0" y="855203"/>
            <a:ext cx="5256584" cy="37052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sz="2000" dirty="0">
                <a:solidFill>
                  <a:schemeClr val="tx1"/>
                </a:solidFill>
              </a:rPr>
              <a:t>import sys</a:t>
            </a:r>
          </a:p>
          <a:p>
            <a:r>
              <a:rPr lang="en-US" sz="2000" dirty="0">
                <a:solidFill>
                  <a:schemeClr val="tx1"/>
                </a:solidFill>
              </a:rPr>
              <a:t>from PyQt4 import </a:t>
            </a:r>
            <a:r>
              <a:rPr lang="en-US" sz="2000" dirty="0" err="1">
                <a:solidFill>
                  <a:schemeClr val="tx1"/>
                </a:solidFill>
              </a:rPr>
              <a:t>QtGui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dirty="0" err="1">
                <a:solidFill>
                  <a:schemeClr val="tx1"/>
                </a:solidFill>
              </a:rPr>
              <a:t>QtCore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class </a:t>
            </a:r>
            <a:r>
              <a:rPr lang="en-US" sz="2000" dirty="0" err="1">
                <a:solidFill>
                  <a:schemeClr val="tx1"/>
                </a:solidFill>
              </a:rPr>
              <a:t>MyWidget</a:t>
            </a:r>
            <a:r>
              <a:rPr lang="en-US" sz="2000" dirty="0">
                <a:solidFill>
                  <a:schemeClr val="tx1"/>
                </a:solidFill>
              </a:rPr>
              <a:t>(</a:t>
            </a:r>
            <a:r>
              <a:rPr lang="en-US" sz="2000" dirty="0" err="1">
                <a:solidFill>
                  <a:schemeClr val="tx1"/>
                </a:solidFill>
              </a:rPr>
              <a:t>QtGui.QWidget</a:t>
            </a:r>
            <a:r>
              <a:rPr lang="en-US" sz="2000" dirty="0">
                <a:solidFill>
                  <a:schemeClr val="tx1"/>
                </a:solidFill>
              </a:rPr>
              <a:t>):</a:t>
            </a:r>
          </a:p>
          <a:p>
            <a:pPr marL="457200" lvl="1" indent="-274638">
              <a:buNone/>
            </a:pPr>
            <a:r>
              <a:rPr lang="en-US" sz="20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mysignal</a:t>
            </a:r>
            <a:r>
              <a:rPr lang="en-US" sz="20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QtCore.pyqtSignal</a:t>
            </a:r>
            <a:r>
              <a:rPr lang="en-US" sz="20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(list)</a:t>
            </a:r>
          </a:p>
          <a:p>
            <a:pPr marL="457200" lvl="1" indent="-2746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def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__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init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__(self, parent=None):</a:t>
            </a:r>
          </a:p>
          <a:p>
            <a:pPr marL="457200" lvl="1" indent="-7938">
              <a:buNone/>
            </a:pP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QWidget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.__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init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self,parent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self.button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QtGui.QPushButton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("OK", self)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self.text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QtGui.QLineEdit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self.spin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QtGui.QSpinBox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QtGui.QGridLayout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(self.button,0,1)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(self.spin,0,0)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(self.text,0,2)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self.setLayout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</a:t>
            </a:r>
          </a:p>
          <a:p>
            <a:pPr marL="457200" lvl="1" indent="-7938">
              <a:buNone/>
            </a:pPr>
            <a:r>
              <a:rPr lang="en-US" sz="20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self.button.clicked.connect</a:t>
            </a:r>
            <a:r>
              <a:rPr lang="en-US" sz="20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en-US" sz="20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self.onClicked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</a:t>
            </a:r>
          </a:p>
          <a:p>
            <a:pPr marL="457200" lvl="1" indent="-7938">
              <a:buNone/>
            </a:pPr>
            <a:r>
              <a:rPr lang="en-US" sz="20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self.mysignal.connect</a:t>
            </a:r>
            <a:r>
              <a:rPr lang="en-US" sz="20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en-US" sz="20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self.onPrint</a:t>
            </a:r>
            <a:r>
              <a:rPr lang="en-US" sz="25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3" name="Espace réservé du contenu 2"/>
          <p:cNvSpPr txBox="1">
            <a:spLocks/>
          </p:cNvSpPr>
          <p:nvPr/>
        </p:nvSpPr>
        <p:spPr>
          <a:xfrm>
            <a:off x="5004048" y="3360139"/>
            <a:ext cx="4284984" cy="28803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pPr marL="0" lvl="1" indent="0">
              <a:buNone/>
            </a:pPr>
            <a:r>
              <a:rPr lang="en-US" sz="14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def</a:t>
            </a: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o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nClicked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</a:t>
            </a: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):</a:t>
            </a:r>
          </a:p>
          <a:p>
            <a:pPr marL="266700" lvl="1" indent="-182563">
              <a:buNone/>
            </a:pP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 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val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self.spin.value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266700" lvl="1" indent="-182563">
              <a:buNone/>
            </a:pP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en-US" sz="14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self.mysignal.emit</a:t>
            </a:r>
            <a:r>
              <a:rPr lang="en-US" sz="14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(list(range(</a:t>
            </a:r>
            <a:r>
              <a:rPr lang="en-US" sz="14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val</a:t>
            </a:r>
            <a:r>
              <a:rPr lang="en-US" sz="14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))) 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#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self.emit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QtCore.SIGNAL</a:t>
            </a: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en-US" sz="14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mysignal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')#,list(range(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val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)))</a:t>
            </a:r>
            <a:endParaRPr lang="en-US" sz="1400" dirty="0">
              <a:solidFill>
                <a:schemeClr val="tx1"/>
              </a:solidFill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def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</a:t>
            </a:r>
            <a:r>
              <a:rPr lang="en-US" dirty="0" err="1" smtClean="0">
                <a:solidFill>
                  <a:schemeClr val="tx1"/>
                </a:solidFill>
              </a:rPr>
              <a:t>nPrint</a:t>
            </a:r>
            <a:r>
              <a:rPr lang="en-US" dirty="0" smtClean="0">
                <a:solidFill>
                  <a:schemeClr val="tx1"/>
                </a:solidFill>
              </a:rPr>
              <a:t>(self, </a:t>
            </a:r>
            <a:r>
              <a:rPr lang="en-US" dirty="0" err="1" smtClean="0">
                <a:solidFill>
                  <a:schemeClr val="tx1"/>
                </a:solidFill>
              </a:rPr>
              <a:t>val</a:t>
            </a:r>
            <a:r>
              <a:rPr lang="en-US" dirty="0">
                <a:solidFill>
                  <a:schemeClr val="tx1"/>
                </a:solidFill>
              </a:rPr>
              <a:t>):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s</a:t>
            </a:r>
            <a:r>
              <a:rPr lang="en-US" dirty="0">
                <a:solidFill>
                  <a:schemeClr val="tx1"/>
                </a:solidFill>
              </a:rPr>
              <a:t>= ' '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for </a:t>
            </a:r>
            <a:r>
              <a:rPr lang="en-US" dirty="0">
                <a:solidFill>
                  <a:schemeClr val="tx1"/>
                </a:solidFill>
              </a:rPr>
              <a:t>el in </a:t>
            </a:r>
            <a:r>
              <a:rPr lang="en-US" dirty="0" err="1">
                <a:solidFill>
                  <a:schemeClr val="tx1"/>
                </a:solidFill>
              </a:rPr>
              <a:t>val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  s</a:t>
            </a:r>
            <a:r>
              <a:rPr lang="en-US" dirty="0">
                <a:solidFill>
                  <a:schemeClr val="tx1"/>
                </a:solidFill>
              </a:rPr>
              <a:t>+=</a:t>
            </a:r>
            <a:r>
              <a:rPr lang="en-US" dirty="0" err="1">
                <a:solidFill>
                  <a:schemeClr val="tx1"/>
                </a:solidFill>
              </a:rPr>
              <a:t>str</a:t>
            </a:r>
            <a:r>
              <a:rPr lang="en-US" dirty="0">
                <a:solidFill>
                  <a:schemeClr val="tx1"/>
                </a:solidFill>
              </a:rPr>
              <a:t>(el)+' '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self.text.setText</a:t>
            </a:r>
            <a:r>
              <a:rPr lang="en-US" dirty="0" smtClean="0">
                <a:solidFill>
                  <a:schemeClr val="tx1"/>
                </a:solidFill>
              </a:rPr>
              <a:t>(s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604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 algn="ctr">
              <a:buNone/>
            </a:pPr>
            <a:r>
              <a:rPr lang="fr-FR" sz="6600" b="1" dirty="0" err="1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rPr>
              <a:t>QTDesigner</a:t>
            </a:r>
            <a:endParaRPr lang="fr-FR" sz="6600" b="1" dirty="0" smtClean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</a:endParaRPr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78697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1800" dirty="0" err="1"/>
              <a:t>Qt</a:t>
            </a:r>
            <a:r>
              <a:rPr lang="fr-FR" sz="1800" dirty="0"/>
              <a:t> Designer est un outil de design pour QT, </a:t>
            </a:r>
            <a:endParaRPr lang="fr-FR" sz="1800" dirty="0" smtClean="0"/>
          </a:p>
          <a:p>
            <a:r>
              <a:rPr lang="fr-FR" sz="1800" dirty="0" smtClean="0"/>
              <a:t>Permet </a:t>
            </a:r>
            <a:r>
              <a:rPr lang="fr-FR" sz="1800" dirty="0"/>
              <a:t>de lier le langage Python avec la bibliothèque </a:t>
            </a:r>
            <a:r>
              <a:rPr lang="fr-FR" sz="1800" dirty="0" err="1"/>
              <a:t>Qt</a:t>
            </a:r>
            <a:r>
              <a:rPr lang="fr-FR" sz="1800" dirty="0"/>
              <a:t>.  </a:t>
            </a:r>
            <a:endParaRPr lang="fr-FR" sz="1800" dirty="0" smtClean="0"/>
          </a:p>
          <a:p>
            <a:r>
              <a:rPr lang="fr-FR" sz="1800" dirty="0" err="1" smtClean="0"/>
              <a:t>QtDesigner</a:t>
            </a:r>
            <a:r>
              <a:rPr lang="fr-FR" sz="1800" dirty="0" smtClean="0"/>
              <a:t> </a:t>
            </a:r>
            <a:r>
              <a:rPr lang="fr-FR" sz="1800" dirty="0"/>
              <a:t>est </a:t>
            </a:r>
            <a:r>
              <a:rPr lang="fr-FR" sz="1800" dirty="0" smtClean="0"/>
              <a:t>fourni </a:t>
            </a:r>
            <a:r>
              <a:rPr lang="fr-FR" sz="1800" dirty="0"/>
              <a:t>avec </a:t>
            </a:r>
            <a:r>
              <a:rPr lang="fr-FR" sz="1800" dirty="0" err="1"/>
              <a:t>WinPython</a:t>
            </a:r>
            <a:r>
              <a:rPr lang="fr-FR" sz="1800" dirty="0"/>
              <a:t> installé sur les machines de l’école. </a:t>
            </a:r>
            <a:endParaRPr lang="fr-FR" sz="1800" dirty="0" smtClean="0"/>
          </a:p>
          <a:p>
            <a:r>
              <a:rPr lang="fr-FR" sz="1800" dirty="0"/>
              <a:t>P</a:t>
            </a:r>
            <a:r>
              <a:rPr lang="fr-FR" sz="1800" dirty="0" smtClean="0"/>
              <a:t>ermet </a:t>
            </a:r>
            <a:r>
              <a:rPr lang="fr-FR" sz="1800" dirty="0"/>
              <a:t>de réaliser une Interface Homme Machine IHM (ou GUI pour </a:t>
            </a:r>
            <a:r>
              <a:rPr lang="fr-FR" sz="1800" dirty="0" err="1"/>
              <a:t>Graphic</a:t>
            </a:r>
            <a:r>
              <a:rPr lang="fr-FR" sz="1800" dirty="0"/>
              <a:t> User Interface) par le biais d'un système de glisser-déposer. </a:t>
            </a:r>
            <a:endParaRPr lang="fr-FR" sz="1800" dirty="0" smtClean="0"/>
          </a:p>
          <a:p>
            <a:endParaRPr lang="fr-FR" dirty="0" smtClean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/>
          <a:p>
            <a:r>
              <a:rPr lang="fr-FR" dirty="0" err="1" smtClean="0"/>
              <a:t>QtDesigner</a:t>
            </a:r>
            <a:endParaRPr lang="fr-FR" dirty="0"/>
          </a:p>
        </p:txBody>
      </p:sp>
      <p:pic>
        <p:nvPicPr>
          <p:cNvPr id="9" name="Image 8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47664" y="2852936"/>
            <a:ext cx="6048672" cy="31683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71876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 smtClean="0"/>
              <a:t>Fenêtre principale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/>
          <a:p>
            <a:r>
              <a:rPr lang="fr-FR" dirty="0" err="1" smtClean="0"/>
              <a:t>QtDesigner</a:t>
            </a:r>
            <a:r>
              <a:rPr lang="fr-FR" dirty="0" smtClean="0"/>
              <a:t> : </a:t>
            </a:r>
            <a:endParaRPr lang="fr-FR" dirty="0"/>
          </a:p>
        </p:txBody>
      </p:sp>
      <p:grpSp>
        <p:nvGrpSpPr>
          <p:cNvPr id="7" name="Groupe 6"/>
          <p:cNvGrpSpPr/>
          <p:nvPr/>
        </p:nvGrpSpPr>
        <p:grpSpPr>
          <a:xfrm>
            <a:off x="951193" y="1876563"/>
            <a:ext cx="6824158" cy="3793250"/>
            <a:chOff x="0" y="0"/>
            <a:chExt cx="3987800" cy="2802466"/>
          </a:xfrm>
        </p:grpSpPr>
        <p:pic>
          <p:nvPicPr>
            <p:cNvPr id="10" name="Image 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3987800" cy="280246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Rectangle à coins arrondis 10"/>
            <p:cNvSpPr/>
            <p:nvPr/>
          </p:nvSpPr>
          <p:spPr>
            <a:xfrm>
              <a:off x="2641600" y="0"/>
              <a:ext cx="194310" cy="160655"/>
            </a:xfrm>
            <a:prstGeom prst="wedgeRoundRectCallout">
              <a:avLst>
                <a:gd name="adj1" fmla="val -160267"/>
                <a:gd name="adj2" fmla="val 83581"/>
                <a:gd name="adj3" fmla="val 16667"/>
              </a:avLst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  <a:spcAft>
                  <a:spcPts val="1000"/>
                </a:spcAft>
              </a:pPr>
              <a:r>
                <a:rPr lang="fr-FR" sz="1100">
                  <a:effectLst/>
                  <a:ea typeface="Times New Roman"/>
                  <a:cs typeface="Arial"/>
                </a:rPr>
                <a:t>1</a:t>
              </a:r>
            </a:p>
          </p:txBody>
        </p:sp>
        <p:sp>
          <p:nvSpPr>
            <p:cNvPr id="12" name="Rectangle à coins arrondis 11"/>
            <p:cNvSpPr/>
            <p:nvPr/>
          </p:nvSpPr>
          <p:spPr>
            <a:xfrm>
              <a:off x="2260600" y="889000"/>
              <a:ext cx="194310" cy="160655"/>
            </a:xfrm>
            <a:prstGeom prst="wedgeRoundRectCallout">
              <a:avLst>
                <a:gd name="adj1" fmla="val -160267"/>
                <a:gd name="adj2" fmla="val 83581"/>
                <a:gd name="adj3" fmla="val 16667"/>
              </a:avLst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  <a:spcAft>
                  <a:spcPts val="1000"/>
                </a:spcAft>
              </a:pPr>
              <a:r>
                <a:rPr lang="fr-FR" sz="1100">
                  <a:effectLst/>
                  <a:ea typeface="Times New Roman"/>
                  <a:cs typeface="Arial"/>
                </a:rPr>
                <a:t>2</a:t>
              </a:r>
            </a:p>
          </p:txBody>
        </p:sp>
        <p:sp>
          <p:nvSpPr>
            <p:cNvPr id="13" name="Rectangle à coins arrondis 12"/>
            <p:cNvSpPr/>
            <p:nvPr/>
          </p:nvSpPr>
          <p:spPr>
            <a:xfrm>
              <a:off x="719666" y="1134533"/>
              <a:ext cx="194310" cy="160655"/>
            </a:xfrm>
            <a:prstGeom prst="wedgeRoundRectCallout">
              <a:avLst>
                <a:gd name="adj1" fmla="val -160267"/>
                <a:gd name="adj2" fmla="val 83581"/>
                <a:gd name="adj3" fmla="val 16667"/>
              </a:avLst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  <a:spcAft>
                  <a:spcPts val="1000"/>
                </a:spcAft>
              </a:pPr>
              <a:r>
                <a:rPr lang="fr-FR" sz="1100">
                  <a:effectLst/>
                  <a:ea typeface="Times New Roman"/>
                  <a:cs typeface="Arial"/>
                </a:rPr>
                <a:t>3</a:t>
              </a:r>
            </a:p>
          </p:txBody>
        </p:sp>
        <p:sp>
          <p:nvSpPr>
            <p:cNvPr id="14" name="Rectangle à coins arrondis 13"/>
            <p:cNvSpPr/>
            <p:nvPr/>
          </p:nvSpPr>
          <p:spPr>
            <a:xfrm>
              <a:off x="3691466" y="1439333"/>
              <a:ext cx="194310" cy="160655"/>
            </a:xfrm>
            <a:prstGeom prst="wedgeRoundRectCallout">
              <a:avLst>
                <a:gd name="adj1" fmla="val -160267"/>
                <a:gd name="adj2" fmla="val 83581"/>
                <a:gd name="adj3" fmla="val 16667"/>
              </a:avLst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  <a:spcAft>
                  <a:spcPts val="1000"/>
                </a:spcAft>
              </a:pPr>
              <a:r>
                <a:rPr lang="fr-FR" sz="1100">
                  <a:effectLst/>
                  <a:ea typeface="Times New Roman"/>
                  <a:cs typeface="Arial"/>
                </a:rPr>
                <a:t>4</a:t>
              </a:r>
            </a:p>
          </p:txBody>
        </p:sp>
        <p:sp>
          <p:nvSpPr>
            <p:cNvPr id="15" name="Rectangle à coins arrondis 14"/>
            <p:cNvSpPr/>
            <p:nvPr/>
          </p:nvSpPr>
          <p:spPr>
            <a:xfrm>
              <a:off x="3793066" y="533400"/>
              <a:ext cx="194310" cy="160655"/>
            </a:xfrm>
            <a:prstGeom prst="wedgeRoundRectCallout">
              <a:avLst>
                <a:gd name="adj1" fmla="val -160267"/>
                <a:gd name="adj2" fmla="val 83581"/>
                <a:gd name="adj3" fmla="val 16667"/>
              </a:avLst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  <a:spcAft>
                  <a:spcPts val="1000"/>
                </a:spcAft>
              </a:pPr>
              <a:r>
                <a:rPr lang="fr-FR" sz="1100">
                  <a:effectLst/>
                  <a:ea typeface="Times New Roman"/>
                  <a:cs typeface="Arial"/>
                </a:rPr>
                <a:t>5</a:t>
              </a:r>
            </a:p>
          </p:txBody>
        </p:sp>
        <p:sp>
          <p:nvSpPr>
            <p:cNvPr id="16" name="Rectangle à coins arrondis 15"/>
            <p:cNvSpPr/>
            <p:nvPr/>
          </p:nvSpPr>
          <p:spPr>
            <a:xfrm>
              <a:off x="3793066" y="2235200"/>
              <a:ext cx="194310" cy="160655"/>
            </a:xfrm>
            <a:prstGeom prst="wedgeRoundRectCallout">
              <a:avLst>
                <a:gd name="adj1" fmla="val -160267"/>
                <a:gd name="adj2" fmla="val 83581"/>
                <a:gd name="adj3" fmla="val 16667"/>
              </a:avLst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  <a:spcAft>
                  <a:spcPts val="1000"/>
                </a:spcAft>
              </a:pPr>
              <a:r>
                <a:rPr lang="fr-FR" sz="1100">
                  <a:effectLst/>
                  <a:ea typeface="Times New Roman"/>
                  <a:cs typeface="Arial"/>
                </a:rPr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89798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QtDesigner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sz="2400" dirty="0"/>
              <a:t>Il permet de réaliser une Interface Homme Machine IHM (ou GUI pour </a:t>
            </a:r>
            <a:r>
              <a:rPr lang="fr-FR" sz="2400" dirty="0" err="1"/>
              <a:t>Graphic</a:t>
            </a:r>
            <a:r>
              <a:rPr lang="fr-FR" sz="2400" dirty="0"/>
              <a:t> User Interface) par le biais d'un système de </a:t>
            </a:r>
            <a:r>
              <a:rPr lang="fr-FR" sz="2400" dirty="0" smtClean="0"/>
              <a:t>glisser-déposer</a:t>
            </a:r>
          </a:p>
          <a:p>
            <a:pPr marL="0" indent="0">
              <a:buNone/>
            </a:pPr>
            <a:r>
              <a:rPr lang="fr-FR" dirty="0" smtClean="0"/>
              <a:t>Exemple : </a:t>
            </a:r>
          </a:p>
          <a:p>
            <a:pPr lvl="1"/>
            <a:r>
              <a:rPr lang="fr-FR" sz="2000" dirty="0" err="1" smtClean="0"/>
              <a:t>Qslider</a:t>
            </a:r>
            <a:endParaRPr lang="fr-FR" sz="2000" dirty="0" smtClean="0"/>
          </a:p>
          <a:p>
            <a:pPr lvl="1"/>
            <a:r>
              <a:rPr lang="fr-FR" sz="2000" dirty="0" err="1" smtClean="0"/>
              <a:t>QLabel</a:t>
            </a:r>
            <a:endParaRPr lang="fr-FR" sz="2000" dirty="0"/>
          </a:p>
          <a:p>
            <a:pPr lvl="1"/>
            <a:r>
              <a:rPr lang="fr-FR" sz="2000" dirty="0" err="1" smtClean="0"/>
              <a:t>QProgressBar</a:t>
            </a:r>
            <a:endParaRPr lang="fr-FR" sz="2000" dirty="0"/>
          </a:p>
          <a:p>
            <a:pPr lvl="1"/>
            <a:r>
              <a:rPr lang="fr-FR" sz="2000" dirty="0" err="1" smtClean="0"/>
              <a:t>QGridLayout</a:t>
            </a:r>
            <a:endParaRPr lang="fr-FR" sz="2000" dirty="0" smtClean="0"/>
          </a:p>
          <a:p>
            <a:pPr lvl="1"/>
            <a:r>
              <a:rPr lang="fr-FR" sz="2000" dirty="0" err="1" smtClean="0"/>
              <a:t>Spacer</a:t>
            </a:r>
            <a:r>
              <a:rPr lang="fr-FR" sz="2000" dirty="0" smtClean="0"/>
              <a:t> (H/V)</a:t>
            </a:r>
          </a:p>
          <a:p>
            <a:pPr lvl="1"/>
            <a:r>
              <a:rPr lang="fr-FR" sz="2000" dirty="0" smtClean="0"/>
              <a:t>Barre d’outil/barre d’état</a:t>
            </a:r>
            <a:endParaRPr lang="fr-FR" sz="2400" dirty="0" smtClean="0"/>
          </a:p>
          <a:p>
            <a:r>
              <a:rPr lang="fr-FR" sz="2400" dirty="0" smtClean="0"/>
              <a:t>Visualiser l’aperçu </a:t>
            </a:r>
            <a:r>
              <a:rPr lang="fr-FR" sz="2400" dirty="0"/>
              <a:t>de votre fenêtre</a:t>
            </a:r>
          </a:p>
          <a:p>
            <a:pPr lvl="1"/>
            <a:r>
              <a:rPr lang="fr-FR" sz="2000" dirty="0" smtClean="0"/>
              <a:t>CTRL+R ou F3</a:t>
            </a:r>
            <a:endParaRPr lang="fr-FR" sz="20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422" y="2132856"/>
            <a:ext cx="3562350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4847" y="2151906"/>
            <a:ext cx="3590925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2132856"/>
            <a:ext cx="3777254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5468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QtDesigner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Connexion signal/slot </a:t>
            </a:r>
          </a:p>
          <a:p>
            <a:r>
              <a:rPr lang="fr-FR" sz="2000" dirty="0" smtClean="0"/>
              <a:t>Se réalise en connectant à la </a:t>
            </a:r>
            <a:r>
              <a:rPr lang="fr-FR" sz="2000" dirty="0" err="1" smtClean="0"/>
              <a:t>sourir</a:t>
            </a:r>
            <a:r>
              <a:rPr lang="fr-FR" sz="2000" dirty="0" smtClean="0"/>
              <a:t> deux composant (widget)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r>
              <a:rPr lang="fr-FR" sz="1400" dirty="0" smtClean="0"/>
              <a:t>Connexion signal/slot</a:t>
            </a:r>
          </a:p>
          <a:p>
            <a:pPr marL="0" indent="0">
              <a:buNone/>
            </a:pPr>
            <a:endParaRPr lang="fr-FR" sz="1400" dirty="0"/>
          </a:p>
          <a:p>
            <a:pPr marL="0" indent="0">
              <a:buNone/>
            </a:pPr>
            <a:endParaRPr lang="fr-FR" sz="1400" dirty="0" smtClean="0"/>
          </a:p>
          <a:p>
            <a:pPr marL="0" indent="0">
              <a:buNone/>
            </a:pPr>
            <a:endParaRPr lang="fr-FR" sz="1400" dirty="0" smtClean="0"/>
          </a:p>
          <a:p>
            <a:pPr marL="0" indent="0">
              <a:buNone/>
            </a:pPr>
            <a:r>
              <a:rPr lang="fr-FR" sz="1400" dirty="0" smtClean="0"/>
              <a:t>ou</a:t>
            </a:r>
            <a:endParaRPr lang="fr-FR" sz="1400" dirty="0"/>
          </a:p>
          <a:p>
            <a:pPr marL="0" indent="0">
              <a:buNone/>
            </a:pPr>
            <a:endParaRPr lang="fr-FR" dirty="0" smtClean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err="1" smtClean="0"/>
              <a:t>PyQT</a:t>
            </a:r>
            <a:endParaRPr lang="fr-FR" dirty="0"/>
          </a:p>
        </p:txBody>
      </p:sp>
      <p:pic>
        <p:nvPicPr>
          <p:cNvPr id="10" name="Image 9" descr="Barre outils layouts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211960" y="1333671"/>
            <a:ext cx="1181100" cy="302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2084575"/>
            <a:ext cx="4543425" cy="27363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076" y="2681202"/>
            <a:ext cx="3981450" cy="154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ZoneTexte 12"/>
          <p:cNvSpPr txBox="1"/>
          <p:nvPr/>
        </p:nvSpPr>
        <p:spPr>
          <a:xfrm>
            <a:off x="411076" y="4993431"/>
            <a:ext cx="8280920" cy="3077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>
                <a:solidFill>
                  <a:schemeClr val="tx1"/>
                </a:solidFill>
              </a:rPr>
              <a:t>PyQt4.QtCore.QObject.connect(</a:t>
            </a:r>
            <a:r>
              <a:rPr lang="fr-FR" dirty="0" err="1">
                <a:solidFill>
                  <a:schemeClr val="tx1"/>
                </a:solidFill>
              </a:rPr>
              <a:t>emeteur</a:t>
            </a:r>
            <a:r>
              <a:rPr lang="fr-FR" dirty="0">
                <a:solidFill>
                  <a:schemeClr val="tx1"/>
                </a:solidFill>
              </a:rPr>
              <a:t>, SIGNAL(), </a:t>
            </a:r>
            <a:r>
              <a:rPr lang="fr-FR" dirty="0" err="1">
                <a:solidFill>
                  <a:schemeClr val="tx1"/>
                </a:solidFill>
              </a:rPr>
              <a:t>recepteur</a:t>
            </a:r>
            <a:r>
              <a:rPr lang="fr-FR" dirty="0">
                <a:solidFill>
                  <a:schemeClr val="tx1"/>
                </a:solidFill>
              </a:rPr>
              <a:t>, SLOT())</a:t>
            </a:r>
          </a:p>
        </p:txBody>
      </p:sp>
      <p:sp>
        <p:nvSpPr>
          <p:cNvPr id="14" name="ZoneTexte 13"/>
          <p:cNvSpPr txBox="1"/>
          <p:nvPr/>
        </p:nvSpPr>
        <p:spPr>
          <a:xfrm>
            <a:off x="411076" y="5661248"/>
            <a:ext cx="8280920" cy="3600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 err="1" smtClean="0">
                <a:solidFill>
                  <a:schemeClr val="tx1"/>
                </a:solidFill>
              </a:rPr>
              <a:t>sender.signalName.connect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receiver.slotName</a:t>
            </a:r>
            <a:r>
              <a:rPr lang="en-US" dirty="0">
                <a:solidFill>
                  <a:schemeClr val="tx1"/>
                </a:solidFill>
              </a:rPr>
              <a:t>) </a:t>
            </a:r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0609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QtDesigner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000" dirty="0" err="1" smtClean="0"/>
              <a:t>QtDesigner</a:t>
            </a:r>
            <a:r>
              <a:rPr lang="fr-FR" sz="2000" dirty="0" smtClean="0"/>
              <a:t> fournit un fichier .</a:t>
            </a:r>
            <a:r>
              <a:rPr lang="fr-FR" sz="2000" dirty="0" err="1" smtClean="0"/>
              <a:t>ui</a:t>
            </a:r>
            <a:r>
              <a:rPr lang="fr-FR" sz="2000" dirty="0" smtClean="0"/>
              <a:t> (fichier XML)</a:t>
            </a:r>
          </a:p>
          <a:p>
            <a:r>
              <a:rPr lang="fr-FR" sz="2000" dirty="0" smtClean="0"/>
              <a:t>Utilisation :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smtClean="0"/>
              <a:t>Par appel dynamique du fichier « .</a:t>
            </a:r>
            <a:r>
              <a:rPr lang="fr-FR" sz="2000" dirty="0" err="1" smtClean="0"/>
              <a:t>ui</a:t>
            </a:r>
            <a:r>
              <a:rPr lang="fr-FR" sz="2000" dirty="0" smtClean="0"/>
              <a:t> ». Exemple </a:t>
            </a:r>
            <a:r>
              <a:rPr lang="fr-FR" sz="2000" i="1" dirty="0" err="1" smtClean="0">
                <a:solidFill>
                  <a:srgbClr val="FFFF00"/>
                </a:solidFill>
              </a:rPr>
              <a:t>monAppli.ui</a:t>
            </a:r>
            <a:endParaRPr lang="fr-FR" sz="2000" i="1" dirty="0" smtClean="0">
              <a:solidFill>
                <a:srgbClr val="FFFF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FR" sz="2000" dirty="0">
                <a:solidFill>
                  <a:srgbClr val="92D050"/>
                </a:solidFill>
              </a:rPr>
              <a:t>Par dérivation de la classe </a:t>
            </a:r>
            <a:r>
              <a:rPr lang="fr-FR" sz="2000" dirty="0" err="1">
                <a:solidFill>
                  <a:srgbClr val="92D050"/>
                </a:solidFill>
              </a:rPr>
              <a:t>QmainWindow</a:t>
            </a:r>
            <a:endParaRPr lang="fr-FR" sz="2000" dirty="0">
              <a:solidFill>
                <a:srgbClr val="92D05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FR" sz="2000" dirty="0">
                <a:solidFill>
                  <a:srgbClr val="92D050"/>
                </a:solidFill>
              </a:rPr>
              <a:t>Par dérivation multiples des classes </a:t>
            </a:r>
            <a:r>
              <a:rPr lang="fr-FR" sz="2000" dirty="0" err="1">
                <a:solidFill>
                  <a:srgbClr val="92D050"/>
                </a:solidFill>
              </a:rPr>
              <a:t>QmainWindow</a:t>
            </a:r>
            <a:r>
              <a:rPr lang="fr-FR" sz="2000" dirty="0">
                <a:solidFill>
                  <a:srgbClr val="92D050"/>
                </a:solidFill>
              </a:rPr>
              <a:t> et </a:t>
            </a:r>
            <a:r>
              <a:rPr lang="fr-FR" sz="2000" dirty="0" err="1" smtClean="0">
                <a:solidFill>
                  <a:srgbClr val="92D050"/>
                </a:solidFill>
              </a:rPr>
              <a:t>Ui_MainWindow</a:t>
            </a:r>
            <a:endParaRPr lang="fr-FR" sz="2000" dirty="0">
              <a:solidFill>
                <a:srgbClr val="92D050"/>
              </a:solidFill>
            </a:endParaRPr>
          </a:p>
          <a:p>
            <a:pPr marL="0" indent="0">
              <a:buNone/>
            </a:pPr>
            <a:endParaRPr lang="fr-FR" sz="20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err="1" smtClean="0"/>
              <a:t>PyQT</a:t>
            </a:r>
            <a:endParaRPr lang="fr-FR" dirty="0"/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153613"/>
            <a:ext cx="5032226" cy="30116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21557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QtDesigner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41010" y="1196752"/>
            <a:ext cx="8702990" cy="45259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sz="2000" dirty="0" smtClean="0">
                <a:solidFill>
                  <a:schemeClr val="bg1">
                    <a:lumMod val="50000"/>
                  </a:schemeClr>
                </a:solidFill>
              </a:rPr>
              <a:t>Par appel dynamique du fichier « .</a:t>
            </a:r>
            <a:r>
              <a:rPr lang="fr-FR" sz="2000" dirty="0" err="1" smtClean="0">
                <a:solidFill>
                  <a:schemeClr val="bg1">
                    <a:lumMod val="50000"/>
                  </a:schemeClr>
                </a:solidFill>
              </a:rPr>
              <a:t>ui</a:t>
            </a:r>
            <a:r>
              <a:rPr lang="fr-FR" sz="2000" dirty="0" smtClean="0">
                <a:solidFill>
                  <a:schemeClr val="bg1">
                    <a:lumMod val="50000"/>
                  </a:schemeClr>
                </a:solidFill>
              </a:rPr>
              <a:t> ». Exemple </a:t>
            </a:r>
            <a:r>
              <a:rPr lang="fr-FR" sz="2000" i="1" dirty="0" err="1" smtClean="0">
                <a:solidFill>
                  <a:schemeClr val="bg1">
                    <a:lumMod val="50000"/>
                  </a:schemeClr>
                </a:solidFill>
              </a:rPr>
              <a:t>monAppli.ui</a:t>
            </a:r>
            <a:endParaRPr lang="fr-FR" sz="2000" i="1" dirty="0" smtClean="0">
              <a:solidFill>
                <a:schemeClr val="bg1">
                  <a:lumMod val="50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Par dérivation de la classe </a:t>
            </a:r>
            <a:r>
              <a:rPr lang="fr-FR" sz="2000" dirty="0" err="1"/>
              <a:t>QmainWindow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Par dérivation multiples des classes </a:t>
            </a:r>
            <a:r>
              <a:rPr lang="fr-FR" sz="2000" dirty="0" err="1"/>
              <a:t>QmainWindow</a:t>
            </a:r>
            <a:r>
              <a:rPr lang="fr-FR" sz="2000" dirty="0"/>
              <a:t> et </a:t>
            </a:r>
            <a:r>
              <a:rPr lang="fr-FR" sz="2000" dirty="0" err="1" smtClean="0"/>
              <a:t>Ui_MainWindow</a:t>
            </a:r>
            <a:endParaRPr lang="fr-FR" sz="2000" dirty="0"/>
          </a:p>
          <a:p>
            <a:pPr marL="0" indent="0">
              <a:buNone/>
            </a:pPr>
            <a:r>
              <a:rPr lang="fr-FR" sz="2000" dirty="0" smtClean="0"/>
              <a:t>Transformation : via la commande </a:t>
            </a:r>
            <a:r>
              <a:rPr lang="fr-FR" sz="2000" i="1" dirty="0" smtClean="0"/>
              <a:t>pyuic4</a:t>
            </a:r>
          </a:p>
          <a:p>
            <a:pPr marL="0" indent="0">
              <a:buNone/>
            </a:pPr>
            <a:r>
              <a:rPr lang="fr-FR" sz="1800" i="1" dirty="0" smtClean="0">
                <a:solidFill>
                  <a:srgbClr val="FFFF00"/>
                </a:solidFill>
              </a:rPr>
              <a:t>&gt;&gt;</a:t>
            </a:r>
            <a:r>
              <a:rPr lang="fr-FR" sz="1800" i="1" dirty="0">
                <a:solidFill>
                  <a:srgbClr val="FFFF00"/>
                </a:solidFill>
              </a:rPr>
              <a:t>pyuic4 </a:t>
            </a:r>
            <a:r>
              <a:rPr lang="fr-FR" sz="1800" i="1" dirty="0" smtClean="0">
                <a:solidFill>
                  <a:srgbClr val="FFFF00"/>
                </a:solidFill>
              </a:rPr>
              <a:t> </a:t>
            </a:r>
            <a:r>
              <a:rPr lang="fr-FR" sz="1800" i="1" dirty="0" err="1" smtClean="0">
                <a:solidFill>
                  <a:srgbClr val="FFFF00"/>
                </a:solidFill>
              </a:rPr>
              <a:t>MonAppli.ui</a:t>
            </a:r>
            <a:r>
              <a:rPr lang="fr-FR" sz="1800" i="1" dirty="0" smtClean="0">
                <a:solidFill>
                  <a:srgbClr val="FFFF00"/>
                </a:solidFill>
              </a:rPr>
              <a:t> -x MonAppli.py   </a:t>
            </a:r>
            <a:r>
              <a:rPr lang="fr-FR" sz="1600" dirty="0"/>
              <a:t>Syntaxe  générale : </a:t>
            </a:r>
            <a:r>
              <a:rPr lang="fr-FR" sz="1800" dirty="0"/>
              <a:t>&gt;&gt;pyuic4 [options] </a:t>
            </a:r>
            <a:r>
              <a:rPr lang="fr-FR" sz="1800" dirty="0" err="1"/>
              <a:t>LeFichier.ui</a:t>
            </a:r>
            <a:endParaRPr lang="fr-FR" sz="1800" i="1" dirty="0">
              <a:solidFill>
                <a:srgbClr val="FFFF00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err="1" smtClean="0"/>
              <a:t>PyQT</a:t>
            </a:r>
            <a:endParaRPr lang="fr-FR" dirty="0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452200"/>
              </p:ext>
            </p:extLst>
          </p:nvPr>
        </p:nvGraphicFramePr>
        <p:xfrm>
          <a:off x="274316" y="3284984"/>
          <a:ext cx="8690172" cy="2636424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339351"/>
                <a:gridCol w="6350821"/>
              </a:tblGrid>
              <a:tr h="30039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Options</a:t>
                      </a:r>
                      <a:endParaRPr lang="fr-FR" sz="1400" dirty="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Utilité</a:t>
                      </a:r>
                      <a:endParaRPr lang="fr-FR" sz="1400" dirty="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</a:tr>
              <a:tr h="347674">
                <a:tc>
                  <a:txBody>
                    <a:bodyPr/>
                    <a:lstStyle/>
                    <a:p>
                      <a:r>
                        <a:rPr lang="fr-FR" sz="1400"/>
                        <a:t>-h ou --help</a:t>
                      </a:r>
                      <a:endParaRPr lang="fr-FR" sz="140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Un message d' aide apparait à la sortie</a:t>
                      </a:r>
                      <a:endParaRPr lang="fr-FR" sz="140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</a:tr>
              <a:tr h="360040">
                <a:tc>
                  <a:txBody>
                    <a:bodyPr/>
                    <a:lstStyle/>
                    <a:p>
                      <a:r>
                        <a:rPr lang="fr-FR" sz="1400" dirty="0"/>
                        <a:t>-version</a:t>
                      </a:r>
                      <a:endParaRPr lang="fr-FR" sz="1400" dirty="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Le numéro de version est écrit sur la sortie.</a:t>
                      </a:r>
                      <a:endParaRPr lang="fr-FR" sz="1400" dirty="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</a:tr>
              <a:tr h="452622">
                <a:tc>
                  <a:txBody>
                    <a:bodyPr/>
                    <a:lstStyle/>
                    <a:p>
                      <a:r>
                        <a:rPr lang="fr-FR" sz="1400"/>
                        <a:t>i N ou --indent=N</a:t>
                      </a:r>
                      <a:endParaRPr lang="fr-FR" sz="140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Le code source Python généré sera indenté de n espaces par défaut. Si N=0 des tabulations sont utilisées au lieu des espaces La valeur par défaut est N=4</a:t>
                      </a:r>
                      <a:endParaRPr lang="fr-FR" sz="1400" dirty="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</a:tr>
              <a:tr h="296824">
                <a:tc>
                  <a:txBody>
                    <a:bodyPr/>
                    <a:lstStyle/>
                    <a:p>
                      <a:r>
                        <a:rPr lang="fr-FR" sz="1400"/>
                        <a:t>-o Fichier ou --output=Fichier</a:t>
                      </a:r>
                      <a:endParaRPr lang="fr-FR" sz="140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Le source est généré dans un fichier dont il faut donner l' extension ".</a:t>
                      </a:r>
                      <a:r>
                        <a:rPr lang="fr-FR" sz="1400" dirty="0" err="1"/>
                        <a:t>py</a:t>
                      </a:r>
                      <a:r>
                        <a:rPr lang="fr-FR" sz="1400" dirty="0"/>
                        <a:t>"</a:t>
                      </a:r>
                      <a:endParaRPr lang="fr-FR" sz="1400" dirty="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</a:tr>
              <a:tr h="284458">
                <a:tc>
                  <a:txBody>
                    <a:bodyPr/>
                    <a:lstStyle/>
                    <a:p>
                      <a:r>
                        <a:rPr lang="fr-FR" sz="1400"/>
                        <a:t>-p ou --preview</a:t>
                      </a:r>
                      <a:endParaRPr lang="fr-FR" sz="140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L'interface est </a:t>
                      </a:r>
                      <a:r>
                        <a:rPr lang="fr-FR" sz="1400" dirty="0" smtClean="0"/>
                        <a:t>générée dynamiquement</a:t>
                      </a:r>
                      <a:r>
                        <a:rPr lang="fr-FR" sz="1400" dirty="0"/>
                        <a:t>, et aucun source Python n'est créé.</a:t>
                      </a:r>
                      <a:endParaRPr lang="fr-FR" sz="1400" dirty="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</a:tr>
              <a:tr h="452622">
                <a:tc>
                  <a:txBody>
                    <a:bodyPr/>
                    <a:lstStyle/>
                    <a:p>
                      <a:r>
                        <a:rPr lang="fr-FR" sz="1400" dirty="0"/>
                        <a:t>-x ou --</a:t>
                      </a:r>
                      <a:r>
                        <a:rPr lang="fr-FR" sz="1400" dirty="0" err="1"/>
                        <a:t>execute</a:t>
                      </a:r>
                      <a:endParaRPr lang="fr-FR" sz="1400" dirty="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Le code source généré </a:t>
                      </a:r>
                      <a:r>
                        <a:rPr lang="fr-FR" sz="1400" dirty="0" smtClean="0"/>
                        <a:t>comportera </a:t>
                      </a:r>
                      <a:r>
                        <a:rPr lang="fr-FR" sz="1400" dirty="0"/>
                        <a:t>un petit bout de code </a:t>
                      </a:r>
                      <a:r>
                        <a:rPr lang="fr-FR" sz="1400" dirty="0" smtClean="0"/>
                        <a:t>supplémentaire </a:t>
                      </a:r>
                      <a:r>
                        <a:rPr lang="fr-FR" sz="1400" dirty="0"/>
                        <a:t>pour être </a:t>
                      </a:r>
                      <a:r>
                        <a:rPr lang="fr-FR" sz="1400" dirty="0" smtClean="0"/>
                        <a:t>exécutable</a:t>
                      </a:r>
                      <a:r>
                        <a:rPr lang="fr-FR" sz="1400" dirty="0"/>
                        <a:t>.</a:t>
                      </a:r>
                      <a:endParaRPr lang="fr-FR" sz="1400" dirty="0">
                        <a:solidFill>
                          <a:schemeClr val="bg1"/>
                        </a:solidFill>
                      </a:endParaRPr>
                    </a:p>
                  </a:txBody>
                  <a:tcPr marL="87038" marR="87038" marT="43519" marB="43519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8199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QtDesigner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41010" y="1196752"/>
            <a:ext cx="870299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 smtClean="0"/>
              <a:t>Transformation : via la commande </a:t>
            </a:r>
            <a:r>
              <a:rPr lang="fr-FR" sz="2000" i="1" dirty="0" smtClean="0"/>
              <a:t>pyuic4</a:t>
            </a:r>
          </a:p>
          <a:p>
            <a:pPr marL="0" indent="0">
              <a:buNone/>
            </a:pPr>
            <a:r>
              <a:rPr lang="fr-FR" sz="1800" i="1" dirty="0" smtClean="0">
                <a:solidFill>
                  <a:srgbClr val="FFFF00"/>
                </a:solidFill>
              </a:rPr>
              <a:t>&gt;&gt;</a:t>
            </a:r>
            <a:r>
              <a:rPr lang="fr-FR" sz="1800" i="1" dirty="0">
                <a:solidFill>
                  <a:srgbClr val="FFFF00"/>
                </a:solidFill>
              </a:rPr>
              <a:t>pyuic4 </a:t>
            </a:r>
            <a:r>
              <a:rPr lang="fr-FR" sz="1800" i="1" dirty="0" smtClean="0">
                <a:solidFill>
                  <a:srgbClr val="FFFF00"/>
                </a:solidFill>
              </a:rPr>
              <a:t> </a:t>
            </a:r>
            <a:r>
              <a:rPr lang="fr-FR" sz="1800" i="1" dirty="0" err="1" smtClean="0">
                <a:solidFill>
                  <a:srgbClr val="FFFF00"/>
                </a:solidFill>
              </a:rPr>
              <a:t>MonAppli.ui</a:t>
            </a:r>
            <a:r>
              <a:rPr lang="fr-FR" sz="1800" i="1" dirty="0" smtClean="0">
                <a:solidFill>
                  <a:srgbClr val="FFFF00"/>
                </a:solidFill>
              </a:rPr>
              <a:t> </a:t>
            </a:r>
            <a:r>
              <a:rPr lang="fr-FR" sz="1800" i="1" dirty="0">
                <a:solidFill>
                  <a:srgbClr val="FFFF00"/>
                </a:solidFill>
              </a:rPr>
              <a:t>-x </a:t>
            </a:r>
            <a:r>
              <a:rPr lang="fr-FR" sz="1800" i="1" dirty="0" smtClean="0">
                <a:solidFill>
                  <a:srgbClr val="FFFF00"/>
                </a:solidFill>
              </a:rPr>
              <a:t>ui_principal.py</a:t>
            </a:r>
            <a:endParaRPr lang="fr-FR" sz="1800" i="1" dirty="0">
              <a:solidFill>
                <a:srgbClr val="FFFF00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9" name="Espace réservé du contenu 2"/>
          <p:cNvSpPr txBox="1">
            <a:spLocks/>
          </p:cNvSpPr>
          <p:nvPr/>
        </p:nvSpPr>
        <p:spPr>
          <a:xfrm>
            <a:off x="536164" y="1916832"/>
            <a:ext cx="8356316" cy="410445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pPr indent="-285750"/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from</a:t>
            </a:r>
            <a:r>
              <a:rPr lang="fr-FR" dirty="0">
                <a:solidFill>
                  <a:schemeClr val="tx1"/>
                </a:solidFill>
              </a:rPr>
              <a:t> PyQt4 </a:t>
            </a: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QtCore</a:t>
            </a:r>
            <a:r>
              <a:rPr lang="fr-FR" dirty="0">
                <a:solidFill>
                  <a:schemeClr val="tx1"/>
                </a:solidFill>
              </a:rPr>
              <a:t>, </a:t>
            </a:r>
            <a:r>
              <a:rPr lang="fr-FR" dirty="0" err="1">
                <a:solidFill>
                  <a:schemeClr val="tx1"/>
                </a:solidFill>
              </a:rPr>
              <a:t>QtGui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class </a:t>
            </a:r>
            <a:r>
              <a:rPr lang="fr-FR" dirty="0" err="1">
                <a:solidFill>
                  <a:srgbClr val="FF0000"/>
                </a:solidFill>
              </a:rPr>
              <a:t>Ui_MainWindow</a:t>
            </a:r>
            <a:r>
              <a:rPr lang="fr-FR" dirty="0">
                <a:solidFill>
                  <a:srgbClr val="FF0000"/>
                </a:solidFill>
              </a:rPr>
              <a:t>(</a:t>
            </a:r>
            <a:r>
              <a:rPr lang="fr-FR" dirty="0" err="1">
                <a:solidFill>
                  <a:srgbClr val="FF0000"/>
                </a:solidFill>
              </a:rPr>
              <a:t>object</a:t>
            </a:r>
            <a:r>
              <a:rPr lang="fr-FR" dirty="0">
                <a:solidFill>
                  <a:srgbClr val="FF0000"/>
                </a:solidFill>
              </a:rPr>
              <a:t>): </a:t>
            </a:r>
          </a:p>
          <a:p>
            <a:pPr indent="-285750"/>
            <a:r>
              <a:rPr lang="fr-FR" dirty="0" smtClean="0">
                <a:solidFill>
                  <a:schemeClr val="tx1"/>
                </a:solidFill>
              </a:rPr>
              <a:t>     </a:t>
            </a:r>
            <a:r>
              <a:rPr lang="fr-FR" dirty="0" err="1" smtClean="0">
                <a:solidFill>
                  <a:schemeClr val="tx1"/>
                </a:solidFill>
              </a:rPr>
              <a:t>def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setupUi</a:t>
            </a:r>
            <a:r>
              <a:rPr lang="fr-FR" dirty="0">
                <a:solidFill>
                  <a:schemeClr val="tx1"/>
                </a:solidFill>
              </a:rPr>
              <a:t>(self, </a:t>
            </a:r>
            <a:r>
              <a:rPr lang="fr-FR" dirty="0" err="1">
                <a:solidFill>
                  <a:schemeClr val="tx1"/>
                </a:solidFill>
              </a:rPr>
              <a:t>MainWindow</a:t>
            </a:r>
            <a:r>
              <a:rPr lang="fr-FR" dirty="0">
                <a:solidFill>
                  <a:schemeClr val="tx1"/>
                </a:solidFill>
              </a:rPr>
              <a:t>): </a:t>
            </a:r>
            <a:r>
              <a:rPr lang="fr-FR" dirty="0" smtClean="0">
                <a:solidFill>
                  <a:schemeClr val="tx1"/>
                </a:solidFill>
              </a:rPr>
              <a:t>	</a:t>
            </a: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MainWindow.setObjectName</a:t>
            </a:r>
            <a:r>
              <a:rPr lang="fr-FR" dirty="0">
                <a:solidFill>
                  <a:schemeClr val="tx1"/>
                </a:solidFill>
              </a:rPr>
              <a:t>("</a:t>
            </a:r>
            <a:r>
              <a:rPr lang="fr-FR" dirty="0" err="1">
                <a:solidFill>
                  <a:schemeClr val="tx1"/>
                </a:solidFill>
              </a:rPr>
              <a:t>MainWindow</a:t>
            </a:r>
            <a:r>
              <a:rPr lang="fr-FR" dirty="0">
                <a:solidFill>
                  <a:schemeClr val="tx1"/>
                </a:solidFill>
              </a:rPr>
              <a:t>") </a:t>
            </a:r>
            <a:r>
              <a:rPr lang="fr-FR" dirty="0" smtClean="0">
                <a:solidFill>
                  <a:schemeClr val="tx1"/>
                </a:solidFill>
              </a:rPr>
              <a:t>	)</a:t>
            </a:r>
          </a:p>
          <a:p>
            <a:pPr indent="-285750"/>
            <a:r>
              <a:rPr lang="fr-FR" dirty="0" smtClean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self.centralwidget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chemeClr val="tx1"/>
                </a:solidFill>
              </a:rPr>
              <a:t>QtGui.QWidget</a:t>
            </a:r>
            <a:r>
              <a:rPr lang="fr-FR" dirty="0">
                <a:solidFill>
                  <a:schemeClr val="tx1"/>
                </a:solidFill>
              </a:rPr>
              <a:t>(</a:t>
            </a:r>
            <a:r>
              <a:rPr lang="fr-FR" dirty="0" err="1">
                <a:solidFill>
                  <a:schemeClr val="tx1"/>
                </a:solidFill>
              </a:rPr>
              <a:t>MainWindow</a:t>
            </a:r>
            <a:r>
              <a:rPr lang="fr-FR" dirty="0">
                <a:solidFill>
                  <a:schemeClr val="tx1"/>
                </a:solidFill>
              </a:rPr>
              <a:t>) </a:t>
            </a:r>
            <a:r>
              <a:rPr lang="fr-FR" dirty="0" smtClean="0">
                <a:solidFill>
                  <a:schemeClr val="tx1"/>
                </a:solidFill>
              </a:rPr>
              <a:t>		</a:t>
            </a:r>
            <a:r>
              <a:rPr lang="fr-FR" dirty="0" err="1" smtClean="0">
                <a:solidFill>
                  <a:schemeClr val="tx1"/>
                </a:solidFill>
              </a:rPr>
              <a:t>QtGui.QPushButton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self.centralwidget</a:t>
            </a:r>
            <a:r>
              <a:rPr lang="fr-FR" dirty="0">
                <a:solidFill>
                  <a:schemeClr val="tx1"/>
                </a:solidFill>
              </a:rPr>
              <a:t>) </a:t>
            </a:r>
            <a:r>
              <a:rPr lang="fr-FR" dirty="0" smtClean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self.pushButton.setGeometry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QtCore.QRect</a:t>
            </a:r>
            <a:r>
              <a:rPr lang="fr-FR" dirty="0" smtClean="0">
                <a:solidFill>
                  <a:schemeClr val="tx1"/>
                </a:solidFill>
              </a:rPr>
              <a:t>(80,130,75,23))</a:t>
            </a: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smtClean="0">
                <a:solidFill>
                  <a:schemeClr val="tx1"/>
                </a:solidFill>
              </a:rPr>
              <a:t>…</a:t>
            </a:r>
          </a:p>
          <a:p>
            <a:pPr indent="-285750"/>
            <a:r>
              <a:rPr lang="fr-FR" dirty="0" smtClean="0">
                <a:solidFill>
                  <a:schemeClr val="tx1"/>
                </a:solidFill>
              </a:rPr>
              <a:t>if </a:t>
            </a:r>
            <a:r>
              <a:rPr lang="fr-FR" dirty="0">
                <a:solidFill>
                  <a:schemeClr val="tx1"/>
                </a:solidFill>
              </a:rPr>
              <a:t>__</a:t>
            </a:r>
            <a:r>
              <a:rPr lang="fr-FR" dirty="0" err="1">
                <a:solidFill>
                  <a:schemeClr val="tx1"/>
                </a:solidFill>
              </a:rPr>
              <a:t>name</a:t>
            </a:r>
            <a:r>
              <a:rPr lang="fr-FR" dirty="0">
                <a:solidFill>
                  <a:schemeClr val="tx1"/>
                </a:solidFill>
              </a:rPr>
              <a:t>__ == "__main__":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 smtClean="0">
                <a:solidFill>
                  <a:schemeClr val="tx1"/>
                </a:solidFill>
              </a:rPr>
              <a:t> 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chemeClr val="tx1"/>
                </a:solidFill>
              </a:rPr>
              <a:t>QtGui.QApplication</a:t>
            </a:r>
            <a:r>
              <a:rPr lang="fr-FR" dirty="0">
                <a:solidFill>
                  <a:schemeClr val="tx1"/>
                </a:solidFill>
              </a:rPr>
              <a:t>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MainWindow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rgbClr val="FF0000"/>
                </a:solidFill>
              </a:rPr>
              <a:t>QtGui.QMainWindow</a:t>
            </a:r>
            <a:r>
              <a:rPr lang="fr-FR" dirty="0">
                <a:solidFill>
                  <a:srgbClr val="FF0000"/>
                </a:solidFill>
              </a:rPr>
              <a:t>() </a:t>
            </a:r>
            <a:endParaRPr lang="fr-FR" dirty="0" smtClean="0">
              <a:solidFill>
                <a:srgbClr val="FF0000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ui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chemeClr val="tx1"/>
                </a:solidFill>
              </a:rPr>
              <a:t>Ui_MainWindow</a:t>
            </a:r>
            <a:r>
              <a:rPr lang="fr-FR" dirty="0">
                <a:solidFill>
                  <a:schemeClr val="tx1"/>
                </a:solidFill>
              </a:rPr>
              <a:t>()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ui.setupUi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MainWindow</a:t>
            </a:r>
            <a:r>
              <a:rPr lang="fr-FR" dirty="0" smtClean="0">
                <a:solidFill>
                  <a:schemeClr val="tx1"/>
                </a:solidFill>
              </a:rPr>
              <a:t>)</a:t>
            </a: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>
                <a:solidFill>
                  <a:schemeClr val="tx1"/>
                </a:solidFill>
              </a:rPr>
              <a:t>MainWindow.show</a:t>
            </a:r>
            <a:r>
              <a:rPr lang="fr-FR" dirty="0">
                <a:solidFill>
                  <a:schemeClr val="tx1"/>
                </a:solidFill>
              </a:rPr>
              <a:t>()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sys.exit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app.exec</a:t>
            </a:r>
            <a:r>
              <a:rPr lang="fr-FR" dirty="0" smtClean="0">
                <a:solidFill>
                  <a:schemeClr val="tx1"/>
                </a:solidFill>
              </a:rPr>
              <a:t>_())</a:t>
            </a:r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363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QtDesigner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41010" y="1196752"/>
            <a:ext cx="8702990" cy="4525963"/>
          </a:xfrm>
        </p:spPr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fr-FR" sz="2000" dirty="0" smtClean="0"/>
              <a:t>Appel dynamique du fichier .</a:t>
            </a:r>
            <a:r>
              <a:rPr lang="fr-FR" sz="2000" dirty="0" err="1" smtClean="0"/>
              <a:t>ui</a:t>
            </a:r>
            <a:endParaRPr lang="fr-FR" sz="2000" i="1" dirty="0" smtClean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9" name="Espace réservé du contenu 2"/>
          <p:cNvSpPr txBox="1">
            <a:spLocks/>
          </p:cNvSpPr>
          <p:nvPr/>
        </p:nvSpPr>
        <p:spPr>
          <a:xfrm>
            <a:off x="536164" y="1664804"/>
            <a:ext cx="8356316" cy="2160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pPr indent="-285750"/>
            <a:r>
              <a:rPr lang="fr-FR" dirty="0" smtClean="0">
                <a:solidFill>
                  <a:schemeClr val="tx1"/>
                </a:solidFill>
              </a:rPr>
              <a:t>…</a:t>
            </a:r>
          </a:p>
          <a:p>
            <a:pPr indent="-285750"/>
            <a:r>
              <a:rPr lang="fr-FR" dirty="0" smtClean="0">
                <a:solidFill>
                  <a:schemeClr val="tx1"/>
                </a:solidFill>
              </a:rPr>
              <a:t>if </a:t>
            </a:r>
            <a:r>
              <a:rPr lang="fr-FR" dirty="0">
                <a:solidFill>
                  <a:schemeClr val="tx1"/>
                </a:solidFill>
              </a:rPr>
              <a:t>__</a:t>
            </a:r>
            <a:r>
              <a:rPr lang="fr-FR" dirty="0" err="1">
                <a:solidFill>
                  <a:schemeClr val="tx1"/>
                </a:solidFill>
              </a:rPr>
              <a:t>name</a:t>
            </a:r>
            <a:r>
              <a:rPr lang="fr-FR" dirty="0">
                <a:solidFill>
                  <a:schemeClr val="tx1"/>
                </a:solidFill>
              </a:rPr>
              <a:t>__ == "__main__":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 smtClean="0">
                <a:solidFill>
                  <a:schemeClr val="tx1"/>
                </a:solidFill>
              </a:rPr>
              <a:t> 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chemeClr val="tx1"/>
                </a:solidFill>
              </a:rPr>
              <a:t>QtGui.QApplication</a:t>
            </a:r>
            <a:r>
              <a:rPr lang="fr-FR" dirty="0">
                <a:solidFill>
                  <a:schemeClr val="tx1"/>
                </a:solidFill>
              </a:rPr>
              <a:t>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MainWindow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chemeClr val="tx1"/>
                </a:solidFill>
              </a:rPr>
              <a:t>QtGui.QMainWindow</a:t>
            </a:r>
            <a:r>
              <a:rPr lang="fr-FR" dirty="0">
                <a:solidFill>
                  <a:schemeClr val="tx1"/>
                </a:solidFill>
              </a:rPr>
              <a:t>()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ui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chemeClr val="tx1"/>
                </a:solidFill>
              </a:rPr>
              <a:t>Ui_MainWindow</a:t>
            </a:r>
            <a:r>
              <a:rPr lang="fr-FR" dirty="0">
                <a:solidFill>
                  <a:schemeClr val="tx1"/>
                </a:solidFill>
              </a:rPr>
              <a:t>()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ui.setupUi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MainWindow</a:t>
            </a:r>
            <a:r>
              <a:rPr lang="fr-FR" dirty="0" smtClean="0">
                <a:solidFill>
                  <a:schemeClr val="tx1"/>
                </a:solidFill>
              </a:rPr>
              <a:t>)</a:t>
            </a: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>
                <a:solidFill>
                  <a:schemeClr val="tx1"/>
                </a:solidFill>
              </a:rPr>
              <a:t>MainWindow.show</a:t>
            </a:r>
            <a:r>
              <a:rPr lang="fr-FR" dirty="0">
                <a:solidFill>
                  <a:schemeClr val="tx1"/>
                </a:solidFill>
              </a:rPr>
              <a:t>()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sys.exit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app.exec</a:t>
            </a:r>
            <a:r>
              <a:rPr lang="fr-FR" dirty="0" smtClean="0">
                <a:solidFill>
                  <a:schemeClr val="tx1"/>
                </a:solidFill>
              </a:rPr>
              <a:t>_())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507460" y="4221088"/>
            <a:ext cx="8356316" cy="17281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pPr indent="-285750"/>
            <a:r>
              <a:rPr lang="fr-FR" dirty="0" smtClean="0">
                <a:solidFill>
                  <a:schemeClr val="tx1"/>
                </a:solidFill>
              </a:rPr>
              <a:t>…</a:t>
            </a:r>
          </a:p>
          <a:p>
            <a:pPr indent="-285750"/>
            <a:r>
              <a:rPr lang="fr-FR" dirty="0" smtClean="0">
                <a:solidFill>
                  <a:schemeClr val="tx1"/>
                </a:solidFill>
              </a:rPr>
              <a:t>if </a:t>
            </a:r>
            <a:r>
              <a:rPr lang="fr-FR" dirty="0">
                <a:solidFill>
                  <a:schemeClr val="tx1"/>
                </a:solidFill>
              </a:rPr>
              <a:t>__</a:t>
            </a:r>
            <a:r>
              <a:rPr lang="fr-FR" dirty="0" err="1">
                <a:solidFill>
                  <a:schemeClr val="tx1"/>
                </a:solidFill>
              </a:rPr>
              <a:t>name</a:t>
            </a:r>
            <a:r>
              <a:rPr lang="fr-FR" dirty="0">
                <a:solidFill>
                  <a:schemeClr val="tx1"/>
                </a:solidFill>
              </a:rPr>
              <a:t>__ == "__main__":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 smtClean="0">
                <a:solidFill>
                  <a:schemeClr val="tx1"/>
                </a:solidFill>
              </a:rPr>
              <a:t> 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chemeClr val="tx1"/>
                </a:solidFill>
              </a:rPr>
              <a:t>QtGui.QApplication</a:t>
            </a:r>
            <a:r>
              <a:rPr lang="fr-FR" dirty="0">
                <a:solidFill>
                  <a:schemeClr val="tx1"/>
                </a:solidFill>
              </a:rPr>
              <a:t>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ui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rgbClr val="FF0000"/>
                </a:solidFill>
              </a:rPr>
              <a:t>uic.loadUi</a:t>
            </a:r>
            <a:r>
              <a:rPr lang="fr-FR" dirty="0" smtClean="0">
                <a:solidFill>
                  <a:srgbClr val="FF0000"/>
                </a:solidFill>
              </a:rPr>
              <a:t>(« </a:t>
            </a:r>
            <a:r>
              <a:rPr lang="fr-FR" dirty="0" err="1" smtClean="0">
                <a:solidFill>
                  <a:srgbClr val="FF0000"/>
                </a:solidFill>
              </a:rPr>
              <a:t>monAppli.ui</a:t>
            </a:r>
            <a:r>
              <a:rPr lang="fr-FR" dirty="0">
                <a:solidFill>
                  <a:srgbClr val="FF0000"/>
                </a:solidFill>
              </a:rPr>
              <a:t>")</a:t>
            </a:r>
            <a:endParaRPr lang="fr-FR" dirty="0" smtClean="0">
              <a:solidFill>
                <a:srgbClr val="FF0000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ui.show</a:t>
            </a:r>
            <a:r>
              <a:rPr lang="fr-FR" dirty="0">
                <a:solidFill>
                  <a:schemeClr val="tx1"/>
                </a:solidFill>
              </a:rPr>
              <a:t>() </a:t>
            </a:r>
            <a:endParaRPr lang="fr-FR" dirty="0" smtClean="0">
              <a:solidFill>
                <a:schemeClr val="tx1"/>
              </a:solidFill>
            </a:endParaRPr>
          </a:p>
          <a:p>
            <a:pPr indent="-285750"/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sys.exit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app.exec</a:t>
            </a:r>
            <a:r>
              <a:rPr lang="fr-FR" dirty="0" smtClean="0">
                <a:solidFill>
                  <a:schemeClr val="tx1"/>
                </a:solidFill>
              </a:rPr>
              <a:t>_())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7584" y="2420888"/>
            <a:ext cx="4032448" cy="7920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971600" y="5013176"/>
            <a:ext cx="4032448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/>
          <p:cNvSpPr txBox="1"/>
          <p:nvPr/>
        </p:nvSpPr>
        <p:spPr>
          <a:xfrm>
            <a:off x="5220072" y="4437112"/>
            <a:ext cx="3528392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 smtClean="0"/>
              <a:t>Remarque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smtClean="0"/>
              <a:t>Solution assez limitée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smtClean="0"/>
              <a:t>Aucune modification n’est possible (ajout des slot, ….)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5326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QtDesigner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41010" y="1196752"/>
            <a:ext cx="8702990" cy="4525963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FR" sz="2000" dirty="0" smtClean="0">
                <a:solidFill>
                  <a:schemeClr val="bg1">
                    <a:lumMod val="50000"/>
                  </a:schemeClr>
                </a:solidFill>
              </a:rPr>
              <a:t>Appel dynamique du fichier .</a:t>
            </a:r>
            <a:r>
              <a:rPr lang="fr-FR" sz="2000" dirty="0" err="1" smtClean="0">
                <a:solidFill>
                  <a:schemeClr val="bg1">
                    <a:lumMod val="50000"/>
                  </a:schemeClr>
                </a:solidFill>
              </a:rPr>
              <a:t>ui</a:t>
            </a:r>
            <a:endParaRPr lang="fr-FR" sz="2000" dirty="0" smtClean="0">
              <a:solidFill>
                <a:schemeClr val="bg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fr-FR" sz="2000" dirty="0" smtClean="0"/>
              <a:t>Par dérivation simple </a:t>
            </a:r>
          </a:p>
          <a:p>
            <a:pPr marL="457200" indent="-457200"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000" dirty="0" smtClean="0"/>
          </a:p>
          <a:p>
            <a:pPr>
              <a:buFont typeface="+mj-lt"/>
              <a:buAutoNum type="arabicPeriod"/>
            </a:pPr>
            <a:endParaRPr lang="fr-FR" sz="2000" i="1" dirty="0" smtClean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9" name="Espace réservé du contenu 2"/>
          <p:cNvSpPr txBox="1">
            <a:spLocks/>
          </p:cNvSpPr>
          <p:nvPr/>
        </p:nvSpPr>
        <p:spPr>
          <a:xfrm>
            <a:off x="528214" y="1916832"/>
            <a:ext cx="8356316" cy="41764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pPr indent="-285750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ui_principal</a:t>
            </a:r>
            <a:r>
              <a:rPr lang="fr-FR" dirty="0"/>
              <a:t> import </a:t>
            </a:r>
            <a:r>
              <a:rPr lang="fr-FR" dirty="0" err="1" smtClean="0"/>
              <a:t>Ui_MainWindow</a:t>
            </a:r>
            <a:endParaRPr lang="fr-FR" dirty="0" smtClean="0"/>
          </a:p>
          <a:p>
            <a:pPr indent="-285750"/>
            <a:r>
              <a:rPr lang="en-US" dirty="0" smtClean="0"/>
              <a:t>from </a:t>
            </a:r>
            <a:r>
              <a:rPr lang="en-US" dirty="0"/>
              <a:t>PyQt4 import </a:t>
            </a:r>
            <a:r>
              <a:rPr lang="en-US" dirty="0" err="1"/>
              <a:t>QtGui</a:t>
            </a:r>
            <a:r>
              <a:rPr lang="en-US" dirty="0"/>
              <a:t>, </a:t>
            </a:r>
            <a:r>
              <a:rPr lang="en-US" dirty="0" err="1" smtClean="0">
                <a:solidFill>
                  <a:srgbClr val="FF0000"/>
                </a:solidFill>
              </a:rPr>
              <a:t>uic</a:t>
            </a:r>
            <a:endParaRPr lang="en-US" dirty="0" smtClean="0">
              <a:solidFill>
                <a:srgbClr val="FF0000"/>
              </a:solidFill>
            </a:endParaRPr>
          </a:p>
          <a:p>
            <a:pPr indent="-285750"/>
            <a:r>
              <a:rPr lang="fr-FR" sz="1600" dirty="0" smtClean="0">
                <a:solidFill>
                  <a:schemeClr val="tx1"/>
                </a:solidFill>
              </a:rPr>
              <a:t>class </a:t>
            </a:r>
            <a:r>
              <a:rPr lang="fr-FR" sz="1600" dirty="0" err="1">
                <a:solidFill>
                  <a:schemeClr val="tx1"/>
                </a:solidFill>
              </a:rPr>
              <a:t>MonAppli</a:t>
            </a:r>
            <a:r>
              <a:rPr lang="fr-FR" sz="1600" dirty="0">
                <a:solidFill>
                  <a:schemeClr val="tx1"/>
                </a:solidFill>
              </a:rPr>
              <a:t>(</a:t>
            </a:r>
            <a:r>
              <a:rPr lang="fr-FR" sz="16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QtGui.QMainWindow</a:t>
            </a:r>
            <a:r>
              <a:rPr lang="fr-FR" sz="1600" dirty="0">
                <a:solidFill>
                  <a:schemeClr val="tx1"/>
                </a:solidFill>
              </a:rPr>
              <a:t>): 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  </a:t>
            </a:r>
            <a:r>
              <a:rPr lang="fr-FR" sz="1600" dirty="0" err="1">
                <a:solidFill>
                  <a:schemeClr val="tx1"/>
                </a:solidFill>
              </a:rPr>
              <a:t>def</a:t>
            </a:r>
            <a:r>
              <a:rPr lang="fr-FR" sz="1600" dirty="0">
                <a:solidFill>
                  <a:schemeClr val="tx1"/>
                </a:solidFill>
              </a:rPr>
              <a:t> __</a:t>
            </a:r>
            <a:r>
              <a:rPr lang="fr-FR" sz="1600" dirty="0" err="1">
                <a:solidFill>
                  <a:schemeClr val="tx1"/>
                </a:solidFill>
              </a:rPr>
              <a:t>init</a:t>
            </a:r>
            <a:r>
              <a:rPr lang="fr-FR" sz="1600" dirty="0">
                <a:solidFill>
                  <a:schemeClr val="tx1"/>
                </a:solidFill>
              </a:rPr>
              <a:t>__(self): 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      super.__</a:t>
            </a:r>
            <a:r>
              <a:rPr lang="fr-FR" sz="1600" dirty="0" err="1">
                <a:solidFill>
                  <a:schemeClr val="tx1"/>
                </a:solidFill>
              </a:rPr>
              <a:t>init</a:t>
            </a:r>
            <a:r>
              <a:rPr lang="fr-FR" sz="1600" dirty="0">
                <a:solidFill>
                  <a:schemeClr val="tx1"/>
                </a:solidFill>
              </a:rPr>
              <a:t>__() # Configure l'interface utilisateur. </a:t>
            </a:r>
          </a:p>
          <a:p>
            <a:pPr indent="-285750"/>
            <a:r>
              <a:rPr lang="fr-FR" sz="1600" dirty="0">
                <a:solidFill>
                  <a:srgbClr val="C00000"/>
                </a:solidFill>
              </a:rPr>
              <a:t>       </a:t>
            </a:r>
            <a:r>
              <a:rPr lang="fr-FR" sz="1600" dirty="0" err="1">
                <a:solidFill>
                  <a:srgbClr val="C00000"/>
                </a:solidFill>
              </a:rPr>
              <a:t>self.ui</a:t>
            </a:r>
            <a:r>
              <a:rPr lang="fr-FR" sz="1600" dirty="0">
                <a:solidFill>
                  <a:srgbClr val="C00000"/>
                </a:solidFill>
              </a:rPr>
              <a:t> = </a:t>
            </a:r>
            <a:r>
              <a:rPr lang="fr-FR" sz="1600" dirty="0" err="1">
                <a:solidFill>
                  <a:srgbClr val="C00000"/>
                </a:solidFill>
              </a:rPr>
              <a:t>Ui_MainWindow</a:t>
            </a:r>
            <a:r>
              <a:rPr lang="fr-FR" sz="1600" dirty="0">
                <a:solidFill>
                  <a:srgbClr val="C00000"/>
                </a:solidFill>
              </a:rPr>
              <a:t>() </a:t>
            </a:r>
            <a:endParaRPr lang="fr-FR" sz="1600" dirty="0" smtClean="0">
              <a:solidFill>
                <a:srgbClr val="C00000"/>
              </a:solidFill>
            </a:endParaRPr>
          </a:p>
          <a:p>
            <a:pPr indent="-285750"/>
            <a:r>
              <a:rPr lang="fr-FR" sz="1600" dirty="0">
                <a:solidFill>
                  <a:srgbClr val="C00000"/>
                </a:solidFill>
              </a:rPr>
              <a:t> </a:t>
            </a:r>
            <a:r>
              <a:rPr lang="fr-FR" sz="1600" dirty="0" smtClean="0">
                <a:solidFill>
                  <a:srgbClr val="C00000"/>
                </a:solidFill>
              </a:rPr>
              <a:t>      </a:t>
            </a:r>
            <a:r>
              <a:rPr lang="fr-FR" sz="1600" dirty="0" err="1" smtClean="0">
                <a:solidFill>
                  <a:srgbClr val="C00000"/>
                </a:solidFill>
              </a:rPr>
              <a:t>self.ui.setupUi</a:t>
            </a:r>
            <a:r>
              <a:rPr lang="fr-FR" sz="1600" dirty="0" smtClean="0">
                <a:solidFill>
                  <a:srgbClr val="C00000"/>
                </a:solidFill>
              </a:rPr>
              <a:t>(self</a:t>
            </a:r>
            <a:r>
              <a:rPr lang="fr-FR" sz="1600" dirty="0">
                <a:solidFill>
                  <a:srgbClr val="C00000"/>
                </a:solidFill>
              </a:rPr>
              <a:t>) </a:t>
            </a:r>
            <a:endParaRPr lang="fr-FR" sz="1600" dirty="0" smtClean="0">
              <a:solidFill>
                <a:srgbClr val="C00000"/>
              </a:solidFill>
            </a:endParaRP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      # </a:t>
            </a:r>
            <a:r>
              <a:rPr lang="fr-FR" sz="1600" dirty="0">
                <a:solidFill>
                  <a:schemeClr val="tx1"/>
                </a:solidFill>
              </a:rPr>
              <a:t>Connecte le bouton. 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      </a:t>
            </a:r>
            <a:r>
              <a:rPr lang="fr-FR" sz="1600" dirty="0" err="1" smtClean="0">
                <a:solidFill>
                  <a:schemeClr val="tx1"/>
                </a:solidFill>
              </a:rPr>
              <a:t>self.ui.pushButton.clicked.connect</a:t>
            </a:r>
            <a:r>
              <a:rPr lang="fr-FR" sz="1600" dirty="0" smtClean="0">
                <a:solidFill>
                  <a:schemeClr val="tx1"/>
                </a:solidFill>
              </a:rPr>
              <a:t>(</a:t>
            </a:r>
            <a:r>
              <a:rPr lang="fr-FR" sz="1600" dirty="0" err="1" smtClean="0">
                <a:solidFill>
                  <a:schemeClr val="tx1"/>
                </a:solidFill>
              </a:rPr>
              <a:t>self.message</a:t>
            </a:r>
            <a:r>
              <a:rPr lang="fr-FR" sz="1600" dirty="0">
                <a:solidFill>
                  <a:schemeClr val="tx1"/>
                </a:solidFill>
              </a:rPr>
              <a:t>) 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  </a:t>
            </a:r>
            <a:r>
              <a:rPr lang="fr-FR" sz="1600" dirty="0" err="1">
                <a:solidFill>
                  <a:schemeClr val="tx1"/>
                </a:solidFill>
              </a:rPr>
              <a:t>def</a:t>
            </a:r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message(self): </a:t>
            </a:r>
            <a:endParaRPr lang="fr-FR" sz="1600" dirty="0">
              <a:solidFill>
                <a:schemeClr val="tx1"/>
              </a:solidFill>
            </a:endParaRP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      </a:t>
            </a:r>
            <a:r>
              <a:rPr lang="fr-FR" sz="1600" dirty="0" err="1">
                <a:solidFill>
                  <a:schemeClr val="tx1"/>
                </a:solidFill>
              </a:rPr>
              <a:t>print</a:t>
            </a:r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(’’traitement à faire le bouton" )</a:t>
            </a:r>
          </a:p>
          <a:p>
            <a:pPr indent="-285750"/>
            <a:r>
              <a:rPr lang="fr-FR" sz="1600" dirty="0" smtClean="0">
                <a:solidFill>
                  <a:schemeClr val="tx1"/>
                </a:solidFill>
              </a:rPr>
              <a:t>if </a:t>
            </a:r>
            <a:r>
              <a:rPr lang="fr-FR" sz="1600" dirty="0">
                <a:solidFill>
                  <a:schemeClr val="tx1"/>
                </a:solidFill>
              </a:rPr>
              <a:t>__</a:t>
            </a:r>
            <a:r>
              <a:rPr lang="fr-FR" sz="1600" dirty="0" err="1">
                <a:solidFill>
                  <a:schemeClr val="tx1"/>
                </a:solidFill>
              </a:rPr>
              <a:t>name</a:t>
            </a:r>
            <a:r>
              <a:rPr lang="fr-FR" sz="1600" dirty="0">
                <a:solidFill>
                  <a:schemeClr val="tx1"/>
                </a:solidFill>
              </a:rPr>
              <a:t>__ == "__main__": </a:t>
            </a:r>
            <a:endParaRPr lang="fr-FR" sz="1600" dirty="0" smtClean="0">
              <a:solidFill>
                <a:schemeClr val="tx1"/>
              </a:solidFill>
            </a:endParaRPr>
          </a:p>
          <a:p>
            <a:pPr indent="-285750"/>
            <a:r>
              <a:rPr lang="fr-FR" sz="1600" dirty="0" smtClean="0">
                <a:solidFill>
                  <a:schemeClr val="tx1"/>
                </a:solidFill>
              </a:rPr>
              <a:t>    </a:t>
            </a:r>
            <a:r>
              <a:rPr lang="fr-FR" sz="1600" dirty="0" err="1" smtClean="0">
                <a:solidFill>
                  <a:schemeClr val="tx1"/>
                </a:solidFill>
              </a:rPr>
              <a:t>app</a:t>
            </a:r>
            <a:r>
              <a:rPr lang="fr-FR" sz="1600" dirty="0" smtClean="0">
                <a:solidFill>
                  <a:schemeClr val="tx1"/>
                </a:solidFill>
              </a:rPr>
              <a:t> </a:t>
            </a:r>
            <a:r>
              <a:rPr lang="fr-FR" sz="1600" dirty="0">
                <a:solidFill>
                  <a:schemeClr val="tx1"/>
                </a:solidFill>
              </a:rPr>
              <a:t>= </a:t>
            </a:r>
            <a:r>
              <a:rPr lang="fr-FR" sz="1600" dirty="0" err="1">
                <a:solidFill>
                  <a:schemeClr val="tx1"/>
                </a:solidFill>
              </a:rPr>
              <a:t>QtGui.QApplication</a:t>
            </a:r>
            <a:r>
              <a:rPr lang="fr-FR" sz="1600" dirty="0">
                <a:solidFill>
                  <a:schemeClr val="tx1"/>
                </a:solidFill>
              </a:rPr>
              <a:t>(</a:t>
            </a:r>
            <a:r>
              <a:rPr lang="fr-FR" sz="1600" dirty="0" err="1">
                <a:solidFill>
                  <a:schemeClr val="tx1"/>
                </a:solidFill>
              </a:rPr>
              <a:t>sys.argv</a:t>
            </a:r>
            <a:r>
              <a:rPr lang="fr-FR" sz="1600" dirty="0">
                <a:solidFill>
                  <a:schemeClr val="tx1"/>
                </a:solidFill>
              </a:rPr>
              <a:t>) </a:t>
            </a:r>
            <a:endParaRPr lang="fr-FR" sz="1600" dirty="0" smtClean="0">
              <a:solidFill>
                <a:schemeClr val="tx1"/>
              </a:solidFill>
            </a:endParaRP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   </a:t>
            </a:r>
            <a:r>
              <a:rPr lang="fr-FR" sz="1600" dirty="0" err="1" smtClean="0">
                <a:solidFill>
                  <a:schemeClr val="tx1"/>
                </a:solidFill>
              </a:rPr>
              <a:t>window</a:t>
            </a:r>
            <a:r>
              <a:rPr lang="fr-FR" sz="1600" dirty="0" smtClean="0">
                <a:solidFill>
                  <a:schemeClr val="tx1"/>
                </a:solidFill>
              </a:rPr>
              <a:t> </a:t>
            </a:r>
            <a:r>
              <a:rPr lang="fr-FR" sz="1600" dirty="0">
                <a:solidFill>
                  <a:schemeClr val="tx1"/>
                </a:solidFill>
              </a:rPr>
              <a:t>= </a:t>
            </a:r>
            <a:r>
              <a:rPr lang="fr-FR" sz="1600" dirty="0" err="1" smtClean="0">
                <a:solidFill>
                  <a:schemeClr val="tx1"/>
                </a:solidFill>
              </a:rPr>
              <a:t>MonAppli</a:t>
            </a:r>
            <a:r>
              <a:rPr lang="fr-FR" sz="1600" dirty="0" smtClean="0">
                <a:solidFill>
                  <a:schemeClr val="tx1"/>
                </a:solidFill>
              </a:rPr>
              <a:t>()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   </a:t>
            </a:r>
            <a:r>
              <a:rPr lang="fr-FR" sz="1600" dirty="0" err="1" smtClean="0">
                <a:solidFill>
                  <a:schemeClr val="tx1"/>
                </a:solidFill>
              </a:rPr>
              <a:t>window,show</a:t>
            </a:r>
            <a:r>
              <a:rPr lang="fr-FR" sz="1600" dirty="0" smtClean="0">
                <a:solidFill>
                  <a:schemeClr val="tx1"/>
                </a:solidFill>
              </a:rPr>
              <a:t>()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   </a:t>
            </a:r>
            <a:r>
              <a:rPr lang="fr-FR" sz="1600" dirty="0" err="1" smtClean="0">
                <a:solidFill>
                  <a:schemeClr val="tx1"/>
                </a:solidFill>
              </a:rPr>
              <a:t>sys.exit</a:t>
            </a:r>
            <a:r>
              <a:rPr lang="fr-FR" sz="1600" dirty="0" smtClean="0">
                <a:solidFill>
                  <a:schemeClr val="tx1"/>
                </a:solidFill>
              </a:rPr>
              <a:t>(</a:t>
            </a:r>
            <a:r>
              <a:rPr lang="fr-FR" sz="1600" dirty="0" err="1" smtClean="0">
                <a:solidFill>
                  <a:schemeClr val="tx1"/>
                </a:solidFill>
              </a:rPr>
              <a:t>app.exec</a:t>
            </a:r>
            <a:r>
              <a:rPr lang="fr-FR" sz="1600" dirty="0" smtClean="0">
                <a:solidFill>
                  <a:schemeClr val="tx1"/>
                </a:solidFill>
              </a:rPr>
              <a:t>_())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07803" y="3099572"/>
            <a:ext cx="6840760" cy="54545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-285750"/>
            <a:r>
              <a:rPr lang="fr-FR" sz="16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Self.ui</a:t>
            </a:r>
            <a:r>
              <a:rPr lang="fr-FR" sz="16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= </a:t>
            </a:r>
            <a:r>
              <a:rPr lang="fr-FR" sz="16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uic.loadUi</a:t>
            </a:r>
            <a:r>
              <a:rPr lang="fr-FR" sz="16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(« </a:t>
            </a:r>
            <a:r>
              <a:rPr lang="fr-FR" sz="16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monAppli.ui</a:t>
            </a:r>
            <a:r>
              <a:rPr lang="fr-FR" sz="16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5220072" y="4603743"/>
            <a:ext cx="3528392" cy="1477328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 smtClean="0"/>
              <a:t>Remarque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smtClean="0"/>
              <a:t>Permet d’ajouter des objets et des méthodes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smtClean="0"/>
              <a:t>Accéder aux Widget via une variable d’instance  </a:t>
            </a:r>
            <a:r>
              <a:rPr lang="fr-FR" dirty="0" err="1" smtClean="0"/>
              <a:t>self.ui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3497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QtDesigner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41010" y="1196752"/>
            <a:ext cx="8702990" cy="4525963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FR" sz="2000" dirty="0" smtClean="0">
                <a:solidFill>
                  <a:schemeClr val="bg1">
                    <a:lumMod val="50000"/>
                  </a:schemeClr>
                </a:solidFill>
              </a:rPr>
              <a:t>Appel dynamique du fichier .</a:t>
            </a:r>
            <a:r>
              <a:rPr lang="fr-FR" sz="2000" dirty="0" err="1" smtClean="0">
                <a:solidFill>
                  <a:schemeClr val="bg1">
                    <a:lumMod val="50000"/>
                  </a:schemeClr>
                </a:solidFill>
              </a:rPr>
              <a:t>ui</a:t>
            </a:r>
            <a:endParaRPr lang="fr-FR" sz="2000" dirty="0" smtClean="0">
              <a:solidFill>
                <a:schemeClr val="bg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fr-FR" sz="2000" dirty="0">
                <a:solidFill>
                  <a:schemeClr val="bg1">
                    <a:lumMod val="50000"/>
                  </a:schemeClr>
                </a:solidFill>
              </a:rPr>
              <a:t>Par dérivation simple </a:t>
            </a:r>
            <a:endParaRPr lang="fr-FR" sz="2000" dirty="0" smtClean="0">
              <a:solidFill>
                <a:schemeClr val="bg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fr-FR" sz="2000" dirty="0" smtClean="0"/>
              <a:t>Dérivation multiple (</a:t>
            </a:r>
            <a:r>
              <a:rPr lang="fr-FR" sz="2000" dirty="0" err="1" smtClean="0"/>
              <a:t>QMainWindow</a:t>
            </a:r>
            <a:r>
              <a:rPr lang="fr-FR" sz="2000" dirty="0" smtClean="0"/>
              <a:t>, </a:t>
            </a:r>
            <a:r>
              <a:rPr lang="fr-FR" sz="2000" dirty="0" err="1" smtClean="0"/>
              <a:t>Ui_MainWindow</a:t>
            </a:r>
            <a:r>
              <a:rPr lang="fr-FR" sz="2000" dirty="0" smtClean="0"/>
              <a:t>)</a:t>
            </a:r>
            <a:endParaRPr lang="fr-FR" sz="2000" dirty="0"/>
          </a:p>
          <a:p>
            <a:pPr marL="457200" indent="-457200"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000" dirty="0" smtClean="0"/>
          </a:p>
          <a:p>
            <a:pPr>
              <a:buFont typeface="+mj-lt"/>
              <a:buAutoNum type="arabicPeriod"/>
            </a:pPr>
            <a:endParaRPr lang="fr-FR" sz="2000" i="1" dirty="0" smtClean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9" name="Espace réservé du contenu 2"/>
          <p:cNvSpPr txBox="1">
            <a:spLocks/>
          </p:cNvSpPr>
          <p:nvPr/>
        </p:nvSpPr>
        <p:spPr>
          <a:xfrm>
            <a:off x="528214" y="2420888"/>
            <a:ext cx="8356316" cy="374441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pPr indent="-285750"/>
            <a:r>
              <a:rPr lang="fr-FR" dirty="0"/>
              <a:t>import </a:t>
            </a:r>
            <a:r>
              <a:rPr lang="fr-FR" dirty="0" err="1"/>
              <a:t>sys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PyQt4 </a:t>
            </a:r>
            <a:endParaRPr lang="fr-FR" dirty="0" smtClean="0"/>
          </a:p>
          <a:p>
            <a:pPr indent="-285750"/>
            <a:r>
              <a:rPr lang="fr-FR" dirty="0" smtClean="0"/>
              <a:t>import </a:t>
            </a:r>
            <a:r>
              <a:rPr lang="fr-FR" dirty="0" err="1"/>
              <a:t>QtGui</a:t>
            </a:r>
            <a:r>
              <a:rPr lang="fr-FR" dirty="0"/>
              <a:t>, </a:t>
            </a:r>
            <a:r>
              <a:rPr lang="fr-FR" dirty="0" err="1"/>
              <a:t>QtCore</a:t>
            </a:r>
            <a:r>
              <a:rPr lang="fr-FR" dirty="0"/>
              <a:t> </a:t>
            </a:r>
            <a:endParaRPr lang="fr-FR" dirty="0" smtClean="0"/>
          </a:p>
          <a:p>
            <a:pPr indent="-285750"/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/>
              <a:t>ui_principal</a:t>
            </a:r>
            <a:r>
              <a:rPr lang="fr-FR" dirty="0"/>
              <a:t> import </a:t>
            </a:r>
            <a:r>
              <a:rPr lang="fr-FR" dirty="0" err="1" smtClean="0"/>
              <a:t>Ui_MainWindow</a:t>
            </a:r>
            <a:endParaRPr lang="fr-FR" dirty="0" smtClean="0"/>
          </a:p>
          <a:p>
            <a:pPr indent="-285750"/>
            <a:r>
              <a:rPr lang="fr-FR" sz="1600" dirty="0" smtClean="0">
                <a:solidFill>
                  <a:schemeClr val="tx1"/>
                </a:solidFill>
              </a:rPr>
              <a:t>class </a:t>
            </a:r>
            <a:r>
              <a:rPr lang="fr-FR" sz="1600" dirty="0" err="1" smtClean="0">
                <a:solidFill>
                  <a:schemeClr val="tx1"/>
                </a:solidFill>
              </a:rPr>
              <a:t>MonAppli</a:t>
            </a:r>
            <a:r>
              <a:rPr lang="fr-FR" sz="1600" b="1" dirty="0">
                <a:solidFill>
                  <a:srgbClr val="FF0000"/>
                </a:solidFill>
              </a:rPr>
              <a:t>(</a:t>
            </a:r>
            <a:r>
              <a:rPr lang="fr-FR" sz="1600" b="1" dirty="0" err="1">
                <a:solidFill>
                  <a:srgbClr val="FF0000"/>
                </a:solidFill>
              </a:rPr>
              <a:t>QtGui.QMainWindow</a:t>
            </a:r>
            <a:r>
              <a:rPr lang="fr-FR" sz="1600" b="1" dirty="0">
                <a:solidFill>
                  <a:srgbClr val="FF0000"/>
                </a:solidFill>
              </a:rPr>
              <a:t>, </a:t>
            </a:r>
            <a:r>
              <a:rPr lang="fr-FR" sz="1600" b="1" dirty="0" err="1">
                <a:solidFill>
                  <a:srgbClr val="FF0000"/>
                </a:solidFill>
              </a:rPr>
              <a:t>Ui_MainWindow</a:t>
            </a:r>
            <a:r>
              <a:rPr lang="fr-FR" sz="1600" b="1" dirty="0" smtClean="0">
                <a:solidFill>
                  <a:srgbClr val="FF0000"/>
                </a:solidFill>
              </a:rPr>
              <a:t>): </a:t>
            </a:r>
            <a:endParaRPr lang="fr-FR" sz="1600" b="1" dirty="0">
              <a:solidFill>
                <a:srgbClr val="FF0000"/>
              </a:solidFill>
            </a:endParaRP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  </a:t>
            </a:r>
            <a:r>
              <a:rPr lang="fr-FR" sz="1600" dirty="0" err="1">
                <a:solidFill>
                  <a:schemeClr val="tx1"/>
                </a:solidFill>
              </a:rPr>
              <a:t>def</a:t>
            </a:r>
            <a:r>
              <a:rPr lang="fr-FR" sz="1600" dirty="0">
                <a:solidFill>
                  <a:schemeClr val="tx1"/>
                </a:solidFill>
              </a:rPr>
              <a:t> __</a:t>
            </a:r>
            <a:r>
              <a:rPr lang="fr-FR" sz="1600" dirty="0" err="1">
                <a:solidFill>
                  <a:schemeClr val="tx1"/>
                </a:solidFill>
              </a:rPr>
              <a:t>init</a:t>
            </a:r>
            <a:r>
              <a:rPr lang="fr-FR" sz="1600" dirty="0">
                <a:solidFill>
                  <a:schemeClr val="tx1"/>
                </a:solidFill>
              </a:rPr>
              <a:t>__(self): 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      </a:t>
            </a:r>
            <a:r>
              <a:rPr lang="fr-FR" sz="1600" dirty="0"/>
              <a:t>QtGui.</a:t>
            </a:r>
            <a:r>
              <a:rPr lang="fr-FR" sz="1600" dirty="0" err="1"/>
              <a:t>QMainWindow</a:t>
            </a:r>
            <a:r>
              <a:rPr lang="fr-FR" sz="1600" dirty="0"/>
              <a:t>.__</a:t>
            </a:r>
            <a:r>
              <a:rPr lang="fr-FR" sz="1600" dirty="0" err="1"/>
              <a:t>init</a:t>
            </a:r>
            <a:r>
              <a:rPr lang="fr-FR" sz="1600" dirty="0"/>
              <a:t>__(self) </a:t>
            </a:r>
            <a:endParaRPr lang="fr-FR" sz="1600" dirty="0" smtClean="0"/>
          </a:p>
          <a:p>
            <a:pPr indent="-285750"/>
            <a:r>
              <a:rPr lang="fr-FR" sz="1600" dirty="0" smtClean="0"/>
              <a:t>       Ui_</a:t>
            </a:r>
            <a:r>
              <a:rPr lang="fr-FR" sz="1600" dirty="0" err="1" smtClean="0"/>
              <a:t>MainWindow</a:t>
            </a:r>
            <a:r>
              <a:rPr lang="fr-FR" sz="1600" dirty="0"/>
              <a:t>.__</a:t>
            </a:r>
            <a:r>
              <a:rPr lang="fr-FR" sz="1600" dirty="0" err="1"/>
              <a:t>init</a:t>
            </a:r>
            <a:r>
              <a:rPr lang="fr-FR" sz="1600" dirty="0"/>
              <a:t>__(self</a:t>
            </a:r>
            <a:r>
              <a:rPr lang="fr-FR" sz="1600" dirty="0" smtClean="0"/>
              <a:t>)</a:t>
            </a:r>
          </a:p>
          <a:p>
            <a:pPr indent="-285750"/>
            <a:r>
              <a:rPr lang="fr-FR" sz="1600" dirty="0" smtClean="0"/>
              <a:t>       </a:t>
            </a:r>
            <a:r>
              <a:rPr lang="fr-FR" sz="1600" dirty="0" err="1" smtClean="0"/>
              <a:t>self.setupUi</a:t>
            </a:r>
            <a:r>
              <a:rPr lang="fr-FR" sz="1600" dirty="0" smtClean="0"/>
              <a:t>(self</a:t>
            </a:r>
            <a:r>
              <a:rPr lang="fr-FR" sz="1600" dirty="0"/>
              <a:t>)</a:t>
            </a:r>
            <a:r>
              <a:rPr lang="fr-FR" sz="1600" dirty="0" smtClean="0">
                <a:solidFill>
                  <a:schemeClr val="tx1"/>
                </a:solidFill>
              </a:rPr>
              <a:t>       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      </a:t>
            </a:r>
            <a:r>
              <a:rPr lang="fr-FR" sz="1600" dirty="0" err="1" smtClean="0">
                <a:solidFill>
                  <a:schemeClr val="tx1"/>
                </a:solidFill>
              </a:rPr>
              <a:t>self.pushButton.clicked.connect</a:t>
            </a:r>
            <a:r>
              <a:rPr lang="fr-FR" sz="1600" dirty="0" smtClean="0">
                <a:solidFill>
                  <a:schemeClr val="tx1"/>
                </a:solidFill>
              </a:rPr>
              <a:t>(</a:t>
            </a:r>
            <a:r>
              <a:rPr lang="fr-FR" sz="1600" dirty="0" err="1" smtClean="0">
                <a:solidFill>
                  <a:schemeClr val="tx1"/>
                </a:solidFill>
              </a:rPr>
              <a:t>self.message</a:t>
            </a:r>
            <a:r>
              <a:rPr lang="fr-FR" sz="1600" dirty="0">
                <a:solidFill>
                  <a:schemeClr val="tx1"/>
                </a:solidFill>
              </a:rPr>
              <a:t>) 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  </a:t>
            </a:r>
            <a:r>
              <a:rPr lang="fr-FR" sz="1600" dirty="0" err="1">
                <a:solidFill>
                  <a:schemeClr val="tx1"/>
                </a:solidFill>
              </a:rPr>
              <a:t>def</a:t>
            </a:r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message(self): </a:t>
            </a:r>
            <a:endParaRPr lang="fr-FR" sz="1600" dirty="0">
              <a:solidFill>
                <a:schemeClr val="tx1"/>
              </a:solidFill>
            </a:endParaRP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      </a:t>
            </a:r>
            <a:r>
              <a:rPr lang="fr-FR" sz="1600" dirty="0" err="1">
                <a:solidFill>
                  <a:schemeClr val="tx1"/>
                </a:solidFill>
              </a:rPr>
              <a:t>print</a:t>
            </a:r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(« traitement à faire le bouton" )</a:t>
            </a:r>
          </a:p>
          <a:p>
            <a:pPr indent="-285750"/>
            <a:r>
              <a:rPr lang="fr-FR" sz="1600" dirty="0" smtClean="0">
                <a:solidFill>
                  <a:schemeClr val="tx1"/>
                </a:solidFill>
              </a:rPr>
              <a:t>if </a:t>
            </a:r>
            <a:r>
              <a:rPr lang="fr-FR" sz="1600" dirty="0">
                <a:solidFill>
                  <a:schemeClr val="tx1"/>
                </a:solidFill>
              </a:rPr>
              <a:t>__</a:t>
            </a:r>
            <a:r>
              <a:rPr lang="fr-FR" sz="1600" dirty="0" err="1">
                <a:solidFill>
                  <a:schemeClr val="tx1"/>
                </a:solidFill>
              </a:rPr>
              <a:t>name</a:t>
            </a:r>
            <a:r>
              <a:rPr lang="fr-FR" sz="1600" dirty="0">
                <a:solidFill>
                  <a:schemeClr val="tx1"/>
                </a:solidFill>
              </a:rPr>
              <a:t>__ == "__main__": </a:t>
            </a:r>
            <a:endParaRPr lang="fr-FR" sz="1600" dirty="0" smtClean="0">
              <a:solidFill>
                <a:schemeClr val="tx1"/>
              </a:solidFill>
            </a:endParaRPr>
          </a:p>
          <a:p>
            <a:pPr indent="-285750"/>
            <a:r>
              <a:rPr lang="fr-FR" sz="1600" dirty="0" smtClean="0">
                <a:solidFill>
                  <a:schemeClr val="tx1"/>
                </a:solidFill>
              </a:rPr>
              <a:t>    </a:t>
            </a:r>
            <a:r>
              <a:rPr lang="fr-FR" sz="1600" dirty="0" err="1" smtClean="0">
                <a:solidFill>
                  <a:schemeClr val="tx1"/>
                </a:solidFill>
              </a:rPr>
              <a:t>app</a:t>
            </a:r>
            <a:r>
              <a:rPr lang="fr-FR" sz="1600" dirty="0" smtClean="0">
                <a:solidFill>
                  <a:schemeClr val="tx1"/>
                </a:solidFill>
              </a:rPr>
              <a:t> </a:t>
            </a:r>
            <a:r>
              <a:rPr lang="fr-FR" sz="1600" dirty="0">
                <a:solidFill>
                  <a:schemeClr val="tx1"/>
                </a:solidFill>
              </a:rPr>
              <a:t>= </a:t>
            </a:r>
            <a:r>
              <a:rPr lang="fr-FR" sz="1600" dirty="0" err="1">
                <a:solidFill>
                  <a:schemeClr val="tx1"/>
                </a:solidFill>
              </a:rPr>
              <a:t>QtGui.QApplication</a:t>
            </a:r>
            <a:r>
              <a:rPr lang="fr-FR" sz="1600" dirty="0">
                <a:solidFill>
                  <a:schemeClr val="tx1"/>
                </a:solidFill>
              </a:rPr>
              <a:t>(</a:t>
            </a:r>
            <a:r>
              <a:rPr lang="fr-FR" sz="1600" dirty="0" err="1">
                <a:solidFill>
                  <a:schemeClr val="tx1"/>
                </a:solidFill>
              </a:rPr>
              <a:t>sys.argv</a:t>
            </a:r>
            <a:r>
              <a:rPr lang="fr-FR" sz="1600" dirty="0">
                <a:solidFill>
                  <a:schemeClr val="tx1"/>
                </a:solidFill>
              </a:rPr>
              <a:t>) </a:t>
            </a:r>
            <a:endParaRPr lang="fr-FR" sz="1600" dirty="0" smtClean="0">
              <a:solidFill>
                <a:schemeClr val="tx1"/>
              </a:solidFill>
            </a:endParaRP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   </a:t>
            </a:r>
            <a:r>
              <a:rPr lang="fr-FR" sz="1600" dirty="0" err="1" smtClean="0">
                <a:solidFill>
                  <a:schemeClr val="tx1"/>
                </a:solidFill>
              </a:rPr>
              <a:t>window</a:t>
            </a:r>
            <a:r>
              <a:rPr lang="fr-FR" sz="1600" dirty="0" smtClean="0">
                <a:solidFill>
                  <a:schemeClr val="tx1"/>
                </a:solidFill>
              </a:rPr>
              <a:t> </a:t>
            </a:r>
            <a:r>
              <a:rPr lang="fr-FR" sz="1600" dirty="0">
                <a:solidFill>
                  <a:schemeClr val="tx1"/>
                </a:solidFill>
              </a:rPr>
              <a:t>= </a:t>
            </a:r>
            <a:r>
              <a:rPr lang="fr-FR" sz="1600" dirty="0" err="1" smtClean="0">
                <a:solidFill>
                  <a:schemeClr val="tx1"/>
                </a:solidFill>
              </a:rPr>
              <a:t>MonAppli</a:t>
            </a:r>
            <a:r>
              <a:rPr lang="fr-FR" sz="1600" dirty="0" smtClean="0">
                <a:solidFill>
                  <a:schemeClr val="tx1"/>
                </a:solidFill>
              </a:rPr>
              <a:t>()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   </a:t>
            </a:r>
            <a:r>
              <a:rPr lang="fr-FR" sz="1600" dirty="0" err="1" smtClean="0">
                <a:solidFill>
                  <a:schemeClr val="tx1"/>
                </a:solidFill>
              </a:rPr>
              <a:t>window,show</a:t>
            </a:r>
            <a:r>
              <a:rPr lang="fr-FR" sz="1600" dirty="0" smtClean="0">
                <a:solidFill>
                  <a:schemeClr val="tx1"/>
                </a:solidFill>
              </a:rPr>
              <a:t>()</a:t>
            </a:r>
          </a:p>
          <a:p>
            <a:pPr indent="-285750"/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smtClean="0">
                <a:solidFill>
                  <a:schemeClr val="tx1"/>
                </a:solidFill>
              </a:rPr>
              <a:t>   </a:t>
            </a:r>
            <a:r>
              <a:rPr lang="fr-FR" sz="1600" dirty="0" err="1" smtClean="0">
                <a:solidFill>
                  <a:schemeClr val="tx1"/>
                </a:solidFill>
              </a:rPr>
              <a:t>sys.exit</a:t>
            </a:r>
            <a:r>
              <a:rPr lang="fr-FR" sz="1600" dirty="0" smtClean="0">
                <a:solidFill>
                  <a:schemeClr val="tx1"/>
                </a:solidFill>
              </a:rPr>
              <a:t>(</a:t>
            </a:r>
            <a:r>
              <a:rPr lang="fr-FR" sz="1600" dirty="0" err="1" smtClean="0">
                <a:solidFill>
                  <a:schemeClr val="tx1"/>
                </a:solidFill>
              </a:rPr>
              <a:t>app.exec</a:t>
            </a:r>
            <a:r>
              <a:rPr lang="fr-FR" sz="1600" dirty="0" smtClean="0">
                <a:solidFill>
                  <a:schemeClr val="tx1"/>
                </a:solidFill>
              </a:rPr>
              <a:t>_())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5358494" y="4869160"/>
            <a:ext cx="3528392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 smtClean="0"/>
              <a:t>Remarque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smtClean="0"/>
              <a:t>Permet  de personnaliser la fenêtre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smtClean="0"/>
              <a:t>Accéder directement aux Widget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12397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/>
          <p:cNvSpPr txBox="1"/>
          <p:nvPr/>
        </p:nvSpPr>
        <p:spPr>
          <a:xfrm>
            <a:off x="2251711" y="2036375"/>
            <a:ext cx="669202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spc="-400" dirty="0" smtClean="0">
                <a:solidFill>
                  <a:schemeClr val="bg1"/>
                </a:solidFill>
              </a:rPr>
              <a:t>A </a:t>
            </a:r>
            <a:r>
              <a:rPr lang="en-US" sz="8800" b="1" spc="-400" dirty="0" err="1" smtClean="0">
                <a:solidFill>
                  <a:schemeClr val="bg1"/>
                </a:solidFill>
              </a:rPr>
              <a:t>vous</a:t>
            </a:r>
            <a:r>
              <a:rPr lang="en-US" sz="8800" b="1" spc="-400" dirty="0" smtClean="0">
                <a:solidFill>
                  <a:schemeClr val="bg1"/>
                </a:solidFill>
              </a:rPr>
              <a:t> de </a:t>
            </a:r>
            <a:r>
              <a:rPr lang="en-US" sz="8800" b="1" spc="-400" dirty="0" err="1" smtClean="0">
                <a:solidFill>
                  <a:schemeClr val="bg1"/>
                </a:solidFill>
              </a:rPr>
              <a:t>jouer</a:t>
            </a:r>
            <a:endParaRPr lang="en-US" sz="8800" b="1" spc="-400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165980" y="3150871"/>
            <a:ext cx="216116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Projet</a:t>
            </a:r>
            <a:r>
              <a:rPr lang="en-US" sz="2500" dirty="0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 </a:t>
            </a:r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informatique</a:t>
            </a:r>
            <a:endParaRPr lang="en-US" sz="2500" dirty="0">
              <a:solidFill>
                <a:schemeClr val="bg1">
                  <a:lumMod val="75000"/>
                </a:schemeClr>
              </a:solidFill>
              <a:latin typeface="TypoSlabserif-Light" pitchFamily="2" charset="0"/>
            </a:endParaRPr>
          </a:p>
        </p:txBody>
      </p:sp>
      <p:pic>
        <p:nvPicPr>
          <p:cNvPr id="22" name="Picture 21" descr="MainTitle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06" y="1857364"/>
            <a:ext cx="1631405" cy="1804572"/>
          </a:xfrm>
          <a:prstGeom prst="rect">
            <a:avLst/>
          </a:prstGeom>
        </p:spPr>
      </p:pic>
      <p:pic>
        <p:nvPicPr>
          <p:cNvPr id="23" name="Picture 22" descr="MainTitleImageSha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76" y="3714752"/>
            <a:ext cx="1902349" cy="243428"/>
          </a:xfrm>
          <a:prstGeom prst="rect">
            <a:avLst/>
          </a:prstGeom>
        </p:spPr>
      </p:pic>
      <p:pic>
        <p:nvPicPr>
          <p:cNvPr id="24" name="Picture 23" descr="MainTitleSha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5006" y="3661936"/>
            <a:ext cx="6345466" cy="270476"/>
          </a:xfrm>
          <a:prstGeom prst="rect">
            <a:avLst/>
          </a:prstGeom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709732" y="6330523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mtClean="0"/>
              <a:pPr/>
              <a:t>24</a:t>
            </a:fld>
            <a:endParaRPr lang="en-US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2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3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theme/theme1.xml><?xml version="1.0" encoding="utf-8"?>
<a:theme xmlns:a="http://schemas.openxmlformats.org/drawingml/2006/main" name="DarkPowerpoint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3262</TotalTime>
  <Words>1695</Words>
  <Application>Microsoft Office PowerPoint</Application>
  <PresentationFormat>Affichage à l'écran (4:3)</PresentationFormat>
  <Paragraphs>385</Paragraphs>
  <Slides>24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25" baseType="lpstr">
      <vt:lpstr>DarkPowerpointTemplate</vt:lpstr>
      <vt:lpstr>Présentation PowerPoint</vt:lpstr>
      <vt:lpstr> Structure d’un programme QT</vt:lpstr>
      <vt:lpstr>Signaux et slots en Python</vt:lpstr>
      <vt:lpstr>Signaux et slots en Python</vt:lpstr>
      <vt:lpstr>Signaux et slots en Python</vt:lpstr>
      <vt:lpstr>Signaux et slots en Python</vt:lpstr>
      <vt:lpstr>Signaux et slots en Python</vt:lpstr>
      <vt:lpstr>Signaux et slots en Python</vt:lpstr>
      <vt:lpstr>Signaux et slots en Python</vt:lpstr>
      <vt:lpstr>Signaux et slots en Python</vt:lpstr>
      <vt:lpstr>Définition signal/slot</vt:lpstr>
      <vt:lpstr>Exemple</vt:lpstr>
      <vt:lpstr>Sommaire</vt:lpstr>
      <vt:lpstr>QtDesigner</vt:lpstr>
      <vt:lpstr>QtDesigner : </vt:lpstr>
      <vt:lpstr>QtDesigner</vt:lpstr>
      <vt:lpstr>QtDesigner</vt:lpstr>
      <vt:lpstr>QtDesigner</vt:lpstr>
      <vt:lpstr>QtDesigner</vt:lpstr>
      <vt:lpstr>QtDesigner</vt:lpstr>
      <vt:lpstr>QtDesigner</vt:lpstr>
      <vt:lpstr>QtDesigner</vt:lpstr>
      <vt:lpstr>QtDesigner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ensta</dc:creator>
  <cp:lastModifiedBy>ensta</cp:lastModifiedBy>
  <cp:revision>193</cp:revision>
  <dcterms:created xsi:type="dcterms:W3CDTF">2016-03-15T18:06:02Z</dcterms:created>
  <dcterms:modified xsi:type="dcterms:W3CDTF">2017-04-04T21:30:04Z</dcterms:modified>
</cp:coreProperties>
</file>