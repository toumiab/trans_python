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97" r:id="rId3"/>
    <p:sldId id="279" r:id="rId4"/>
    <p:sldId id="304" r:id="rId5"/>
    <p:sldId id="306" r:id="rId6"/>
    <p:sldId id="283" r:id="rId7"/>
    <p:sldId id="307" r:id="rId8"/>
    <p:sldId id="332" r:id="rId9"/>
    <p:sldId id="333" r:id="rId10"/>
    <p:sldId id="334" r:id="rId11"/>
    <p:sldId id="316" r:id="rId12"/>
    <p:sldId id="317" r:id="rId13"/>
    <p:sldId id="321" r:id="rId14"/>
    <p:sldId id="319" r:id="rId15"/>
    <p:sldId id="325" r:id="rId16"/>
    <p:sldId id="326" r:id="rId17"/>
    <p:sldId id="327" r:id="rId18"/>
    <p:sldId id="328" r:id="rId19"/>
    <p:sldId id="329" r:id="rId20"/>
    <p:sldId id="331" r:id="rId21"/>
    <p:sldId id="330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C2BB77C0-C172-4496-90B6-A3D8A326893A}">
          <p14:sldIdLst>
            <p14:sldId id="256"/>
            <p14:sldId id="297"/>
            <p14:sldId id="279"/>
            <p14:sldId id="304"/>
            <p14:sldId id="306"/>
            <p14:sldId id="283"/>
            <p14:sldId id="307"/>
            <p14:sldId id="332"/>
            <p14:sldId id="333"/>
            <p14:sldId id="334"/>
            <p14:sldId id="316"/>
            <p14:sldId id="317"/>
            <p14:sldId id="321"/>
            <p14:sldId id="319"/>
            <p14:sldId id="325"/>
            <p14:sldId id="326"/>
            <p14:sldId id="327"/>
            <p14:sldId id="328"/>
            <p14:sldId id="329"/>
            <p14:sldId id="331"/>
            <p14:sldId id="330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99FF33"/>
    <a:srgbClr val="CCFF33"/>
    <a:srgbClr val="38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985" autoAdjust="0"/>
    <p:restoredTop sz="94286" autoAdjust="0"/>
  </p:normalViewPr>
  <p:slideViewPr>
    <p:cSldViewPr>
      <p:cViewPr>
        <p:scale>
          <a:sx n="68" d="100"/>
          <a:sy n="68" d="100"/>
        </p:scale>
        <p:origin x="-1637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smtClean="0"/>
              <a:t>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09E36-4607-432C-A5A8-ECF49ED23085}" type="datetimeFigureOut">
              <a:rPr lang="fr-FR" smtClean="0"/>
              <a:t>14/03/2018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A2791-0049-4703-88B7-A017233F8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79830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E8E1C-2662-4E6E-A1FD-77715E78031E}" type="datetimeFigureOut">
              <a:rPr lang="en-US" smtClean="0"/>
              <a:pPr/>
              <a:t>3/14/2018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FC9CF-D339-4A1B-9AF2-43BD7CEDA5C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6311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77960" y="6332180"/>
            <a:ext cx="2133600" cy="365125"/>
          </a:xfrm>
        </p:spPr>
        <p:txBody>
          <a:bodyPr/>
          <a:lstStyle>
            <a:lvl1pPr>
              <a:defRPr sz="1100"/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 hasCustomPrompt="1"/>
          </p:nvPr>
        </p:nvSpPr>
        <p:spPr>
          <a:xfrm>
            <a:off x="467544" y="23664"/>
            <a:ext cx="8208963" cy="576064"/>
          </a:xfrm>
        </p:spPr>
        <p:txBody>
          <a:bodyPr>
            <a:normAutofit/>
          </a:bodyPr>
          <a:lstStyle>
            <a:lvl1pPr marL="0" indent="0" algn="r">
              <a:buNone/>
              <a:defRPr sz="2000" u="none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fr-FR" dirty="0" smtClean="0"/>
              <a:t>Titre 2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782" y="44624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01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3801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15" descr="BottomLineLight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172049"/>
            <a:ext cx="9144000" cy="669726"/>
          </a:xfrm>
          <a:prstGeom prst="rect">
            <a:avLst/>
          </a:prstGeom>
        </p:spPr>
      </p:pic>
      <p:pic>
        <p:nvPicPr>
          <p:cNvPr id="8" name="Picture 16" descr="BottomLineDarker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822401"/>
            <a:ext cx="9144000" cy="44648"/>
          </a:xfrm>
          <a:prstGeom prst="rect">
            <a:avLst/>
          </a:prstGeom>
        </p:spPr>
      </p:pic>
      <p:pic>
        <p:nvPicPr>
          <p:cNvPr id="9" name="Picture 14" descr="Avatar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07995" y="6298997"/>
            <a:ext cx="377791" cy="387005"/>
          </a:xfrm>
          <a:prstGeom prst="rect">
            <a:avLst/>
          </a:prstGeom>
        </p:spPr>
      </p:pic>
      <p:sp>
        <p:nvSpPr>
          <p:cNvPr id="10" name="TextBox 4"/>
          <p:cNvSpPr txBox="1"/>
          <p:nvPr userDrawn="1"/>
        </p:nvSpPr>
        <p:spPr>
          <a:xfrm>
            <a:off x="785786" y="6224107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11" name="TextBox 5"/>
          <p:cNvSpPr txBox="1"/>
          <p:nvPr userDrawn="1"/>
        </p:nvSpPr>
        <p:spPr>
          <a:xfrm>
            <a:off x="785786" y="6344958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12" name="TextBox 6"/>
          <p:cNvSpPr txBox="1"/>
          <p:nvPr userDrawn="1"/>
        </p:nvSpPr>
        <p:spPr>
          <a:xfrm>
            <a:off x="785786" y="6524118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3" name="TextBox 9"/>
          <p:cNvSpPr txBox="1"/>
          <p:nvPr userDrawn="1"/>
        </p:nvSpPr>
        <p:spPr>
          <a:xfrm>
            <a:off x="2694634" y="6224107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4" name="TextBox 10"/>
          <p:cNvSpPr txBox="1"/>
          <p:nvPr userDrawn="1"/>
        </p:nvSpPr>
        <p:spPr>
          <a:xfrm>
            <a:off x="2694634" y="6344958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5" name="TextBox 11"/>
          <p:cNvSpPr txBox="1"/>
          <p:nvPr userDrawn="1"/>
        </p:nvSpPr>
        <p:spPr>
          <a:xfrm>
            <a:off x="7447108" y="6224107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6" name="TextBox 12"/>
          <p:cNvSpPr txBox="1"/>
          <p:nvPr userDrawn="1"/>
        </p:nvSpPr>
        <p:spPr>
          <a:xfrm>
            <a:off x="8685382" y="6381328"/>
            <a:ext cx="46198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40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17" name="Picture 18" descr="PrevArrow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395200" y="6429177"/>
            <a:ext cx="213333" cy="213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17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1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11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13" name="TextBox 12"/>
          <p:cNvSpPr txBox="1"/>
          <p:nvPr/>
        </p:nvSpPr>
        <p:spPr>
          <a:xfrm>
            <a:off x="7776000" y="6433112"/>
            <a:ext cx="558166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ypoSlabserif-Light" pitchFamily="2" charset="0"/>
              </a:rPr>
              <a:t>1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19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17549" y="1879105"/>
            <a:ext cx="415075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00" b="1" dirty="0" smtClean="0">
                <a:solidFill>
                  <a:schemeClr val="bg1"/>
                </a:solidFill>
              </a:rPr>
              <a:t>Python</a:t>
            </a:r>
            <a:endParaRPr lang="en-US" sz="104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7312" y="3389398"/>
            <a:ext cx="18982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PyQT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 pour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l’IHM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61" y="1857364"/>
            <a:ext cx="155566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02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64" y="3714752"/>
            <a:ext cx="5202159" cy="27047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Structure d’un programme QT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96752"/>
            <a:ext cx="8784976" cy="4525963"/>
          </a:xfrm>
        </p:spPr>
        <p:txBody>
          <a:bodyPr>
            <a:normAutofit/>
          </a:bodyPr>
          <a:lstStyle/>
          <a:p>
            <a:r>
              <a:rPr lang="fr-FR" sz="2800" dirty="0" smtClean="0"/>
              <a:t>Un programme </a:t>
            </a:r>
            <a:r>
              <a:rPr lang="fr-FR" sz="2800" dirty="0" err="1" smtClean="0"/>
              <a:t>PyQt</a:t>
            </a:r>
            <a:r>
              <a:rPr lang="fr-FR" sz="2800" dirty="0" smtClean="0"/>
              <a:t> typique contient les étapes suivante 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de l’instance de </a:t>
            </a:r>
            <a:r>
              <a:rPr lang="fr-FR" sz="2000" dirty="0" err="1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Qapplication</a:t>
            </a:r>
            <a:r>
              <a:rPr lang="fr-FR" sz="2000" dirty="0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(</a:t>
            </a:r>
            <a:r>
              <a:rPr lang="fr-FR" sz="2000" dirty="0" err="1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QtWidgets</a:t>
            </a:r>
            <a:r>
              <a:rPr lang="fr-FR" sz="2000" dirty="0" smtClean="0">
                <a:solidFill>
                  <a:srgbClr val="FFFF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  <a:endParaRPr lang="fr-FR" sz="2000" dirty="0">
              <a:solidFill>
                <a:srgbClr val="FFFF00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fr-FR" sz="2000" dirty="0" smtClean="0"/>
              <a:t>Création et affichage de la fenêtre principale et ses composants</a:t>
            </a:r>
          </a:p>
          <a:p>
            <a:pPr lvl="2" indent="-342900">
              <a:buFont typeface="+mj-lt"/>
              <a:buAutoNum type="arabicPeriod" startAt="3"/>
            </a:pPr>
            <a:r>
              <a:rPr lang="fr-FR" sz="1600" dirty="0" smtClean="0">
                <a:solidFill>
                  <a:srgbClr val="FFFF00"/>
                </a:solidFill>
              </a:rPr>
              <a:t>Connexion des signaux aux slots : gestion des évènements (</a:t>
            </a:r>
            <a:r>
              <a:rPr lang="fr-FR" sz="1600" dirty="0" err="1" smtClean="0">
                <a:solidFill>
                  <a:srgbClr val="FFFF00"/>
                </a:solidFill>
              </a:rPr>
              <a:t>QtCore</a:t>
            </a:r>
            <a:r>
              <a:rPr lang="fr-FR" sz="1600" dirty="0" smtClean="0">
                <a:solidFill>
                  <a:srgbClr val="FFFF00"/>
                </a:solidFill>
              </a:rPr>
              <a:t>)</a:t>
            </a:r>
          </a:p>
          <a:p>
            <a:pPr marL="914400" lvl="1" indent="-514350">
              <a:buFont typeface="+mj-lt"/>
              <a:buAutoNum type="arabicPeriod" startAt="4"/>
            </a:pPr>
            <a:r>
              <a:rPr lang="fr-FR" sz="2000" dirty="0" smtClean="0"/>
              <a:t>Appel de la méthode </a:t>
            </a:r>
            <a:r>
              <a:rPr lang="fr-FR" sz="2000" dirty="0" err="1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exec</a:t>
            </a:r>
            <a:r>
              <a:rPr lang="fr-FR" sz="20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__() </a:t>
            </a:r>
            <a:r>
              <a:rPr lang="fr-FR" sz="2000" dirty="0" smtClean="0"/>
              <a:t>de l’application</a:t>
            </a:r>
          </a:p>
          <a:p>
            <a:pPr marL="400050" lvl="1" indent="0">
              <a:buNone/>
            </a:pPr>
            <a:r>
              <a:rPr lang="fr-FR" sz="2000" dirty="0" smtClean="0"/>
              <a:t>Exemple :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00708" y="3429000"/>
            <a:ext cx="8424936" cy="2592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smtClean="0"/>
              <a:t># 1 - Création d’une instance </a:t>
            </a:r>
            <a:r>
              <a:rPr lang="fr-FR" dirty="0" err="1">
                <a:solidFill>
                  <a:schemeClr val="tx1"/>
                </a:solidFill>
              </a:rPr>
              <a:t>QApplication</a:t>
            </a:r>
            <a:r>
              <a:rPr lang="fr-FR" dirty="0" smtClean="0"/>
              <a:t> 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= </a:t>
            </a:r>
            <a:r>
              <a:rPr lang="fr-FR" dirty="0" err="1" smtClean="0">
                <a:solidFill>
                  <a:schemeClr val="tx1"/>
                </a:solidFill>
              </a:rPr>
              <a:t>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args</a:t>
            </a:r>
            <a:r>
              <a:rPr lang="fr-FR" dirty="0" smtClean="0">
                <a:solidFill>
                  <a:schemeClr val="tx1"/>
                </a:solidFill>
              </a:rPr>
              <a:t>)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smtClean="0"/>
              <a:t># 2 - Création de fenêtre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() 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fen.setWindowTitle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Demo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QMainWindow</a:t>
            </a:r>
            <a:r>
              <a:rPr lang="fr-FR" dirty="0" smtClean="0">
                <a:solidFill>
                  <a:schemeClr val="tx1"/>
                </a:solidFill>
              </a:rPr>
              <a:t>")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fen.resize</a:t>
            </a:r>
            <a:r>
              <a:rPr lang="fr-FR" dirty="0" smtClean="0">
                <a:solidFill>
                  <a:schemeClr val="tx1"/>
                </a:solidFill>
              </a:rPr>
              <a:t>(40,80</a:t>
            </a:r>
            <a:r>
              <a:rPr lang="fr-FR" dirty="0">
                <a:solidFill>
                  <a:schemeClr val="tx1"/>
                </a:solidFill>
              </a:rPr>
              <a:t>) </a:t>
            </a:r>
            <a:endParaRPr lang="fr-FR" dirty="0" smtClean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</a:t>
            </a:r>
            <a:r>
              <a:rPr lang="fr-FR" dirty="0" err="1" smtClean="0">
                <a:solidFill>
                  <a:schemeClr val="tx1"/>
                </a:solidFill>
              </a:rPr>
              <a:t>fen.show</a:t>
            </a:r>
            <a:r>
              <a:rPr lang="fr-FR" dirty="0">
                <a:solidFill>
                  <a:schemeClr val="tx1"/>
                </a:solidFill>
              </a:rPr>
              <a:t>()</a:t>
            </a:r>
          </a:p>
          <a:p>
            <a:r>
              <a:rPr lang="fr-FR" dirty="0" smtClean="0"/>
              <a:t>   # 3 – Connexion des signaux aux slots</a:t>
            </a:r>
            <a:endParaRPr lang="fr-FR" dirty="0"/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smtClean="0"/>
              <a:t># TODO</a:t>
            </a:r>
            <a:endParaRPr lang="fr-FR" dirty="0"/>
          </a:p>
          <a:p>
            <a:r>
              <a:rPr lang="fr-FR" dirty="0">
                <a:solidFill>
                  <a:schemeClr val="tx1"/>
                </a:solidFill>
              </a:rPr>
              <a:t>   </a:t>
            </a:r>
            <a:r>
              <a:rPr lang="fr-FR" dirty="0" smtClean="0"/>
              <a:t># 4 - Création </a:t>
            </a:r>
            <a:r>
              <a:rPr lang="fr-FR" dirty="0"/>
              <a:t>de fenêtre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>
                <a:solidFill>
                  <a:schemeClr val="tx1"/>
                </a:solidFill>
              </a:rPr>
              <a:t>_()</a:t>
            </a: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196752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pPr lvl="1"/>
            <a:r>
              <a:rPr lang="fr-FR" sz="1600" dirty="0"/>
              <a:t> </a:t>
            </a:r>
            <a:r>
              <a:rPr lang="fr-FR" sz="1600" dirty="0" err="1" smtClean="0"/>
              <a:t>QTCore</a:t>
            </a:r>
            <a:endParaRPr lang="fr-FR" sz="1600" dirty="0" smtClean="0"/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82628" y="5805264"/>
            <a:ext cx="8280920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>
                <a:solidFill>
                  <a:schemeClr val="tx1"/>
                </a:solidFill>
              </a:rPr>
              <a:t>PyQt4.QtCore.QObject.connect(</a:t>
            </a:r>
            <a:r>
              <a:rPr lang="fr-FR" dirty="0" err="1">
                <a:solidFill>
                  <a:schemeClr val="tx1"/>
                </a:solidFill>
              </a:rPr>
              <a:t>emeteur</a:t>
            </a:r>
            <a:r>
              <a:rPr lang="fr-FR" dirty="0">
                <a:solidFill>
                  <a:schemeClr val="tx1"/>
                </a:solidFill>
              </a:rPr>
              <a:t>, SIGNAL(), </a:t>
            </a:r>
            <a:r>
              <a:rPr lang="fr-FR" dirty="0" err="1">
                <a:solidFill>
                  <a:schemeClr val="tx1"/>
                </a:solidFill>
              </a:rPr>
              <a:t>recepteur</a:t>
            </a:r>
            <a:r>
              <a:rPr lang="fr-FR" dirty="0">
                <a:solidFill>
                  <a:schemeClr val="tx1"/>
                </a:solidFill>
              </a:rPr>
              <a:t>, SLOT())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284984"/>
            <a:ext cx="4071508" cy="233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1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5008" y="1164586"/>
            <a:ext cx="8928992" cy="4525963"/>
          </a:xfrm>
        </p:spPr>
        <p:txBody>
          <a:bodyPr>
            <a:normAutofit/>
          </a:bodyPr>
          <a:lstStyle/>
          <a:p>
            <a:r>
              <a:rPr lang="fr-FR" sz="2000" dirty="0" smtClean="0"/>
              <a:t>Mécanisme utilisé dans QT pour assurer </a:t>
            </a:r>
            <a:r>
              <a:rPr lang="fr-FR" sz="2000" dirty="0"/>
              <a:t>la communication entre les objets</a:t>
            </a:r>
            <a:r>
              <a:rPr lang="fr-FR" sz="2000" dirty="0" smtClean="0"/>
              <a:t>.</a:t>
            </a:r>
          </a:p>
          <a:p>
            <a:r>
              <a:rPr lang="fr-FR" sz="2000" dirty="0">
                <a:solidFill>
                  <a:srgbClr val="FFFF00"/>
                </a:solidFill>
              </a:rPr>
              <a:t>Un </a:t>
            </a:r>
            <a:r>
              <a:rPr lang="fr-FR" sz="2000" dirty="0" smtClean="0">
                <a:solidFill>
                  <a:srgbClr val="FFFF00"/>
                </a:solidFill>
              </a:rPr>
              <a:t>signal </a:t>
            </a:r>
            <a:r>
              <a:rPr lang="fr-FR" sz="2000" dirty="0" smtClean="0"/>
              <a:t>: </a:t>
            </a:r>
            <a:r>
              <a:rPr lang="fr-FR" sz="2000" dirty="0"/>
              <a:t>c'est un message envoyé par un widget lorsqu'un évènement se </a:t>
            </a:r>
            <a:r>
              <a:rPr lang="fr-FR" sz="2000" dirty="0" smtClean="0"/>
              <a:t>produit. Exemple </a:t>
            </a:r>
            <a:r>
              <a:rPr lang="fr-FR" sz="2000" dirty="0"/>
              <a:t>: on a cliqué sur un bouton. </a:t>
            </a:r>
          </a:p>
          <a:p>
            <a:r>
              <a:rPr lang="fr-FR" sz="2000" dirty="0" smtClean="0">
                <a:solidFill>
                  <a:srgbClr val="FFFF00"/>
                </a:solidFill>
              </a:rPr>
              <a:t>Un slot </a:t>
            </a:r>
            <a:r>
              <a:rPr lang="fr-FR" sz="2000" dirty="0" smtClean="0"/>
              <a:t>:  </a:t>
            </a:r>
            <a:r>
              <a:rPr lang="fr-FR" sz="2000" dirty="0"/>
              <a:t>c'est la fonction qui est appelée lorsqu'un évènement s'est produit. On dit que le signal appelle le slot. </a:t>
            </a:r>
            <a:r>
              <a:rPr lang="fr-FR" sz="2000" dirty="0" smtClean="0"/>
              <a:t>Concrètement</a:t>
            </a:r>
            <a:r>
              <a:rPr lang="fr-FR" sz="2000" dirty="0"/>
              <a:t>, un </a:t>
            </a:r>
            <a:r>
              <a:rPr lang="fr-FR" sz="2000" dirty="0" smtClean="0"/>
              <a:t>slot est </a:t>
            </a:r>
            <a:r>
              <a:rPr lang="fr-FR" sz="2000" dirty="0"/>
              <a:t>une méthode d'une </a:t>
            </a:r>
            <a:r>
              <a:rPr lang="fr-FR" sz="2000" dirty="0" smtClean="0"/>
              <a:t>classe.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84984"/>
            <a:ext cx="2232248" cy="2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49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Principe : </a:t>
            </a:r>
          </a:p>
          <a:p>
            <a:r>
              <a:rPr lang="fr-FR" sz="2400" dirty="0" smtClean="0"/>
              <a:t>La connexion :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connect</a:t>
            </a:r>
            <a:r>
              <a:rPr lang="fr-FR" sz="2400" dirty="0" smtClean="0"/>
              <a:t>() de l’objet </a:t>
            </a:r>
            <a:r>
              <a:rPr lang="fr-FR" sz="2400" dirty="0" err="1" smtClean="0"/>
              <a:t>Qobject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Syntaxe :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Elle prend  4 arguments :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l'objet </a:t>
            </a:r>
            <a:r>
              <a:rPr lang="fr-FR" sz="1800" dirty="0"/>
              <a:t>qui émet le signal.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signal que l'on veut "intercepter". </a:t>
            </a:r>
            <a:endParaRPr lang="fr-FR" sz="1800" dirty="0" smtClean="0"/>
          </a:p>
          <a:p>
            <a:pPr>
              <a:buFont typeface="+mj-lt"/>
              <a:buAutoNum type="arabicPeriod"/>
            </a:pPr>
            <a:r>
              <a:rPr lang="fr-FR" sz="1800" dirty="0" smtClean="0"/>
              <a:t>L’objet </a:t>
            </a:r>
            <a:r>
              <a:rPr lang="fr-FR" sz="1800" dirty="0"/>
              <a:t>qui contient le slot récepteur. </a:t>
            </a:r>
          </a:p>
          <a:p>
            <a:pPr>
              <a:buFont typeface="+mj-lt"/>
              <a:buAutoNum type="arabicPeriod"/>
            </a:pPr>
            <a:r>
              <a:rPr lang="fr-FR" sz="1800" dirty="0" smtClean="0"/>
              <a:t>Le </a:t>
            </a:r>
            <a:r>
              <a:rPr lang="fr-FR" sz="1800" dirty="0"/>
              <a:t>nom du slot qui doit s'exécuter lorsque </a:t>
            </a:r>
            <a:endParaRPr lang="fr-FR" sz="1800" dirty="0" smtClean="0"/>
          </a:p>
          <a:p>
            <a:pPr marL="0" indent="0">
              <a:buNone/>
            </a:pPr>
            <a:r>
              <a:rPr lang="fr-FR" sz="1800" dirty="0"/>
              <a:t> </a:t>
            </a:r>
            <a:r>
              <a:rPr lang="fr-FR" sz="1800" dirty="0" smtClean="0"/>
              <a:t>     le </a:t>
            </a:r>
            <a:r>
              <a:rPr lang="fr-FR" sz="1800" dirty="0"/>
              <a:t>signal se </a:t>
            </a:r>
            <a:r>
              <a:rPr lang="fr-FR" sz="1800" dirty="0" smtClean="0"/>
              <a:t>produit</a:t>
            </a:r>
            <a:endParaRPr lang="fr-FR" sz="18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563919" y="2600908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1800" dirty="0" err="1">
                <a:solidFill>
                  <a:schemeClr val="tx1"/>
                </a:solidFill>
              </a:rPr>
              <a:t>sender.signalName.connect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 err="1">
                <a:solidFill>
                  <a:schemeClr val="tx1"/>
                </a:solidFill>
              </a:rPr>
              <a:t>receiver.slotName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endParaRPr lang="fr-FR" sz="1800" dirty="0">
              <a:solidFill>
                <a:schemeClr val="tx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4976976" y="3557364"/>
            <a:ext cx="4131528" cy="2247900"/>
            <a:chOff x="4976976" y="3557364"/>
            <a:chExt cx="4131528" cy="2247900"/>
          </a:xfrm>
        </p:grpSpPr>
        <p:grpSp>
          <p:nvGrpSpPr>
            <p:cNvPr id="12" name="Groupe 11"/>
            <p:cNvGrpSpPr/>
            <p:nvPr/>
          </p:nvGrpSpPr>
          <p:grpSpPr>
            <a:xfrm>
              <a:off x="4976976" y="3557364"/>
              <a:ext cx="4131528" cy="2247900"/>
              <a:chOff x="4860032" y="3356992"/>
              <a:chExt cx="4131528" cy="2247900"/>
            </a:xfrm>
          </p:grpSpPr>
          <p:pic>
            <p:nvPicPr>
              <p:cNvPr id="9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4104456" cy="2247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1360" y="3356992"/>
                <a:ext cx="1600200" cy="742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132397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ZoneTexte 2"/>
            <p:cNvSpPr txBox="1"/>
            <p:nvPr/>
          </p:nvSpPr>
          <p:spPr>
            <a:xfrm>
              <a:off x="7740352" y="4993431"/>
              <a:ext cx="864096" cy="30777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Close()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03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Principe : </a:t>
            </a:r>
          </a:p>
          <a:p>
            <a:r>
              <a:rPr lang="fr-FR" sz="2400" dirty="0" smtClean="0"/>
              <a:t>La connexion :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connect</a:t>
            </a:r>
            <a:r>
              <a:rPr lang="fr-FR" sz="2400" dirty="0" smtClean="0"/>
              <a:t>() de l’objet </a:t>
            </a:r>
            <a:r>
              <a:rPr lang="fr-FR" sz="2400" dirty="0" err="1" smtClean="0"/>
              <a:t>QObject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Nouvelle Syntaxe (à partir de PyQt4.5)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536164" y="2600908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endParaRPr lang="en-US" dirty="0"/>
          </a:p>
          <a:p>
            <a:r>
              <a:rPr lang="en-US" sz="7200" dirty="0" err="1">
                <a:solidFill>
                  <a:schemeClr val="tx1"/>
                </a:solidFill>
              </a:rPr>
              <a:t>sender.signalName.connect</a:t>
            </a:r>
            <a:r>
              <a:rPr lang="en-US" sz="7200" dirty="0">
                <a:solidFill>
                  <a:schemeClr val="tx1"/>
                </a:solidFill>
              </a:rPr>
              <a:t>(</a:t>
            </a:r>
            <a:r>
              <a:rPr lang="en-US" sz="7200" dirty="0" err="1">
                <a:solidFill>
                  <a:schemeClr val="tx1"/>
                </a:solidFill>
              </a:rPr>
              <a:t>receiver.slotName</a:t>
            </a:r>
            <a:r>
              <a:rPr lang="en-US" sz="7200" dirty="0">
                <a:solidFill>
                  <a:schemeClr val="tx1"/>
                </a:solidFill>
              </a:rPr>
              <a:t>) </a:t>
            </a:r>
            <a:endParaRPr lang="fr-FR" sz="7200" dirty="0">
              <a:solidFill>
                <a:schemeClr val="tx1"/>
              </a:solidFill>
            </a:endParaRP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3573016"/>
            <a:ext cx="6003616" cy="1728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fr-FR" dirty="0" smtClean="0"/>
              <a:t>…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chemeClr val="tx1"/>
                </a:solidFill>
              </a:rPr>
              <a:t>the_button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err="1">
                <a:solidFill>
                  <a:schemeClr val="tx1"/>
                </a:solidFill>
              </a:rPr>
              <a:t>QPushButton</a:t>
            </a:r>
            <a:r>
              <a:rPr lang="en-US" dirty="0">
                <a:solidFill>
                  <a:schemeClr val="tx1"/>
                </a:solidFill>
              </a:rPr>
              <a:t>('Close</a:t>
            </a:r>
            <a:r>
              <a:rPr lang="en-US" dirty="0" smtClean="0">
                <a:solidFill>
                  <a:schemeClr val="tx1"/>
                </a:solidFill>
              </a:rPr>
              <a:t>')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the_button.clicked.connect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self.close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fr-FR" dirty="0" smtClean="0"/>
              <a:t># Pour appeler une méthode hello()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the_button.clicked.connect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self.hello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50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smtClean="0"/>
              <a:t>Remarques </a:t>
            </a:r>
          </a:p>
          <a:p>
            <a:r>
              <a:rPr lang="fr-FR" sz="2400" dirty="0" smtClean="0"/>
              <a:t>Un signal peut se connecter à plusieurs slots. </a:t>
            </a:r>
          </a:p>
          <a:p>
            <a:pPr marL="0" indent="182563">
              <a:buNone/>
            </a:pPr>
            <a:r>
              <a:rPr lang="fr-FR" sz="2400" dirty="0" smtClean="0"/>
              <a:t> </a:t>
            </a:r>
            <a:r>
              <a:rPr lang="fr-FR" sz="2400" dirty="0" smtClean="0">
                <a:sym typeface="Wingdings" panose="05000000000000000000" pitchFamily="2" charset="2"/>
              </a:rPr>
              <a:t> Les slots connectés sont activés dans un ordre arbitraire</a:t>
            </a:r>
            <a:r>
              <a:rPr lang="fr-FR" sz="2400" dirty="0" smtClean="0"/>
              <a:t>. </a:t>
            </a:r>
          </a:p>
          <a:p>
            <a:r>
              <a:rPr lang="fr-FR" sz="2400" dirty="0" smtClean="0"/>
              <a:t>Un signal/slot peut avoir des arguments.</a:t>
            </a:r>
          </a:p>
          <a:p>
            <a:pPr lvl="1"/>
            <a:r>
              <a:rPr lang="fr-FR" sz="2000" dirty="0" smtClean="0"/>
              <a:t>Pour connecter un signal à un slot, le slot (méthode) doit avoir au moins les même arguments (nombre)</a:t>
            </a:r>
          </a:p>
          <a:p>
            <a:pPr lvl="1"/>
            <a:r>
              <a:rPr lang="fr-FR" sz="2000" dirty="0" smtClean="0"/>
              <a:t>Si le signal connecté à un slot a plus de paramètres que ce slot, les paramètres supplémentaires seront ignorés </a:t>
            </a:r>
          </a:p>
          <a:p>
            <a:r>
              <a:rPr lang="fr-FR" sz="2400" dirty="0" smtClean="0"/>
              <a:t>Les </a:t>
            </a:r>
            <a:r>
              <a:rPr lang="fr-FR" sz="2400" dirty="0"/>
              <a:t>arguments </a:t>
            </a:r>
            <a:r>
              <a:rPr lang="fr-FR" sz="2400" dirty="0" smtClean="0"/>
              <a:t>entre </a:t>
            </a:r>
            <a:r>
              <a:rPr lang="fr-FR" sz="2400" dirty="0"/>
              <a:t>signal et slot </a:t>
            </a:r>
            <a:r>
              <a:rPr lang="fr-FR" sz="2400" dirty="0" smtClean="0"/>
              <a:t>connectés doivent </a:t>
            </a:r>
            <a:r>
              <a:rPr lang="fr-FR" sz="2400" dirty="0"/>
              <a:t>avoir les même types. </a:t>
            </a:r>
            <a:endParaRPr lang="fr-FR" sz="2000" dirty="0" smtClean="0"/>
          </a:p>
          <a:p>
            <a:r>
              <a:rPr lang="fr-FR" sz="2400" dirty="0"/>
              <a:t>Un signal peut se connecter à un autre signal. </a:t>
            </a:r>
          </a:p>
          <a:p>
            <a:pPr marL="0" indent="0">
              <a:buNone/>
            </a:pPr>
            <a:r>
              <a:rPr lang="fr-FR" sz="2400" dirty="0" smtClean="0"/>
              <a:t>Exemple : </a:t>
            </a:r>
          </a:p>
          <a:p>
            <a:pPr marL="0" indent="0">
              <a:buNone/>
            </a:pPr>
            <a:r>
              <a:rPr lang="fr-FR" sz="2000" dirty="0" smtClean="0"/>
              <a:t>On ne peut connecter directement le signal </a:t>
            </a:r>
            <a:r>
              <a:rPr lang="fr-FR" sz="2000" dirty="0" err="1" smtClean="0"/>
              <a:t>valueChanged</a:t>
            </a:r>
            <a:r>
              <a:rPr lang="fr-FR" sz="2000" dirty="0" smtClean="0"/>
              <a:t>(</a:t>
            </a:r>
            <a:r>
              <a:rPr lang="fr-FR" sz="2000" dirty="0" err="1" smtClean="0"/>
              <a:t>int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Qdial</a:t>
            </a:r>
            <a:r>
              <a:rPr lang="fr-FR" sz="2000" dirty="0" smtClean="0"/>
              <a:t> au slot </a:t>
            </a:r>
            <a:r>
              <a:rPr lang="fr-FR" sz="2000" dirty="0" err="1" smtClean="0"/>
              <a:t>setText</a:t>
            </a:r>
            <a:r>
              <a:rPr lang="fr-FR" sz="2000" dirty="0" smtClean="0"/>
              <a:t>(</a:t>
            </a:r>
            <a:r>
              <a:rPr lang="fr-FR" sz="2000" dirty="0" err="1" smtClean="0"/>
              <a:t>QString</a:t>
            </a:r>
            <a:r>
              <a:rPr lang="fr-FR" sz="2000" dirty="0" smtClean="0"/>
              <a:t>) du widget </a:t>
            </a:r>
            <a:r>
              <a:rPr lang="fr-FR" sz="2000" dirty="0" err="1" smtClean="0"/>
              <a:t>QLineEdit</a:t>
            </a:r>
            <a:r>
              <a:rPr lang="fr-FR" sz="2000" dirty="0" smtClean="0"/>
              <a:t>. 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37742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Signaux et slots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23528" y="1196753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Exemple :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36164" y="1916832"/>
            <a:ext cx="60036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PyQt5 </a:t>
            </a: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 smtClean="0">
                <a:solidFill>
                  <a:schemeClr val="tx1"/>
                </a:solidFill>
              </a:rPr>
              <a:t>QtWidgets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QtCore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smtClean="0">
                <a:solidFill>
                  <a:schemeClr val="tx1"/>
                </a:solidFill>
              </a:rPr>
              <a:t>Composant(</a:t>
            </a:r>
            <a:r>
              <a:rPr lang="fr-FR" dirty="0" err="1" smtClean="0">
                <a:solidFill>
                  <a:schemeClr val="tx1"/>
                </a:solidFill>
              </a:rPr>
              <a:t>QtWidgets.QWidget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def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init</a:t>
            </a:r>
            <a:r>
              <a:rPr lang="fr-FR" dirty="0">
                <a:solidFill>
                  <a:schemeClr val="tx1"/>
                </a:solidFill>
              </a:rPr>
              <a:t>__(</a:t>
            </a:r>
            <a:r>
              <a:rPr lang="fr-FR" dirty="0" err="1">
                <a:solidFill>
                  <a:schemeClr val="tx1"/>
                </a:solidFill>
              </a:rPr>
              <a:t>self,parent</a:t>
            </a:r>
            <a:r>
              <a:rPr lang="fr-FR" dirty="0">
                <a:solidFill>
                  <a:schemeClr val="tx1"/>
                </a:solidFill>
              </a:rPr>
              <a:t>=None): </a:t>
            </a:r>
          </a:p>
          <a:p>
            <a:pPr marL="857250" lvl="2" indent="0">
              <a:buNone/>
            </a:pPr>
            <a:r>
              <a:rPr lang="fr-FR" sz="11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Super().__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lang="fr-FR" sz="11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__(parent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self.setWindowTitle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('Simple‘)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self.setGeometry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(300,300,250,150)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QtGui.QLineEdit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 ',self)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QtGui.QComboBox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('Item1')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self.ComboBox.addItem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('Item2')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QtGui.QGridLayout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(self.Line,0,0)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self.grid.addWidget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(self.ComboBox,0,1) </a:t>
            </a:r>
          </a:p>
          <a:p>
            <a:pPr marL="857250" lvl="2" indent="0">
              <a:buNone/>
            </a:pP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self.setLayout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self.grid</a:t>
            </a:r>
            <a:r>
              <a:rPr lang="fr-FR" sz="11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857250" lvl="2" indent="0">
              <a:buNone/>
            </a:pPr>
            <a:r>
              <a:rPr lang="fr-FR" sz="11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self.ComboBox.currentIndexChanged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['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QString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'].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connect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lang="fr-FR" sz="11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self.lineEdit.setText</a:t>
            </a:r>
            <a:r>
              <a:rPr lang="fr-FR" sz="11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348880"/>
            <a:ext cx="27051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>
          <a:xfrm>
            <a:off x="3203848" y="5392236"/>
            <a:ext cx="3600400" cy="4320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Signal et slot échange un ‘</a:t>
            </a:r>
            <a:r>
              <a:rPr lang="fr-FR" dirty="0" err="1" smtClean="0"/>
              <a:t>Qstring</a:t>
            </a:r>
            <a:r>
              <a:rPr lang="fr-FR" dirty="0" smtClean="0"/>
              <a:t>’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677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Définition</a:t>
            </a:r>
            <a:r>
              <a:rPr lang="en-US" dirty="0" smtClean="0"/>
              <a:t> un nouveau signal/slot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Signal</a:t>
            </a:r>
          </a:p>
          <a:p>
            <a:r>
              <a:rPr lang="fr-FR" sz="2400" dirty="0" err="1" smtClean="0"/>
              <a:t>Utilisantion</a:t>
            </a:r>
            <a:r>
              <a:rPr lang="fr-FR" sz="2400" dirty="0" smtClean="0"/>
              <a:t> de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pyqtsignal</a:t>
            </a:r>
            <a:r>
              <a:rPr lang="fr-FR" sz="2400" dirty="0" smtClean="0">
                <a:solidFill>
                  <a:srgbClr val="FFFF00"/>
                </a:solidFill>
              </a:rPr>
              <a:t>() </a:t>
            </a:r>
            <a:r>
              <a:rPr lang="fr-FR" sz="2400" dirty="0" smtClean="0"/>
              <a:t>avec la liste des types de paramètres</a:t>
            </a:r>
          </a:p>
          <a:p>
            <a:r>
              <a:rPr lang="fr-FR" sz="2400" dirty="0" smtClean="0"/>
              <a:t>Emission manuelle d’un signal est réalisée par la méthode </a:t>
            </a:r>
            <a:r>
              <a:rPr lang="fr-FR" sz="2400" dirty="0" err="1" smtClean="0">
                <a:solidFill>
                  <a:srgbClr val="FFFF00"/>
                </a:solidFill>
              </a:rPr>
              <a:t>emit</a:t>
            </a:r>
            <a:r>
              <a:rPr lang="fr-FR" sz="2400" dirty="0" smtClean="0">
                <a:solidFill>
                  <a:srgbClr val="FFFF00"/>
                </a:solidFill>
              </a:rPr>
              <a:t>()</a:t>
            </a:r>
          </a:p>
          <a:p>
            <a:pPr marL="0" indent="0">
              <a:buNone/>
            </a:pPr>
            <a:r>
              <a:rPr lang="fr-FR" sz="2400" dirty="0" smtClean="0"/>
              <a:t>Exemple :</a:t>
            </a:r>
          </a:p>
          <a:p>
            <a:endParaRPr lang="fr-FR" dirty="0" smtClean="0"/>
          </a:p>
          <a:p>
            <a:endParaRPr lang="fr-FR" sz="2400" dirty="0" smtClean="0"/>
          </a:p>
          <a:p>
            <a:r>
              <a:rPr lang="fr-FR" sz="2400" dirty="0" smtClean="0"/>
              <a:t>Le </a:t>
            </a:r>
            <a:r>
              <a:rPr lang="fr-FR" sz="2400" dirty="0"/>
              <a:t>signal </a:t>
            </a:r>
            <a:r>
              <a:rPr lang="fr-FR" sz="2400" dirty="0" smtClean="0"/>
              <a:t>créé </a:t>
            </a:r>
            <a:r>
              <a:rPr lang="fr-FR" sz="2400" dirty="0"/>
              <a:t>se connecte à un slot avec </a:t>
            </a:r>
            <a:r>
              <a:rPr lang="fr-FR" sz="2400" dirty="0" smtClean="0"/>
              <a:t>la même </a:t>
            </a:r>
            <a:r>
              <a:rPr lang="fr-FR" sz="2400" dirty="0"/>
              <a:t>liste de </a:t>
            </a:r>
            <a:r>
              <a:rPr lang="fr-FR" sz="2400" dirty="0" smtClean="0"/>
              <a:t>types de paramètres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921416" y="3212976"/>
            <a:ext cx="600361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from PyQt5 import </a:t>
            </a:r>
            <a:r>
              <a:rPr lang="en-US" dirty="0" err="1" smtClean="0">
                <a:solidFill>
                  <a:schemeClr val="tx1"/>
                </a:solidFill>
              </a:rPr>
              <a:t>QtCore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fr-FR" dirty="0" smtClean="0">
              <a:solidFill>
                <a:schemeClr val="tx1"/>
              </a:solidFill>
            </a:endParaRPr>
          </a:p>
          <a:p>
            <a:r>
              <a:rPr lang="fr-FR" dirty="0" err="1" smtClean="0">
                <a:solidFill>
                  <a:schemeClr val="tx1"/>
                </a:solidFill>
              </a:rPr>
              <a:t>mysignal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QtCore.pyqtSignal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list</a:t>
            </a:r>
            <a:r>
              <a:rPr lang="fr-FR" dirty="0" smtClean="0">
                <a:solidFill>
                  <a:schemeClr val="tx1"/>
                </a:solidFill>
              </a:rPr>
              <a:t>, </a:t>
            </a:r>
            <a:r>
              <a:rPr lang="fr-FR" dirty="0" err="1" smtClean="0">
                <a:solidFill>
                  <a:schemeClr val="tx1"/>
                </a:solidFill>
              </a:rPr>
              <a:t>int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mysignal.emit</a:t>
            </a:r>
            <a:r>
              <a:rPr lang="fr-FR" dirty="0" smtClean="0">
                <a:solidFill>
                  <a:schemeClr val="tx1"/>
                </a:solidFill>
              </a:rPr>
              <a:t>([1,2,3,6],3)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# </a:t>
            </a:r>
            <a:r>
              <a:rPr lang="fr-FR" dirty="0" err="1" smtClean="0">
                <a:solidFill>
                  <a:srgbClr val="C00000"/>
                </a:solidFill>
              </a:rPr>
              <a:t>mysignal.emit</a:t>
            </a:r>
            <a:r>
              <a:rPr lang="fr-FR" dirty="0">
                <a:solidFill>
                  <a:srgbClr val="C00000"/>
                </a:solidFill>
              </a:rPr>
              <a:t>([1,2,3,6</a:t>
            </a:r>
            <a:r>
              <a:rPr lang="fr-FR" dirty="0" smtClean="0">
                <a:solidFill>
                  <a:srgbClr val="C00000"/>
                </a:solidFill>
              </a:rPr>
              <a:t>], ’3’) </a:t>
            </a:r>
            <a:r>
              <a:rPr lang="fr-F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 </a:t>
            </a:r>
            <a:r>
              <a:rPr lang="fr-FR" dirty="0" err="1">
                <a:solidFill>
                  <a:srgbClr val="C00000"/>
                </a:solidFill>
              </a:rPr>
              <a:t>error</a:t>
            </a:r>
            <a:r>
              <a:rPr lang="fr-FR" dirty="0">
                <a:solidFill>
                  <a:srgbClr val="C00000"/>
                </a:solidFill>
              </a:rPr>
              <a:t>  </a:t>
            </a:r>
            <a:r>
              <a:rPr lang="fr-FR" dirty="0" smtClean="0">
                <a:solidFill>
                  <a:srgbClr val="C00000"/>
                </a:solidFill>
              </a:rPr>
              <a:t>!!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2014756" y="5157192"/>
            <a:ext cx="6003616" cy="4320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algn="ctr"/>
            <a:r>
              <a:rPr lang="fr-FR" dirty="0" err="1">
                <a:solidFill>
                  <a:srgbClr val="C00000"/>
                </a:solidFill>
              </a:rPr>
              <a:t>c</a:t>
            </a:r>
            <a:r>
              <a:rPr lang="fr-FR" dirty="0" err="1" smtClean="0">
                <a:solidFill>
                  <a:srgbClr val="C00000"/>
                </a:solidFill>
              </a:rPr>
              <a:t>onnect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emetteur</a:t>
            </a:r>
            <a:r>
              <a:rPr lang="fr-FR" dirty="0" smtClean="0">
                <a:solidFill>
                  <a:srgbClr val="C00000"/>
                </a:solidFill>
              </a:rPr>
              <a:t>, SIGNAL(‘</a:t>
            </a:r>
            <a:r>
              <a:rPr lang="fr-FR" dirty="0">
                <a:solidFill>
                  <a:srgbClr val="C00000"/>
                </a:solidFill>
              </a:rPr>
              <a:t>‘</a:t>
            </a:r>
            <a:r>
              <a:rPr lang="fr-FR" dirty="0" err="1" smtClean="0">
                <a:solidFill>
                  <a:srgbClr val="C00000"/>
                </a:solidFill>
              </a:rPr>
              <a:t>mysignal</a:t>
            </a:r>
            <a:r>
              <a:rPr lang="fr-FR" dirty="0" smtClean="0">
                <a:solidFill>
                  <a:srgbClr val="C00000"/>
                </a:solidFill>
              </a:rPr>
              <a:t>(</a:t>
            </a:r>
            <a:r>
              <a:rPr lang="fr-FR" dirty="0" err="1" smtClean="0">
                <a:solidFill>
                  <a:srgbClr val="C00000"/>
                </a:solidFill>
              </a:rPr>
              <a:t>list,int</a:t>
            </a:r>
            <a:r>
              <a:rPr lang="fr-FR" dirty="0" smtClean="0">
                <a:solidFill>
                  <a:srgbClr val="C00000"/>
                </a:solidFill>
              </a:rPr>
              <a:t>)″), </a:t>
            </a:r>
            <a:r>
              <a:rPr lang="fr-FR" dirty="0" err="1" smtClean="0">
                <a:solidFill>
                  <a:srgbClr val="C00000"/>
                </a:solidFill>
              </a:rPr>
              <a:t>methode</a:t>
            </a:r>
            <a:r>
              <a:rPr lang="fr-FR" dirty="0" smtClean="0">
                <a:solidFill>
                  <a:srgbClr val="C00000"/>
                </a:solidFill>
              </a:rPr>
              <a:t>)</a:t>
            </a:r>
            <a:endParaRPr lang="fr-FR" dirty="0">
              <a:solidFill>
                <a:srgbClr val="C00000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69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IHM avec </a:t>
            </a:r>
            <a:r>
              <a:rPr lang="en-US" dirty="0" err="1" smtClean="0"/>
              <a:t>PyQt</a:t>
            </a:r>
            <a:endParaRPr lang="en-US" dirty="0"/>
          </a:p>
        </p:txBody>
      </p:sp>
      <p:grpSp>
        <p:nvGrpSpPr>
          <p:cNvPr id="9" name="Groupe 8"/>
          <p:cNvGrpSpPr/>
          <p:nvPr/>
        </p:nvGrpSpPr>
        <p:grpSpPr>
          <a:xfrm>
            <a:off x="5940152" y="695843"/>
            <a:ext cx="3019425" cy="3864625"/>
            <a:chOff x="6053137" y="836712"/>
            <a:chExt cx="3019425" cy="386462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1713" y="836712"/>
              <a:ext cx="296227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3137" y="2132856"/>
              <a:ext cx="3019425" cy="990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Connecteur droit avec flèche 6"/>
            <p:cNvCxnSpPr>
              <a:stCxn id="1026" idx="2"/>
              <a:endCxn id="1027" idx="0"/>
            </p:cNvCxnSpPr>
            <p:nvPr/>
          </p:nvCxnSpPr>
          <p:spPr>
            <a:xfrm flipH="1">
              <a:off x="7562850" y="1684437"/>
              <a:ext cx="1" cy="44841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6156176" y="3501008"/>
              <a:ext cx="288781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chemeClr val="bg1"/>
                  </a:solidFill>
                </a:rPr>
                <a:t>Préciser la valeur val de </a:t>
              </a:r>
              <a:r>
                <a:rPr lang="fr-FR" dirty="0" err="1" smtClean="0">
                  <a:solidFill>
                    <a:schemeClr val="bg1"/>
                  </a:solidFill>
                </a:rPr>
                <a:t>SpinBox</a:t>
              </a:r>
              <a:r>
                <a:rPr lang="fr-FR" dirty="0" smtClean="0">
                  <a:solidFill>
                    <a:schemeClr val="bg1"/>
                  </a:solidFill>
                </a:rPr>
                <a:t>, cliquer sur le ok, la liste (range(val)) est envoyée et affichée sur </a:t>
              </a:r>
              <a:r>
                <a:rPr lang="fr-FR" dirty="0" err="1" smtClean="0">
                  <a:solidFill>
                    <a:schemeClr val="bg1"/>
                  </a:solidFill>
                </a:rPr>
                <a:t>QlineEdit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107504" y="1196752"/>
            <a:ext cx="5616624" cy="3705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import sys</a:t>
            </a:r>
          </a:p>
          <a:p>
            <a:r>
              <a:rPr lang="en-US" sz="2000" dirty="0">
                <a:solidFill>
                  <a:schemeClr val="tx1"/>
                </a:solidFill>
              </a:rPr>
              <a:t>from PyQt5 import </a:t>
            </a:r>
            <a:r>
              <a:rPr lang="en-US" sz="2000" dirty="0" err="1">
                <a:solidFill>
                  <a:schemeClr val="tx1"/>
                </a:solidFill>
              </a:rPr>
              <a:t>QtWidgets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QtCore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rgbClr val="0070C0"/>
                </a:solidFill>
              </a:rPr>
              <a:t>class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MyWidget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QtWidgets.QWidget</a:t>
            </a:r>
            <a:r>
              <a:rPr lang="en-US" sz="2000" dirty="0">
                <a:solidFill>
                  <a:schemeClr val="tx1"/>
                </a:solidFill>
              </a:rPr>
              <a:t>):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 smtClean="0">
                <a:solidFill>
                  <a:srgbClr val="FF0000"/>
                </a:solidFill>
              </a:rPr>
              <a:t>mysignal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= </a:t>
            </a:r>
            <a:r>
              <a:rPr lang="en-US" sz="2000" dirty="0" err="1">
                <a:solidFill>
                  <a:srgbClr val="FF0000"/>
                </a:solidFill>
              </a:rPr>
              <a:t>QtCore.pyqtSignal</a:t>
            </a:r>
            <a:r>
              <a:rPr lang="en-US" sz="2000" dirty="0">
                <a:solidFill>
                  <a:srgbClr val="FF0000"/>
                </a:solidFill>
              </a:rPr>
              <a:t>(list)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b="1" dirty="0" err="1" smtClean="0">
                <a:solidFill>
                  <a:schemeClr val="tx2"/>
                </a:solidFill>
              </a:rPr>
              <a:t>def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__</a:t>
            </a:r>
            <a:r>
              <a:rPr lang="en-US" sz="2000" dirty="0" err="1">
                <a:solidFill>
                  <a:schemeClr val="tx1"/>
                </a:solidFill>
              </a:rPr>
              <a:t>init</a:t>
            </a:r>
            <a:r>
              <a:rPr lang="en-US" sz="2000" dirty="0">
                <a:solidFill>
                  <a:schemeClr val="tx1"/>
                </a:solidFill>
              </a:rPr>
              <a:t>__(self, parent=None):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smtClean="0">
                <a:solidFill>
                  <a:schemeClr val="tx1"/>
                </a:solidFill>
              </a:rPr>
              <a:t>super</a:t>
            </a:r>
            <a:r>
              <a:rPr lang="en-US" sz="2000" dirty="0">
                <a:solidFill>
                  <a:schemeClr val="tx1"/>
                </a:solidFill>
              </a:rPr>
              <a:t>().__</a:t>
            </a:r>
            <a:r>
              <a:rPr lang="en-US" sz="2000" dirty="0" err="1">
                <a:solidFill>
                  <a:schemeClr val="tx1"/>
                </a:solidFill>
              </a:rPr>
              <a:t>init</a:t>
            </a:r>
            <a:r>
              <a:rPr lang="en-US" sz="2000" dirty="0">
                <a:solidFill>
                  <a:schemeClr val="tx1"/>
                </a:solidFill>
              </a:rPr>
              <a:t>__(parent)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self.button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</a:t>
            </a:r>
            <a:r>
              <a:rPr lang="en-US" sz="2000" dirty="0" err="1">
                <a:solidFill>
                  <a:schemeClr val="tx1"/>
                </a:solidFill>
              </a:rPr>
              <a:t>QtWidgets.QPushButton</a:t>
            </a:r>
            <a:r>
              <a:rPr lang="en-US" sz="2000" dirty="0">
                <a:solidFill>
                  <a:schemeClr val="tx1"/>
                </a:solidFill>
              </a:rPr>
              <a:t>("OK", self)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self.text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QtWidgets.QLineEdit</a:t>
            </a:r>
            <a:r>
              <a:rPr lang="en-US" sz="2000" dirty="0" smtClean="0">
                <a:solidFill>
                  <a:schemeClr val="tx1"/>
                </a:solidFill>
              </a:rPr>
              <a:t>(self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self.spin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QtWidgets.QSpinBox</a:t>
            </a:r>
            <a:r>
              <a:rPr lang="en-US" sz="2000" dirty="0" smtClean="0">
                <a:solidFill>
                  <a:schemeClr val="tx1"/>
                </a:solidFill>
              </a:rPr>
              <a:t>(self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</a:t>
            </a:r>
            <a:r>
              <a:rPr lang="en-US" sz="2000" dirty="0" smtClean="0">
                <a:solidFill>
                  <a:schemeClr val="tx1"/>
                </a:solidFill>
              </a:rPr>
              <a:t>=</a:t>
            </a:r>
            <a:r>
              <a:rPr lang="en-US" sz="2000" dirty="0" err="1" smtClean="0">
                <a:solidFill>
                  <a:schemeClr val="tx1"/>
                </a:solidFill>
              </a:rPr>
              <a:t>QtWidgets.QGridLayout</a:t>
            </a:r>
            <a:r>
              <a:rPr lang="en-US" sz="2000" dirty="0">
                <a:solidFill>
                  <a:schemeClr val="tx1"/>
                </a:solidFill>
              </a:rPr>
              <a:t>()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(self.button,0,1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(self.spin,0,0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self.grid.addWidget</a:t>
            </a:r>
            <a:r>
              <a:rPr lang="en-US" sz="2000" dirty="0" smtClean="0">
                <a:solidFill>
                  <a:schemeClr val="tx1"/>
                </a:solidFill>
              </a:rPr>
              <a:t>(self.text,0,2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self.setLayout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self.grid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chemeClr val="tx1"/>
                </a:solidFill>
              </a:rPr>
              <a:t>self.button.clicked.connect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self.OnClicked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 smtClean="0">
                <a:solidFill>
                  <a:srgbClr val="FF0000"/>
                </a:solidFill>
              </a:rPr>
              <a:t>self.mysignal.connect</a:t>
            </a:r>
            <a:r>
              <a:rPr lang="en-US" sz="2000" dirty="0" smtClean="0">
                <a:solidFill>
                  <a:srgbClr val="FF0000"/>
                </a:solidFill>
              </a:rPr>
              <a:t>(</a:t>
            </a:r>
            <a:r>
              <a:rPr lang="en-US" sz="2000" dirty="0" err="1" smtClean="0">
                <a:solidFill>
                  <a:srgbClr val="FF0000"/>
                </a:solidFill>
              </a:rPr>
              <a:t>self.OnPrint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endParaRPr lang="en-US" sz="2500" dirty="0">
              <a:solidFill>
                <a:srgbClr val="FF0000"/>
              </a:solidFill>
            </a:endParaRP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5076056" y="3049384"/>
            <a:ext cx="4392488" cy="2880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marL="0" lvl="1" indent="0">
              <a:buNone/>
            </a:pPr>
            <a:r>
              <a:rPr lang="en-US" sz="1400" b="1" dirty="0" err="1">
                <a:solidFill>
                  <a:srgbClr val="0070C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def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OnClicked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(self):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1400" dirty="0" err="1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self.spin.value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</a:t>
            </a:r>
          </a:p>
          <a:p>
            <a:pPr marL="266700" lvl="1" indent="-182563">
              <a:buNone/>
            </a:pP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self.mysignal.emit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(list(range(</a:t>
            </a:r>
            <a:r>
              <a:rPr lang="en-US" sz="1400" dirty="0" err="1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val</a:t>
            </a: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)))</a:t>
            </a:r>
            <a:endParaRPr lang="en-US" sz="1400" dirty="0" smtClean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def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OnPrint</a:t>
            </a:r>
            <a:r>
              <a:rPr lang="en-US" dirty="0" smtClean="0">
                <a:solidFill>
                  <a:schemeClr val="tx1"/>
                </a:solidFill>
              </a:rPr>
              <a:t>(self, </a:t>
            </a:r>
            <a:r>
              <a:rPr lang="en-US" dirty="0" err="1" smtClean="0">
                <a:solidFill>
                  <a:schemeClr val="tx1"/>
                </a:solidFill>
              </a:rPr>
              <a:t>val</a:t>
            </a:r>
            <a:r>
              <a:rPr lang="en-US" dirty="0" smtClean="0">
                <a:solidFill>
                  <a:schemeClr val="tx1"/>
                </a:solidFill>
              </a:rPr>
              <a:t>):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s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 smtClean="0">
                <a:solidFill>
                  <a:schemeClr val="tx1"/>
                </a:solidFill>
              </a:rPr>
              <a:t>''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for </a:t>
            </a:r>
            <a:r>
              <a:rPr lang="en-US" dirty="0">
                <a:solidFill>
                  <a:schemeClr val="tx1"/>
                </a:solidFill>
              </a:rPr>
              <a:t>el in </a:t>
            </a:r>
            <a:r>
              <a:rPr lang="en-US" dirty="0" err="1">
                <a:solidFill>
                  <a:schemeClr val="tx1"/>
                </a:solidFill>
              </a:rPr>
              <a:t>val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   s</a:t>
            </a:r>
            <a:r>
              <a:rPr lang="en-US" dirty="0">
                <a:solidFill>
                  <a:schemeClr val="tx1"/>
                </a:solidFill>
              </a:rPr>
              <a:t>+=</a:t>
            </a:r>
            <a:r>
              <a:rPr lang="en-US" dirty="0" err="1">
                <a:solidFill>
                  <a:schemeClr val="tx1"/>
                </a:solidFill>
              </a:rPr>
              <a:t>str</a:t>
            </a:r>
            <a:r>
              <a:rPr lang="en-US" dirty="0">
                <a:solidFill>
                  <a:schemeClr val="tx1"/>
                </a:solidFill>
              </a:rPr>
              <a:t>(el)+' '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dirty="0" err="1" smtClean="0">
                <a:solidFill>
                  <a:schemeClr val="tx1"/>
                </a:solidFill>
              </a:rPr>
              <a:t>self.text.setText</a:t>
            </a:r>
            <a:r>
              <a:rPr lang="en-US" dirty="0" smtClean="0">
                <a:solidFill>
                  <a:schemeClr val="tx1"/>
                </a:solidFill>
              </a:rPr>
              <a:t>(s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14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5" descr="BottomLine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0384"/>
            <a:ext cx="9144000" cy="669726"/>
          </a:xfrm>
          <a:prstGeom prst="rect">
            <a:avLst/>
          </a:prstGeom>
        </p:spPr>
      </p:pic>
      <p:pic>
        <p:nvPicPr>
          <p:cNvPr id="34" name="Picture 16" descr="BottomLineD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0736"/>
            <a:ext cx="9144000" cy="44648"/>
          </a:xfrm>
          <a:prstGeom prst="rect">
            <a:avLst/>
          </a:prstGeom>
        </p:spPr>
      </p:pic>
      <p:pic>
        <p:nvPicPr>
          <p:cNvPr id="35" name="Picture 14" descr="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95" y="6317332"/>
            <a:ext cx="377791" cy="387005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785786" y="6242442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 smtClean="0"/>
              <a:t>LOOKING AT</a:t>
            </a:r>
            <a:endParaRPr lang="en-US" sz="800" dirty="0"/>
          </a:p>
        </p:txBody>
      </p:sp>
      <p:sp>
        <p:nvSpPr>
          <p:cNvPr id="37" name="TextBox 5"/>
          <p:cNvSpPr txBox="1"/>
          <p:nvPr/>
        </p:nvSpPr>
        <p:spPr>
          <a:xfrm>
            <a:off x="785786" y="6363293"/>
            <a:ext cx="1603324" cy="307777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Presenter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Toumi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A. </a:t>
            </a:r>
            <a:r>
              <a:rPr lang="en-US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Malek</a:t>
            </a:r>
            <a:endParaRPr lang="en-US" sz="1400" dirty="0">
              <a:latin typeface="TypoSlabserif-Light" pitchFamily="2" charset="0"/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785786" y="6542453"/>
            <a:ext cx="611065" cy="200055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PRESENTER</a:t>
            </a:r>
            <a:endParaRPr lang="en-US" sz="700" b="1" dirty="0"/>
          </a:p>
        </p:txBody>
      </p:sp>
      <p:sp>
        <p:nvSpPr>
          <p:cNvPr id="39" name="TextBox 9"/>
          <p:cNvSpPr txBox="1"/>
          <p:nvPr/>
        </p:nvSpPr>
        <p:spPr>
          <a:xfrm>
            <a:off x="2694634" y="6242442"/>
            <a:ext cx="1515158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Aujourd’hui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jeudi</a:t>
            </a:r>
            <a:r>
              <a:rPr 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31 mars 2016</a:t>
            </a:r>
            <a:endParaRPr lang="en-US" sz="800" dirty="0"/>
          </a:p>
        </p:txBody>
      </p:sp>
      <p:sp>
        <p:nvSpPr>
          <p:cNvPr id="40" name="TextBox 10"/>
          <p:cNvSpPr txBox="1"/>
          <p:nvPr/>
        </p:nvSpPr>
        <p:spPr>
          <a:xfrm>
            <a:off x="2694634" y="6363293"/>
            <a:ext cx="978153" cy="353943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Python; QT </a:t>
            </a:r>
            <a:endParaRPr lang="en-US" sz="1700" dirty="0">
              <a:latin typeface="TypoSlabserif-Light" pitchFamily="2" charset="0"/>
            </a:endParaRPr>
          </a:p>
        </p:txBody>
      </p:sp>
      <p:sp>
        <p:nvSpPr>
          <p:cNvPr id="41" name="TextBox 11"/>
          <p:cNvSpPr txBox="1"/>
          <p:nvPr/>
        </p:nvSpPr>
        <p:spPr>
          <a:xfrm>
            <a:off x="7447108" y="6242442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 smtClean="0"/>
              <a:t>HERE</a:t>
            </a:r>
            <a:endParaRPr lang="en-US" sz="800"/>
          </a:p>
        </p:txBody>
      </p:sp>
      <p:sp>
        <p:nvSpPr>
          <p:cNvPr id="42" name="TextBox 12"/>
          <p:cNvSpPr txBox="1"/>
          <p:nvPr/>
        </p:nvSpPr>
        <p:spPr>
          <a:xfrm>
            <a:off x="8781044" y="6392361"/>
            <a:ext cx="399468" cy="276999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ypoSlabserif-Light" pitchFamily="2" charset="0"/>
              </a:rPr>
              <a:t> of 7</a:t>
            </a:r>
            <a:endParaRPr lang="en-US" sz="1200" b="1" dirty="0">
              <a:latin typeface="TypoSlabserif-Light" pitchFamily="2" charset="0"/>
            </a:endParaRPr>
          </a:p>
        </p:txBody>
      </p:sp>
      <p:pic>
        <p:nvPicPr>
          <p:cNvPr id="43" name="Picture 18" descr="PrevArrow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200" y="6447512"/>
            <a:ext cx="213333" cy="213333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sz="66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QTDesigner</a:t>
            </a:r>
            <a:endParaRPr lang="fr-FR" sz="6600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869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 err="1"/>
              <a:t>Qt</a:t>
            </a:r>
            <a:r>
              <a:rPr lang="fr-FR" sz="1800" dirty="0"/>
              <a:t> Designer est un outil de design pour QT, </a:t>
            </a:r>
            <a:endParaRPr lang="fr-FR" sz="1800" dirty="0" smtClean="0"/>
          </a:p>
          <a:p>
            <a:r>
              <a:rPr lang="fr-FR" sz="1800" dirty="0" smtClean="0"/>
              <a:t>Permet </a:t>
            </a:r>
            <a:r>
              <a:rPr lang="fr-FR" sz="1800" dirty="0"/>
              <a:t>de lier le langage Python avec la bibliothèque </a:t>
            </a:r>
            <a:r>
              <a:rPr lang="fr-FR" sz="1800" dirty="0" err="1"/>
              <a:t>Qt</a:t>
            </a:r>
            <a:r>
              <a:rPr lang="fr-FR" sz="1800" dirty="0"/>
              <a:t>.  </a:t>
            </a:r>
            <a:endParaRPr lang="fr-FR" sz="1800" dirty="0" smtClean="0"/>
          </a:p>
          <a:p>
            <a:r>
              <a:rPr lang="fr-FR" sz="1800" dirty="0" err="1" smtClean="0"/>
              <a:t>QtDesigner</a:t>
            </a:r>
            <a:r>
              <a:rPr lang="fr-FR" sz="1800" dirty="0" smtClean="0"/>
              <a:t> </a:t>
            </a:r>
            <a:r>
              <a:rPr lang="fr-FR" sz="1800" dirty="0"/>
              <a:t>est </a:t>
            </a:r>
            <a:r>
              <a:rPr lang="fr-FR" sz="1800" dirty="0" smtClean="0"/>
              <a:t>fourni </a:t>
            </a:r>
            <a:r>
              <a:rPr lang="fr-FR" sz="1800" dirty="0"/>
              <a:t>avec </a:t>
            </a:r>
            <a:r>
              <a:rPr lang="fr-FR" sz="1800" dirty="0" err="1"/>
              <a:t>WinPython</a:t>
            </a:r>
            <a:r>
              <a:rPr lang="fr-FR" sz="1800" dirty="0"/>
              <a:t> installé sur les machines de l’école. </a:t>
            </a:r>
            <a:endParaRPr lang="fr-FR" sz="1800" dirty="0" smtClean="0"/>
          </a:p>
          <a:p>
            <a:r>
              <a:rPr lang="fr-FR" sz="1800" dirty="0"/>
              <a:t>P</a:t>
            </a:r>
            <a:r>
              <a:rPr lang="fr-FR" sz="1800" dirty="0" smtClean="0"/>
              <a:t>ermet </a:t>
            </a:r>
            <a:r>
              <a:rPr lang="fr-FR" sz="1800" dirty="0"/>
              <a:t>de réaliser une Interface Homme Machine IHM (ou GUI pour </a:t>
            </a:r>
            <a:r>
              <a:rPr lang="fr-FR" sz="1800" dirty="0" err="1"/>
              <a:t>Graphic</a:t>
            </a:r>
            <a:r>
              <a:rPr lang="fr-FR" sz="1800" dirty="0"/>
              <a:t> User Interface) par le biais d'un système de glisser-déposer. </a:t>
            </a:r>
            <a:endParaRPr lang="fr-FR" sz="1800" dirty="0" smtClean="0"/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pic>
        <p:nvPicPr>
          <p:cNvPr id="9" name="Image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852936"/>
            <a:ext cx="6048672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187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Fenêtre principale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smtClean="0"/>
              <a:t>IHM avec </a:t>
            </a:r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/>
          <a:p>
            <a:r>
              <a:rPr lang="fr-FR" dirty="0" err="1" smtClean="0"/>
              <a:t>QtDesigner</a:t>
            </a:r>
            <a:r>
              <a:rPr lang="fr-FR" dirty="0" smtClean="0"/>
              <a:t> : </a:t>
            </a:r>
            <a:endParaRPr lang="fr-FR" dirty="0"/>
          </a:p>
        </p:txBody>
      </p:sp>
      <p:grpSp>
        <p:nvGrpSpPr>
          <p:cNvPr id="7" name="Groupe 6"/>
          <p:cNvGrpSpPr/>
          <p:nvPr/>
        </p:nvGrpSpPr>
        <p:grpSpPr>
          <a:xfrm>
            <a:off x="951193" y="1876563"/>
            <a:ext cx="6824158" cy="3793250"/>
            <a:chOff x="0" y="0"/>
            <a:chExt cx="3987800" cy="2802466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87800" cy="28024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à coins arrondis 10"/>
            <p:cNvSpPr/>
            <p:nvPr/>
          </p:nvSpPr>
          <p:spPr>
            <a:xfrm>
              <a:off x="2641600" y="0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1</a:t>
              </a:r>
            </a:p>
          </p:txBody>
        </p:sp>
        <p:sp>
          <p:nvSpPr>
            <p:cNvPr id="12" name="Rectangle à coins arrondis 11"/>
            <p:cNvSpPr/>
            <p:nvPr/>
          </p:nvSpPr>
          <p:spPr>
            <a:xfrm>
              <a:off x="2260600" y="889000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2</a:t>
              </a:r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719666" y="1134533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3</a:t>
              </a:r>
            </a:p>
          </p:txBody>
        </p:sp>
        <p:sp>
          <p:nvSpPr>
            <p:cNvPr id="14" name="Rectangle à coins arrondis 13"/>
            <p:cNvSpPr/>
            <p:nvPr/>
          </p:nvSpPr>
          <p:spPr>
            <a:xfrm>
              <a:off x="3691466" y="1439333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4</a:t>
              </a:r>
            </a:p>
          </p:txBody>
        </p:sp>
        <p:sp>
          <p:nvSpPr>
            <p:cNvPr id="15" name="Rectangle à coins arrondis 14"/>
            <p:cNvSpPr/>
            <p:nvPr/>
          </p:nvSpPr>
          <p:spPr>
            <a:xfrm>
              <a:off x="3793066" y="533400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5</a:t>
              </a:r>
            </a:p>
          </p:txBody>
        </p:sp>
        <p:sp>
          <p:nvSpPr>
            <p:cNvPr id="16" name="Rectangle à coins arrondis 15"/>
            <p:cNvSpPr/>
            <p:nvPr/>
          </p:nvSpPr>
          <p:spPr>
            <a:xfrm>
              <a:off x="3793066" y="2235200"/>
              <a:ext cx="194310" cy="160655"/>
            </a:xfrm>
            <a:prstGeom prst="wedgeRoundRectCallout">
              <a:avLst>
                <a:gd name="adj1" fmla="val -160267"/>
                <a:gd name="adj2" fmla="val 83581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fr-FR" sz="1100">
                  <a:effectLst/>
                  <a:ea typeface="Times New Roman"/>
                  <a:cs typeface="Arial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79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dirty="0"/>
              <a:t>Il permet de réaliser une Interface Homme Machine IHM (ou GUI pour </a:t>
            </a:r>
            <a:r>
              <a:rPr lang="fr-FR" sz="2400" dirty="0" err="1"/>
              <a:t>Graphic</a:t>
            </a:r>
            <a:r>
              <a:rPr lang="fr-FR" sz="2400" dirty="0"/>
              <a:t> User Interface) par le biais d'un système de </a:t>
            </a:r>
            <a:r>
              <a:rPr lang="fr-FR" sz="2400" dirty="0" smtClean="0"/>
              <a:t>glisser-déposer</a:t>
            </a:r>
          </a:p>
          <a:p>
            <a:pPr marL="0" indent="0">
              <a:buNone/>
            </a:pPr>
            <a:r>
              <a:rPr lang="fr-FR" dirty="0" smtClean="0"/>
              <a:t>Exemple : </a:t>
            </a:r>
          </a:p>
          <a:p>
            <a:pPr lvl="1"/>
            <a:r>
              <a:rPr lang="fr-FR" sz="2000" dirty="0" err="1" smtClean="0"/>
              <a:t>Qslider</a:t>
            </a:r>
            <a:endParaRPr lang="fr-FR" sz="2000" dirty="0" smtClean="0"/>
          </a:p>
          <a:p>
            <a:pPr lvl="1"/>
            <a:r>
              <a:rPr lang="fr-FR" sz="2000" dirty="0" err="1" smtClean="0"/>
              <a:t>QLabel</a:t>
            </a:r>
            <a:endParaRPr lang="fr-FR" sz="2000" dirty="0"/>
          </a:p>
          <a:p>
            <a:pPr lvl="1"/>
            <a:r>
              <a:rPr lang="fr-FR" sz="2000" dirty="0" err="1" smtClean="0"/>
              <a:t>QProgressBar</a:t>
            </a:r>
            <a:endParaRPr lang="fr-FR" sz="2000" dirty="0"/>
          </a:p>
          <a:p>
            <a:pPr lvl="1"/>
            <a:r>
              <a:rPr lang="fr-FR" sz="2000" dirty="0" err="1" smtClean="0"/>
              <a:t>QGridLayout</a:t>
            </a:r>
            <a:endParaRPr lang="fr-FR" sz="2000" dirty="0" smtClean="0"/>
          </a:p>
          <a:p>
            <a:pPr lvl="1"/>
            <a:r>
              <a:rPr lang="fr-FR" sz="2000" dirty="0" err="1" smtClean="0"/>
              <a:t>Spacer</a:t>
            </a:r>
            <a:r>
              <a:rPr lang="fr-FR" sz="2000" dirty="0" smtClean="0"/>
              <a:t> (H/V)</a:t>
            </a:r>
          </a:p>
          <a:p>
            <a:pPr lvl="1"/>
            <a:r>
              <a:rPr lang="fr-FR" sz="2000" dirty="0" smtClean="0"/>
              <a:t>Barre d’outil/barre d’état</a:t>
            </a:r>
            <a:endParaRPr lang="fr-FR" sz="2400" dirty="0" smtClean="0"/>
          </a:p>
          <a:p>
            <a:r>
              <a:rPr lang="fr-FR" sz="2400" dirty="0" smtClean="0"/>
              <a:t>Visualiser l’aperçu </a:t>
            </a:r>
            <a:r>
              <a:rPr lang="fr-FR" sz="2400" dirty="0"/>
              <a:t>de votre fenêtre</a:t>
            </a:r>
          </a:p>
          <a:p>
            <a:pPr lvl="1"/>
            <a:r>
              <a:rPr lang="fr-FR" sz="2000" dirty="0" smtClean="0"/>
              <a:t>CTRL+R ou F3</a:t>
            </a: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422" y="2132856"/>
            <a:ext cx="35623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847" y="2151906"/>
            <a:ext cx="35909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132856"/>
            <a:ext cx="3777254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46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Connexion signal/slot </a:t>
            </a:r>
          </a:p>
          <a:p>
            <a:r>
              <a:rPr lang="fr-FR" sz="2000" dirty="0" smtClean="0"/>
              <a:t>Se réalise en connectant à la </a:t>
            </a:r>
            <a:r>
              <a:rPr lang="fr-FR" sz="2000" dirty="0" smtClean="0"/>
              <a:t>souris </a:t>
            </a:r>
            <a:r>
              <a:rPr lang="fr-FR" sz="2000" dirty="0" smtClean="0"/>
              <a:t>deux </a:t>
            </a:r>
            <a:r>
              <a:rPr lang="fr-FR" sz="2000" dirty="0" smtClean="0"/>
              <a:t>composants </a:t>
            </a:r>
            <a:r>
              <a:rPr lang="fr-FR" sz="2000" dirty="0" smtClean="0"/>
              <a:t>(</a:t>
            </a:r>
            <a:r>
              <a:rPr lang="fr-FR" sz="2000" dirty="0" smtClean="0"/>
              <a:t>widgets) graphiques</a:t>
            </a:r>
            <a:endParaRPr lang="fr-FR" sz="2000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sz="1400" dirty="0" smtClean="0"/>
              <a:t>Connexion signal/slot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endParaRPr lang="fr-FR" sz="1400" dirty="0" smtClean="0"/>
          </a:p>
          <a:p>
            <a:pPr marL="0" indent="0">
              <a:buNone/>
            </a:pPr>
            <a:endParaRPr lang="fr-FR" sz="1400" dirty="0" smtClean="0"/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10" name="Image 9" descr="Barre outils layout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1333671"/>
            <a:ext cx="1181100" cy="302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084575"/>
            <a:ext cx="4543425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76" y="2681202"/>
            <a:ext cx="39814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ZoneTexte 13"/>
          <p:cNvSpPr txBox="1"/>
          <p:nvPr/>
        </p:nvSpPr>
        <p:spPr>
          <a:xfrm>
            <a:off x="442032" y="5286485"/>
            <a:ext cx="8280920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dirty="0" err="1" smtClean="0">
                <a:solidFill>
                  <a:schemeClr val="tx1"/>
                </a:solidFill>
              </a:rPr>
              <a:t>sender.signalName.connect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receiver.slotName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60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err="1" smtClean="0"/>
              <a:t>QtDesigner</a:t>
            </a:r>
            <a:r>
              <a:rPr lang="fr-FR" sz="2000" dirty="0" smtClean="0"/>
              <a:t> fournit un fichier .</a:t>
            </a:r>
            <a:r>
              <a:rPr lang="fr-FR" sz="2000" dirty="0" err="1" smtClean="0"/>
              <a:t>ui</a:t>
            </a:r>
            <a:r>
              <a:rPr lang="fr-FR" sz="2000" dirty="0" smtClean="0"/>
              <a:t> (fichier XML)</a:t>
            </a:r>
          </a:p>
          <a:p>
            <a:r>
              <a:rPr lang="fr-FR" sz="2000" dirty="0" smtClean="0"/>
              <a:t>Utilisation :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000" dirty="0" smtClean="0"/>
              <a:t>Par appel dynamique du fichier « .</a:t>
            </a:r>
            <a:r>
              <a:rPr lang="fr-FR" sz="2000" dirty="0" err="1" smtClean="0"/>
              <a:t>ui</a:t>
            </a:r>
            <a:r>
              <a:rPr lang="fr-FR" sz="2000" dirty="0" smtClean="0"/>
              <a:t> ». Exemple </a:t>
            </a:r>
            <a:r>
              <a:rPr lang="fr-FR" sz="2000" i="1" dirty="0" err="1" smtClean="0">
                <a:solidFill>
                  <a:srgbClr val="FFFF00"/>
                </a:solidFill>
              </a:rPr>
              <a:t>monAppli.ui</a:t>
            </a:r>
            <a:endParaRPr lang="fr-FR" sz="2000" i="1" dirty="0" smtClean="0">
              <a:solidFill>
                <a:srgbClr val="FFFF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2000" dirty="0">
                <a:solidFill>
                  <a:srgbClr val="92D050"/>
                </a:solidFill>
              </a:rPr>
              <a:t>Par dérivation de la classe </a:t>
            </a:r>
            <a:r>
              <a:rPr lang="fr-FR" sz="2000" dirty="0" err="1">
                <a:solidFill>
                  <a:srgbClr val="92D050"/>
                </a:solidFill>
              </a:rPr>
              <a:t>QmainWindow</a:t>
            </a:r>
            <a:endParaRPr lang="fr-FR" sz="2000" dirty="0">
              <a:solidFill>
                <a:srgbClr val="92D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2000" dirty="0">
                <a:solidFill>
                  <a:srgbClr val="92D050"/>
                </a:solidFill>
              </a:rPr>
              <a:t>Par dérivation multiples des classes </a:t>
            </a:r>
            <a:r>
              <a:rPr lang="fr-FR" sz="2000" dirty="0" err="1">
                <a:solidFill>
                  <a:srgbClr val="92D050"/>
                </a:solidFill>
              </a:rPr>
              <a:t>QmainWindow</a:t>
            </a:r>
            <a:r>
              <a:rPr lang="fr-FR" sz="2000" dirty="0">
                <a:solidFill>
                  <a:srgbClr val="92D050"/>
                </a:solidFill>
              </a:rPr>
              <a:t> et </a:t>
            </a:r>
            <a:r>
              <a:rPr lang="fr-FR" sz="2000" dirty="0" err="1" smtClean="0">
                <a:solidFill>
                  <a:srgbClr val="92D050"/>
                </a:solidFill>
              </a:rPr>
              <a:t>Ui_MainWindow</a:t>
            </a:r>
            <a:endParaRPr lang="fr-FR" sz="2000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153613"/>
            <a:ext cx="5032226" cy="3011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155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Par appel dynamique du fichier « .</a:t>
            </a:r>
            <a:r>
              <a:rPr lang="fr-FR" sz="2000" dirty="0" err="1" smtClean="0">
                <a:solidFill>
                  <a:schemeClr val="bg1">
                    <a:lumMod val="50000"/>
                  </a:schemeClr>
                </a:solidFill>
              </a:rPr>
              <a:t>ui</a:t>
            </a:r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 ». Exemple </a:t>
            </a:r>
            <a:r>
              <a:rPr lang="fr-FR" sz="2000" i="1" dirty="0" err="1" smtClean="0">
                <a:solidFill>
                  <a:schemeClr val="bg1">
                    <a:lumMod val="50000"/>
                  </a:schemeClr>
                </a:solidFill>
              </a:rPr>
              <a:t>monAppli.ui</a:t>
            </a:r>
            <a:endParaRPr lang="fr-FR" sz="2000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2000" dirty="0"/>
              <a:t>Par dérivation de la classe </a:t>
            </a:r>
            <a:r>
              <a:rPr lang="fr-FR" sz="2000" dirty="0" err="1"/>
              <a:t>QmainWindow</a:t>
            </a:r>
            <a:endParaRPr lang="fr-FR" sz="2000" dirty="0"/>
          </a:p>
          <a:p>
            <a:pPr marL="514350" indent="-514350">
              <a:buFont typeface="+mj-lt"/>
              <a:buAutoNum type="arabicPeriod"/>
            </a:pPr>
            <a:r>
              <a:rPr lang="fr-FR" sz="2000" dirty="0"/>
              <a:t>Par dérivation multiples des classes </a:t>
            </a:r>
            <a:r>
              <a:rPr lang="fr-FR" sz="2000" dirty="0" err="1"/>
              <a:t>QmainWindow</a:t>
            </a:r>
            <a:r>
              <a:rPr lang="fr-FR" sz="2000" dirty="0"/>
              <a:t> et </a:t>
            </a:r>
            <a:r>
              <a:rPr lang="fr-FR" sz="2000" dirty="0" err="1" smtClean="0"/>
              <a:t>Ui_MainWindow</a:t>
            </a:r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Transformation : via la commande </a:t>
            </a:r>
            <a:r>
              <a:rPr lang="fr-FR" sz="2000" i="1" dirty="0" smtClean="0"/>
              <a:t>pyuic4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FFFF00"/>
                </a:solidFill>
              </a:rPr>
              <a:t>&gt;&gt;</a:t>
            </a:r>
            <a:r>
              <a:rPr lang="fr-FR" sz="1800" i="1" dirty="0" smtClean="0">
                <a:solidFill>
                  <a:srgbClr val="FFFF00"/>
                </a:solidFill>
              </a:rPr>
              <a:t>pyuic5  </a:t>
            </a:r>
            <a:r>
              <a:rPr lang="fr-FR" sz="1800" i="1" dirty="0" err="1" smtClean="0">
                <a:solidFill>
                  <a:srgbClr val="FFFF00"/>
                </a:solidFill>
              </a:rPr>
              <a:t>MonAppli.ui</a:t>
            </a:r>
            <a:r>
              <a:rPr lang="fr-FR" sz="1800" i="1" dirty="0" smtClean="0">
                <a:solidFill>
                  <a:srgbClr val="FFFF00"/>
                </a:solidFill>
              </a:rPr>
              <a:t> -x MonAppli.py   </a:t>
            </a:r>
            <a:r>
              <a:rPr lang="fr-FR" sz="1600" dirty="0"/>
              <a:t>Syntaxe  générale : </a:t>
            </a:r>
            <a:r>
              <a:rPr lang="fr-FR" sz="1800" dirty="0"/>
              <a:t>&gt;&gt;pyuic4 [options] </a:t>
            </a:r>
            <a:r>
              <a:rPr lang="fr-FR" sz="1800" dirty="0" err="1"/>
              <a:t>LeFichier.ui</a:t>
            </a:r>
            <a:endParaRPr lang="fr-FR" sz="1800" i="1" dirty="0">
              <a:solidFill>
                <a:srgbClr val="FFFF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52200"/>
              </p:ext>
            </p:extLst>
          </p:nvPr>
        </p:nvGraphicFramePr>
        <p:xfrm>
          <a:off x="274316" y="3284984"/>
          <a:ext cx="8690172" cy="26364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39351"/>
                <a:gridCol w="6350821"/>
              </a:tblGrid>
              <a:tr h="30039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Options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Utilité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347674">
                <a:tc>
                  <a:txBody>
                    <a:bodyPr/>
                    <a:lstStyle/>
                    <a:p>
                      <a:r>
                        <a:rPr lang="fr-FR" sz="1400"/>
                        <a:t>-h ou --help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Un message d' aide apparait à la sortie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360040">
                <a:tc>
                  <a:txBody>
                    <a:bodyPr/>
                    <a:lstStyle/>
                    <a:p>
                      <a:r>
                        <a:rPr lang="fr-FR" sz="1400" dirty="0"/>
                        <a:t>-version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Le numéro de version est écrit sur la sortie.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452622">
                <a:tc>
                  <a:txBody>
                    <a:bodyPr/>
                    <a:lstStyle/>
                    <a:p>
                      <a:r>
                        <a:rPr lang="fr-FR" sz="1400"/>
                        <a:t>i N ou --indent=N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Le code source Python généré sera indenté de n espaces par défaut. Si N=0 des tabulations sont utilisées au lieu des espaces La valeur par défaut est N=4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296824">
                <a:tc>
                  <a:txBody>
                    <a:bodyPr/>
                    <a:lstStyle/>
                    <a:p>
                      <a:r>
                        <a:rPr lang="fr-FR" sz="1400"/>
                        <a:t>-o Fichier ou --output=Fichier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Le source est généré dans un fichier dont il faut donner l' extension ".</a:t>
                      </a:r>
                      <a:r>
                        <a:rPr lang="fr-FR" sz="1400" dirty="0" err="1"/>
                        <a:t>py</a:t>
                      </a:r>
                      <a:r>
                        <a:rPr lang="fr-FR" sz="1400" dirty="0"/>
                        <a:t>"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284458">
                <a:tc>
                  <a:txBody>
                    <a:bodyPr/>
                    <a:lstStyle/>
                    <a:p>
                      <a:r>
                        <a:rPr lang="fr-FR" sz="1400"/>
                        <a:t>-p ou --preview</a:t>
                      </a:r>
                      <a:endParaRPr lang="fr-FR" sz="140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L'interface est </a:t>
                      </a:r>
                      <a:r>
                        <a:rPr lang="fr-FR" sz="1400" dirty="0" smtClean="0"/>
                        <a:t>générée dynamiquement</a:t>
                      </a:r>
                      <a:r>
                        <a:rPr lang="fr-FR" sz="1400" dirty="0"/>
                        <a:t>, et aucun source Python n'est créé.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  <a:tr h="452622">
                <a:tc>
                  <a:txBody>
                    <a:bodyPr/>
                    <a:lstStyle/>
                    <a:p>
                      <a:r>
                        <a:rPr lang="fr-FR" sz="1400" dirty="0"/>
                        <a:t>-x ou --</a:t>
                      </a:r>
                      <a:r>
                        <a:rPr lang="fr-FR" sz="1400" dirty="0" err="1"/>
                        <a:t>execute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Le code source généré </a:t>
                      </a:r>
                      <a:r>
                        <a:rPr lang="fr-FR" sz="1400" dirty="0" smtClean="0"/>
                        <a:t>comportera </a:t>
                      </a:r>
                      <a:r>
                        <a:rPr lang="fr-FR" sz="1400" dirty="0"/>
                        <a:t>un petit bout de code </a:t>
                      </a:r>
                      <a:r>
                        <a:rPr lang="fr-FR" sz="1400" dirty="0" smtClean="0"/>
                        <a:t>supplémentaire </a:t>
                      </a:r>
                      <a:r>
                        <a:rPr lang="fr-FR" sz="1400" dirty="0"/>
                        <a:t>pour être </a:t>
                      </a:r>
                      <a:r>
                        <a:rPr lang="fr-FR" sz="1400" dirty="0" smtClean="0"/>
                        <a:t>exécutable</a:t>
                      </a:r>
                      <a:r>
                        <a:rPr lang="fr-FR" sz="1400" dirty="0"/>
                        <a:t>.</a:t>
                      </a:r>
                      <a:endParaRPr lang="fr-FR" sz="1400" dirty="0">
                        <a:solidFill>
                          <a:schemeClr val="bg1"/>
                        </a:solidFill>
                      </a:endParaRPr>
                    </a:p>
                  </a:txBody>
                  <a:tcPr marL="87038" marR="87038" marT="43519" marB="4351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9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smtClean="0"/>
              <a:t>Transformation : via la commande </a:t>
            </a:r>
            <a:r>
              <a:rPr lang="fr-FR" sz="2000" i="1" dirty="0" smtClean="0"/>
              <a:t>pyuic5 -  Exemple de code généré</a:t>
            </a:r>
            <a:endParaRPr lang="fr-FR" sz="2000" i="1" dirty="0" smtClean="0"/>
          </a:p>
          <a:p>
            <a:pPr marL="0" indent="0">
              <a:buNone/>
            </a:pPr>
            <a:r>
              <a:rPr lang="fr-FR" sz="1800" i="1" dirty="0" smtClean="0">
                <a:solidFill>
                  <a:srgbClr val="FFFF00"/>
                </a:solidFill>
              </a:rPr>
              <a:t>&gt;&gt;</a:t>
            </a:r>
            <a:r>
              <a:rPr lang="fr-FR" sz="1800" i="1" dirty="0" smtClean="0">
                <a:solidFill>
                  <a:srgbClr val="FFFF00"/>
                </a:solidFill>
              </a:rPr>
              <a:t>pyuic5  </a:t>
            </a:r>
            <a:r>
              <a:rPr lang="fr-FR" sz="1800" i="1" dirty="0" err="1" smtClean="0">
                <a:solidFill>
                  <a:srgbClr val="FFFF00"/>
                </a:solidFill>
              </a:rPr>
              <a:t>MonAppli.ui</a:t>
            </a:r>
            <a:r>
              <a:rPr lang="fr-FR" sz="1800" i="1" dirty="0" smtClean="0">
                <a:solidFill>
                  <a:srgbClr val="FFFF00"/>
                </a:solidFill>
              </a:rPr>
              <a:t> </a:t>
            </a:r>
            <a:r>
              <a:rPr lang="fr-FR" sz="1800" i="1" dirty="0">
                <a:solidFill>
                  <a:srgbClr val="FFFF00"/>
                </a:solidFill>
              </a:rPr>
              <a:t>-x </a:t>
            </a:r>
            <a:r>
              <a:rPr lang="fr-FR" sz="1800" i="1" dirty="0" smtClean="0">
                <a:solidFill>
                  <a:srgbClr val="FFFF00"/>
                </a:solidFill>
              </a:rPr>
              <a:t>ui_principal.py -o</a:t>
            </a:r>
            <a:endParaRPr lang="fr-FR" sz="1800" i="1" dirty="0">
              <a:solidFill>
                <a:srgbClr val="FFFF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36164" y="1916832"/>
            <a:ext cx="8356316" cy="4104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indent="-285750"/>
            <a:r>
              <a:rPr lang="fr-FR" dirty="0" smtClean="0">
                <a:solidFill>
                  <a:schemeClr val="tx1"/>
                </a:solidFill>
              </a:rPr>
              <a:t>import </a:t>
            </a:r>
            <a:r>
              <a:rPr lang="fr-FR" dirty="0" err="1">
                <a:solidFill>
                  <a:schemeClr val="tx1"/>
                </a:solidFill>
              </a:rPr>
              <a:t>sys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indent="-285750"/>
            <a:r>
              <a:rPr lang="fr-FR" dirty="0" err="1">
                <a:solidFill>
                  <a:schemeClr val="tx1"/>
                </a:solidFill>
              </a:rPr>
              <a:t>from</a:t>
            </a:r>
            <a:r>
              <a:rPr lang="fr-FR" dirty="0">
                <a:solidFill>
                  <a:schemeClr val="tx1"/>
                </a:solidFill>
              </a:rPr>
              <a:t> PyQt5 import </a:t>
            </a:r>
            <a:r>
              <a:rPr lang="fr-FR" dirty="0" err="1">
                <a:solidFill>
                  <a:schemeClr val="tx1"/>
                </a:solidFill>
              </a:rPr>
              <a:t>QtCore</a:t>
            </a:r>
            <a:r>
              <a:rPr lang="fr-FR" dirty="0">
                <a:solidFill>
                  <a:schemeClr val="tx1"/>
                </a:solidFill>
              </a:rPr>
              <a:t>, </a:t>
            </a:r>
            <a:r>
              <a:rPr lang="fr-FR" dirty="0" err="1">
                <a:solidFill>
                  <a:schemeClr val="tx1"/>
                </a:solidFill>
              </a:rPr>
              <a:t>QtWidgets</a:t>
            </a: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class </a:t>
            </a:r>
            <a:r>
              <a:rPr lang="fr-FR" dirty="0" err="1">
                <a:solidFill>
                  <a:srgbClr val="FF0000"/>
                </a:solidFill>
              </a:rPr>
              <a:t>Ui_MainWindow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object</a:t>
            </a:r>
            <a:r>
              <a:rPr lang="fr-FR" dirty="0">
                <a:solidFill>
                  <a:schemeClr val="tx1"/>
                </a:solidFill>
              </a:rPr>
              <a:t>): 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   </a:t>
            </a:r>
            <a:r>
              <a:rPr lang="fr-FR" b="1" dirty="0" err="1">
                <a:solidFill>
                  <a:srgbClr val="0070C0"/>
                </a:solidFill>
              </a:rPr>
              <a:t>def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setupUi</a:t>
            </a:r>
            <a:r>
              <a:rPr lang="fr-FR" dirty="0">
                <a:solidFill>
                  <a:srgbClr val="FF0000"/>
                </a:solidFill>
              </a:rPr>
              <a:t>(self, </a:t>
            </a:r>
            <a:r>
              <a:rPr lang="fr-FR" dirty="0" err="1">
                <a:solidFill>
                  <a:srgbClr val="FF0000"/>
                </a:solidFill>
              </a:rPr>
              <a:t>MainWindow</a:t>
            </a:r>
            <a:r>
              <a:rPr lang="fr-FR" dirty="0">
                <a:solidFill>
                  <a:schemeClr val="tx1"/>
                </a:solidFill>
              </a:rPr>
              <a:t>): 	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       </a:t>
            </a:r>
            <a:r>
              <a:rPr lang="fr-FR" dirty="0" err="1">
                <a:solidFill>
                  <a:schemeClr val="tx1"/>
                </a:solidFill>
              </a:rPr>
              <a:t>MainWindow.setObjectName</a:t>
            </a:r>
            <a:r>
              <a:rPr lang="fr-FR" dirty="0">
                <a:solidFill>
                  <a:schemeClr val="tx1"/>
                </a:solidFill>
              </a:rPr>
              <a:t>("</a:t>
            </a:r>
            <a:r>
              <a:rPr lang="fr-FR" dirty="0" err="1">
                <a:solidFill>
                  <a:schemeClr val="tx1"/>
                </a:solidFill>
              </a:rPr>
              <a:t>MainWindow</a:t>
            </a:r>
            <a:r>
              <a:rPr lang="fr-FR" dirty="0">
                <a:solidFill>
                  <a:schemeClr val="tx1"/>
                </a:solidFill>
              </a:rPr>
              <a:t>")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       </a:t>
            </a:r>
            <a:r>
              <a:rPr lang="fr-FR" dirty="0" err="1">
                <a:solidFill>
                  <a:schemeClr val="tx1"/>
                </a:solidFill>
              </a:rPr>
              <a:t>self.centralwidget</a:t>
            </a:r>
            <a:r>
              <a:rPr lang="fr-FR" dirty="0">
                <a:solidFill>
                  <a:schemeClr val="tx1"/>
                </a:solidFill>
              </a:rPr>
              <a:t> = </a:t>
            </a:r>
            <a:r>
              <a:rPr lang="fr-FR" dirty="0" err="1">
                <a:solidFill>
                  <a:schemeClr val="tx1"/>
                </a:solidFill>
              </a:rPr>
              <a:t>QtWidgets.QWidget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MainWindow</a:t>
            </a:r>
            <a:r>
              <a:rPr lang="fr-FR" dirty="0">
                <a:solidFill>
                  <a:schemeClr val="tx1"/>
                </a:solidFill>
              </a:rPr>
              <a:t>) 		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       </a:t>
            </a:r>
            <a:r>
              <a:rPr lang="fr-FR" dirty="0" err="1">
                <a:solidFill>
                  <a:schemeClr val="tx1"/>
                </a:solidFill>
              </a:rPr>
              <a:t>self.pushButton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QtWidgets.QPushButton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self.centralwidget</a:t>
            </a:r>
            <a:r>
              <a:rPr lang="fr-FR" dirty="0">
                <a:solidFill>
                  <a:schemeClr val="tx1"/>
                </a:solidFill>
              </a:rPr>
              <a:t>) 	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       </a:t>
            </a:r>
            <a:r>
              <a:rPr lang="fr-FR" dirty="0" err="1">
                <a:solidFill>
                  <a:schemeClr val="tx1"/>
                </a:solidFill>
              </a:rPr>
              <a:t>self.pushButton.setGeometry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QtCore.QRect</a:t>
            </a:r>
            <a:r>
              <a:rPr lang="fr-FR" dirty="0">
                <a:solidFill>
                  <a:schemeClr val="tx1"/>
                </a:solidFill>
              </a:rPr>
              <a:t>(80,130,75,23</a:t>
            </a:r>
            <a:r>
              <a:rPr lang="fr-FR" dirty="0" smtClean="0">
                <a:solidFill>
                  <a:schemeClr val="tx1"/>
                </a:solidFill>
              </a:rPr>
              <a:t>))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	</a:t>
            </a:r>
            <a:r>
              <a:rPr lang="fr-FR" dirty="0" smtClean="0">
                <a:solidFill>
                  <a:schemeClr val="tx1"/>
                </a:solidFill>
              </a:rPr>
              <a:t>…</a:t>
            </a: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if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"__main__":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 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MainWindow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rgbClr val="FF0000"/>
                </a:solidFill>
              </a:rPr>
              <a:t>QtGui.QMainWindow</a:t>
            </a:r>
            <a:r>
              <a:rPr lang="fr-FR" dirty="0">
                <a:solidFill>
                  <a:srgbClr val="FF0000"/>
                </a:solidFill>
              </a:rPr>
              <a:t>() </a:t>
            </a:r>
            <a:endParaRPr lang="fr-FR" dirty="0" smtClean="0">
              <a:solidFill>
                <a:srgbClr val="FF0000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ui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Ui_MainWindow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rgbClr val="FF0000"/>
                </a:solidFill>
              </a:rPr>
              <a:t>ui.setupUi</a:t>
            </a:r>
            <a:r>
              <a:rPr lang="fr-FR" dirty="0" smtClean="0">
                <a:solidFill>
                  <a:srgbClr val="FF0000"/>
                </a:solidFill>
              </a:rPr>
              <a:t>(</a:t>
            </a:r>
            <a:r>
              <a:rPr lang="fr-FR" dirty="0" err="1" smtClean="0">
                <a:solidFill>
                  <a:srgbClr val="FF0000"/>
                </a:solidFill>
              </a:rPr>
              <a:t>MainWindow</a:t>
            </a:r>
            <a:r>
              <a:rPr lang="fr-FR" dirty="0" smtClean="0">
                <a:solidFill>
                  <a:srgbClr val="FF0000"/>
                </a:solidFill>
              </a:rPr>
              <a:t>)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MainWindow.show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sys.exit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 smtClean="0">
                <a:solidFill>
                  <a:schemeClr val="tx1"/>
                </a:solidFill>
              </a:rPr>
              <a:t>_())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Légende encadrée 1 7"/>
          <p:cNvSpPr/>
          <p:nvPr/>
        </p:nvSpPr>
        <p:spPr>
          <a:xfrm>
            <a:off x="5076056" y="4725144"/>
            <a:ext cx="3240360" cy="720080"/>
          </a:xfrm>
          <a:prstGeom prst="borderCallout1">
            <a:avLst>
              <a:gd name="adj1" fmla="val 41980"/>
              <a:gd name="adj2" fmla="val -1106"/>
              <a:gd name="adj3" fmla="val 55201"/>
              <a:gd name="adj4" fmla="val -514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setupUi</a:t>
            </a:r>
            <a:r>
              <a:rPr lang="fr-FR" dirty="0" smtClean="0"/>
              <a:t>() : méthode qui crée les composants graphiques </a:t>
            </a:r>
          </a:p>
        </p:txBody>
      </p:sp>
      <p:sp>
        <p:nvSpPr>
          <p:cNvPr id="13" name="Légende encadrée 1 12"/>
          <p:cNvSpPr/>
          <p:nvPr/>
        </p:nvSpPr>
        <p:spPr>
          <a:xfrm>
            <a:off x="5076056" y="2060848"/>
            <a:ext cx="3384376" cy="576064"/>
          </a:xfrm>
          <a:prstGeom prst="borderCallout1">
            <a:avLst>
              <a:gd name="adj1" fmla="val 49722"/>
              <a:gd name="adj2" fmla="val -96"/>
              <a:gd name="adj3" fmla="val 87335"/>
              <a:gd name="adj4" fmla="val -412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Un classe </a:t>
            </a:r>
            <a:r>
              <a:rPr lang="fr-FR" dirty="0" err="1" smtClean="0"/>
              <a:t>Ui_NomClasse</a:t>
            </a:r>
            <a:r>
              <a:rPr lang="fr-FR" dirty="0" smtClean="0"/>
              <a:t> est générée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136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fr-FR" sz="2000" dirty="0" smtClean="0"/>
              <a:t>Appel dynamique du fichier .</a:t>
            </a:r>
            <a:r>
              <a:rPr lang="fr-FR" sz="2000" dirty="0" err="1" smtClean="0"/>
              <a:t>ui</a:t>
            </a:r>
            <a:endParaRPr lang="fr-FR" sz="2000" i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36164" y="1664804"/>
            <a:ext cx="8356316" cy="2160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indent="-285750"/>
            <a:r>
              <a:rPr lang="fr-FR" dirty="0" smtClean="0">
                <a:solidFill>
                  <a:schemeClr val="tx1"/>
                </a:solidFill>
              </a:rPr>
              <a:t>…</a:t>
            </a: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if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"__main__":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 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QtGui.QApplication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MainWindow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 smtClean="0">
                <a:solidFill>
                  <a:schemeClr val="tx1"/>
                </a:solidFill>
              </a:rPr>
              <a:t>QtWidgets.QMainWindow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ui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Ui_MainWindow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ui.setupUi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MainWindow</a:t>
            </a:r>
            <a:r>
              <a:rPr lang="fr-FR" dirty="0" smtClean="0">
                <a:solidFill>
                  <a:schemeClr val="tx1"/>
                </a:solidFill>
              </a:rPr>
              <a:t>)</a:t>
            </a: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>
                <a:solidFill>
                  <a:schemeClr val="tx1"/>
                </a:solidFill>
              </a:rPr>
              <a:t>MainWindow.show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sys.exit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 smtClean="0">
                <a:solidFill>
                  <a:schemeClr val="tx1"/>
                </a:solidFill>
              </a:rPr>
              <a:t>_())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507460" y="4221088"/>
            <a:ext cx="8356316" cy="17281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indent="-285750"/>
            <a:r>
              <a:rPr lang="fr-FR" dirty="0" smtClean="0">
                <a:solidFill>
                  <a:schemeClr val="tx1"/>
                </a:solidFill>
              </a:rPr>
              <a:t>…</a:t>
            </a: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if </a:t>
            </a:r>
            <a:r>
              <a:rPr lang="fr-FR" dirty="0">
                <a:solidFill>
                  <a:schemeClr val="tx1"/>
                </a:solidFill>
              </a:rPr>
              <a:t>__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__ == "__main__":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 smtClean="0">
                <a:solidFill>
                  <a:schemeClr val="tx1"/>
                </a:solidFill>
              </a:rPr>
              <a:t>    </a:t>
            </a:r>
            <a:r>
              <a:rPr lang="fr-FR" dirty="0" err="1" smtClean="0">
                <a:solidFill>
                  <a:schemeClr val="tx1"/>
                </a:solidFill>
              </a:rPr>
              <a:t>app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chemeClr val="tx1"/>
                </a:solidFill>
              </a:rPr>
              <a:t>QtGui.QApplication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sys.argv</a:t>
            </a:r>
            <a:r>
              <a:rPr lang="fr-FR" dirty="0">
                <a:solidFill>
                  <a:schemeClr val="tx1"/>
                </a:solidFill>
              </a:rPr>
              <a:t>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ui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= </a:t>
            </a:r>
            <a:r>
              <a:rPr lang="fr-FR" dirty="0" err="1">
                <a:solidFill>
                  <a:srgbClr val="FF0000"/>
                </a:solidFill>
              </a:rPr>
              <a:t>uic.loadUi</a:t>
            </a:r>
            <a:r>
              <a:rPr lang="fr-FR" dirty="0" smtClean="0">
                <a:solidFill>
                  <a:srgbClr val="FF0000"/>
                </a:solidFill>
              </a:rPr>
              <a:t>(« </a:t>
            </a:r>
            <a:r>
              <a:rPr lang="fr-FR" dirty="0" err="1" smtClean="0">
                <a:solidFill>
                  <a:srgbClr val="FF0000"/>
                </a:solidFill>
              </a:rPr>
              <a:t>monAppli.ui</a:t>
            </a:r>
            <a:r>
              <a:rPr lang="fr-FR" dirty="0">
                <a:solidFill>
                  <a:srgbClr val="FF0000"/>
                </a:solidFill>
              </a:rPr>
              <a:t>")</a:t>
            </a:r>
            <a:endParaRPr lang="fr-FR" dirty="0" smtClean="0">
              <a:solidFill>
                <a:srgbClr val="FF0000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ui.show</a:t>
            </a:r>
            <a:r>
              <a:rPr lang="fr-FR" dirty="0">
                <a:solidFill>
                  <a:schemeClr val="tx1"/>
                </a:solidFill>
              </a:rPr>
              <a:t>() </a:t>
            </a:r>
            <a:endParaRPr lang="fr-FR" dirty="0" smtClean="0">
              <a:solidFill>
                <a:schemeClr val="tx1"/>
              </a:solidFill>
            </a:endParaRPr>
          </a:p>
          <a:p>
            <a:pPr indent="-285750"/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   </a:t>
            </a:r>
            <a:r>
              <a:rPr lang="fr-FR" dirty="0" err="1" smtClean="0">
                <a:solidFill>
                  <a:schemeClr val="tx1"/>
                </a:solidFill>
              </a:rPr>
              <a:t>sys.exit</a:t>
            </a:r>
            <a:r>
              <a:rPr lang="fr-FR" dirty="0" smtClean="0">
                <a:solidFill>
                  <a:schemeClr val="tx1"/>
                </a:solidFill>
              </a:rPr>
              <a:t>(</a:t>
            </a:r>
            <a:r>
              <a:rPr lang="fr-FR" dirty="0" err="1" smtClean="0">
                <a:solidFill>
                  <a:schemeClr val="tx1"/>
                </a:solidFill>
              </a:rPr>
              <a:t>app.exec</a:t>
            </a:r>
            <a:r>
              <a:rPr lang="fr-FR" dirty="0" smtClean="0">
                <a:solidFill>
                  <a:schemeClr val="tx1"/>
                </a:solidFill>
              </a:rPr>
              <a:t>_())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7584" y="2744924"/>
            <a:ext cx="4032448" cy="468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971600" y="5013176"/>
            <a:ext cx="403244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5220072" y="4437112"/>
            <a:ext cx="3528392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Remarque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Solution assez limitée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Aucune modification n’est possible (ajout des slot, ….)</a:t>
            </a:r>
            <a:endParaRPr lang="fr-FR" dirty="0"/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4696769" y="3237076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26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Appel dynamique du fichier .</a:t>
            </a:r>
            <a:r>
              <a:rPr lang="fr-FR" sz="2000" dirty="0" err="1" smtClean="0">
                <a:solidFill>
                  <a:schemeClr val="bg1">
                    <a:lumMod val="50000"/>
                  </a:schemeClr>
                </a:solidFill>
              </a:rPr>
              <a:t>ui</a:t>
            </a:r>
            <a:endParaRPr lang="fr-F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Par dérivation simple </a:t>
            </a:r>
          </a:p>
          <a:p>
            <a:pPr marL="457200" indent="-457200">
              <a:buFont typeface="+mj-lt"/>
              <a:buAutoNum type="arabicPeriod"/>
            </a:pPr>
            <a:endParaRPr lang="fr-FR" sz="2000" dirty="0"/>
          </a:p>
          <a:p>
            <a:pPr marL="0" indent="0">
              <a:buNone/>
            </a:pPr>
            <a:endParaRPr lang="fr-FR" sz="2000" dirty="0" smtClean="0"/>
          </a:p>
          <a:p>
            <a:pPr>
              <a:buFont typeface="+mj-lt"/>
              <a:buAutoNum type="arabicPeriod"/>
            </a:pPr>
            <a:endParaRPr lang="fr-FR" sz="2000" i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454262" y="1916832"/>
            <a:ext cx="8356316" cy="41764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indent="-285750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ui_principal</a:t>
            </a:r>
            <a:r>
              <a:rPr lang="fr-FR" dirty="0"/>
              <a:t> import </a:t>
            </a:r>
            <a:r>
              <a:rPr lang="fr-FR" dirty="0" err="1" smtClean="0"/>
              <a:t>Ui_MainWindow</a:t>
            </a:r>
            <a:endParaRPr lang="fr-FR" dirty="0" smtClean="0"/>
          </a:p>
          <a:p>
            <a:pPr indent="-285750"/>
            <a:r>
              <a:rPr lang="en-US" dirty="0" smtClean="0"/>
              <a:t>from </a:t>
            </a:r>
            <a:r>
              <a:rPr lang="en-US" dirty="0" smtClean="0"/>
              <a:t>PyQt5 </a:t>
            </a:r>
            <a:r>
              <a:rPr lang="en-US" dirty="0"/>
              <a:t>import </a:t>
            </a:r>
            <a:r>
              <a:rPr lang="en-US" dirty="0" err="1"/>
              <a:t>QtGui</a:t>
            </a:r>
            <a:r>
              <a:rPr lang="en-US" dirty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uic</a:t>
            </a:r>
            <a:endParaRPr lang="en-US" dirty="0" smtClean="0">
              <a:solidFill>
                <a:srgbClr val="FF0000"/>
              </a:solidFill>
            </a:endParaRPr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class </a:t>
            </a:r>
            <a:r>
              <a:rPr lang="fr-FR" sz="1600" dirty="0" err="1" smtClean="0">
                <a:solidFill>
                  <a:schemeClr val="tx1"/>
                </a:solidFill>
              </a:rPr>
              <a:t>MonAppli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QtWidgets.QMainWindow</a:t>
            </a:r>
            <a:r>
              <a:rPr lang="fr-FR" sz="1600" dirty="0">
                <a:solidFill>
                  <a:schemeClr val="tx1"/>
                </a:solidFill>
              </a:rPr>
              <a:t>):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</a:t>
            </a:r>
            <a:r>
              <a:rPr lang="fr-FR" sz="1600" dirty="0" err="1">
                <a:solidFill>
                  <a:schemeClr val="tx1"/>
                </a:solidFill>
              </a:rPr>
              <a:t>def</a:t>
            </a:r>
            <a:r>
              <a:rPr lang="fr-FR" sz="1600" dirty="0">
                <a:solidFill>
                  <a:schemeClr val="tx1"/>
                </a:solidFill>
              </a:rPr>
              <a:t> __</a:t>
            </a:r>
            <a:r>
              <a:rPr lang="fr-FR" sz="1600" dirty="0" err="1">
                <a:solidFill>
                  <a:schemeClr val="tx1"/>
                </a:solidFill>
              </a:rPr>
              <a:t>init</a:t>
            </a:r>
            <a:r>
              <a:rPr lang="fr-FR" sz="1600" dirty="0">
                <a:solidFill>
                  <a:schemeClr val="tx1"/>
                </a:solidFill>
              </a:rPr>
              <a:t>__(self):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    super.__</a:t>
            </a:r>
            <a:r>
              <a:rPr lang="fr-FR" sz="1600" dirty="0" err="1">
                <a:solidFill>
                  <a:schemeClr val="tx1"/>
                </a:solidFill>
              </a:rPr>
              <a:t>init</a:t>
            </a:r>
            <a:r>
              <a:rPr lang="fr-FR" sz="1600" dirty="0">
                <a:solidFill>
                  <a:schemeClr val="tx1"/>
                </a:solidFill>
              </a:rPr>
              <a:t>__() # Configure l'interface utilisateur. </a:t>
            </a:r>
          </a:p>
          <a:p>
            <a:pPr indent="-285750"/>
            <a:r>
              <a:rPr lang="fr-FR" sz="1600" dirty="0">
                <a:solidFill>
                  <a:srgbClr val="C00000"/>
                </a:solidFill>
              </a:rPr>
              <a:t>       </a:t>
            </a:r>
            <a:r>
              <a:rPr lang="fr-FR" sz="1600" dirty="0" err="1">
                <a:solidFill>
                  <a:srgbClr val="C00000"/>
                </a:solidFill>
              </a:rPr>
              <a:t>self.ui</a:t>
            </a:r>
            <a:r>
              <a:rPr lang="fr-FR" sz="1600" dirty="0">
                <a:solidFill>
                  <a:srgbClr val="C00000"/>
                </a:solidFill>
              </a:rPr>
              <a:t> = </a:t>
            </a:r>
            <a:r>
              <a:rPr lang="fr-FR" sz="1600" dirty="0" err="1">
                <a:solidFill>
                  <a:srgbClr val="C00000"/>
                </a:solidFill>
              </a:rPr>
              <a:t>Ui_MainWindow</a:t>
            </a:r>
            <a:r>
              <a:rPr lang="fr-FR" sz="1600" dirty="0">
                <a:solidFill>
                  <a:srgbClr val="C00000"/>
                </a:solidFill>
              </a:rPr>
              <a:t>() </a:t>
            </a:r>
            <a:endParaRPr lang="fr-FR" sz="1600" dirty="0" smtClean="0">
              <a:solidFill>
                <a:srgbClr val="C00000"/>
              </a:solidFill>
            </a:endParaRPr>
          </a:p>
          <a:p>
            <a:pPr indent="-285750"/>
            <a:r>
              <a:rPr lang="fr-FR" sz="1600" dirty="0">
                <a:solidFill>
                  <a:srgbClr val="C00000"/>
                </a:solidFill>
              </a:rPr>
              <a:t> </a:t>
            </a:r>
            <a:r>
              <a:rPr lang="fr-FR" sz="1600" dirty="0" smtClean="0">
                <a:solidFill>
                  <a:srgbClr val="C00000"/>
                </a:solidFill>
              </a:rPr>
              <a:t>      </a:t>
            </a:r>
            <a:r>
              <a:rPr lang="fr-FR" sz="1600" dirty="0" err="1" smtClean="0">
                <a:solidFill>
                  <a:srgbClr val="C00000"/>
                </a:solidFill>
              </a:rPr>
              <a:t>self.ui.setupUi</a:t>
            </a:r>
            <a:r>
              <a:rPr lang="fr-FR" sz="1600" dirty="0" smtClean="0">
                <a:solidFill>
                  <a:srgbClr val="C00000"/>
                </a:solidFill>
              </a:rPr>
              <a:t>(self</a:t>
            </a:r>
            <a:r>
              <a:rPr lang="fr-FR" sz="1600" dirty="0">
                <a:solidFill>
                  <a:srgbClr val="C00000"/>
                </a:solidFill>
              </a:rPr>
              <a:t>) </a:t>
            </a:r>
            <a:endParaRPr lang="fr-FR" sz="1600" dirty="0" smtClean="0">
              <a:solidFill>
                <a:srgbClr val="C00000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   # </a:t>
            </a:r>
            <a:r>
              <a:rPr lang="fr-FR" sz="1600" dirty="0">
                <a:solidFill>
                  <a:schemeClr val="tx1"/>
                </a:solidFill>
              </a:rPr>
              <a:t>Connecte le bouton.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    </a:t>
            </a:r>
            <a:r>
              <a:rPr lang="fr-FR" sz="1600" dirty="0" err="1" smtClean="0">
                <a:solidFill>
                  <a:schemeClr val="tx1"/>
                </a:solidFill>
              </a:rPr>
              <a:t>self.ui.pushButton.clicked.connect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self.message</a:t>
            </a:r>
            <a:r>
              <a:rPr lang="fr-FR" sz="1600" dirty="0">
                <a:solidFill>
                  <a:schemeClr val="tx1"/>
                </a:solidFill>
              </a:rPr>
              <a:t>)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</a:t>
            </a:r>
            <a:r>
              <a:rPr lang="fr-FR" sz="1600" dirty="0" err="1">
                <a:solidFill>
                  <a:schemeClr val="tx1"/>
                </a:solidFill>
              </a:rPr>
              <a:t>def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message(self): </a:t>
            </a:r>
            <a:endParaRPr lang="fr-FR" sz="1600" dirty="0">
              <a:solidFill>
                <a:schemeClr val="tx1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    </a:t>
            </a:r>
            <a:r>
              <a:rPr lang="fr-FR" sz="1600" dirty="0" err="1">
                <a:solidFill>
                  <a:schemeClr val="tx1"/>
                </a:solidFill>
              </a:rPr>
              <a:t>print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smtClean="0">
                <a:solidFill>
                  <a:schemeClr val="tx1"/>
                </a:solidFill>
              </a:rPr>
              <a:t>‘</a:t>
            </a:r>
            <a:r>
              <a:rPr lang="fr-FR" sz="1600" dirty="0" smtClean="0">
                <a:solidFill>
                  <a:schemeClr val="tx1"/>
                </a:solidFill>
              </a:rPr>
              <a:t>traitement </a:t>
            </a:r>
            <a:r>
              <a:rPr lang="fr-FR" sz="1600" dirty="0" smtClean="0">
                <a:solidFill>
                  <a:schemeClr val="tx1"/>
                </a:solidFill>
              </a:rPr>
              <a:t>à faire le </a:t>
            </a:r>
            <a:r>
              <a:rPr lang="fr-FR" sz="1600" dirty="0" smtClean="0">
                <a:solidFill>
                  <a:schemeClr val="tx1"/>
                </a:solidFill>
              </a:rPr>
              <a:t>bouton’ </a:t>
            </a:r>
            <a:r>
              <a:rPr lang="fr-FR" sz="1600" dirty="0" smtClean="0">
                <a:solidFill>
                  <a:schemeClr val="tx1"/>
                </a:solidFill>
              </a:rPr>
              <a:t>)</a:t>
            </a:r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if </a:t>
            </a:r>
            <a:r>
              <a:rPr lang="fr-FR" sz="1600" dirty="0">
                <a:solidFill>
                  <a:schemeClr val="tx1"/>
                </a:solidFill>
              </a:rPr>
              <a:t>__</a:t>
            </a:r>
            <a:r>
              <a:rPr lang="fr-FR" sz="1600" dirty="0" err="1">
                <a:solidFill>
                  <a:schemeClr val="tx1"/>
                </a:solidFill>
              </a:rPr>
              <a:t>name</a:t>
            </a:r>
            <a:r>
              <a:rPr lang="fr-FR" sz="1600" dirty="0">
                <a:solidFill>
                  <a:schemeClr val="tx1"/>
                </a:solidFill>
              </a:rPr>
              <a:t>__ == "__main__": </a:t>
            </a:r>
            <a:endParaRPr lang="fr-FR" sz="1600" dirty="0" smtClean="0">
              <a:solidFill>
                <a:schemeClr val="tx1"/>
              </a:solidFill>
            </a:endParaRPr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    </a:t>
            </a:r>
            <a:r>
              <a:rPr lang="fr-FR" sz="1600" dirty="0" err="1" smtClean="0">
                <a:solidFill>
                  <a:schemeClr val="tx1"/>
                </a:solidFill>
              </a:rPr>
              <a:t>app</a:t>
            </a:r>
            <a:r>
              <a:rPr lang="fr-FR" sz="1600" dirty="0" smtClean="0">
                <a:solidFill>
                  <a:schemeClr val="tx1"/>
                </a:solidFill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= </a:t>
            </a:r>
            <a:r>
              <a:rPr lang="fr-FR" sz="1600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sys.argv</a:t>
            </a:r>
            <a:r>
              <a:rPr lang="fr-FR" sz="1600" dirty="0">
                <a:solidFill>
                  <a:schemeClr val="tx1"/>
                </a:solidFill>
              </a:rPr>
              <a:t>) </a:t>
            </a:r>
            <a:endParaRPr lang="fr-FR" sz="1600" dirty="0" smtClean="0">
              <a:solidFill>
                <a:schemeClr val="tx1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dirty="0" err="1" smtClean="0">
                <a:solidFill>
                  <a:schemeClr val="tx1"/>
                </a:solidFill>
              </a:rPr>
              <a:t>window</a:t>
            </a:r>
            <a:r>
              <a:rPr lang="fr-FR" sz="1600" dirty="0" smtClean="0">
                <a:solidFill>
                  <a:schemeClr val="tx1"/>
                </a:solidFill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= </a:t>
            </a:r>
            <a:r>
              <a:rPr lang="fr-FR" sz="1600" dirty="0" err="1" smtClean="0">
                <a:solidFill>
                  <a:schemeClr val="tx1"/>
                </a:solidFill>
              </a:rPr>
              <a:t>MonAppli</a:t>
            </a:r>
            <a:r>
              <a:rPr lang="fr-FR" sz="1600" dirty="0" smtClean="0">
                <a:solidFill>
                  <a:schemeClr val="tx1"/>
                </a:solidFill>
              </a:rPr>
              <a:t>()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dirty="0" err="1" smtClean="0">
                <a:solidFill>
                  <a:schemeClr val="tx1"/>
                </a:solidFill>
              </a:rPr>
              <a:t>window,show</a:t>
            </a:r>
            <a:r>
              <a:rPr lang="fr-FR" sz="1600" dirty="0" smtClean="0">
                <a:solidFill>
                  <a:schemeClr val="tx1"/>
                </a:solidFill>
              </a:rPr>
              <a:t>()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dirty="0" err="1" smtClean="0">
                <a:solidFill>
                  <a:schemeClr val="tx1"/>
                </a:solidFill>
              </a:rPr>
              <a:t>sys.exit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app.exec</a:t>
            </a:r>
            <a:r>
              <a:rPr lang="fr-FR" sz="1600" dirty="0" smtClean="0">
                <a:solidFill>
                  <a:schemeClr val="tx1"/>
                </a:solidFill>
              </a:rPr>
              <a:t>_())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07803" y="3099572"/>
            <a:ext cx="6840760" cy="54545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285750"/>
            <a:r>
              <a:rPr lang="fr-FR" sz="16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Self.ui</a:t>
            </a:r>
            <a:r>
              <a:rPr lang="fr-FR" sz="16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lang="fr-FR" sz="16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uic.loadUi</a:t>
            </a:r>
            <a:r>
              <a:rPr lang="fr-FR" sz="16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(« </a:t>
            </a:r>
            <a:r>
              <a:rPr lang="fr-FR" sz="1600" dirty="0" err="1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monAppli.ui</a:t>
            </a:r>
            <a:r>
              <a:rPr lang="fr-FR" sz="1600" dirty="0">
                <a:solidFill>
                  <a:srgbClr val="FF000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356138" y="4603743"/>
            <a:ext cx="35283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Remarque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Permet d’ajouter des objets et des méthodes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Accéder aux Widget via une variable d’instance  </a:t>
            </a:r>
            <a:r>
              <a:rPr lang="fr-FR" dirty="0" err="1" smtClean="0"/>
              <a:t>self.ui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497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QtDesigner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1010" y="1196752"/>
            <a:ext cx="870299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Appel dynamique du fichier .</a:t>
            </a:r>
            <a:r>
              <a:rPr lang="fr-FR" sz="2000" dirty="0" err="1" smtClean="0">
                <a:solidFill>
                  <a:schemeClr val="bg1">
                    <a:lumMod val="50000"/>
                  </a:schemeClr>
                </a:solidFill>
              </a:rPr>
              <a:t>ui</a:t>
            </a:r>
            <a:endParaRPr lang="fr-F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solidFill>
                  <a:schemeClr val="bg1">
                    <a:lumMod val="50000"/>
                  </a:schemeClr>
                </a:solidFill>
              </a:rPr>
              <a:t>Par dérivation simple </a:t>
            </a:r>
            <a:endParaRPr lang="fr-FR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000" dirty="0" smtClean="0"/>
              <a:t>Dérivation multiple (</a:t>
            </a:r>
            <a:r>
              <a:rPr lang="fr-FR" sz="2000" dirty="0" err="1" smtClean="0"/>
              <a:t>QMainWindow</a:t>
            </a:r>
            <a:r>
              <a:rPr lang="fr-FR" sz="2000" dirty="0" smtClean="0"/>
              <a:t>, </a:t>
            </a:r>
            <a:r>
              <a:rPr lang="fr-FR" sz="2000" dirty="0" err="1" smtClean="0"/>
              <a:t>Ui_MainWindow</a:t>
            </a:r>
            <a:r>
              <a:rPr lang="fr-FR" sz="2000" dirty="0" smtClean="0"/>
              <a:t>)</a:t>
            </a:r>
            <a:endParaRPr lang="fr-FR" sz="2000" dirty="0"/>
          </a:p>
          <a:p>
            <a:pPr marL="457200" indent="-457200">
              <a:buFont typeface="+mj-lt"/>
              <a:buAutoNum type="arabicPeriod"/>
            </a:pPr>
            <a:endParaRPr lang="fr-FR" sz="2000" dirty="0"/>
          </a:p>
          <a:p>
            <a:pPr marL="0" indent="0">
              <a:buNone/>
            </a:pPr>
            <a:endParaRPr lang="fr-FR" sz="2000" dirty="0" smtClean="0"/>
          </a:p>
          <a:p>
            <a:pPr>
              <a:buFont typeface="+mj-lt"/>
              <a:buAutoNum type="arabicPeriod"/>
            </a:pPr>
            <a:endParaRPr lang="fr-FR" sz="2000" i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 err="1" smtClean="0"/>
              <a:t>PyQT</a:t>
            </a:r>
            <a:endParaRPr lang="fr-FR" dirty="0"/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528214" y="2420888"/>
            <a:ext cx="8356316" cy="37444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 indent="-285750"/>
            <a:r>
              <a:rPr lang="fr-FR" dirty="0"/>
              <a:t>import </a:t>
            </a:r>
            <a:r>
              <a:rPr lang="fr-FR" dirty="0" err="1"/>
              <a:t>sys</a:t>
            </a:r>
            <a:r>
              <a:rPr lang="fr-FR" dirty="0"/>
              <a:t> </a:t>
            </a:r>
            <a:endParaRPr lang="fr-FR" dirty="0" smtClean="0"/>
          </a:p>
          <a:p>
            <a:pPr indent="-285750"/>
            <a:r>
              <a:rPr lang="fr-FR" dirty="0" err="1" smtClean="0"/>
              <a:t>from</a:t>
            </a:r>
            <a:r>
              <a:rPr lang="fr-FR" dirty="0" smtClean="0"/>
              <a:t> PyQt5 import </a:t>
            </a:r>
            <a:r>
              <a:rPr lang="fr-FR" dirty="0" err="1" smtClean="0"/>
              <a:t>QtWidgets</a:t>
            </a:r>
            <a:r>
              <a:rPr lang="fr-FR" dirty="0" smtClean="0"/>
              <a:t>, </a:t>
            </a:r>
            <a:r>
              <a:rPr lang="fr-FR" dirty="0" err="1"/>
              <a:t>QtCore</a:t>
            </a:r>
            <a:r>
              <a:rPr lang="fr-FR" dirty="0"/>
              <a:t> </a:t>
            </a:r>
            <a:endParaRPr lang="fr-FR" dirty="0" smtClean="0"/>
          </a:p>
          <a:p>
            <a:pPr indent="-285750"/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/>
              <a:t>ui_principal</a:t>
            </a:r>
            <a:r>
              <a:rPr lang="fr-FR" dirty="0"/>
              <a:t> import </a:t>
            </a:r>
            <a:r>
              <a:rPr lang="fr-FR" dirty="0" err="1" smtClean="0"/>
              <a:t>Ui_MainWindow</a:t>
            </a:r>
            <a:endParaRPr lang="fr-FR" dirty="0" smtClean="0"/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class </a:t>
            </a:r>
            <a:r>
              <a:rPr lang="fr-FR" sz="1600" dirty="0" err="1" smtClean="0">
                <a:solidFill>
                  <a:schemeClr val="tx1"/>
                </a:solidFill>
              </a:rPr>
              <a:t>MonAppli</a:t>
            </a:r>
            <a:r>
              <a:rPr lang="fr-FR" sz="1600" b="1" dirty="0" smtClean="0">
                <a:solidFill>
                  <a:srgbClr val="FF0000"/>
                </a:solidFill>
              </a:rPr>
              <a:t>(</a:t>
            </a:r>
            <a:r>
              <a:rPr lang="fr-FR" sz="1600" b="1" dirty="0" err="1" smtClean="0">
                <a:solidFill>
                  <a:srgbClr val="FF0000"/>
                </a:solidFill>
              </a:rPr>
              <a:t>QtWidgets.QMainWindow</a:t>
            </a:r>
            <a:r>
              <a:rPr lang="fr-FR" sz="1600" b="1" dirty="0">
                <a:solidFill>
                  <a:srgbClr val="FF0000"/>
                </a:solidFill>
              </a:rPr>
              <a:t>, </a:t>
            </a:r>
            <a:r>
              <a:rPr lang="fr-FR" sz="1600" b="1" dirty="0" err="1">
                <a:solidFill>
                  <a:srgbClr val="FF0000"/>
                </a:solidFill>
              </a:rPr>
              <a:t>Ui_MainWindow</a:t>
            </a:r>
            <a:r>
              <a:rPr lang="fr-FR" sz="1600" b="1" dirty="0" smtClean="0">
                <a:solidFill>
                  <a:srgbClr val="FF0000"/>
                </a:solidFill>
              </a:rPr>
              <a:t>):  </a:t>
            </a:r>
            <a:endParaRPr lang="fr-FR" sz="1600" b="1" dirty="0">
              <a:solidFill>
                <a:srgbClr val="FF0000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</a:t>
            </a:r>
            <a:r>
              <a:rPr lang="fr-FR" sz="1600" dirty="0" err="1">
                <a:solidFill>
                  <a:schemeClr val="tx1"/>
                </a:solidFill>
              </a:rPr>
              <a:t>def</a:t>
            </a:r>
            <a:r>
              <a:rPr lang="fr-FR" sz="1600" dirty="0">
                <a:solidFill>
                  <a:schemeClr val="tx1"/>
                </a:solidFill>
              </a:rPr>
              <a:t> __</a:t>
            </a:r>
            <a:r>
              <a:rPr lang="fr-FR" sz="1600" dirty="0" err="1">
                <a:solidFill>
                  <a:schemeClr val="tx1"/>
                </a:solidFill>
              </a:rPr>
              <a:t>init</a:t>
            </a:r>
            <a:r>
              <a:rPr lang="fr-FR" sz="1600" dirty="0">
                <a:solidFill>
                  <a:schemeClr val="tx1"/>
                </a:solidFill>
              </a:rPr>
              <a:t>__(self):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    </a:t>
            </a:r>
            <a:r>
              <a:rPr lang="fr-FR" sz="1600" dirty="0" smtClean="0"/>
              <a:t>QtWidgets.</a:t>
            </a:r>
            <a:r>
              <a:rPr lang="fr-FR" sz="1600" dirty="0" err="1" smtClean="0"/>
              <a:t>QMainWindow</a:t>
            </a:r>
            <a:r>
              <a:rPr lang="fr-FR" sz="1600" dirty="0"/>
              <a:t>.__</a:t>
            </a:r>
            <a:r>
              <a:rPr lang="fr-FR" sz="1600" dirty="0" err="1"/>
              <a:t>init</a:t>
            </a:r>
            <a:r>
              <a:rPr lang="fr-FR" sz="1600" dirty="0"/>
              <a:t>__(self) </a:t>
            </a:r>
            <a:endParaRPr lang="fr-FR" sz="1600" dirty="0" smtClean="0"/>
          </a:p>
          <a:p>
            <a:pPr indent="-285750"/>
            <a:r>
              <a:rPr lang="fr-FR" sz="1600" dirty="0" smtClean="0"/>
              <a:t>       Ui_</a:t>
            </a:r>
            <a:r>
              <a:rPr lang="fr-FR" sz="1600" dirty="0" err="1" smtClean="0"/>
              <a:t>MainWindow</a:t>
            </a:r>
            <a:r>
              <a:rPr lang="fr-FR" sz="1600" dirty="0"/>
              <a:t>.__</a:t>
            </a:r>
            <a:r>
              <a:rPr lang="fr-FR" sz="1600" dirty="0" err="1"/>
              <a:t>init</a:t>
            </a:r>
            <a:r>
              <a:rPr lang="fr-FR" sz="1600" dirty="0"/>
              <a:t>__(self</a:t>
            </a:r>
            <a:r>
              <a:rPr lang="fr-FR" sz="1600" dirty="0" smtClean="0"/>
              <a:t>)</a:t>
            </a:r>
          </a:p>
          <a:p>
            <a:pPr indent="-285750"/>
            <a:r>
              <a:rPr lang="fr-FR" sz="1600" dirty="0" smtClean="0"/>
              <a:t>       </a:t>
            </a:r>
            <a:r>
              <a:rPr lang="fr-FR" sz="1600" dirty="0" err="1" smtClean="0"/>
              <a:t>self.setupUi</a:t>
            </a:r>
            <a:r>
              <a:rPr lang="fr-FR" sz="1600" dirty="0" smtClean="0"/>
              <a:t>(self</a:t>
            </a:r>
            <a:r>
              <a:rPr lang="fr-FR" sz="1600" dirty="0"/>
              <a:t>)</a:t>
            </a:r>
            <a:r>
              <a:rPr lang="fr-FR" sz="1600" dirty="0" smtClean="0">
                <a:solidFill>
                  <a:schemeClr val="tx1"/>
                </a:solidFill>
              </a:rPr>
              <a:t>      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   </a:t>
            </a:r>
            <a:r>
              <a:rPr lang="fr-FR" sz="1600" dirty="0" err="1" smtClean="0">
                <a:solidFill>
                  <a:schemeClr val="tx1"/>
                </a:solidFill>
              </a:rPr>
              <a:t>self.pushButton.clicked.connect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self.message</a:t>
            </a:r>
            <a:r>
              <a:rPr lang="fr-FR" sz="1600" dirty="0">
                <a:solidFill>
                  <a:schemeClr val="tx1"/>
                </a:solidFill>
              </a:rPr>
              <a:t>) 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</a:t>
            </a:r>
            <a:r>
              <a:rPr lang="fr-FR" sz="1600" dirty="0" err="1">
                <a:solidFill>
                  <a:schemeClr val="tx1"/>
                </a:solidFill>
              </a:rPr>
              <a:t>def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message(self): </a:t>
            </a:r>
            <a:endParaRPr lang="fr-FR" sz="1600" dirty="0">
              <a:solidFill>
                <a:schemeClr val="tx1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      </a:t>
            </a:r>
            <a:r>
              <a:rPr lang="fr-FR" sz="1600" dirty="0" err="1">
                <a:solidFill>
                  <a:schemeClr val="tx1"/>
                </a:solidFill>
              </a:rPr>
              <a:t>print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(« traitement à faire le bouton" )</a:t>
            </a:r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if </a:t>
            </a:r>
            <a:r>
              <a:rPr lang="fr-FR" sz="1600" dirty="0">
                <a:solidFill>
                  <a:schemeClr val="tx1"/>
                </a:solidFill>
              </a:rPr>
              <a:t>__</a:t>
            </a:r>
            <a:r>
              <a:rPr lang="fr-FR" sz="1600" dirty="0" err="1">
                <a:solidFill>
                  <a:schemeClr val="tx1"/>
                </a:solidFill>
              </a:rPr>
              <a:t>name</a:t>
            </a:r>
            <a:r>
              <a:rPr lang="fr-FR" sz="1600" dirty="0">
                <a:solidFill>
                  <a:schemeClr val="tx1"/>
                </a:solidFill>
              </a:rPr>
              <a:t>__ == "__main__": </a:t>
            </a:r>
            <a:endParaRPr lang="fr-FR" sz="1600" dirty="0" smtClean="0">
              <a:solidFill>
                <a:schemeClr val="tx1"/>
              </a:solidFill>
            </a:endParaRPr>
          </a:p>
          <a:p>
            <a:pPr indent="-285750"/>
            <a:r>
              <a:rPr lang="fr-FR" sz="1600" dirty="0" smtClean="0">
                <a:solidFill>
                  <a:schemeClr val="tx1"/>
                </a:solidFill>
              </a:rPr>
              <a:t>    </a:t>
            </a:r>
            <a:r>
              <a:rPr lang="fr-FR" sz="1600" dirty="0" err="1" smtClean="0">
                <a:solidFill>
                  <a:schemeClr val="tx1"/>
                </a:solidFill>
              </a:rPr>
              <a:t>app</a:t>
            </a:r>
            <a:r>
              <a:rPr lang="fr-FR" sz="1600" dirty="0" smtClean="0">
                <a:solidFill>
                  <a:schemeClr val="tx1"/>
                </a:solidFill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= </a:t>
            </a:r>
            <a:r>
              <a:rPr lang="fr-FR" sz="1600" dirty="0" err="1" smtClean="0">
                <a:solidFill>
                  <a:schemeClr val="tx1"/>
                </a:solidFill>
              </a:rPr>
              <a:t>QtWidgets.QApplication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sys.argv</a:t>
            </a:r>
            <a:r>
              <a:rPr lang="fr-FR" sz="1600" dirty="0">
                <a:solidFill>
                  <a:schemeClr val="tx1"/>
                </a:solidFill>
              </a:rPr>
              <a:t>) </a:t>
            </a:r>
            <a:endParaRPr lang="fr-FR" sz="1600" dirty="0" smtClean="0">
              <a:solidFill>
                <a:schemeClr val="tx1"/>
              </a:solidFill>
            </a:endParaRP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dirty="0" err="1" smtClean="0">
                <a:solidFill>
                  <a:schemeClr val="tx1"/>
                </a:solidFill>
              </a:rPr>
              <a:t>window</a:t>
            </a:r>
            <a:r>
              <a:rPr lang="fr-FR" sz="1600" dirty="0" smtClean="0">
                <a:solidFill>
                  <a:schemeClr val="tx1"/>
                </a:solidFill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= </a:t>
            </a:r>
            <a:r>
              <a:rPr lang="fr-FR" sz="1600" dirty="0" err="1" smtClean="0">
                <a:solidFill>
                  <a:schemeClr val="tx1"/>
                </a:solidFill>
              </a:rPr>
              <a:t>MonAppli</a:t>
            </a:r>
            <a:r>
              <a:rPr lang="fr-FR" sz="1600" dirty="0" smtClean="0">
                <a:solidFill>
                  <a:schemeClr val="tx1"/>
                </a:solidFill>
              </a:rPr>
              <a:t>()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smtClean="0">
                <a:solidFill>
                  <a:schemeClr val="tx1"/>
                </a:solidFill>
              </a:rPr>
              <a:t>window.show</a:t>
            </a:r>
            <a:r>
              <a:rPr lang="fr-FR" sz="1600" dirty="0" smtClean="0">
                <a:solidFill>
                  <a:schemeClr val="tx1"/>
                </a:solidFill>
              </a:rPr>
              <a:t>()</a:t>
            </a:r>
          </a:p>
          <a:p>
            <a:pPr indent="-285750"/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smtClean="0">
                <a:solidFill>
                  <a:schemeClr val="tx1"/>
                </a:solidFill>
              </a:rPr>
              <a:t>   </a:t>
            </a:r>
            <a:r>
              <a:rPr lang="fr-FR" sz="1600" dirty="0" err="1" smtClean="0">
                <a:solidFill>
                  <a:schemeClr val="tx1"/>
                </a:solidFill>
              </a:rPr>
              <a:t>sys.exit</a:t>
            </a:r>
            <a:r>
              <a:rPr lang="fr-FR" sz="1600" dirty="0" smtClean="0">
                <a:solidFill>
                  <a:schemeClr val="tx1"/>
                </a:solidFill>
              </a:rPr>
              <a:t>(</a:t>
            </a:r>
            <a:r>
              <a:rPr lang="fr-FR" sz="1600" dirty="0" err="1" smtClean="0">
                <a:solidFill>
                  <a:schemeClr val="tx1"/>
                </a:solidFill>
              </a:rPr>
              <a:t>app.exec</a:t>
            </a:r>
            <a:r>
              <a:rPr lang="fr-FR" sz="1600" dirty="0" smtClean="0">
                <a:solidFill>
                  <a:schemeClr val="tx1"/>
                </a:solidFill>
              </a:rPr>
              <a:t>_())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358494" y="4869160"/>
            <a:ext cx="3528392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Remarque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Permet  de personnaliser la fenêtre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Accéder directement aux Widget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239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251711" y="2036375"/>
            <a:ext cx="66920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spc="-400" dirty="0" smtClean="0">
                <a:solidFill>
                  <a:schemeClr val="bg1"/>
                </a:solidFill>
              </a:rPr>
              <a:t>A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vous</a:t>
            </a:r>
            <a:r>
              <a:rPr lang="en-US" sz="8800" b="1" spc="-400" dirty="0" smtClean="0">
                <a:solidFill>
                  <a:schemeClr val="bg1"/>
                </a:solidFill>
              </a:rPr>
              <a:t> de </a:t>
            </a:r>
            <a:r>
              <a:rPr lang="en-US" sz="8800" b="1" spc="-400" dirty="0" err="1" smtClean="0">
                <a:solidFill>
                  <a:schemeClr val="bg1"/>
                </a:solidFill>
              </a:rPr>
              <a:t>jouer</a:t>
            </a:r>
            <a:endParaRPr lang="en-US" sz="8800" b="1" spc="-4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65980" y="3150871"/>
            <a:ext cx="21611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Projet</a:t>
            </a:r>
            <a:r>
              <a:rPr lang="en-US" sz="2500" dirty="0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 </a:t>
            </a:r>
            <a:r>
              <a:rPr lang="en-US" sz="2500" dirty="0" err="1" smtClean="0">
                <a:solidFill>
                  <a:schemeClr val="bg1">
                    <a:lumMod val="75000"/>
                  </a:schemeClr>
                </a:solidFill>
                <a:latin typeface="TypoSlabserif-Light" pitchFamily="2" charset="0"/>
              </a:rPr>
              <a:t>informatique</a:t>
            </a:r>
            <a:endParaRPr lang="en-US" sz="2500" dirty="0">
              <a:solidFill>
                <a:schemeClr val="bg1">
                  <a:lumMod val="75000"/>
                </a:schemeClr>
              </a:solidFill>
              <a:latin typeface="TypoSlabserif-Light" pitchFamily="2" charset="0"/>
            </a:endParaRPr>
          </a:p>
        </p:txBody>
      </p:sp>
      <p:pic>
        <p:nvPicPr>
          <p:cNvPr id="22" name="Picture 21" descr="MainTitle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6" y="1857364"/>
            <a:ext cx="1631405" cy="1804572"/>
          </a:xfrm>
          <a:prstGeom prst="rect">
            <a:avLst/>
          </a:prstGeom>
        </p:spPr>
      </p:pic>
      <p:pic>
        <p:nvPicPr>
          <p:cNvPr id="23" name="Picture 22" descr="MainTitleImag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6" y="3714752"/>
            <a:ext cx="1902349" cy="243428"/>
          </a:xfrm>
          <a:prstGeom prst="rect">
            <a:avLst/>
          </a:prstGeom>
        </p:spPr>
      </p:pic>
      <p:pic>
        <p:nvPicPr>
          <p:cNvPr id="24" name="Picture 23" descr="MainTitle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006" y="3661936"/>
            <a:ext cx="6345466" cy="270476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709732" y="6330523"/>
            <a:ext cx="2133600" cy="365125"/>
          </a:xfrm>
        </p:spPr>
        <p:txBody>
          <a:bodyPr/>
          <a:lstStyle/>
          <a:p>
            <a:fld id="{BECFFF0D-0199-40F6-98A2-0B4E765CD12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theme/theme1.xml><?xml version="1.0" encoding="utf-8"?>
<a:theme xmlns:a="http://schemas.openxmlformats.org/drawingml/2006/main" name="DarkPowerpoint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3601</TotalTime>
  <Words>1502</Words>
  <Application>Microsoft Office PowerPoint</Application>
  <PresentationFormat>Affichage à l'écran (4:3)</PresentationFormat>
  <Paragraphs>342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DarkPowerpointTemplate</vt:lpstr>
      <vt:lpstr>Présentation PowerPoint</vt:lpstr>
      <vt:lpstr> Structure d’un programme QT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Signaux et slots en Python</vt:lpstr>
      <vt:lpstr>Définition un nouveau signal/slot</vt:lpstr>
      <vt:lpstr>Exemple</vt:lpstr>
      <vt:lpstr>Sommaire</vt:lpstr>
      <vt:lpstr>QtDesigner</vt:lpstr>
      <vt:lpstr>QtDesigner : </vt:lpstr>
      <vt:lpstr>QtDesigner</vt:lpstr>
      <vt:lpstr>QtDesigner</vt:lpstr>
      <vt:lpstr>QtDesigner</vt:lpstr>
      <vt:lpstr>QtDesigner</vt:lpstr>
      <vt:lpstr>QtDesigner</vt:lpstr>
      <vt:lpstr>QtDesigner</vt:lpstr>
      <vt:lpstr>QtDesigner</vt:lpstr>
      <vt:lpstr>QtDesigner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ensta</dc:creator>
  <cp:lastModifiedBy>Malek</cp:lastModifiedBy>
  <cp:revision>205</cp:revision>
  <dcterms:created xsi:type="dcterms:W3CDTF">2016-03-15T18:06:02Z</dcterms:created>
  <dcterms:modified xsi:type="dcterms:W3CDTF">2018-03-14T16:04:34Z</dcterms:modified>
</cp:coreProperties>
</file>