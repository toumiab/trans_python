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8" r:id="rId3"/>
    <p:sldId id="259" r:id="rId4"/>
    <p:sldId id="263" r:id="rId5"/>
    <p:sldId id="264" r:id="rId6"/>
    <p:sldId id="265" r:id="rId7"/>
    <p:sldId id="269" r:id="rId8"/>
    <p:sldId id="268" r:id="rId9"/>
    <p:sldId id="276" r:id="rId10"/>
    <p:sldId id="277" r:id="rId11"/>
    <p:sldId id="270" r:id="rId12"/>
    <p:sldId id="273" r:id="rId13"/>
    <p:sldId id="274" r:id="rId14"/>
    <p:sldId id="278" r:id="rId15"/>
    <p:sldId id="272" r:id="rId16"/>
    <p:sldId id="281" r:id="rId17"/>
    <p:sldId id="282" r:id="rId18"/>
    <p:sldId id="280" r:id="rId19"/>
    <p:sldId id="279" r:id="rId20"/>
    <p:sldId id="283" r:id="rId21"/>
    <p:sldId id="286" r:id="rId22"/>
    <p:sldId id="287" r:id="rId23"/>
    <p:sldId id="285" r:id="rId24"/>
    <p:sldId id="288" r:id="rId25"/>
    <p:sldId id="284" r:id="rId26"/>
    <p:sldId id="257" r:id="rId2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C2BB77C0-C172-4496-90B6-A3D8A326893A}">
          <p14:sldIdLst>
            <p14:sldId id="256"/>
            <p14:sldId id="258"/>
            <p14:sldId id="259"/>
            <p14:sldId id="263"/>
            <p14:sldId id="264"/>
            <p14:sldId id="265"/>
            <p14:sldId id="269"/>
            <p14:sldId id="268"/>
            <p14:sldId id="276"/>
            <p14:sldId id="277"/>
            <p14:sldId id="270"/>
            <p14:sldId id="273"/>
            <p14:sldId id="274"/>
            <p14:sldId id="278"/>
            <p14:sldId id="272"/>
            <p14:sldId id="281"/>
            <p14:sldId id="282"/>
            <p14:sldId id="280"/>
            <p14:sldId id="279"/>
            <p14:sldId id="283"/>
            <p14:sldId id="286"/>
            <p14:sldId id="287"/>
            <p14:sldId id="285"/>
            <p14:sldId id="288"/>
            <p14:sldId id="284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FF33"/>
    <a:srgbClr val="CCFF33"/>
    <a:srgbClr val="99CC00"/>
    <a:srgbClr val="3837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5" autoAdjust="0"/>
    <p:restoredTop sz="94286" autoAdjust="0"/>
  </p:normalViewPr>
  <p:slideViewPr>
    <p:cSldViewPr>
      <p:cViewPr>
        <p:scale>
          <a:sx n="100" d="100"/>
          <a:sy n="100" d="100"/>
        </p:scale>
        <p:origin x="-298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 smtClean="0"/>
              <a:t>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B09E36-4607-432C-A5A8-ECF49ED23085}" type="datetimeFigureOut">
              <a:rPr lang="fr-FR" smtClean="0"/>
              <a:t>16/03/2016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1A2791-0049-4703-88B7-A017233F8C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7798303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smtClean="0"/>
              <a:t>Titre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FE8E1C-2662-4E6E-A1FD-77715E78031E}" type="datetimeFigureOut">
              <a:rPr lang="en-US" smtClean="0"/>
              <a:pPr/>
              <a:t>3/16/2016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FC9CF-D339-4A1B-9AF2-43BD7CEDA5C9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963110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77960" y="6332180"/>
            <a:ext cx="2133600" cy="365125"/>
          </a:xfrm>
        </p:spPr>
        <p:txBody>
          <a:bodyPr/>
          <a:lstStyle>
            <a:lvl1pPr>
              <a:defRPr sz="1100"/>
            </a:lvl1pPr>
          </a:lstStyle>
          <a:p>
            <a:fld id="{BECFFF0D-0199-40F6-98A2-0B4E765CD128}" type="slidenum">
              <a:rPr lang="en-US" smtClean="0"/>
              <a:pPr/>
              <a:t>‹N°›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648072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fr-FR" dirty="0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3" hasCustomPrompt="1"/>
          </p:nvPr>
        </p:nvSpPr>
        <p:spPr>
          <a:xfrm>
            <a:off x="467544" y="23664"/>
            <a:ext cx="8208963" cy="576064"/>
          </a:xfrm>
        </p:spPr>
        <p:txBody>
          <a:bodyPr>
            <a:normAutofit/>
          </a:bodyPr>
          <a:lstStyle>
            <a:lvl1pPr marL="0" indent="0" algn="r">
              <a:buNone/>
              <a:defRPr sz="2000" u="none" baseline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fr-FR" dirty="0" smtClean="0"/>
              <a:t>Titre 2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smtClean="0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7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5782" y="44624"/>
            <a:ext cx="8229600" cy="6480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1010" y="119675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 smtClean="0"/>
              <a:t>Modifiez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3801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FFF0D-0199-40F6-98A2-0B4E765CD128}" type="slidenum">
              <a:rPr lang="en-US" smtClean="0"/>
              <a:pPr/>
              <a:t>‹N°›</a:t>
            </a:fld>
            <a:endParaRPr lang="en-US"/>
          </a:p>
        </p:txBody>
      </p:sp>
      <p:pic>
        <p:nvPicPr>
          <p:cNvPr id="7" name="Picture 15" descr="BottomLineLight.png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6172049"/>
            <a:ext cx="9144000" cy="669726"/>
          </a:xfrm>
          <a:prstGeom prst="rect">
            <a:avLst/>
          </a:prstGeom>
        </p:spPr>
      </p:pic>
      <p:pic>
        <p:nvPicPr>
          <p:cNvPr id="8" name="Picture 16" descr="BottomLineDarker.png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822401"/>
            <a:ext cx="9144000" cy="44648"/>
          </a:xfrm>
          <a:prstGeom prst="rect">
            <a:avLst/>
          </a:prstGeom>
        </p:spPr>
      </p:pic>
      <p:pic>
        <p:nvPicPr>
          <p:cNvPr id="9" name="Picture 14" descr="Avatar.png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07995" y="6298997"/>
            <a:ext cx="377791" cy="387005"/>
          </a:xfrm>
          <a:prstGeom prst="rect">
            <a:avLst/>
          </a:prstGeom>
        </p:spPr>
      </p:pic>
      <p:sp>
        <p:nvSpPr>
          <p:cNvPr id="10" name="TextBox 4"/>
          <p:cNvSpPr txBox="1"/>
          <p:nvPr userDrawn="1"/>
        </p:nvSpPr>
        <p:spPr>
          <a:xfrm>
            <a:off x="785786" y="6224107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11" name="TextBox 5"/>
          <p:cNvSpPr txBox="1"/>
          <p:nvPr userDrawn="1"/>
        </p:nvSpPr>
        <p:spPr>
          <a:xfrm>
            <a:off x="785786" y="6344958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12" name="TextBox 6"/>
          <p:cNvSpPr txBox="1"/>
          <p:nvPr userDrawn="1"/>
        </p:nvSpPr>
        <p:spPr>
          <a:xfrm>
            <a:off x="785786" y="6524118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13" name="TextBox 9"/>
          <p:cNvSpPr txBox="1"/>
          <p:nvPr userDrawn="1"/>
        </p:nvSpPr>
        <p:spPr>
          <a:xfrm>
            <a:off x="2694634" y="6224107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14" name="TextBox 10"/>
          <p:cNvSpPr txBox="1"/>
          <p:nvPr userDrawn="1"/>
        </p:nvSpPr>
        <p:spPr>
          <a:xfrm>
            <a:off x="2694634" y="6344958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15" name="TextBox 11"/>
          <p:cNvSpPr txBox="1"/>
          <p:nvPr userDrawn="1"/>
        </p:nvSpPr>
        <p:spPr>
          <a:xfrm>
            <a:off x="7447108" y="6224107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16" name="TextBox 12"/>
          <p:cNvSpPr txBox="1"/>
          <p:nvPr userDrawn="1"/>
        </p:nvSpPr>
        <p:spPr>
          <a:xfrm>
            <a:off x="8685382" y="6381328"/>
            <a:ext cx="461986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56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17" name="Picture 18" descr="PrevArrow.png">
            <a:hlinkClick r:id="" action="ppaction://hlinkshowjump?jump=nextslide"/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8395200" y="6429177"/>
            <a:ext cx="213333" cy="21333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3200" kern="1200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fr.wikipedia.org/wiki/Binding" TargetMode="External"/><Relationship Id="rId3" Type="http://schemas.openxmlformats.org/officeDocument/2006/relationships/hyperlink" Target="https://fr.wikipedia.org/wiki/Compilateur" TargetMode="External"/><Relationship Id="rId7" Type="http://schemas.openxmlformats.org/officeDocument/2006/relationships/hyperlink" Target="https://fr.wikipedia.org/wiki/Extensible_Markup_Language" TargetMode="External"/><Relationship Id="rId2" Type="http://schemas.openxmlformats.org/officeDocument/2006/relationships/hyperlink" Target="https://fr.wikipedia.org/wiki/Portabilit%C3%A9_(informatique)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r.wikipedia.org/wiki/Thread_(informatique)" TargetMode="External"/><Relationship Id="rId5" Type="http://schemas.openxmlformats.org/officeDocument/2006/relationships/hyperlink" Target="https://fr.wikipedia.org/wiki/Composant_d'interface_graphique" TargetMode="External"/><Relationship Id="rId4" Type="http://schemas.openxmlformats.org/officeDocument/2006/relationships/hyperlink" Target="https://fr.wikipedia.org/wiki/Interface_graphiqu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fr.wikipedia.org/wiki/Base_de_donn%C3%A9es" TargetMode="External"/><Relationship Id="rId2" Type="http://schemas.openxmlformats.org/officeDocument/2006/relationships/hyperlink" Target="https://fr.wikipedia.org/wiki/OpenG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r.wikipedia.org/wiki/Extensible_Markup_Language" TargetMode="External"/><Relationship Id="rId4" Type="http://schemas.openxmlformats.org/officeDocument/2006/relationships/hyperlink" Target="https://fr.wikipedia.org/wiki/Structured_Query_Language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doc.qt.io/qt-4.8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ottomLine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17" name="Picture 16" descr="BottomLineD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15" name="Picture 14" descr="Ava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11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13" name="TextBox 12"/>
          <p:cNvSpPr txBox="1"/>
          <p:nvPr/>
        </p:nvSpPr>
        <p:spPr>
          <a:xfrm>
            <a:off x="7776000" y="6433112"/>
            <a:ext cx="558166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chemeClr val="tx1">
                    <a:lumMod val="85000"/>
                    <a:lumOff val="15000"/>
                  </a:schemeClr>
                </a:solidFill>
                <a:latin typeface="TypoSlabserif-Light" pitchFamily="2" charset="0"/>
              </a:rPr>
              <a:t>1</a:t>
            </a:r>
            <a:r>
              <a:rPr lang="en-US" sz="1200" b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>
              <a:latin typeface="TypoSlabserif-Light" pitchFamily="2" charset="0"/>
            </a:endParaRPr>
          </a:p>
        </p:txBody>
      </p:sp>
      <p:pic>
        <p:nvPicPr>
          <p:cNvPr id="19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917549" y="1879105"/>
            <a:ext cx="4150752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400" b="1" dirty="0" smtClean="0">
                <a:solidFill>
                  <a:schemeClr val="bg1"/>
                </a:solidFill>
              </a:rPr>
              <a:t>Python</a:t>
            </a:r>
            <a:endParaRPr lang="en-US" sz="10400" b="1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147312" y="3389398"/>
            <a:ext cx="189827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PyQT</a:t>
            </a:r>
            <a:r>
              <a:rPr lang="en-US" sz="2500" dirty="0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  pour </a:t>
            </a:r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l’IHM</a:t>
            </a:r>
            <a:endParaRPr lang="en-US" sz="2500" dirty="0">
              <a:solidFill>
                <a:schemeClr val="bg1">
                  <a:lumMod val="75000"/>
                </a:schemeClr>
              </a:solidFill>
              <a:latin typeface="TypoSlabserif-Light" pitchFamily="2" charset="0"/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961" y="1857364"/>
            <a:ext cx="1555665" cy="1804572"/>
          </a:xfrm>
          <a:prstGeom prst="rect">
            <a:avLst/>
          </a:prstGeom>
        </p:spPr>
      </p:pic>
      <p:pic>
        <p:nvPicPr>
          <p:cNvPr id="23" name="Picture 22" descr="MainTitleImageShad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102" y="3714752"/>
            <a:ext cx="1902349" cy="243428"/>
          </a:xfrm>
          <a:prstGeom prst="rect">
            <a:avLst/>
          </a:prstGeom>
        </p:spPr>
      </p:pic>
      <p:pic>
        <p:nvPicPr>
          <p:cNvPr id="24" name="Picture 23" descr="MainTitleShado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00364" y="3714752"/>
            <a:ext cx="5202159" cy="270476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2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3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/>
          <p:cNvSpPr txBox="1"/>
          <p:nvPr/>
        </p:nvSpPr>
        <p:spPr>
          <a:xfrm>
            <a:off x="329300" y="214290"/>
            <a:ext cx="356815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b="1" spc="-400" dirty="0" err="1" smtClean="0">
                <a:solidFill>
                  <a:schemeClr val="bg1"/>
                </a:solidFill>
              </a:rPr>
              <a:t>Sommaire</a:t>
            </a:r>
            <a:endParaRPr lang="en-US" sz="7000" b="1" spc="-400" dirty="0">
              <a:solidFill>
                <a:srgbClr val="00B0F0"/>
              </a:solidFill>
            </a:endParaRPr>
          </a:p>
        </p:txBody>
      </p:sp>
      <p:pic>
        <p:nvPicPr>
          <p:cNvPr id="28" name="Picture 27" descr="Slide02Image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197" y="5214950"/>
            <a:ext cx="1902349" cy="252445"/>
          </a:xfrm>
          <a:prstGeom prst="rect">
            <a:avLst/>
          </a:prstGeom>
        </p:spPr>
      </p:pic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DarkPowerpointTemplate-Slide02-Small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2" y="0"/>
            <a:ext cx="9144000" cy="6858000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pc="-400" dirty="0" smtClean="0"/>
              <a:t>Généralités</a:t>
            </a:r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Création d’IHM</a:t>
            </a:r>
            <a:endParaRPr lang="fr-FR" dirty="0"/>
          </a:p>
        </p:txBody>
      </p:sp>
      <p:pic>
        <p:nvPicPr>
          <p:cNvPr id="41" name="Picture 15" descr="BottomLine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19924"/>
            <a:ext cx="9144000" cy="669726"/>
          </a:xfrm>
          <a:prstGeom prst="rect">
            <a:avLst/>
          </a:prstGeom>
        </p:spPr>
      </p:pic>
      <p:pic>
        <p:nvPicPr>
          <p:cNvPr id="42" name="Picture 16" descr="BottomLineDar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970276"/>
            <a:ext cx="9144000" cy="44648"/>
          </a:xfrm>
          <a:prstGeom prst="rect">
            <a:avLst/>
          </a:prstGeom>
        </p:spPr>
      </p:pic>
      <p:pic>
        <p:nvPicPr>
          <p:cNvPr id="43" name="Picture 14" descr="Ava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995" y="6446872"/>
            <a:ext cx="377791" cy="387005"/>
          </a:xfrm>
          <a:prstGeom prst="rect">
            <a:avLst/>
          </a:prstGeom>
        </p:spPr>
      </p:pic>
      <p:sp>
        <p:nvSpPr>
          <p:cNvPr id="44" name="TextBox 4"/>
          <p:cNvSpPr txBox="1"/>
          <p:nvPr/>
        </p:nvSpPr>
        <p:spPr>
          <a:xfrm>
            <a:off x="785786" y="637198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45" name="TextBox 5"/>
          <p:cNvSpPr txBox="1"/>
          <p:nvPr/>
        </p:nvSpPr>
        <p:spPr>
          <a:xfrm>
            <a:off x="785786" y="649283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46" name="TextBox 6"/>
          <p:cNvSpPr txBox="1"/>
          <p:nvPr/>
        </p:nvSpPr>
        <p:spPr>
          <a:xfrm>
            <a:off x="785786" y="667199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47" name="TextBox 9"/>
          <p:cNvSpPr txBox="1"/>
          <p:nvPr/>
        </p:nvSpPr>
        <p:spPr>
          <a:xfrm>
            <a:off x="2694634" y="637198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8" name="TextBox 10"/>
          <p:cNvSpPr txBox="1"/>
          <p:nvPr/>
        </p:nvSpPr>
        <p:spPr>
          <a:xfrm>
            <a:off x="2694634" y="649283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9" name="TextBox 11"/>
          <p:cNvSpPr txBox="1"/>
          <p:nvPr/>
        </p:nvSpPr>
        <p:spPr>
          <a:xfrm>
            <a:off x="7447108" y="637198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50" name="TextBox 12"/>
          <p:cNvSpPr txBox="1"/>
          <p:nvPr/>
        </p:nvSpPr>
        <p:spPr>
          <a:xfrm>
            <a:off x="8781044" y="652190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51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5200" y="6577052"/>
            <a:ext cx="213333" cy="213333"/>
          </a:xfrm>
          <a:prstGeom prst="rect">
            <a:avLst/>
          </a:prstGeom>
        </p:spPr>
      </p:pic>
      <p:sp>
        <p:nvSpPr>
          <p:cNvPr id="52" name="Espace réservé du numéro de diapositive 1"/>
          <p:cNvSpPr txBox="1">
            <a:spLocks/>
          </p:cNvSpPr>
          <p:nvPr/>
        </p:nvSpPr>
        <p:spPr>
          <a:xfrm>
            <a:off x="6777960" y="646172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ECFFF0D-0199-40F6-98A2-0B4E765CD12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ZoneTexte 2"/>
          <p:cNvSpPr txBox="1"/>
          <p:nvPr/>
        </p:nvSpPr>
        <p:spPr>
          <a:xfrm>
            <a:off x="435966" y="1351508"/>
            <a:ext cx="80659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smtClean="0">
                <a:solidFill>
                  <a:schemeClr val="bg1"/>
                </a:solidFill>
              </a:rPr>
              <a:t>Intérêt </a:t>
            </a:r>
            <a:r>
              <a:rPr lang="fr-FR" sz="28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 smtClean="0">
                <a:solidFill>
                  <a:schemeClr val="bg1"/>
                </a:solidFill>
              </a:rPr>
              <a:t>Présenter </a:t>
            </a:r>
            <a:r>
              <a:rPr lang="fr-FR" sz="2000" dirty="0">
                <a:solidFill>
                  <a:schemeClr val="bg1"/>
                </a:solidFill>
              </a:rPr>
              <a:t>des informations de </a:t>
            </a:r>
            <a:r>
              <a:rPr lang="fr-FR" sz="2000" dirty="0" smtClean="0">
                <a:solidFill>
                  <a:schemeClr val="bg1"/>
                </a:solidFill>
              </a:rPr>
              <a:t>manière synthétique</a:t>
            </a:r>
            <a:endParaRPr lang="fr-FR" sz="2000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Permettre d'interagir avec le programme</a:t>
            </a:r>
          </a:p>
          <a:p>
            <a:endParaRPr lang="fr-FR" sz="2800" dirty="0" smtClean="0">
              <a:solidFill>
                <a:schemeClr val="bg1"/>
              </a:solidFill>
            </a:endParaRPr>
          </a:p>
          <a:p>
            <a:r>
              <a:rPr lang="fr-FR" sz="2800" dirty="0" smtClean="0">
                <a:solidFill>
                  <a:schemeClr val="bg1"/>
                </a:solidFill>
              </a:rPr>
              <a:t>Caractéristiques </a:t>
            </a:r>
            <a:r>
              <a:rPr lang="fr-FR" sz="2800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Code sans </a:t>
            </a:r>
            <a:r>
              <a:rPr lang="fr-FR" sz="2000" dirty="0" smtClean="0">
                <a:solidFill>
                  <a:schemeClr val="bg1"/>
                </a:solidFill>
              </a:rPr>
              <a:t>difficulté </a:t>
            </a:r>
            <a:r>
              <a:rPr lang="fr-FR" sz="2000" dirty="0">
                <a:solidFill>
                  <a:schemeClr val="bg1"/>
                </a:solidFill>
              </a:rPr>
              <a:t>technique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Code souvent long et peu lisible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Code pas </a:t>
            </a:r>
            <a:r>
              <a:rPr lang="fr-FR" sz="2000" dirty="0" smtClean="0">
                <a:solidFill>
                  <a:schemeClr val="bg1"/>
                </a:solidFill>
              </a:rPr>
              <a:t>intéressant </a:t>
            </a:r>
            <a:r>
              <a:rPr lang="fr-FR" sz="2000" dirty="0">
                <a:solidFill>
                  <a:schemeClr val="bg1"/>
                </a:solidFill>
              </a:rPr>
              <a:t>a </a:t>
            </a:r>
            <a:r>
              <a:rPr lang="fr-FR" sz="2000" dirty="0" smtClean="0">
                <a:solidFill>
                  <a:schemeClr val="bg1"/>
                </a:solidFill>
              </a:rPr>
              <a:t>écrire</a:t>
            </a:r>
          </a:p>
          <a:p>
            <a:endParaRPr lang="fr-FR" sz="2000" dirty="0">
              <a:solidFill>
                <a:schemeClr val="bg1"/>
              </a:solidFill>
            </a:endParaRPr>
          </a:p>
          <a:p>
            <a:r>
              <a:rPr lang="fr-FR" sz="2000" dirty="0" smtClean="0">
                <a:solidFill>
                  <a:schemeClr val="bg1"/>
                </a:solidFill>
              </a:rPr>
              <a:t>Solution 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Utilisation des « boites à outils (</a:t>
            </a:r>
            <a:r>
              <a:rPr lang="fr-FR" sz="2000" dirty="0" err="1">
                <a:solidFill>
                  <a:schemeClr val="bg1"/>
                </a:solidFill>
              </a:rPr>
              <a:t>toollkit</a:t>
            </a:r>
            <a:r>
              <a:rPr lang="fr-FR" sz="2000" dirty="0">
                <a:solidFill>
                  <a:schemeClr val="bg1"/>
                </a:solidFill>
              </a:rPr>
              <a:t> graphique)» </a:t>
            </a:r>
          </a:p>
          <a:p>
            <a:r>
              <a:rPr lang="fr-FR" sz="2000" dirty="0" smtClean="0">
                <a:solidFill>
                  <a:schemeClr val="bg1"/>
                </a:solidFill>
                <a:sym typeface="Wingdings" panose="05000000000000000000" pitchFamily="2" charset="2"/>
              </a:rPr>
              <a:t>   </a:t>
            </a:r>
            <a:r>
              <a:rPr lang="fr-FR" sz="2000" dirty="0">
                <a:solidFill>
                  <a:schemeClr val="bg1"/>
                </a:solidFill>
                <a:sym typeface="Wingdings" panose="05000000000000000000" pitchFamily="2" charset="2"/>
              </a:rPr>
              <a:t>Utilisent la programmation </a:t>
            </a:r>
            <a:r>
              <a:rPr lang="fr-FR" sz="2000" dirty="0" smtClean="0">
                <a:solidFill>
                  <a:schemeClr val="bg1"/>
                </a:solidFill>
                <a:sym typeface="Wingdings" panose="05000000000000000000" pitchFamily="2" charset="2"/>
              </a:rPr>
              <a:t>évènementielle</a:t>
            </a:r>
            <a:endParaRPr lang="fr-FR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>
                <a:solidFill>
                  <a:schemeClr val="bg1"/>
                </a:solidFill>
              </a:rPr>
              <a:t>Principe : </a:t>
            </a:r>
            <a:r>
              <a:rPr lang="fr-FR" sz="2000" dirty="0" smtClean="0">
                <a:solidFill>
                  <a:schemeClr val="bg1"/>
                </a:solidFill>
              </a:rPr>
              <a:t>La programmation d’IHM se décompose en 4 phases :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/>
                </a:solidFill>
              </a:rPr>
              <a:t>Assemblage des composants graphiques (widgets) constituant l’IHM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/>
                </a:solidFill>
              </a:rPr>
              <a:t>Ecriture des traitements à déclencher par les actions de l’utilisateur (modules de traitements)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/>
                </a:solidFill>
              </a:rPr>
              <a:t>Association des ces traitements aux actions de l’utilisateur (on associer le clique d’un bouton pour lancer un calcul)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smtClean="0">
                <a:solidFill>
                  <a:schemeClr val="bg1"/>
                </a:solidFill>
              </a:rPr>
              <a:t>Lancement de la boucle principale de la boite à outils</a:t>
            </a:r>
          </a:p>
          <a:p>
            <a:pPr marL="0" indent="0">
              <a:buNone/>
            </a:pPr>
            <a:endParaRPr lang="fr-FR" sz="2000" dirty="0">
              <a:solidFill>
                <a:schemeClr val="bg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6432" y="631694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extBox 19"/>
          <p:cNvSpPr txBox="1"/>
          <p:nvPr/>
        </p:nvSpPr>
        <p:spPr>
          <a:xfrm>
            <a:off x="329300" y="116632"/>
            <a:ext cx="51387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0" b="1" spc="-400" dirty="0" smtClean="0">
                <a:solidFill>
                  <a:schemeClr val="bg1"/>
                </a:solidFill>
              </a:rPr>
              <a:t>Création</a:t>
            </a:r>
            <a:r>
              <a:rPr lang="en-US" sz="7000" b="1" spc="-400" dirty="0" smtClean="0">
                <a:solidFill>
                  <a:schemeClr val="bg1"/>
                </a:solidFill>
              </a:rPr>
              <a:t> </a:t>
            </a:r>
            <a:r>
              <a:rPr lang="en-US" sz="7000" b="1" spc="-400" dirty="0" err="1" smtClean="0">
                <a:solidFill>
                  <a:schemeClr val="bg1"/>
                </a:solidFill>
              </a:rPr>
              <a:t>d’IHM</a:t>
            </a:r>
            <a:endParaRPr lang="en-US" sz="7000" b="1" spc="-400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8" name="Groupe 7"/>
          <p:cNvGrpSpPr/>
          <p:nvPr/>
        </p:nvGrpSpPr>
        <p:grpSpPr>
          <a:xfrm>
            <a:off x="539984" y="4361512"/>
            <a:ext cx="7920880" cy="732964"/>
            <a:chOff x="539984" y="4361512"/>
            <a:chExt cx="7920880" cy="732964"/>
          </a:xfrm>
        </p:grpSpPr>
        <p:sp>
          <p:nvSpPr>
            <p:cNvPr id="6" name="ZoneTexte 5"/>
            <p:cNvSpPr txBox="1"/>
            <p:nvPr/>
          </p:nvSpPr>
          <p:spPr>
            <a:xfrm>
              <a:off x="539984" y="4725144"/>
              <a:ext cx="7920880" cy="369332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n w="1905"/>
                  <a:gradFill>
                    <a:gsLst>
                      <a:gs pos="0">
                        <a:schemeClr val="accent6">
                          <a:shade val="20000"/>
                          <a:satMod val="200000"/>
                        </a:schemeClr>
                      </a:gs>
                      <a:gs pos="78000">
                        <a:schemeClr val="accent6">
                          <a:tint val="90000"/>
                          <a:shade val="89000"/>
                          <a:satMod val="220000"/>
                        </a:schemeClr>
                      </a:gs>
                      <a:gs pos="100000">
                        <a:schemeClr val="accent6">
                          <a:tint val="12000"/>
                          <a:satMod val="255000"/>
                        </a:schemeClr>
                      </a:gs>
                    </a:gsLst>
                    <a:lin ang="5400000"/>
                  </a:gradFill>
                  <a:effectLst>
                    <a:innerShdw blurRad="69850" dist="43180" dir="5400000">
                      <a:srgbClr val="000000">
                        <a:alpha val="65000"/>
                      </a:srgbClr>
                    </a:innerShdw>
                  </a:effectLst>
                </a:rPr>
                <a:t>Ces phases sont plus au moins indépendantes selon la boite à outils </a:t>
              </a:r>
              <a:r>
                <a:rPr lang="fr-FR" b="1" dirty="0" smtClean="0">
                  <a:ln w="1905"/>
                  <a:gradFill>
                    <a:gsLst>
                      <a:gs pos="0">
                        <a:schemeClr val="accent6">
                          <a:shade val="20000"/>
                          <a:satMod val="200000"/>
                        </a:schemeClr>
                      </a:gs>
                      <a:gs pos="78000">
                        <a:schemeClr val="accent6">
                          <a:tint val="90000"/>
                          <a:shade val="89000"/>
                          <a:satMod val="220000"/>
                        </a:schemeClr>
                      </a:gs>
                      <a:gs pos="100000">
                        <a:schemeClr val="accent6">
                          <a:tint val="12000"/>
                          <a:satMod val="255000"/>
                        </a:schemeClr>
                      </a:gs>
                    </a:gsLst>
                    <a:lin ang="5400000"/>
                  </a:gradFill>
                  <a:effectLst>
                    <a:innerShdw blurRad="69850" dist="43180" dir="5400000">
                      <a:srgbClr val="000000">
                        <a:alpha val="65000"/>
                      </a:srgbClr>
                    </a:innerShdw>
                  </a:effectLst>
                </a:rPr>
                <a:t>utilisée</a:t>
              </a:r>
              <a:endParaRPr lang="fr-FR" b="1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endParaRPr>
            </a:p>
          </p:txBody>
        </p:sp>
        <p:sp>
          <p:nvSpPr>
            <p:cNvPr id="7" name="ZoneTexte 6"/>
            <p:cNvSpPr txBox="1"/>
            <p:nvPr/>
          </p:nvSpPr>
          <p:spPr>
            <a:xfrm>
              <a:off x="539984" y="4361512"/>
              <a:ext cx="7920880" cy="369332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 smtClean="0"/>
                <a:t>Remarque :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76918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660232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extBox 19"/>
          <p:cNvSpPr txBox="1"/>
          <p:nvPr/>
        </p:nvSpPr>
        <p:spPr>
          <a:xfrm>
            <a:off x="329300" y="214290"/>
            <a:ext cx="51387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0" b="1" spc="-400" dirty="0" smtClean="0">
                <a:solidFill>
                  <a:schemeClr val="bg1"/>
                </a:solidFill>
              </a:rPr>
              <a:t>Création</a:t>
            </a:r>
            <a:r>
              <a:rPr lang="en-US" sz="7000" b="1" spc="-400" dirty="0" smtClean="0">
                <a:solidFill>
                  <a:schemeClr val="bg1"/>
                </a:solidFill>
              </a:rPr>
              <a:t> </a:t>
            </a:r>
            <a:r>
              <a:rPr lang="en-US" sz="7000" b="1" spc="-400" dirty="0" err="1" smtClean="0">
                <a:solidFill>
                  <a:schemeClr val="bg1"/>
                </a:solidFill>
              </a:rPr>
              <a:t>d’IHM</a:t>
            </a:r>
            <a:endParaRPr lang="en-US" sz="7000" b="1" spc="-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>
                <a:solidFill>
                  <a:schemeClr val="bg1"/>
                </a:solidFill>
              </a:rPr>
              <a:t>Type de composants  (widgets)</a:t>
            </a:r>
            <a:r>
              <a:rPr lang="fr-FR" sz="2000" dirty="0" smtClean="0">
                <a:solidFill>
                  <a:schemeClr val="bg1"/>
                </a:solidFill>
              </a:rPr>
              <a:t> : Deux grandes catégories :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smtClean="0">
                <a:solidFill>
                  <a:srgbClr val="FFFF00"/>
                </a:solidFill>
              </a:rPr>
              <a:t>Les conteneurs : </a:t>
            </a:r>
            <a:r>
              <a:rPr lang="fr-FR" sz="2400" dirty="0" smtClean="0">
                <a:solidFill>
                  <a:schemeClr val="bg1"/>
                </a:solidFill>
              </a:rPr>
              <a:t>peuvent contenir d’autres composants</a:t>
            </a:r>
          </a:p>
          <a:p>
            <a:pPr marL="715963" indent="-266700"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chemeClr val="bg1"/>
                </a:solidFill>
              </a:rPr>
              <a:t> </a:t>
            </a:r>
            <a:r>
              <a:rPr lang="fr-FR" sz="2000" dirty="0" smtClean="0">
                <a:solidFill>
                  <a:srgbClr val="99FF33"/>
                </a:solidFill>
              </a:rPr>
              <a:t>Les conteneurs de haut niveau</a:t>
            </a:r>
            <a:r>
              <a:rPr lang="fr-FR" sz="2000" dirty="0" smtClean="0">
                <a:solidFill>
                  <a:schemeClr val="bg1"/>
                </a:solidFill>
              </a:rPr>
              <a:t> (top </a:t>
            </a:r>
            <a:r>
              <a:rPr lang="fr-FR" sz="2000" dirty="0" err="1" smtClean="0">
                <a:solidFill>
                  <a:schemeClr val="bg1"/>
                </a:solidFill>
              </a:rPr>
              <a:t>level</a:t>
            </a:r>
            <a:r>
              <a:rPr lang="fr-FR" sz="2000" dirty="0" smtClean="0">
                <a:solidFill>
                  <a:schemeClr val="bg1"/>
                </a:solidFill>
              </a:rPr>
              <a:t> containers) : Ne peuvent être contenus dans d’autre conteneurs.</a:t>
            </a:r>
          </a:p>
          <a:p>
            <a:pPr indent="0">
              <a:buNone/>
            </a:pPr>
            <a:r>
              <a:rPr lang="fr-FR" sz="2000" dirty="0" smtClean="0">
                <a:solidFill>
                  <a:schemeClr val="bg1"/>
                </a:solidFill>
              </a:rPr>
              <a:t> Exemple : Fenêtre , boite de dialogue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fr-FR" sz="2000" dirty="0" smtClean="0">
                <a:solidFill>
                  <a:srgbClr val="FFFF00"/>
                </a:solidFill>
              </a:rPr>
              <a:t>Autres </a:t>
            </a:r>
            <a:r>
              <a:rPr lang="fr-FR" sz="2000" dirty="0" smtClean="0">
                <a:solidFill>
                  <a:schemeClr val="bg1"/>
                </a:solidFill>
              </a:rPr>
              <a:t>:  ne peuvent contenir d’autre composants </a:t>
            </a:r>
          </a:p>
          <a:p>
            <a:pPr marL="0" indent="0">
              <a:buNone/>
            </a:pPr>
            <a:r>
              <a:rPr lang="fr-FR" sz="2000" dirty="0" smtClean="0">
                <a:solidFill>
                  <a:schemeClr val="bg1"/>
                </a:solidFill>
              </a:rPr>
              <a:t>         Exemple : Barre de défilement,  Bouton de  bascule (bouton radio)</a:t>
            </a:r>
            <a:endParaRPr lang="fr-FR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fr-FR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116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TextBox 19"/>
          <p:cNvSpPr txBox="1"/>
          <p:nvPr/>
        </p:nvSpPr>
        <p:spPr>
          <a:xfrm>
            <a:off x="2155010" y="27613"/>
            <a:ext cx="51387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0" b="1" spc="-400" dirty="0" smtClean="0">
                <a:solidFill>
                  <a:schemeClr val="bg1"/>
                </a:solidFill>
              </a:rPr>
              <a:t>Création</a:t>
            </a:r>
            <a:r>
              <a:rPr lang="en-US" sz="7000" b="1" spc="-400" dirty="0" smtClean="0">
                <a:solidFill>
                  <a:schemeClr val="bg1"/>
                </a:solidFill>
              </a:rPr>
              <a:t> </a:t>
            </a:r>
            <a:r>
              <a:rPr lang="en-US" sz="7000" b="1" spc="-400" dirty="0" err="1" smtClean="0">
                <a:solidFill>
                  <a:schemeClr val="bg1"/>
                </a:solidFill>
              </a:rPr>
              <a:t>d’IHM</a:t>
            </a:r>
            <a:endParaRPr lang="en-US" sz="7000" b="1" spc="-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609600" y="119675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fr-FR" sz="2800" dirty="0" smtClean="0">
                <a:solidFill>
                  <a:schemeClr val="bg1"/>
                </a:solidFill>
              </a:rPr>
              <a:t>Composants graphiques de base </a:t>
            </a:r>
            <a:r>
              <a:rPr lang="fr-FR" sz="2000" dirty="0" smtClean="0">
                <a:solidFill>
                  <a:schemeClr val="bg1"/>
                </a:solidFill>
              </a:rPr>
              <a:t>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fr-FR" sz="2000" dirty="0" smtClean="0">
                <a:solidFill>
                  <a:schemeClr val="bg1"/>
                </a:solidFill>
              </a:rPr>
              <a:t>Disponibles dans toutes les boites à outils</a:t>
            </a:r>
          </a:p>
          <a:p>
            <a:pPr marL="514350" indent="-514350">
              <a:buFont typeface="+mj-lt"/>
              <a:buAutoNum type="arabicPeriod"/>
            </a:pPr>
            <a:endParaRPr lang="fr-FR" sz="2000" dirty="0" smtClean="0">
              <a:solidFill>
                <a:schemeClr val="bg1"/>
              </a:solidFill>
            </a:endParaRPr>
          </a:p>
          <a:p>
            <a:pPr marL="0" indent="0">
              <a:buFont typeface="Arial" pitchFamily="34" charset="0"/>
              <a:buNone/>
            </a:pPr>
            <a:endParaRPr lang="fr-FR" sz="2000" dirty="0">
              <a:solidFill>
                <a:schemeClr val="bg1"/>
              </a:solidFill>
            </a:endParaRPr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572141"/>
              </p:ext>
            </p:extLst>
          </p:nvPr>
        </p:nvGraphicFramePr>
        <p:xfrm>
          <a:off x="213864" y="2200891"/>
          <a:ext cx="5870304" cy="350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3467"/>
                <a:gridCol w="4116837"/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Composants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Remarques </a:t>
                      </a:r>
                      <a:endParaRPr lang="fr-FR" dirty="0"/>
                    </a:p>
                  </a:txBody>
                  <a:tcPr/>
                </a:tc>
              </a:tr>
              <a:tr h="349240">
                <a:tc>
                  <a:txBody>
                    <a:bodyPr/>
                    <a:lstStyle/>
                    <a:p>
                      <a:r>
                        <a:rPr lang="fr-FR" dirty="0" smtClean="0"/>
                        <a:t>Fenêtre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 conteneur</a:t>
                      </a:r>
                      <a:r>
                        <a:rPr lang="fr-FR" baseline="0" dirty="0" smtClean="0"/>
                        <a:t> de base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Bouton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 composant muni d’un libellé -&gt; cliquer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libellé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Texte affiché</a:t>
                      </a:r>
                      <a:r>
                        <a:rPr lang="fr-FR" baseline="0" dirty="0" smtClean="0"/>
                        <a:t> -&gt; sans interaction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Champ</a:t>
                      </a:r>
                      <a:r>
                        <a:rPr lang="fr-FR" baseline="0" dirty="0" smtClean="0"/>
                        <a:t> texte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Zone permettant la saisi</a:t>
                      </a:r>
                      <a:r>
                        <a:rPr lang="fr-FR" baseline="0" dirty="0" smtClean="0"/>
                        <a:t> de texte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Bouton bascule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Composant</a:t>
                      </a:r>
                      <a:r>
                        <a:rPr lang="fr-FR" baseline="0" dirty="0" smtClean="0"/>
                        <a:t> avec un état binaire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Barre de défilement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Echelle</a:t>
                      </a:r>
                      <a:r>
                        <a:rPr lang="fr-FR" baseline="0" dirty="0" smtClean="0"/>
                        <a:t> permettant le défilement du contenu d’un conteneur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Zone de dessin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Conteneur</a:t>
                      </a:r>
                      <a:r>
                        <a:rPr lang="fr-FR" baseline="0" dirty="0" smtClean="0"/>
                        <a:t> (appelé </a:t>
                      </a:r>
                      <a:r>
                        <a:rPr lang="fr-FR" baseline="0" dirty="0" err="1" smtClean="0"/>
                        <a:t>canvas</a:t>
                      </a:r>
                      <a:r>
                        <a:rPr lang="fr-FR" baseline="0" dirty="0" smtClean="0"/>
                        <a:t>) destiné pour dessiner des primitives graphiques,,,</a:t>
                      </a:r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028" name="Picture 4" descr="Afficher l'image d'orig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424" y="2420888"/>
            <a:ext cx="2987824" cy="2474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5" y="3789040"/>
            <a:ext cx="360040" cy="2080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4036690"/>
            <a:ext cx="468000" cy="238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88261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660232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extBox 19"/>
          <p:cNvSpPr txBox="1"/>
          <p:nvPr/>
        </p:nvSpPr>
        <p:spPr>
          <a:xfrm>
            <a:off x="1763688" y="0"/>
            <a:ext cx="51387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0" b="1" spc="-400" dirty="0" smtClean="0">
                <a:solidFill>
                  <a:schemeClr val="bg1"/>
                </a:solidFill>
              </a:rPr>
              <a:t>Création</a:t>
            </a:r>
            <a:r>
              <a:rPr lang="en-US" sz="7000" b="1" spc="-400" dirty="0" smtClean="0">
                <a:solidFill>
                  <a:schemeClr val="bg1"/>
                </a:solidFill>
              </a:rPr>
              <a:t> </a:t>
            </a:r>
            <a:r>
              <a:rPr lang="en-US" sz="7000" b="1" spc="-400" dirty="0" err="1" smtClean="0">
                <a:solidFill>
                  <a:schemeClr val="bg1"/>
                </a:solidFill>
              </a:rPr>
              <a:t>d’IHM</a:t>
            </a:r>
            <a:endParaRPr lang="en-US" sz="7000" b="1" spc="-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800" dirty="0" smtClean="0">
                <a:solidFill>
                  <a:schemeClr val="bg1"/>
                </a:solidFill>
              </a:rPr>
              <a:t>Disposition des composants  (widgets)</a:t>
            </a:r>
            <a:endParaRPr lang="fr-FR" sz="2000" dirty="0" smtClean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fr-FR" sz="2400" dirty="0" smtClean="0">
                <a:solidFill>
                  <a:schemeClr val="bg1"/>
                </a:solidFill>
              </a:rPr>
              <a:t>Pour un conteneur : on peut spécifier la disposition des composants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fr-FR" sz="2400" dirty="0" smtClean="0">
                <a:solidFill>
                  <a:schemeClr val="bg1"/>
                </a:solidFill>
              </a:rPr>
              <a:t> Selon la boite à outils utilisée, la disposition peut être 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fr-FR" sz="2000" dirty="0" smtClean="0">
                <a:solidFill>
                  <a:schemeClr val="bg1"/>
                </a:solidFill>
              </a:rPr>
              <a:t>propre au conteneur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fr-FR" sz="2000" dirty="0" smtClean="0">
                <a:solidFill>
                  <a:schemeClr val="bg1"/>
                </a:solidFill>
              </a:rPr>
              <a:t>spécifiée par un objet externe associé au conteneur -&gt; </a:t>
            </a:r>
            <a:r>
              <a:rPr lang="fr-FR" sz="2000" dirty="0" err="1" smtClean="0">
                <a:solidFill>
                  <a:srgbClr val="FFFF00"/>
                </a:solidFill>
              </a:rPr>
              <a:t>Layout</a:t>
            </a:r>
            <a:endParaRPr lang="fr-FR" sz="2000" dirty="0" smtClean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fr-FR" sz="2000" dirty="0" smtClean="0">
                <a:solidFill>
                  <a:schemeClr val="bg1"/>
                </a:solidFill>
              </a:rPr>
              <a:t>Exemple 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fr-FR" sz="2000" dirty="0" err="1" smtClean="0">
                <a:solidFill>
                  <a:srgbClr val="FFFF00"/>
                </a:solidFill>
              </a:rPr>
              <a:t>Tkinter</a:t>
            </a:r>
            <a:r>
              <a:rPr lang="fr-FR" sz="2000" dirty="0" smtClean="0">
                <a:solidFill>
                  <a:srgbClr val="FFFF00"/>
                </a:solidFill>
              </a:rPr>
              <a:t> </a:t>
            </a:r>
            <a:r>
              <a:rPr lang="fr-FR" sz="2000" dirty="0" smtClean="0">
                <a:solidFill>
                  <a:schemeClr val="bg1"/>
                </a:solidFill>
              </a:rPr>
              <a:t>: </a:t>
            </a:r>
            <a:r>
              <a:rPr lang="fr-FR" sz="1600" i="1" dirty="0" err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GridManager</a:t>
            </a:r>
            <a:r>
              <a:rPr lang="fr-FR" sz="2000" dirty="0" smtClean="0">
                <a:solidFill>
                  <a:schemeClr val="bg1"/>
                </a:solidFill>
              </a:rPr>
              <a:t> permet  de disposer les composants graphiques dans une </a:t>
            </a:r>
            <a:r>
              <a:rPr lang="fr-FR" sz="2000" dirty="0" err="1" smtClean="0">
                <a:solidFill>
                  <a:schemeClr val="bg1"/>
                </a:solidFill>
              </a:rPr>
              <a:t>grillebidimentielle</a:t>
            </a:r>
            <a:endParaRPr lang="fr-FR" sz="2000" dirty="0" smtClean="0">
              <a:solidFill>
                <a:schemeClr val="bg1"/>
              </a:solidFill>
            </a:endParaRPr>
          </a:p>
          <a:p>
            <a:r>
              <a:rPr lang="fr-FR" sz="2000" dirty="0" smtClean="0">
                <a:solidFill>
                  <a:srgbClr val="FFFF00"/>
                </a:solidFill>
              </a:rPr>
              <a:t>GTK</a:t>
            </a:r>
            <a:r>
              <a:rPr lang="fr-FR" sz="2000" dirty="0" smtClean="0">
                <a:solidFill>
                  <a:schemeClr val="bg1"/>
                </a:solidFill>
              </a:rPr>
              <a:t> : Le conteneur </a:t>
            </a:r>
            <a:r>
              <a:rPr lang="fr-FR" sz="1800" i="1" dirty="0" err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Hbox</a:t>
            </a:r>
            <a:r>
              <a:rPr lang="fr-FR" sz="2000" dirty="0" smtClean="0">
                <a:solidFill>
                  <a:schemeClr val="bg1"/>
                </a:solidFill>
              </a:rPr>
              <a:t> dispose son contenu selon une bande horizontale</a:t>
            </a:r>
            <a:endParaRPr lang="fr-FR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fr-FR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95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844824"/>
            <a:ext cx="8523396" cy="36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19"/>
          <p:cNvSpPr txBox="1"/>
          <p:nvPr/>
        </p:nvSpPr>
        <p:spPr>
          <a:xfrm>
            <a:off x="329300" y="214290"/>
            <a:ext cx="51387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0" b="1" spc="-400" dirty="0" smtClean="0">
                <a:solidFill>
                  <a:schemeClr val="bg1"/>
                </a:solidFill>
              </a:rPr>
              <a:t>Création</a:t>
            </a:r>
            <a:r>
              <a:rPr lang="en-US" sz="7000" b="1" spc="-400" dirty="0" smtClean="0">
                <a:solidFill>
                  <a:schemeClr val="bg1"/>
                </a:solidFill>
              </a:rPr>
              <a:t> </a:t>
            </a:r>
            <a:r>
              <a:rPr lang="en-US" sz="7000" b="1" spc="-400" dirty="0" err="1" smtClean="0">
                <a:solidFill>
                  <a:schemeClr val="bg1"/>
                </a:solidFill>
              </a:rPr>
              <a:t>d’IHM</a:t>
            </a:r>
            <a:endParaRPr lang="en-US" sz="7000" b="1" spc="-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20"/>
          <p:cNvSpPr txBox="1"/>
          <p:nvPr/>
        </p:nvSpPr>
        <p:spPr>
          <a:xfrm>
            <a:off x="357158" y="1268760"/>
            <a:ext cx="35589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Quelques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boites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à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outils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graphiques</a:t>
            </a:r>
            <a:endParaRPr lang="en-US" sz="2400" dirty="0">
              <a:solidFill>
                <a:schemeClr val="bg1"/>
              </a:solidFill>
              <a:latin typeface="Street Corner Slab" pitchFamily="2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7584" y="3891528"/>
            <a:ext cx="7776864" cy="3295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827584" y="1916832"/>
            <a:ext cx="7776864" cy="360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0499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8" name="TextBox 19"/>
          <p:cNvSpPr txBox="1"/>
          <p:nvPr/>
        </p:nvSpPr>
        <p:spPr>
          <a:xfrm>
            <a:off x="329300" y="214290"/>
            <a:ext cx="513877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0" b="1" spc="-400" dirty="0" smtClean="0">
                <a:solidFill>
                  <a:schemeClr val="bg1"/>
                </a:solidFill>
              </a:rPr>
              <a:t>Création</a:t>
            </a:r>
            <a:r>
              <a:rPr lang="en-US" sz="7000" b="1" spc="-400" dirty="0" smtClean="0">
                <a:solidFill>
                  <a:schemeClr val="bg1"/>
                </a:solidFill>
              </a:rPr>
              <a:t> </a:t>
            </a:r>
            <a:r>
              <a:rPr lang="en-US" sz="7000" b="1" spc="-400" dirty="0" err="1" smtClean="0">
                <a:solidFill>
                  <a:schemeClr val="bg1"/>
                </a:solidFill>
              </a:rPr>
              <a:t>d’IHM</a:t>
            </a:r>
            <a:endParaRPr lang="en-US" sz="7000" b="1" spc="-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20"/>
          <p:cNvSpPr txBox="1"/>
          <p:nvPr/>
        </p:nvSpPr>
        <p:spPr>
          <a:xfrm>
            <a:off x="357158" y="1268760"/>
            <a:ext cx="35589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Quelques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boites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à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outils</a:t>
            </a:r>
            <a:r>
              <a:rPr lang="en-US" sz="2400" dirty="0" smtClean="0">
                <a:solidFill>
                  <a:schemeClr val="bg1"/>
                </a:solidFill>
                <a:latin typeface="Street Corner Slab" pitchFamily="2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Street Corner Slab" pitchFamily="2" charset="0"/>
              </a:rPr>
              <a:t>graphiques</a:t>
            </a:r>
            <a:endParaRPr lang="en-US" sz="2400" dirty="0">
              <a:solidFill>
                <a:schemeClr val="bg1"/>
              </a:solidFill>
              <a:latin typeface="Street Corner Slab" pitchFamily="2" charset="0"/>
            </a:endParaRPr>
          </a:p>
        </p:txBody>
      </p:sp>
      <p:graphicFrame>
        <p:nvGraphicFramePr>
          <p:cNvPr id="2" name="Espace réservé du contenu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0458080"/>
              </p:ext>
            </p:extLst>
          </p:nvPr>
        </p:nvGraphicFramePr>
        <p:xfrm>
          <a:off x="384175" y="1730375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521"/>
                <a:gridCol w="1512168"/>
                <a:gridCol w="1872208"/>
                <a:gridCol w="3393703"/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Toolkit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Nom Python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Plate-formes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Licence 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QT</a:t>
                      </a:r>
                      <a:endParaRPr lang="fr-FR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PyQt</a:t>
                      </a:r>
                      <a:endParaRPr lang="fr-FR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Toutes (installée)</a:t>
                      </a:r>
                      <a:endParaRPr lang="fr-FR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LGPL(QT4)+GPL(PyQt4)/</a:t>
                      </a:r>
                      <a:r>
                        <a:rPr lang="fr-FR" dirty="0" err="1" smtClean="0"/>
                        <a:t>cciale</a:t>
                      </a:r>
                      <a:endParaRPr lang="fr-FR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QT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PySide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Toutes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LGPL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wxWidgets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wxPython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smtClean="0"/>
                        <a:t>Toutes (installée)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smtClean="0"/>
                        <a:t>LGPL 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Tcl</a:t>
                      </a:r>
                      <a:r>
                        <a:rPr lang="fr-FR" dirty="0" smtClean="0"/>
                        <a:t>/</a:t>
                      </a:r>
                      <a:r>
                        <a:rPr lang="fr-FR" dirty="0" err="1" smtClean="0"/>
                        <a:t>Tk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Tkinter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 smtClean="0"/>
                        <a:t>Toutes (installée)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Licence</a:t>
                      </a:r>
                      <a:r>
                        <a:rPr lang="fr-FR" baseline="0" dirty="0" smtClean="0"/>
                        <a:t> Python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Gtk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pyGtk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Toutes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LGPL</a:t>
                      </a:r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1745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Slide02Image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197" y="5214950"/>
            <a:ext cx="1902349" cy="252445"/>
          </a:xfrm>
          <a:prstGeom prst="rect">
            <a:avLst/>
          </a:prstGeom>
        </p:spPr>
      </p:pic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Création d’interface homme machine</a:t>
            </a:r>
          </a:p>
          <a:p>
            <a:pPr lvl="1"/>
            <a:r>
              <a:rPr lang="fr-FR" dirty="0" smtClean="0"/>
              <a:t>Généralités</a:t>
            </a:r>
          </a:p>
          <a:p>
            <a:r>
              <a:rPr lang="fr-FR" dirty="0" smtClean="0"/>
              <a:t>Présentation </a:t>
            </a:r>
            <a:r>
              <a:rPr lang="fr-FR" dirty="0" smtClean="0"/>
              <a:t>de QT</a:t>
            </a:r>
          </a:p>
          <a:p>
            <a:pPr lvl="1"/>
            <a:r>
              <a:rPr lang="fr-FR" dirty="0" smtClean="0"/>
              <a:t>Introduction</a:t>
            </a:r>
          </a:p>
          <a:p>
            <a:pPr lvl="1"/>
            <a:r>
              <a:rPr lang="fr-FR" dirty="0" smtClean="0"/>
              <a:t>Les principaux modules</a:t>
            </a:r>
          </a:p>
          <a:p>
            <a:pPr lvl="1"/>
            <a:r>
              <a:rPr lang="fr-FR" dirty="0" smtClean="0"/>
              <a:t>Documentation</a:t>
            </a:r>
          </a:p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 smtClean="0"/>
          </a:p>
          <a:p>
            <a:pPr lvl="1"/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56189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Introduction</a:t>
            </a:r>
            <a:endParaRPr lang="fr-FR" dirty="0"/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000" dirty="0" err="1" smtClean="0"/>
              <a:t>Qt</a:t>
            </a:r>
            <a:r>
              <a:rPr lang="fr-FR" sz="2000" dirty="0" smtClean="0"/>
              <a:t> est une bibliothèque C++ pour le développement d’application indépendantes des plateformes</a:t>
            </a:r>
          </a:p>
          <a:p>
            <a:r>
              <a:rPr lang="fr-FR" sz="2000" dirty="0" err="1"/>
              <a:t>Qt</a:t>
            </a:r>
            <a:r>
              <a:rPr lang="fr-FR" sz="2000" dirty="0"/>
              <a:t> permet la </a:t>
            </a:r>
            <a:r>
              <a:rPr lang="fr-FR" sz="2000" dirty="0">
                <a:hlinkClick r:id="rId2" tooltip="Portabilité (informatique)"/>
              </a:rPr>
              <a:t>portabilité</a:t>
            </a:r>
            <a:r>
              <a:rPr lang="fr-FR" sz="2000" dirty="0"/>
              <a:t> des applications qui n'utilisent que ses composants par simple </a:t>
            </a:r>
            <a:r>
              <a:rPr lang="fr-FR" sz="2000" dirty="0">
                <a:hlinkClick r:id="rId3" tooltip="Compilateur"/>
              </a:rPr>
              <a:t>recompilation</a:t>
            </a:r>
            <a:r>
              <a:rPr lang="fr-FR" sz="2000" dirty="0"/>
              <a:t> du code source</a:t>
            </a:r>
            <a:r>
              <a:rPr lang="fr-FR" sz="2000" dirty="0" smtClean="0"/>
              <a:t>.</a:t>
            </a:r>
          </a:p>
          <a:p>
            <a:r>
              <a:rPr lang="fr-FR" sz="2000" dirty="0" err="1"/>
              <a:t>Qt</a:t>
            </a:r>
            <a:r>
              <a:rPr lang="fr-FR" sz="2000" dirty="0"/>
              <a:t> offre des composants d'</a:t>
            </a:r>
            <a:r>
              <a:rPr lang="fr-FR" sz="2000" dirty="0">
                <a:hlinkClick r:id="rId4" tooltip="Interface graphique"/>
              </a:rPr>
              <a:t>interface graphique</a:t>
            </a:r>
            <a:r>
              <a:rPr lang="fr-FR" sz="2000" dirty="0"/>
              <a:t> (</a:t>
            </a:r>
            <a:r>
              <a:rPr lang="fr-FR" sz="2000" dirty="0">
                <a:hlinkClick r:id="rId5" tooltip="Composant d'interface graphique"/>
              </a:rPr>
              <a:t>widgets</a:t>
            </a:r>
            <a:r>
              <a:rPr lang="fr-FR" sz="2000" dirty="0"/>
              <a:t>), d'accès aux données, de connexions réseaux, de gestion des </a:t>
            </a:r>
            <a:r>
              <a:rPr lang="fr-FR" sz="2000" dirty="0">
                <a:hlinkClick r:id="rId6" tooltip="Thread (informatique)"/>
              </a:rPr>
              <a:t>fils d'exécution</a:t>
            </a:r>
            <a:r>
              <a:rPr lang="fr-FR" sz="2000" dirty="0"/>
              <a:t>, d'analyse </a:t>
            </a:r>
            <a:r>
              <a:rPr lang="fr-FR" sz="2000" dirty="0">
                <a:hlinkClick r:id="rId7" tooltip="Extensible Markup Language"/>
              </a:rPr>
              <a:t>XML</a:t>
            </a:r>
            <a:r>
              <a:rPr lang="fr-FR" sz="2000" dirty="0"/>
              <a:t>, </a:t>
            </a:r>
            <a:r>
              <a:rPr lang="fr-FR" sz="2000" dirty="0" err="1"/>
              <a:t>etc</a:t>
            </a:r>
            <a:endParaRPr lang="fr-FR" sz="2000" dirty="0" smtClean="0"/>
          </a:p>
          <a:p>
            <a:r>
              <a:rPr lang="fr-FR" sz="2000" dirty="0" err="1" smtClean="0"/>
              <a:t>Qt</a:t>
            </a:r>
            <a:r>
              <a:rPr lang="fr-FR" sz="2000" dirty="0" smtClean="0"/>
              <a:t> </a:t>
            </a:r>
            <a:r>
              <a:rPr lang="fr-FR" sz="2000" dirty="0"/>
              <a:t>supporte des </a:t>
            </a:r>
            <a:r>
              <a:rPr lang="fr-FR" sz="2000" dirty="0">
                <a:hlinkClick r:id="rId8" tooltip="Binding"/>
              </a:rPr>
              <a:t>bindings</a:t>
            </a:r>
            <a:r>
              <a:rPr lang="fr-FR" sz="2000" dirty="0"/>
              <a:t> avec plus d'une dizaine de langages autres que le C++, comme Java, Python, Ruby, Ada, C#, Pascal, Perl, Common Lisp, etc.</a:t>
            </a:r>
            <a:endParaRPr lang="fr-FR" sz="2000" dirty="0" smtClean="0"/>
          </a:p>
          <a:p>
            <a:r>
              <a:rPr lang="fr-FR" sz="2000" dirty="0" smtClean="0"/>
              <a:t>QT est disponible en licence commerciale ou libre</a:t>
            </a:r>
            <a:endParaRPr lang="fr-FR" sz="20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Présentation de 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2821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Les principaux modules</a:t>
            </a:r>
            <a:endParaRPr lang="fr-FR" dirty="0"/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sz="2000" i="1" dirty="0" err="1">
                <a:solidFill>
                  <a:srgbClr val="FFFF00"/>
                </a:solidFill>
              </a:rPr>
              <a:t>QtCore</a:t>
            </a:r>
            <a:r>
              <a:rPr lang="fr-FR" sz="2000" dirty="0"/>
              <a:t> : pour les fonctionnalités non graphiques utilisées par les autres modules </a:t>
            </a:r>
            <a:r>
              <a:rPr lang="fr-FR" sz="2000" dirty="0" smtClean="0"/>
              <a:t>: mécanisme de support pour les signaux et les slots, …</a:t>
            </a:r>
            <a:endParaRPr lang="fr-FR" sz="2000" dirty="0"/>
          </a:p>
          <a:p>
            <a:r>
              <a:rPr lang="fr-FR" sz="2000" i="1" dirty="0" err="1">
                <a:solidFill>
                  <a:srgbClr val="FFFF00"/>
                </a:solidFill>
              </a:rPr>
              <a:t>QtGui</a:t>
            </a:r>
            <a:r>
              <a:rPr lang="fr-FR" sz="2000" dirty="0"/>
              <a:t> : pour les composants graphiques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QtNetwork</a:t>
            </a:r>
            <a:r>
              <a:rPr lang="fr-FR" sz="2000" dirty="0"/>
              <a:t> : pour la programmation réseau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QtOpenGL</a:t>
            </a:r>
            <a:r>
              <a:rPr lang="fr-FR" sz="2000" dirty="0"/>
              <a:t> : </a:t>
            </a:r>
            <a:r>
              <a:rPr lang="fr-FR" sz="2000" dirty="0" smtClean="0"/>
              <a:t>3D basée sur </a:t>
            </a:r>
            <a:r>
              <a:rPr lang="fr-FR" sz="2000" dirty="0" smtClean="0">
                <a:hlinkClick r:id="rId2" tooltip="OpenGL"/>
              </a:rPr>
              <a:t>OpenGL</a:t>
            </a:r>
            <a:r>
              <a:rPr lang="fr-FR" sz="2000" dirty="0"/>
              <a:t>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QtSql</a:t>
            </a:r>
            <a:r>
              <a:rPr lang="fr-FR" sz="2000" dirty="0"/>
              <a:t> : pour l'utilisation de </a:t>
            </a:r>
            <a:r>
              <a:rPr lang="fr-FR" sz="2000" dirty="0">
                <a:hlinkClick r:id="rId3" tooltip="Base de données"/>
              </a:rPr>
              <a:t>base de données</a:t>
            </a:r>
            <a:r>
              <a:rPr lang="fr-FR" sz="2000" dirty="0"/>
              <a:t> </a:t>
            </a:r>
            <a:r>
              <a:rPr lang="fr-FR" sz="2000" dirty="0">
                <a:hlinkClick r:id="rId4" tooltip="Structured Query Language"/>
              </a:rPr>
              <a:t>SQL</a:t>
            </a:r>
            <a:r>
              <a:rPr lang="fr-FR" sz="2000" dirty="0"/>
              <a:t>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QtXml</a:t>
            </a:r>
            <a:r>
              <a:rPr lang="fr-FR" sz="2000" dirty="0"/>
              <a:t> : pour la manipulation et la génération de fichiers </a:t>
            </a:r>
            <a:r>
              <a:rPr lang="fr-FR" sz="2000" dirty="0">
                <a:hlinkClick r:id="rId5" tooltip="Extensible Markup Language"/>
              </a:rPr>
              <a:t>XML</a:t>
            </a:r>
            <a:r>
              <a:rPr lang="fr-FR" sz="2000" dirty="0"/>
              <a:t>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QtDesigner</a:t>
            </a:r>
            <a:r>
              <a:rPr lang="fr-FR" sz="2000" dirty="0"/>
              <a:t> : pour étendre les fonctionnalités de </a:t>
            </a:r>
            <a:r>
              <a:rPr lang="fr-FR" sz="2000" dirty="0" err="1"/>
              <a:t>Qt</a:t>
            </a:r>
            <a:r>
              <a:rPr lang="fr-FR" sz="2000" dirty="0"/>
              <a:t> Designer, l'assistant de création d'interfaces graphiques ;</a:t>
            </a:r>
          </a:p>
          <a:p>
            <a:r>
              <a:rPr lang="fr-FR" sz="2000" i="1" dirty="0" err="1">
                <a:solidFill>
                  <a:srgbClr val="FFFF00"/>
                </a:solidFill>
              </a:rPr>
              <a:t>QtAssistant</a:t>
            </a:r>
            <a:r>
              <a:rPr lang="fr-FR" sz="2000" dirty="0"/>
              <a:t> : pour l'utilisation de l'aide de </a:t>
            </a:r>
            <a:r>
              <a:rPr lang="fr-FR" sz="2000" dirty="0" err="1"/>
              <a:t>Qt</a:t>
            </a:r>
            <a:r>
              <a:rPr lang="fr-FR" sz="2000" dirty="0"/>
              <a:t> </a:t>
            </a:r>
            <a:r>
              <a:rPr lang="fr-FR" sz="2000" dirty="0" smtClean="0"/>
              <a:t>;</a:t>
            </a:r>
            <a:endParaRPr lang="fr-FR" sz="2000" dirty="0"/>
          </a:p>
          <a:p>
            <a:r>
              <a:rPr lang="fr-FR" sz="2000" dirty="0" err="1" smtClean="0">
                <a:solidFill>
                  <a:srgbClr val="FFFF00"/>
                </a:solidFill>
              </a:rPr>
              <a:t>QtWebKit</a:t>
            </a:r>
            <a:r>
              <a:rPr lang="fr-FR" sz="2000" dirty="0" smtClean="0">
                <a:solidFill>
                  <a:srgbClr val="FFFF00"/>
                </a:solidFill>
              </a:rPr>
              <a:t> </a:t>
            </a:r>
            <a:r>
              <a:rPr lang="fr-FR" sz="2000" dirty="0" smtClean="0"/>
              <a:t>: widget navigateur web (</a:t>
            </a:r>
            <a:r>
              <a:rPr lang="fr-FR" sz="2000" dirty="0" err="1" smtClean="0"/>
              <a:t>webkit</a:t>
            </a:r>
            <a:r>
              <a:rPr lang="fr-FR" sz="2000" dirty="0" smtClean="0"/>
              <a:t>);</a:t>
            </a:r>
          </a:p>
          <a:p>
            <a:r>
              <a:rPr lang="fr-FR" sz="2000" dirty="0" err="1" smtClean="0">
                <a:solidFill>
                  <a:srgbClr val="FFFF00"/>
                </a:solidFill>
              </a:rPr>
              <a:t>QtTest</a:t>
            </a:r>
            <a:r>
              <a:rPr lang="fr-FR" sz="2000" dirty="0" smtClean="0">
                <a:solidFill>
                  <a:srgbClr val="FFFF00"/>
                </a:solidFill>
              </a:rPr>
              <a:t> </a:t>
            </a:r>
            <a:r>
              <a:rPr lang="fr-FR" sz="2000" dirty="0" smtClean="0"/>
              <a:t>: tests unitaires</a:t>
            </a:r>
          </a:p>
          <a:p>
            <a:endParaRPr lang="fr-FR" sz="2000" dirty="0"/>
          </a:p>
          <a:p>
            <a:pPr marL="0" indent="0">
              <a:buNone/>
            </a:pPr>
            <a:r>
              <a:rPr lang="fr-FR" sz="2000" dirty="0" smtClean="0"/>
              <a:t>Consulter </a:t>
            </a:r>
            <a:r>
              <a:rPr lang="fr-FR" sz="2000" dirty="0" smtClean="0">
                <a:solidFill>
                  <a:srgbClr val="99FF33"/>
                </a:solidFill>
              </a:rPr>
              <a:t>https</a:t>
            </a:r>
            <a:r>
              <a:rPr lang="fr-FR" sz="2000" dirty="0">
                <a:solidFill>
                  <a:srgbClr val="99FF33"/>
                </a:solidFill>
              </a:rPr>
              <a:t>://fr.wikipedia.org/wiki/Qt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Présentation de 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710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La documentation</a:t>
            </a:r>
            <a:endParaRPr lang="fr-FR" dirty="0"/>
          </a:p>
        </p:txBody>
      </p:sp>
      <p:sp>
        <p:nvSpPr>
          <p:cNvPr id="6" name="Espace réservé du contenu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000" dirty="0" smtClean="0"/>
              <a:t>La </a:t>
            </a:r>
            <a:r>
              <a:rPr lang="fr-FR" sz="2000" dirty="0" smtClean="0"/>
              <a:t>documentation est accessible </a:t>
            </a:r>
          </a:p>
          <a:p>
            <a:pPr marL="457200" lvl="1" indent="0">
              <a:buNone/>
            </a:pPr>
            <a:r>
              <a:rPr lang="fr-FR" sz="1600" b="1" i="1" dirty="0" smtClean="0"/>
              <a:t>Enligne : </a:t>
            </a:r>
            <a:r>
              <a:rPr lang="fr-FR" sz="1600" b="1" i="1" dirty="0" smtClean="0">
                <a:hlinkClick r:id="rId2"/>
              </a:rPr>
              <a:t>http://doc</a:t>
            </a:r>
            <a:r>
              <a:rPr lang="fr-FR" sz="1600" i="1" dirty="0" smtClean="0">
                <a:hlinkClick r:id="rId2"/>
              </a:rPr>
              <a:t>.</a:t>
            </a:r>
            <a:r>
              <a:rPr lang="fr-FR" sz="1600" b="1" i="1" dirty="0" smtClean="0">
                <a:hlinkClick r:id="rId2"/>
              </a:rPr>
              <a:t>qt</a:t>
            </a:r>
            <a:r>
              <a:rPr lang="fr-FR" sz="1600" i="1" dirty="0" smtClean="0">
                <a:hlinkClick r:id="rId2"/>
              </a:rPr>
              <a:t>.io/qt-4.8/</a:t>
            </a:r>
            <a:endParaRPr lang="fr-FR" sz="1600" i="1" dirty="0" smtClean="0"/>
          </a:p>
          <a:p>
            <a:pPr lvl="1"/>
            <a:r>
              <a:rPr lang="fr-FR" sz="1600" dirty="0" smtClean="0"/>
              <a:t>Documentation </a:t>
            </a:r>
            <a:r>
              <a:rPr lang="fr-FR" sz="1600" dirty="0"/>
              <a:t>de référence</a:t>
            </a:r>
            <a:r>
              <a:rPr lang="fr-FR" sz="1600" i="1" dirty="0">
                <a:solidFill>
                  <a:srgbClr val="92D050"/>
                </a:solidFill>
              </a:rPr>
              <a:t> </a:t>
            </a:r>
            <a:r>
              <a:rPr lang="fr-FR" sz="1600" i="1" dirty="0" smtClean="0">
                <a:solidFill>
                  <a:srgbClr val="92D050"/>
                </a:solidFill>
              </a:rPr>
              <a:t>: http</a:t>
            </a:r>
            <a:r>
              <a:rPr lang="fr-FR" sz="1600" i="1" dirty="0">
                <a:solidFill>
                  <a:srgbClr val="92D050"/>
                </a:solidFill>
              </a:rPr>
              <a:t>://doc.qt.io/qt-4.8/modules.html</a:t>
            </a:r>
          </a:p>
          <a:p>
            <a:pPr lvl="1"/>
            <a:r>
              <a:rPr lang="fr-FR" sz="1600" i="1" dirty="0" smtClean="0"/>
              <a:t>Via le navigateur  d’aide QT Assistant : la commande   </a:t>
            </a:r>
            <a:r>
              <a:rPr lang="fr-FR" sz="1600" i="1" dirty="0" smtClean="0">
                <a:solidFill>
                  <a:srgbClr val="92D050"/>
                </a:solidFill>
              </a:rPr>
              <a:t>&gt;&gt; </a:t>
            </a:r>
            <a:r>
              <a:rPr lang="fr-FR" sz="1600" i="1" dirty="0" err="1" smtClean="0">
                <a:solidFill>
                  <a:srgbClr val="92D050"/>
                </a:solidFill>
              </a:rPr>
              <a:t>assisstant</a:t>
            </a:r>
            <a:r>
              <a:rPr lang="fr-FR" sz="1600" i="1" dirty="0" smtClean="0">
                <a:solidFill>
                  <a:srgbClr val="92D050"/>
                </a:solidFill>
              </a:rPr>
              <a:t> </a:t>
            </a:r>
          </a:p>
          <a:p>
            <a:pPr marL="457200" lvl="1" indent="0">
              <a:buNone/>
            </a:pPr>
            <a:endParaRPr lang="fr-FR" sz="1600" i="1" dirty="0">
              <a:solidFill>
                <a:srgbClr val="92D050"/>
              </a:solidFill>
            </a:endParaRPr>
          </a:p>
          <a:p>
            <a:pPr marL="457200" lvl="1" indent="0">
              <a:buNone/>
            </a:pPr>
            <a:r>
              <a:rPr lang="fr-FR" sz="2000" dirty="0"/>
              <a:t>Codes sources des exemples de démos </a:t>
            </a:r>
            <a:endParaRPr lang="fr-FR" sz="2000" dirty="0" smtClean="0"/>
          </a:p>
          <a:p>
            <a:pPr lvl="1"/>
            <a:r>
              <a:rPr lang="fr-FR" sz="2000" dirty="0" smtClean="0"/>
              <a:t>Des centaines d’exemples et leurs codes sont accessibles et fournis</a:t>
            </a:r>
          </a:p>
          <a:p>
            <a:pPr lvl="1"/>
            <a:r>
              <a:rPr lang="fr-FR" sz="1600" i="1" dirty="0">
                <a:solidFill>
                  <a:srgbClr val="92D050"/>
                </a:solidFill>
              </a:rPr>
              <a:t>     &gt;&gt; QT </a:t>
            </a:r>
            <a:r>
              <a:rPr lang="fr-FR" sz="1600" i="1" dirty="0" err="1" smtClean="0">
                <a:solidFill>
                  <a:srgbClr val="92D050"/>
                </a:solidFill>
              </a:rPr>
              <a:t>demos</a:t>
            </a:r>
            <a:endParaRPr lang="fr-FR" sz="1600" i="1" dirty="0" smtClean="0">
              <a:solidFill>
                <a:srgbClr val="92D050"/>
              </a:solidFill>
            </a:endParaRPr>
          </a:p>
          <a:p>
            <a:pPr marL="457200" lvl="1" indent="0">
              <a:buNone/>
            </a:pPr>
            <a:endParaRPr lang="fr-FR" sz="1600" i="1" dirty="0">
              <a:solidFill>
                <a:srgbClr val="92D050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Présentation de 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37015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Slide02Image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197" y="5214950"/>
            <a:ext cx="1902349" cy="252445"/>
          </a:xfrm>
          <a:prstGeom prst="rect">
            <a:avLst/>
          </a:prstGeom>
        </p:spPr>
      </p:pic>
      <p:pic>
        <p:nvPicPr>
          <p:cNvPr id="33" name="Picture 15" descr="BottomLine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190384"/>
            <a:ext cx="9144000" cy="669726"/>
          </a:xfrm>
          <a:prstGeom prst="rect">
            <a:avLst/>
          </a:prstGeom>
        </p:spPr>
      </p:pic>
      <p:pic>
        <p:nvPicPr>
          <p:cNvPr id="34" name="Picture 16" descr="BottomLineDar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840736"/>
            <a:ext cx="9144000" cy="44648"/>
          </a:xfrm>
          <a:prstGeom prst="rect">
            <a:avLst/>
          </a:prstGeom>
        </p:spPr>
      </p:pic>
      <p:pic>
        <p:nvPicPr>
          <p:cNvPr id="35" name="Picture 14" descr="Ava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995" y="6317332"/>
            <a:ext cx="377791" cy="387005"/>
          </a:xfrm>
          <a:prstGeom prst="rect">
            <a:avLst/>
          </a:prstGeom>
        </p:spPr>
      </p:pic>
      <p:sp>
        <p:nvSpPr>
          <p:cNvPr id="36" name="TextBox 4"/>
          <p:cNvSpPr txBox="1"/>
          <p:nvPr/>
        </p:nvSpPr>
        <p:spPr>
          <a:xfrm>
            <a:off x="785786" y="6242442"/>
            <a:ext cx="1095172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YOU ARE </a:t>
            </a:r>
            <a:r>
              <a:rPr lang="en-US" sz="800" dirty="0" smtClean="0"/>
              <a:t>LOOKING AT</a:t>
            </a:r>
            <a:endParaRPr lang="en-US" sz="800" dirty="0"/>
          </a:p>
        </p:txBody>
      </p:sp>
      <p:sp>
        <p:nvSpPr>
          <p:cNvPr id="37" name="TextBox 5"/>
          <p:cNvSpPr txBox="1"/>
          <p:nvPr/>
        </p:nvSpPr>
        <p:spPr>
          <a:xfrm>
            <a:off x="785786" y="6363293"/>
            <a:ext cx="1603324" cy="307777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Presenter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Toumi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A. </a:t>
            </a:r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Malek</a:t>
            </a:r>
            <a:endParaRPr lang="en-US" sz="1400" dirty="0">
              <a:latin typeface="TypoSlabserif-Light" pitchFamily="2" charset="0"/>
            </a:endParaRPr>
          </a:p>
        </p:txBody>
      </p:sp>
      <p:sp>
        <p:nvSpPr>
          <p:cNvPr id="38" name="TextBox 6"/>
          <p:cNvSpPr txBox="1"/>
          <p:nvPr/>
        </p:nvSpPr>
        <p:spPr>
          <a:xfrm>
            <a:off x="785786" y="6542453"/>
            <a:ext cx="611065" cy="200055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7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PRESENTER</a:t>
            </a:r>
            <a:endParaRPr lang="en-US" sz="700" b="1" dirty="0"/>
          </a:p>
        </p:txBody>
      </p:sp>
      <p:sp>
        <p:nvSpPr>
          <p:cNvPr id="39" name="TextBox 9"/>
          <p:cNvSpPr txBox="1"/>
          <p:nvPr/>
        </p:nvSpPr>
        <p:spPr>
          <a:xfrm>
            <a:off x="2694634" y="6242442"/>
            <a:ext cx="1515158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fr-FR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Aujourd’hui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8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jeudi</a:t>
            </a:r>
            <a:r>
              <a:rPr lang="en-US" sz="8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31 mars 2016</a:t>
            </a:r>
            <a:endParaRPr lang="en-US" sz="800" dirty="0"/>
          </a:p>
        </p:txBody>
      </p:sp>
      <p:sp>
        <p:nvSpPr>
          <p:cNvPr id="40" name="TextBox 10"/>
          <p:cNvSpPr txBox="1"/>
          <p:nvPr/>
        </p:nvSpPr>
        <p:spPr>
          <a:xfrm>
            <a:off x="2694634" y="6363293"/>
            <a:ext cx="978153" cy="353943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7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Python; QT </a:t>
            </a:r>
            <a:endParaRPr lang="en-US" sz="1700" dirty="0">
              <a:latin typeface="TypoSlabserif-Light" pitchFamily="2" charset="0"/>
            </a:endParaRPr>
          </a:p>
        </p:txBody>
      </p:sp>
      <p:sp>
        <p:nvSpPr>
          <p:cNvPr id="41" name="TextBox 11"/>
          <p:cNvSpPr txBox="1"/>
          <p:nvPr/>
        </p:nvSpPr>
        <p:spPr>
          <a:xfrm>
            <a:off x="7447108" y="6242442"/>
            <a:ext cx="1268296" cy="215444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 ARE 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dist="12700" dir="2700000" sx="200000" sy="200000" algn="tl" rotWithShape="0">
                    <a:schemeClr val="bg1">
                      <a:alpha val="0"/>
                    </a:schemeClr>
                  </a:outerShdw>
                </a:effectLst>
              </a:rPr>
              <a:t>CURRENTLY</a:t>
            </a:r>
            <a:r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800" smtClean="0"/>
              <a:t>HERE</a:t>
            </a:r>
            <a:endParaRPr lang="en-US" sz="800"/>
          </a:p>
        </p:txBody>
      </p:sp>
      <p:sp>
        <p:nvSpPr>
          <p:cNvPr id="42" name="TextBox 12"/>
          <p:cNvSpPr txBox="1"/>
          <p:nvPr/>
        </p:nvSpPr>
        <p:spPr>
          <a:xfrm>
            <a:off x="8781044" y="6392361"/>
            <a:ext cx="399468" cy="276999"/>
          </a:xfrm>
          <a:prstGeom prst="rect">
            <a:avLst/>
          </a:prstGeom>
          <a:noFill/>
          <a:effectLst>
            <a:outerShdw dist="12700" dir="2700000" algn="tl" rotWithShape="0">
              <a:schemeClr val="bg1"/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ypoSlabserif-Light" pitchFamily="2" charset="0"/>
              </a:rPr>
              <a:t> of 7</a:t>
            </a:r>
            <a:endParaRPr lang="en-US" sz="1200" b="1" dirty="0">
              <a:latin typeface="TypoSlabserif-Light" pitchFamily="2" charset="0"/>
            </a:endParaRPr>
          </a:p>
        </p:txBody>
      </p:sp>
      <p:pic>
        <p:nvPicPr>
          <p:cNvPr id="43" name="Picture 18" descr="PrevArrow.png">
            <a:hlinkClick r:id="" action="ppaction://hlinkshowjump?jump=nextslide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5200" y="6447512"/>
            <a:ext cx="213333" cy="213333"/>
          </a:xfrm>
          <a:prstGeom prst="rect">
            <a:avLst/>
          </a:prstGeom>
        </p:spPr>
      </p:pic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smtClean="0"/>
              <a:t>Sommaire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Création d’interface homme machine</a:t>
            </a:r>
          </a:p>
          <a:p>
            <a:pPr lvl="1"/>
            <a:r>
              <a:rPr lang="fr-FR" dirty="0" smtClean="0"/>
              <a:t>Généralités</a:t>
            </a:r>
          </a:p>
          <a:p>
            <a:r>
              <a:rPr lang="fr-FR" dirty="0" smtClean="0"/>
              <a:t>Présentation </a:t>
            </a:r>
            <a:r>
              <a:rPr lang="fr-FR" dirty="0" smtClean="0"/>
              <a:t>de QT</a:t>
            </a:r>
          </a:p>
          <a:p>
            <a:pPr lvl="1"/>
            <a:r>
              <a:rPr lang="fr-FR" dirty="0" smtClean="0"/>
              <a:t>Introduction</a:t>
            </a:r>
          </a:p>
          <a:p>
            <a:pPr lvl="1"/>
            <a:r>
              <a:rPr lang="fr-FR" dirty="0" smtClean="0"/>
              <a:t>Les principaux modules</a:t>
            </a:r>
          </a:p>
          <a:p>
            <a:pPr lvl="1"/>
            <a:r>
              <a:rPr lang="fr-FR" dirty="0" smtClean="0"/>
              <a:t>Documentation</a:t>
            </a:r>
          </a:p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 smtClean="0"/>
          </a:p>
          <a:p>
            <a:pPr lvl="1"/>
            <a:endParaRPr lang="fr-FR" dirty="0"/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33293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Modules de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 err="1" smtClean="0"/>
              <a:t>PyQt</a:t>
            </a:r>
            <a:r>
              <a:rPr lang="fr-FR" dirty="0" smtClean="0"/>
              <a:t> fournit un module Python PyQt4</a:t>
            </a:r>
          </a:p>
          <a:p>
            <a:r>
              <a:rPr lang="fr-FR" sz="2000" i="1" dirty="0" smtClean="0">
                <a:solidFill>
                  <a:srgbClr val="FFFF00"/>
                </a:solidFill>
              </a:rPr>
              <a:t>PyQt4.QtCore</a:t>
            </a:r>
            <a:r>
              <a:rPr lang="fr-FR" sz="2000" dirty="0"/>
              <a:t> : pour les fonctionnalités non graphiques utilisées par les autres modules : mécanisme de support pour les </a:t>
            </a:r>
            <a:r>
              <a:rPr lang="fr-FR" sz="2000" dirty="0">
                <a:solidFill>
                  <a:srgbClr val="FFFF00"/>
                </a:solidFill>
              </a:rPr>
              <a:t>signaux et les slots</a:t>
            </a:r>
            <a:r>
              <a:rPr lang="fr-FR" sz="2000" dirty="0"/>
              <a:t>, …</a:t>
            </a:r>
          </a:p>
          <a:p>
            <a:r>
              <a:rPr lang="fr-FR" sz="2000" i="1" dirty="0">
                <a:solidFill>
                  <a:srgbClr val="FFFF00"/>
                </a:solidFill>
              </a:rPr>
              <a:t>PyQt4.</a:t>
            </a:r>
            <a:r>
              <a:rPr lang="fr-FR" sz="2000" i="1" dirty="0" smtClean="0">
                <a:solidFill>
                  <a:srgbClr val="FFFF00"/>
                </a:solidFill>
              </a:rPr>
              <a:t>QtGui</a:t>
            </a:r>
            <a:r>
              <a:rPr lang="fr-FR" sz="2000" dirty="0"/>
              <a:t> : pour les composants graphiques ;</a:t>
            </a:r>
          </a:p>
          <a:p>
            <a:r>
              <a:rPr lang="fr-FR" sz="2000" i="1" dirty="0" smtClean="0"/>
              <a:t>PyQt4.QtNetwork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PyQt4.QtOpenGL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PyQt4.QtSql</a:t>
            </a:r>
            <a:r>
              <a:rPr lang="fr-FR" sz="2000" dirty="0"/>
              <a:t> </a:t>
            </a:r>
            <a:r>
              <a:rPr lang="fr-FR" sz="2000" dirty="0" smtClean="0"/>
              <a:t>;</a:t>
            </a:r>
            <a:endParaRPr lang="fr-FR" sz="2000" dirty="0"/>
          </a:p>
          <a:p>
            <a:r>
              <a:rPr lang="fr-FR" sz="2000" i="1" dirty="0"/>
              <a:t>PyQt4.</a:t>
            </a:r>
            <a:r>
              <a:rPr lang="fr-FR" sz="2000" i="1" dirty="0" smtClean="0"/>
              <a:t>QtXml</a:t>
            </a:r>
            <a:r>
              <a:rPr lang="fr-FR" sz="2000" dirty="0"/>
              <a:t> </a:t>
            </a:r>
          </a:p>
          <a:p>
            <a:r>
              <a:rPr lang="fr-FR" sz="2000" i="1" dirty="0" smtClean="0"/>
              <a:t>PyQt4.QtAssistant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</a:t>
            </a:r>
            <a:r>
              <a:rPr lang="fr-FR" sz="2000" dirty="0" smtClean="0"/>
              <a:t>QtWebKit </a:t>
            </a:r>
          </a:p>
          <a:p>
            <a:r>
              <a:rPr lang="fr-FR" sz="2000" i="1" dirty="0" smtClean="0"/>
              <a:t>PyQt4.</a:t>
            </a:r>
            <a:r>
              <a:rPr lang="fr-FR" sz="2000" dirty="0" smtClean="0"/>
              <a:t>QtTest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592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856" y="260648"/>
            <a:ext cx="8229600" cy="648072"/>
          </a:xfrm>
        </p:spPr>
        <p:txBody>
          <a:bodyPr/>
          <a:lstStyle/>
          <a:p>
            <a:r>
              <a:rPr lang="fr-FR" dirty="0" smtClean="0"/>
              <a:t>Exemple 1 : création d’un bouton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6888" y="1228110"/>
            <a:ext cx="5040560" cy="1296144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sz="1400" dirty="0" err="1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from</a:t>
            </a: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PyQt4 </a:t>
            </a: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import </a:t>
            </a: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import</a:t>
            </a: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sys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app</a:t>
            </a: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 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 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QtGui.QApplication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sys.argv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)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hello 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= </a:t>
            </a:r>
            <a:r>
              <a:rPr lang="fr-FR" sz="14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QtGui.QPushButton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("Hello World!", None)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hello.show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() </a:t>
            </a:r>
            <a:endParaRPr lang="fr-FR" sz="1400" dirty="0" smtClean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 err="1" smtClean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app.exec</a:t>
            </a:r>
            <a:r>
              <a:rPr lang="fr-FR" sz="14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_()</a:t>
            </a:r>
            <a:endParaRPr lang="fr-FR" sz="1400" dirty="0"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2240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z="1100" smtClean="0"/>
              <a:pPr/>
              <a:t>16</a:t>
            </a:fld>
            <a:endParaRPr lang="en-US" sz="1100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192" y="1403162"/>
            <a:ext cx="1600200" cy="74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contenu 2"/>
          <p:cNvSpPr txBox="1">
            <a:spLocks/>
          </p:cNvSpPr>
          <p:nvPr/>
        </p:nvSpPr>
        <p:spPr>
          <a:xfrm>
            <a:off x="467544" y="2893586"/>
            <a:ext cx="8424936" cy="31683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>
                <a:solidFill>
                  <a:schemeClr val="tx1"/>
                </a:solidFill>
              </a:rPr>
              <a:t>from</a:t>
            </a:r>
            <a:r>
              <a:rPr lang="fr-FR" dirty="0">
                <a:solidFill>
                  <a:schemeClr val="tx1"/>
                </a:solidFill>
              </a:rPr>
              <a:t> PyQt4 import </a:t>
            </a:r>
            <a:r>
              <a:rPr lang="fr-FR" dirty="0" smtClean="0">
                <a:solidFill>
                  <a:schemeClr val="tx1"/>
                </a:solidFill>
              </a:rPr>
              <a:t>*</a:t>
            </a:r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 err="1">
                <a:solidFill>
                  <a:schemeClr val="tx1"/>
                </a:solidFill>
              </a:rPr>
              <a:t>def</a:t>
            </a:r>
            <a:r>
              <a:rPr lang="fr-FR" dirty="0">
                <a:solidFill>
                  <a:schemeClr val="tx1"/>
                </a:solidFill>
              </a:rPr>
              <a:t> main(</a:t>
            </a:r>
            <a:r>
              <a:rPr lang="fr-FR" dirty="0" err="1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 :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smtClean="0"/>
              <a:t>#on doit disposer </a:t>
            </a:r>
            <a:r>
              <a:rPr lang="fr-FR" dirty="0"/>
              <a:t>d'une instance de </a:t>
            </a:r>
            <a:r>
              <a:rPr lang="fr-FR" dirty="0" err="1"/>
              <a:t>QApplication</a:t>
            </a:r>
            <a:r>
              <a:rPr lang="fr-FR" dirty="0"/>
              <a:t> gérant l'ensemble des widgets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QApplication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/>
              <a:t>#un nouveau bouton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button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QPushButton</a:t>
            </a:r>
            <a:r>
              <a:rPr lang="fr-FR" dirty="0">
                <a:solidFill>
                  <a:schemeClr val="tx1"/>
                </a:solidFill>
              </a:rPr>
              <a:t>("Hello World !", None)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/>
              <a:t>#</a:t>
            </a:r>
            <a:r>
              <a:rPr lang="fr-FR" dirty="0"/>
              <a:t>qu'on affiche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>
                <a:solidFill>
                  <a:schemeClr val="tx1"/>
                </a:solidFill>
              </a:rPr>
              <a:t>button.show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if __</a:t>
            </a:r>
            <a:r>
              <a:rPr lang="fr-FR" dirty="0" err="1">
                <a:solidFill>
                  <a:schemeClr val="tx1"/>
                </a:solidFill>
              </a:rPr>
              <a:t>name</a:t>
            </a:r>
            <a:r>
              <a:rPr lang="fr-FR" dirty="0">
                <a:solidFill>
                  <a:schemeClr val="tx1"/>
                </a:solidFill>
              </a:rPr>
              <a:t>__ == "__main__" :</a:t>
            </a:r>
          </a:p>
          <a:p>
            <a:r>
              <a:rPr lang="fr-FR" dirty="0">
                <a:solidFill>
                  <a:schemeClr val="tx1"/>
                </a:solidFill>
              </a:rPr>
              <a:t>   main(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467544" y="836712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bg1"/>
                </a:solidFill>
              </a:rPr>
              <a:t>Version simple : 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467544" y="2524254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bg1"/>
                </a:solidFill>
              </a:rPr>
              <a:t>Version recommandée : 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169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856" y="260648"/>
            <a:ext cx="8229600" cy="648072"/>
          </a:xfrm>
        </p:spPr>
        <p:txBody>
          <a:bodyPr/>
          <a:lstStyle/>
          <a:p>
            <a:r>
              <a:rPr lang="fr-FR" dirty="0" smtClean="0"/>
              <a:t>Exemple 1 : fenêtre simple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732240" y="6309320"/>
            <a:ext cx="2133600" cy="365125"/>
          </a:xfrm>
        </p:spPr>
        <p:txBody>
          <a:bodyPr/>
          <a:lstStyle/>
          <a:p>
            <a:fld id="{BECFFF0D-0199-40F6-98A2-0B4E765CD128}" type="slidenum">
              <a:rPr lang="en-US" sz="1100" smtClean="0"/>
              <a:pPr/>
              <a:t>17</a:t>
            </a:fld>
            <a:endParaRPr lang="en-US" sz="1100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7" name="Espace réservé du contenu 2"/>
          <p:cNvSpPr txBox="1">
            <a:spLocks/>
          </p:cNvSpPr>
          <p:nvPr/>
        </p:nvSpPr>
        <p:spPr>
          <a:xfrm>
            <a:off x="496888" y="1416388"/>
            <a:ext cx="8424936" cy="31683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>
                <a:solidFill>
                  <a:schemeClr val="tx1"/>
                </a:solidFill>
              </a:rPr>
              <a:t>from</a:t>
            </a:r>
            <a:r>
              <a:rPr lang="fr-FR" dirty="0">
                <a:solidFill>
                  <a:schemeClr val="tx1"/>
                </a:solidFill>
              </a:rPr>
              <a:t> PyQt4 import </a:t>
            </a:r>
            <a:r>
              <a:rPr lang="fr-FR" dirty="0" err="1">
                <a:solidFill>
                  <a:schemeClr val="tx1"/>
                </a:solidFill>
              </a:rPr>
              <a:t>QtGui</a:t>
            </a:r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 err="1">
                <a:solidFill>
                  <a:schemeClr val="tx1"/>
                </a:solidFill>
              </a:rPr>
              <a:t>def</a:t>
            </a:r>
            <a:r>
              <a:rPr lang="fr-FR" dirty="0">
                <a:solidFill>
                  <a:schemeClr val="tx1"/>
                </a:solidFill>
              </a:rPr>
              <a:t> main(</a:t>
            </a:r>
            <a:r>
              <a:rPr lang="fr-FR" dirty="0" err="1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 :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smtClean="0"/>
              <a:t>#on doit disposer </a:t>
            </a:r>
            <a:r>
              <a:rPr lang="fr-FR" dirty="0"/>
              <a:t>d'une instance de </a:t>
            </a:r>
            <a:r>
              <a:rPr lang="fr-FR" dirty="0" err="1"/>
              <a:t>QApplication</a:t>
            </a:r>
            <a:r>
              <a:rPr lang="fr-FR" dirty="0"/>
              <a:t> gérant l'ensemble des widgets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QApplication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/>
              <a:t>#</a:t>
            </a:r>
            <a:r>
              <a:rPr lang="fr-FR" dirty="0" smtClean="0"/>
              <a:t>une </a:t>
            </a:r>
            <a:r>
              <a:rPr lang="fr-FR" dirty="0" err="1" smtClean="0"/>
              <a:t>fenetre</a:t>
            </a:r>
            <a:endParaRPr lang="fr-FR" dirty="0"/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= </a:t>
            </a:r>
            <a:r>
              <a:rPr lang="fr-FR" dirty="0" err="1" smtClean="0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()</a:t>
            </a:r>
          </a:p>
          <a:p>
            <a:r>
              <a:rPr lang="fr-FR" dirty="0" smtClean="0"/>
              <a:t>   # titre de la </a:t>
            </a:r>
            <a:r>
              <a:rPr lang="fr-FR" dirty="0" err="1" smtClean="0"/>
              <a:t>fenetre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fen.setWindowTitle</a:t>
            </a:r>
            <a:r>
              <a:rPr lang="fr-FR" dirty="0">
                <a:solidFill>
                  <a:schemeClr val="tx1"/>
                </a:solidFill>
              </a:rPr>
              <a:t>("</a:t>
            </a:r>
            <a:r>
              <a:rPr lang="fr-FR" dirty="0" err="1">
                <a:solidFill>
                  <a:schemeClr val="tx1"/>
                </a:solidFill>
              </a:rPr>
              <a:t>Demo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")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/>
              <a:t># </a:t>
            </a:r>
            <a:r>
              <a:rPr lang="fr-FR" dirty="0" smtClean="0"/>
              <a:t>taille de </a:t>
            </a:r>
            <a:r>
              <a:rPr lang="fr-FR" dirty="0"/>
              <a:t>la </a:t>
            </a:r>
            <a:r>
              <a:rPr lang="fr-FR" dirty="0" err="1"/>
              <a:t>fenetre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fen.resize</a:t>
            </a:r>
            <a:r>
              <a:rPr lang="fr-FR" dirty="0" smtClean="0">
                <a:solidFill>
                  <a:schemeClr val="tx1"/>
                </a:solidFill>
              </a:rPr>
              <a:t>(40,80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smtClean="0"/>
              <a:t>   #</a:t>
            </a:r>
            <a:r>
              <a:rPr lang="fr-FR" dirty="0"/>
              <a:t>qu'on affiche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fen.show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if __</a:t>
            </a:r>
            <a:r>
              <a:rPr lang="fr-FR" dirty="0" err="1">
                <a:solidFill>
                  <a:schemeClr val="tx1"/>
                </a:solidFill>
              </a:rPr>
              <a:t>name</a:t>
            </a:r>
            <a:r>
              <a:rPr lang="fr-FR" dirty="0">
                <a:solidFill>
                  <a:schemeClr val="tx1"/>
                </a:solidFill>
              </a:rPr>
              <a:t>__ == "__main__" :</a:t>
            </a:r>
          </a:p>
          <a:p>
            <a:r>
              <a:rPr lang="fr-FR" dirty="0">
                <a:solidFill>
                  <a:schemeClr val="tx1"/>
                </a:solidFill>
              </a:rPr>
              <a:t>   main(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6263" y="2420888"/>
            <a:ext cx="3455561" cy="27363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77465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 Structure d’un programme QT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1520" y="1196752"/>
            <a:ext cx="8784976" cy="4525963"/>
          </a:xfrm>
        </p:spPr>
        <p:txBody>
          <a:bodyPr>
            <a:normAutofit/>
          </a:bodyPr>
          <a:lstStyle/>
          <a:p>
            <a:r>
              <a:rPr lang="fr-FR" sz="2800" dirty="0" smtClean="0"/>
              <a:t>Un programme </a:t>
            </a:r>
            <a:r>
              <a:rPr lang="fr-FR" sz="2800" dirty="0" err="1" smtClean="0"/>
              <a:t>PyQt</a:t>
            </a:r>
            <a:r>
              <a:rPr lang="fr-FR" sz="2800" dirty="0" smtClean="0"/>
              <a:t> typique contient les étapes suivante </a:t>
            </a:r>
          </a:p>
          <a:p>
            <a:pPr marL="914400" lvl="1" indent="-514350">
              <a:buFont typeface="+mj-lt"/>
              <a:buAutoNum type="arabicPeriod"/>
            </a:pPr>
            <a:r>
              <a:rPr lang="fr-FR" sz="2000" dirty="0" smtClean="0"/>
              <a:t>Création de l’instance de </a:t>
            </a:r>
            <a:r>
              <a:rPr lang="fr-FR" sz="2000" dirty="0" err="1" smtClean="0">
                <a:solidFill>
                  <a:srgbClr val="FFFF0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QApplication</a:t>
            </a:r>
            <a:endParaRPr lang="fr-FR" sz="2000" dirty="0">
              <a:solidFill>
                <a:srgbClr val="FFFF00"/>
              </a:solidFill>
              <a:latin typeface="Courier New" panose="02070309020205020404" pitchFamily="49" charset="0"/>
              <a:ea typeface="Verdana" panose="020B0604030504040204" pitchFamily="34" charset="0"/>
              <a:cs typeface="Courier New" panose="02070309020205020404" pitchFamily="49" charset="0"/>
            </a:endParaRPr>
          </a:p>
          <a:p>
            <a:pPr marL="914400" lvl="1" indent="-514350">
              <a:buFont typeface="+mj-lt"/>
              <a:buAutoNum type="arabicPeriod"/>
            </a:pPr>
            <a:r>
              <a:rPr lang="fr-FR" sz="2000" dirty="0" smtClean="0"/>
              <a:t>Création et affichage </a:t>
            </a:r>
            <a:r>
              <a:rPr lang="fr-FR" sz="2000" dirty="0" err="1" smtClean="0"/>
              <a:t>dela</a:t>
            </a:r>
            <a:r>
              <a:rPr lang="fr-FR" sz="2000" dirty="0" smtClean="0"/>
              <a:t> fenêtre principale et s</a:t>
            </a:r>
          </a:p>
          <a:p>
            <a:pPr marL="914400" lvl="1" indent="-514350">
              <a:buFont typeface="+mj-lt"/>
              <a:buAutoNum type="arabicPeriod"/>
            </a:pPr>
            <a:r>
              <a:rPr lang="fr-FR" sz="2000" dirty="0" smtClean="0">
                <a:solidFill>
                  <a:srgbClr val="FFFF00"/>
                </a:solidFill>
              </a:rPr>
              <a:t>Connexion des signaux aux slots : gestion des évènements</a:t>
            </a:r>
          </a:p>
          <a:p>
            <a:pPr marL="914400" lvl="1" indent="-514350">
              <a:buFont typeface="+mj-lt"/>
              <a:buAutoNum type="arabicPeriod"/>
            </a:pPr>
            <a:r>
              <a:rPr lang="fr-FR" sz="2000" dirty="0" smtClean="0"/>
              <a:t>Appel de la méthode </a:t>
            </a:r>
            <a:r>
              <a:rPr lang="fr-FR" sz="2000" dirty="0" err="1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exec</a:t>
            </a:r>
            <a:r>
              <a:rPr lang="fr-FR" sz="2000" dirty="0"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rPr>
              <a:t>__() </a:t>
            </a:r>
            <a:r>
              <a:rPr lang="fr-FR" sz="2000" dirty="0" smtClean="0"/>
              <a:t>de </a:t>
            </a:r>
            <a:r>
              <a:rPr lang="fr-FR" sz="2000" dirty="0"/>
              <a:t>l’application</a:t>
            </a:r>
            <a:endParaRPr lang="fr-FR" sz="20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500708" y="3573016"/>
            <a:ext cx="8424936" cy="259228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 lnSpcReduction="1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smtClean="0"/>
              <a:t># 1 - Création d’une instance </a:t>
            </a:r>
            <a:r>
              <a:rPr lang="fr-FR" dirty="0" err="1">
                <a:solidFill>
                  <a:schemeClr val="tx1"/>
                </a:solidFill>
              </a:rPr>
              <a:t>QApplication</a:t>
            </a:r>
            <a:r>
              <a:rPr lang="fr-FR" dirty="0" smtClean="0"/>
              <a:t> 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QApplication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args</a:t>
            </a:r>
            <a:r>
              <a:rPr lang="fr-FR" dirty="0" smtClean="0">
                <a:solidFill>
                  <a:schemeClr val="tx1"/>
                </a:solidFill>
              </a:rPr>
              <a:t>) 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 smtClean="0"/>
              <a:t># 2 - Création de fenêtre</a:t>
            </a:r>
            <a:endParaRPr lang="fr-FR" dirty="0"/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= </a:t>
            </a:r>
            <a:r>
              <a:rPr lang="fr-FR" dirty="0" err="1" smtClean="0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() 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fen.setWindowTitle</a:t>
            </a:r>
            <a:r>
              <a:rPr lang="fr-FR" dirty="0">
                <a:solidFill>
                  <a:schemeClr val="tx1"/>
                </a:solidFill>
              </a:rPr>
              <a:t>("</a:t>
            </a:r>
            <a:r>
              <a:rPr lang="fr-FR" dirty="0" err="1">
                <a:solidFill>
                  <a:schemeClr val="tx1"/>
                </a:solidFill>
              </a:rPr>
              <a:t>Demo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QMainWindow</a:t>
            </a:r>
            <a:r>
              <a:rPr lang="fr-FR" dirty="0" smtClean="0">
                <a:solidFill>
                  <a:schemeClr val="tx1"/>
                </a:solidFill>
              </a:rPr>
              <a:t>")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fen.resize</a:t>
            </a:r>
            <a:r>
              <a:rPr lang="fr-FR" dirty="0" smtClean="0">
                <a:solidFill>
                  <a:schemeClr val="tx1"/>
                </a:solidFill>
              </a:rPr>
              <a:t>(40,80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fen.show</a:t>
            </a:r>
            <a:r>
              <a:rPr lang="fr-FR" dirty="0" smtClean="0">
                <a:solidFill>
                  <a:schemeClr val="tx1"/>
                </a:solidFill>
              </a:rPr>
              <a:t>()</a:t>
            </a: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/>
              <a:t># </a:t>
            </a:r>
            <a:r>
              <a:rPr lang="fr-FR" dirty="0" smtClean="0"/>
              <a:t>3 – Connexion des signaux aux slots</a:t>
            </a:r>
            <a:endParaRPr lang="fr-FR" dirty="0"/>
          </a:p>
          <a:p>
            <a:r>
              <a:rPr lang="fr-FR" dirty="0" smtClean="0">
                <a:solidFill>
                  <a:schemeClr val="tx1"/>
                </a:solidFill>
              </a:rPr>
              <a:t>    # TODO</a:t>
            </a:r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   </a:t>
            </a:r>
            <a:r>
              <a:rPr lang="fr-FR" dirty="0" smtClean="0"/>
              <a:t># 4 - Création </a:t>
            </a:r>
            <a:r>
              <a:rPr lang="fr-FR" dirty="0"/>
              <a:t>de fenêtre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  <a:p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169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196752"/>
            <a:ext cx="8928992" cy="4525963"/>
          </a:xfrm>
        </p:spPr>
        <p:txBody>
          <a:bodyPr>
            <a:normAutofit/>
          </a:bodyPr>
          <a:lstStyle/>
          <a:p>
            <a:r>
              <a:rPr lang="fr-FR" sz="2000" dirty="0" smtClean="0"/>
              <a:t>Mécanisme utilisé dans QT pour assurer </a:t>
            </a:r>
            <a:r>
              <a:rPr lang="fr-FR" sz="2000" dirty="0"/>
              <a:t>la communication entre les objets</a:t>
            </a:r>
            <a:r>
              <a:rPr lang="fr-FR" sz="2000" dirty="0" smtClean="0"/>
              <a:t>.</a:t>
            </a:r>
          </a:p>
          <a:p>
            <a:r>
              <a:rPr lang="fr-FR" sz="2000" dirty="0">
                <a:solidFill>
                  <a:srgbClr val="FFFF00"/>
                </a:solidFill>
              </a:rPr>
              <a:t>Un </a:t>
            </a:r>
            <a:r>
              <a:rPr lang="fr-FR" sz="2000" dirty="0" smtClean="0">
                <a:solidFill>
                  <a:srgbClr val="FFFF00"/>
                </a:solidFill>
              </a:rPr>
              <a:t>signal </a:t>
            </a:r>
            <a:r>
              <a:rPr lang="fr-FR" sz="2000" dirty="0" smtClean="0"/>
              <a:t>: </a:t>
            </a:r>
            <a:r>
              <a:rPr lang="fr-FR" sz="2000" dirty="0"/>
              <a:t>c'est un message envoyé par un widget lorsqu'un évènement se </a:t>
            </a:r>
            <a:r>
              <a:rPr lang="fr-FR" sz="2000" dirty="0" smtClean="0"/>
              <a:t>produit. Exemple </a:t>
            </a:r>
            <a:r>
              <a:rPr lang="fr-FR" sz="2000" dirty="0"/>
              <a:t>: on a cliqué sur un bouton. </a:t>
            </a:r>
          </a:p>
          <a:p>
            <a:r>
              <a:rPr lang="fr-FR" sz="2000" dirty="0" smtClean="0">
                <a:solidFill>
                  <a:srgbClr val="FFFF00"/>
                </a:solidFill>
              </a:rPr>
              <a:t>Un slot </a:t>
            </a:r>
            <a:r>
              <a:rPr lang="fr-FR" sz="2000" dirty="0" smtClean="0"/>
              <a:t>:  </a:t>
            </a:r>
            <a:r>
              <a:rPr lang="fr-FR" sz="2000" dirty="0"/>
              <a:t>c'est la fonction qui est appelée lorsqu'un évènement s'est produit. On dit que le signal appelle le slot. </a:t>
            </a:r>
            <a:r>
              <a:rPr lang="fr-FR" sz="2000" dirty="0" smtClean="0"/>
              <a:t>Concrètement</a:t>
            </a:r>
            <a:r>
              <a:rPr lang="fr-FR" sz="2000" dirty="0"/>
              <a:t>, un </a:t>
            </a:r>
            <a:r>
              <a:rPr lang="fr-FR" sz="2000" dirty="0" smtClean="0"/>
              <a:t>slot est </a:t>
            </a:r>
            <a:r>
              <a:rPr lang="fr-FR" sz="2000" dirty="0"/>
              <a:t>une méthode d'une </a:t>
            </a:r>
            <a:r>
              <a:rPr lang="fr-FR" sz="2000" dirty="0" smtClean="0"/>
              <a:t>classe.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2996952"/>
            <a:ext cx="2232248" cy="23661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2068" y="3056093"/>
            <a:ext cx="4010025" cy="224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3056093"/>
            <a:ext cx="1600200" cy="74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992" y="3057993"/>
            <a:ext cx="13239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382628" y="5805264"/>
            <a:ext cx="8280920" cy="3077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>
                <a:solidFill>
                  <a:schemeClr val="tx1"/>
                </a:solidFill>
              </a:rPr>
              <a:t>PyQt4.QtCore.QObject.connect(</a:t>
            </a:r>
            <a:r>
              <a:rPr lang="fr-FR" dirty="0" err="1">
                <a:solidFill>
                  <a:schemeClr val="tx1"/>
                </a:solidFill>
              </a:rPr>
              <a:t>emeteur</a:t>
            </a:r>
            <a:r>
              <a:rPr lang="fr-FR" dirty="0">
                <a:solidFill>
                  <a:schemeClr val="tx1"/>
                </a:solidFill>
              </a:rPr>
              <a:t>, SIGNAL(), </a:t>
            </a:r>
            <a:r>
              <a:rPr lang="fr-FR" dirty="0" err="1">
                <a:solidFill>
                  <a:schemeClr val="tx1"/>
                </a:solidFill>
              </a:rPr>
              <a:t>recepteur</a:t>
            </a:r>
            <a:r>
              <a:rPr lang="fr-FR" dirty="0">
                <a:solidFill>
                  <a:schemeClr val="tx1"/>
                </a:solidFill>
              </a:rPr>
              <a:t>, SLOT())</a:t>
            </a:r>
          </a:p>
        </p:txBody>
      </p:sp>
    </p:spTree>
    <p:extLst>
      <p:ext uri="{BB962C8B-B14F-4D97-AF65-F5344CB8AC3E}">
        <p14:creationId xmlns:p14="http://schemas.microsoft.com/office/powerpoint/2010/main" val="117014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Signaux et slots en Python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08896" y="2060848"/>
            <a:ext cx="8712968" cy="31683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lnSpcReduction="10000"/>
          </a:bodyPr>
          <a:lstStyle>
            <a:lvl1pPr indent="0">
              <a:spcBef>
                <a:spcPct val="20000"/>
              </a:spcBef>
              <a:buFont typeface="Wingdings" panose="05000000000000000000" pitchFamily="2" charset="2"/>
              <a:buNone/>
              <a:defRPr sz="1400">
                <a:solidFill>
                  <a:srgbClr val="00B050"/>
                </a:solidFill>
                <a:latin typeface="Courier New" panose="02070309020205020404" pitchFamily="49" charset="0"/>
                <a:ea typeface="Verdana" panose="020B0604030504040204" pitchFamily="34" charset="0"/>
                <a:cs typeface="Courier New" panose="02070309020205020404" pitchFamily="49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•"/>
              <a:defRPr sz="2800">
                <a:solidFill>
                  <a:schemeClr val="dk1"/>
                </a:solidFill>
              </a:defRPr>
            </a:lvl2pPr>
            <a:lvl3pPr marL="1143000" indent="-228600">
              <a:spcBef>
                <a:spcPct val="20000"/>
              </a:spcBef>
              <a:buFont typeface="Courier New" panose="02070309020205020404" pitchFamily="49" charset="0"/>
              <a:buChar char="o"/>
              <a:defRPr sz="2400">
                <a:solidFill>
                  <a:schemeClr val="dk1"/>
                </a:solidFill>
              </a:defRPr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dk1"/>
                </a:solidFill>
              </a:defRPr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dk1"/>
                </a:solidFill>
              </a:defRPr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dk1"/>
                </a:solidFill>
              </a:defRPr>
            </a:lvl9pPr>
          </a:lstStyle>
          <a:p>
            <a:r>
              <a:rPr lang="fr-FR" dirty="0" err="1"/>
              <a:t>from</a:t>
            </a:r>
            <a:r>
              <a:rPr lang="fr-FR" dirty="0"/>
              <a:t> PyQt4.QtGui import * </a:t>
            </a:r>
            <a:endParaRPr lang="fr-FR" dirty="0" smtClean="0"/>
          </a:p>
          <a:p>
            <a:r>
              <a:rPr lang="fr-FR" dirty="0" err="1" smtClean="0">
                <a:solidFill>
                  <a:srgbClr val="FF0000"/>
                </a:solidFill>
              </a:rPr>
              <a:t>from</a:t>
            </a:r>
            <a:r>
              <a:rPr lang="fr-FR" dirty="0" smtClean="0">
                <a:solidFill>
                  <a:srgbClr val="FF0000"/>
                </a:solidFill>
              </a:rPr>
              <a:t> </a:t>
            </a:r>
            <a:r>
              <a:rPr lang="fr-FR" dirty="0">
                <a:solidFill>
                  <a:srgbClr val="FF0000"/>
                </a:solidFill>
              </a:rPr>
              <a:t>PyQt4.QtCore import *</a:t>
            </a:r>
          </a:p>
          <a:p>
            <a:r>
              <a:rPr lang="fr-FR" dirty="0">
                <a:solidFill>
                  <a:schemeClr val="tx1"/>
                </a:solidFill>
              </a:rPr>
              <a:t>import </a:t>
            </a:r>
            <a:r>
              <a:rPr lang="fr-FR" dirty="0" err="1">
                <a:solidFill>
                  <a:schemeClr val="tx1"/>
                </a:solidFill>
              </a:rPr>
              <a:t>sys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r>
              <a:rPr lang="fr-FR" dirty="0" err="1" smtClean="0">
                <a:solidFill>
                  <a:schemeClr val="tx1"/>
                </a:solidFill>
              </a:rPr>
              <a:t>def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>
                <a:solidFill>
                  <a:schemeClr val="tx1"/>
                </a:solidFill>
              </a:rPr>
              <a:t>main(</a:t>
            </a:r>
            <a:r>
              <a:rPr lang="fr-FR" dirty="0" err="1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 :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app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QApplication</a:t>
            </a:r>
            <a:r>
              <a:rPr lang="fr-FR" dirty="0" smtClean="0">
                <a:solidFill>
                  <a:schemeClr val="tx1"/>
                </a:solidFill>
              </a:rPr>
              <a:t>(</a:t>
            </a:r>
            <a:r>
              <a:rPr lang="fr-FR" dirty="0" err="1" smtClean="0">
                <a:solidFill>
                  <a:schemeClr val="tx1"/>
                </a:solidFill>
              </a:rPr>
              <a:t>args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button</a:t>
            </a:r>
            <a:r>
              <a:rPr lang="fr-FR" dirty="0" smtClean="0">
                <a:solidFill>
                  <a:schemeClr val="tx1"/>
                </a:solidFill>
              </a:rPr>
              <a:t> = </a:t>
            </a:r>
            <a:r>
              <a:rPr lang="fr-FR" dirty="0" err="1" smtClean="0">
                <a:solidFill>
                  <a:schemeClr val="tx1"/>
                </a:solidFill>
              </a:rPr>
              <a:t>QPushButton</a:t>
            </a:r>
            <a:r>
              <a:rPr lang="fr-FR" dirty="0">
                <a:solidFill>
                  <a:schemeClr val="tx1"/>
                </a:solidFill>
              </a:rPr>
              <a:t>("Hello World !", None)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 err="1" smtClean="0">
                <a:solidFill>
                  <a:schemeClr val="tx1"/>
                </a:solidFill>
              </a:rPr>
              <a:t>button.show</a:t>
            </a:r>
            <a:r>
              <a:rPr lang="fr-FR" dirty="0">
                <a:solidFill>
                  <a:schemeClr val="tx1"/>
                </a:solidFill>
              </a:rPr>
              <a:t>()</a:t>
            </a:r>
          </a:p>
          <a:p>
            <a:r>
              <a:rPr lang="fr-FR" dirty="0" smtClean="0">
                <a:solidFill>
                  <a:schemeClr val="tx1"/>
                </a:solidFill>
              </a:rPr>
              <a:t>   </a:t>
            </a:r>
            <a:r>
              <a:rPr lang="fr-FR" dirty="0"/>
              <a:t>#fin de l'application lorsque l'utilisateur clique sur le </a:t>
            </a:r>
            <a:r>
              <a:rPr lang="fr-FR" dirty="0" smtClean="0"/>
              <a:t>bouton</a:t>
            </a:r>
          </a:p>
          <a:p>
            <a:r>
              <a:rPr lang="fr-FR" dirty="0" smtClean="0"/>
              <a:t>   </a:t>
            </a:r>
            <a:r>
              <a:rPr lang="fr-FR" dirty="0" err="1" smtClean="0">
                <a:solidFill>
                  <a:srgbClr val="FF0000"/>
                </a:solidFill>
              </a:rPr>
              <a:t>app.connect</a:t>
            </a:r>
            <a:r>
              <a:rPr lang="fr-FR" dirty="0" smtClean="0">
                <a:solidFill>
                  <a:srgbClr val="FF0000"/>
                </a:solidFill>
              </a:rPr>
              <a:t>(</a:t>
            </a:r>
            <a:r>
              <a:rPr lang="fr-FR" dirty="0" err="1" smtClean="0">
                <a:solidFill>
                  <a:srgbClr val="FF0000"/>
                </a:solidFill>
              </a:rPr>
              <a:t>button</a:t>
            </a:r>
            <a:r>
              <a:rPr lang="fr-FR" dirty="0">
                <a:solidFill>
                  <a:srgbClr val="FF0000"/>
                </a:solidFill>
              </a:rPr>
              <a:t>, SIGNAL("</a:t>
            </a:r>
            <a:r>
              <a:rPr lang="fr-FR" dirty="0" err="1">
                <a:solidFill>
                  <a:srgbClr val="FF0000"/>
                </a:solidFill>
              </a:rPr>
              <a:t>clicked</a:t>
            </a:r>
            <a:r>
              <a:rPr lang="fr-FR" dirty="0">
                <a:solidFill>
                  <a:srgbClr val="FF0000"/>
                </a:solidFill>
              </a:rPr>
              <a:t>()"),</a:t>
            </a:r>
            <a:r>
              <a:rPr lang="fr-FR" dirty="0" err="1">
                <a:solidFill>
                  <a:srgbClr val="FF0000"/>
                </a:solidFill>
              </a:rPr>
              <a:t>app,SLOT</a:t>
            </a:r>
            <a:r>
              <a:rPr lang="fr-FR" dirty="0">
                <a:solidFill>
                  <a:srgbClr val="FF0000"/>
                </a:solidFill>
              </a:rPr>
              <a:t>("</a:t>
            </a:r>
            <a:r>
              <a:rPr lang="fr-FR" dirty="0" err="1">
                <a:solidFill>
                  <a:srgbClr val="FF0000"/>
                </a:solidFill>
              </a:rPr>
              <a:t>quit</a:t>
            </a:r>
            <a:r>
              <a:rPr lang="fr-FR" dirty="0">
                <a:solidFill>
                  <a:srgbClr val="FF0000"/>
                </a:solidFill>
              </a:rPr>
              <a:t>()"))</a:t>
            </a:r>
            <a:endParaRPr lang="fr-FR" dirty="0" smtClean="0">
              <a:solidFill>
                <a:srgbClr val="FF0000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smtClean="0">
                <a:solidFill>
                  <a:schemeClr val="tx1"/>
                </a:solidFill>
              </a:rPr>
              <a:t>  </a:t>
            </a:r>
            <a:r>
              <a:rPr lang="fr-FR" dirty="0" err="1" smtClean="0">
                <a:solidFill>
                  <a:schemeClr val="tx1"/>
                </a:solidFill>
              </a:rPr>
              <a:t>app.exec</a:t>
            </a:r>
            <a:r>
              <a:rPr lang="fr-FR" dirty="0">
                <a:solidFill>
                  <a:schemeClr val="tx1"/>
                </a:solidFill>
              </a:rPr>
              <a:t>_()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if __</a:t>
            </a:r>
            <a:r>
              <a:rPr lang="fr-FR" dirty="0" err="1">
                <a:solidFill>
                  <a:schemeClr val="tx1"/>
                </a:solidFill>
              </a:rPr>
              <a:t>name</a:t>
            </a:r>
            <a:r>
              <a:rPr lang="fr-FR" dirty="0">
                <a:solidFill>
                  <a:schemeClr val="tx1"/>
                </a:solidFill>
              </a:rPr>
              <a:t>__ == "__main__" :</a:t>
            </a:r>
          </a:p>
          <a:p>
            <a:r>
              <a:rPr lang="fr-FR" dirty="0">
                <a:solidFill>
                  <a:schemeClr val="tx1"/>
                </a:solidFill>
              </a:rPr>
              <a:t>   main(</a:t>
            </a:r>
            <a:r>
              <a:rPr lang="fr-FR" dirty="0" err="1">
                <a:solidFill>
                  <a:schemeClr val="tx1"/>
                </a:solidFill>
              </a:rPr>
              <a:t>sys.argv</a:t>
            </a:r>
            <a:r>
              <a:rPr lang="fr-FR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idx="1"/>
          </p:nvPr>
        </p:nvSpPr>
        <p:spPr>
          <a:xfrm>
            <a:off x="441010" y="1196753"/>
            <a:ext cx="8229600" cy="2160240"/>
          </a:xfrm>
        </p:spPr>
        <p:txBody>
          <a:bodyPr/>
          <a:lstStyle/>
          <a:p>
            <a:pPr marL="0" indent="0">
              <a:buNone/>
            </a:pPr>
            <a:r>
              <a:rPr lang="fr-FR" dirty="0" smtClean="0"/>
              <a:t>Exemple :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56505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5373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0575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2829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1925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Modules de </a:t>
            </a:r>
            <a:r>
              <a:rPr lang="fr-FR" dirty="0" err="1" smtClean="0"/>
              <a:t>PyQt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 err="1" smtClean="0"/>
              <a:t>PyQt</a:t>
            </a:r>
            <a:r>
              <a:rPr lang="fr-FR" dirty="0" smtClean="0"/>
              <a:t> fournit un module Python PyQt4</a:t>
            </a:r>
          </a:p>
          <a:p>
            <a:r>
              <a:rPr lang="fr-FR" sz="2000" i="1" dirty="0" smtClean="0">
                <a:solidFill>
                  <a:srgbClr val="FFFF00"/>
                </a:solidFill>
              </a:rPr>
              <a:t>PyQt4.QtCore</a:t>
            </a:r>
            <a:r>
              <a:rPr lang="fr-FR" sz="2000" dirty="0"/>
              <a:t> : pour les fonctionnalités non graphiques utilisées par les autres modules : mécanisme de support pour les </a:t>
            </a:r>
            <a:r>
              <a:rPr lang="fr-FR" sz="2000" dirty="0">
                <a:solidFill>
                  <a:srgbClr val="FFFF00"/>
                </a:solidFill>
              </a:rPr>
              <a:t>signaux et les slots</a:t>
            </a:r>
            <a:r>
              <a:rPr lang="fr-FR" sz="2000" dirty="0"/>
              <a:t>, …</a:t>
            </a:r>
          </a:p>
          <a:p>
            <a:r>
              <a:rPr lang="fr-FR" sz="2000" i="1" dirty="0">
                <a:solidFill>
                  <a:srgbClr val="FFFF00"/>
                </a:solidFill>
              </a:rPr>
              <a:t>PyQt4.</a:t>
            </a:r>
            <a:r>
              <a:rPr lang="fr-FR" sz="2000" i="1" dirty="0" smtClean="0">
                <a:solidFill>
                  <a:srgbClr val="FFFF00"/>
                </a:solidFill>
              </a:rPr>
              <a:t>QtGui</a:t>
            </a:r>
            <a:r>
              <a:rPr lang="fr-FR" sz="2000" dirty="0"/>
              <a:t> : pour les composants graphiques ;</a:t>
            </a:r>
          </a:p>
          <a:p>
            <a:r>
              <a:rPr lang="fr-FR" sz="2000" i="1" dirty="0" smtClean="0"/>
              <a:t>PyQt4.QtNetwork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PyQt4.QtOpenGL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PyQt4.QtSql</a:t>
            </a:r>
            <a:r>
              <a:rPr lang="fr-FR" sz="2000" dirty="0"/>
              <a:t> </a:t>
            </a:r>
            <a:r>
              <a:rPr lang="fr-FR" sz="2000" dirty="0" smtClean="0"/>
              <a:t>;</a:t>
            </a:r>
            <a:endParaRPr lang="fr-FR" sz="2000" dirty="0"/>
          </a:p>
          <a:p>
            <a:r>
              <a:rPr lang="fr-FR" sz="2000" i="1" dirty="0"/>
              <a:t>PyQt4.</a:t>
            </a:r>
            <a:r>
              <a:rPr lang="fr-FR" sz="2000" i="1" dirty="0" smtClean="0"/>
              <a:t>QtXml</a:t>
            </a:r>
            <a:r>
              <a:rPr lang="fr-FR" sz="2000" dirty="0"/>
              <a:t> </a:t>
            </a:r>
          </a:p>
          <a:p>
            <a:r>
              <a:rPr lang="fr-FR" sz="2000" i="1" dirty="0" smtClean="0"/>
              <a:t>PyQt4.QtAssistant</a:t>
            </a:r>
            <a:r>
              <a:rPr lang="fr-FR" sz="2000" dirty="0"/>
              <a:t> </a:t>
            </a:r>
            <a:endParaRPr lang="fr-FR" sz="2000" dirty="0" smtClean="0"/>
          </a:p>
          <a:p>
            <a:r>
              <a:rPr lang="fr-FR" sz="2000" i="1" dirty="0" smtClean="0"/>
              <a:t>PyQt4.</a:t>
            </a:r>
            <a:r>
              <a:rPr lang="fr-FR" sz="2000" dirty="0" smtClean="0"/>
              <a:t>QtWebKit </a:t>
            </a:r>
          </a:p>
          <a:p>
            <a:r>
              <a:rPr lang="fr-FR" sz="2000" i="1" dirty="0" smtClean="0"/>
              <a:t>PyQt4.</a:t>
            </a:r>
            <a:r>
              <a:rPr lang="fr-FR" sz="2000" dirty="0" smtClean="0"/>
              <a:t>QtTest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 smtClean="0"/>
              <a:t>IHM avec </a:t>
            </a:r>
            <a:r>
              <a:rPr lang="fr-FR" dirty="0" err="1" smtClean="0"/>
              <a:t>PyQt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7813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/>
          <p:cNvSpPr txBox="1"/>
          <p:nvPr/>
        </p:nvSpPr>
        <p:spPr>
          <a:xfrm>
            <a:off x="2251711" y="2036375"/>
            <a:ext cx="669202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spc="-400" dirty="0" smtClean="0">
                <a:solidFill>
                  <a:schemeClr val="bg1"/>
                </a:solidFill>
              </a:rPr>
              <a:t>A </a:t>
            </a:r>
            <a:r>
              <a:rPr lang="en-US" sz="8800" b="1" spc="-400" dirty="0" err="1" smtClean="0">
                <a:solidFill>
                  <a:schemeClr val="bg1"/>
                </a:solidFill>
              </a:rPr>
              <a:t>vous</a:t>
            </a:r>
            <a:r>
              <a:rPr lang="en-US" sz="8800" b="1" spc="-400" dirty="0" smtClean="0">
                <a:solidFill>
                  <a:schemeClr val="bg1"/>
                </a:solidFill>
              </a:rPr>
              <a:t> de </a:t>
            </a:r>
            <a:r>
              <a:rPr lang="en-US" sz="8800" b="1" spc="-400" dirty="0" err="1" smtClean="0">
                <a:solidFill>
                  <a:schemeClr val="bg1"/>
                </a:solidFill>
              </a:rPr>
              <a:t>jouer</a:t>
            </a:r>
            <a:endParaRPr lang="en-US" sz="8800" b="1" spc="-4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165980" y="3150871"/>
            <a:ext cx="216116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Projet</a:t>
            </a:r>
            <a:r>
              <a:rPr lang="en-US" sz="2500" dirty="0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 </a:t>
            </a:r>
            <a:r>
              <a:rPr lang="en-US" sz="2500" dirty="0" err="1" smtClean="0">
                <a:solidFill>
                  <a:schemeClr val="bg1">
                    <a:lumMod val="75000"/>
                  </a:schemeClr>
                </a:solidFill>
                <a:latin typeface="TypoSlabserif-Light" pitchFamily="2" charset="0"/>
              </a:rPr>
              <a:t>informatique</a:t>
            </a:r>
            <a:endParaRPr lang="en-US" sz="2500" dirty="0">
              <a:solidFill>
                <a:schemeClr val="bg1">
                  <a:lumMod val="75000"/>
                </a:schemeClr>
              </a:solidFill>
              <a:latin typeface="TypoSlabserif-Light" pitchFamily="2" charset="0"/>
            </a:endParaRPr>
          </a:p>
        </p:txBody>
      </p:sp>
      <p:pic>
        <p:nvPicPr>
          <p:cNvPr id="22" name="Picture 21" descr="MainTitle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06" y="1857364"/>
            <a:ext cx="1631405" cy="1804572"/>
          </a:xfrm>
          <a:prstGeom prst="rect">
            <a:avLst/>
          </a:prstGeom>
        </p:spPr>
      </p:pic>
      <p:pic>
        <p:nvPicPr>
          <p:cNvPr id="23" name="Picture 22" descr="MainTitleImageSha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76" y="3714752"/>
            <a:ext cx="1902349" cy="243428"/>
          </a:xfrm>
          <a:prstGeom prst="rect">
            <a:avLst/>
          </a:prstGeom>
        </p:spPr>
      </p:pic>
      <p:pic>
        <p:nvPicPr>
          <p:cNvPr id="24" name="Picture 23" descr="MainTitleSha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5006" y="3661936"/>
            <a:ext cx="6345466" cy="270476"/>
          </a:xfrm>
          <a:prstGeom prst="rect">
            <a:avLst/>
          </a:prstGeom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FFF0D-0199-40F6-98A2-0B4E765CD128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2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3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theme/theme1.xml><?xml version="1.0" encoding="utf-8"?>
<a:theme xmlns:a="http://schemas.openxmlformats.org/drawingml/2006/main" name="DarkPowerpoint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933</TotalTime>
  <Words>1236</Words>
  <Application>Microsoft Office PowerPoint</Application>
  <PresentationFormat>Affichage à l'écran (4:3)</PresentationFormat>
  <Paragraphs>306</Paragraphs>
  <Slides>26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27" baseType="lpstr">
      <vt:lpstr>DarkPowerpointTemplate</vt:lpstr>
      <vt:lpstr>Présentation PowerPoint</vt:lpstr>
      <vt:lpstr>Présentation PowerPoint</vt:lpstr>
      <vt:lpstr>Généralités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Sommaire</vt:lpstr>
      <vt:lpstr>Introduction</vt:lpstr>
      <vt:lpstr>Les principaux modules</vt:lpstr>
      <vt:lpstr>La documentation</vt:lpstr>
      <vt:lpstr>Sommaire</vt:lpstr>
      <vt:lpstr>Modules de PyQt</vt:lpstr>
      <vt:lpstr>Exemple 1 : création d’un bouton</vt:lpstr>
      <vt:lpstr>Exemple 1 : fenêtre simple</vt:lpstr>
      <vt:lpstr> Structure d’un programme QT</vt:lpstr>
      <vt:lpstr>Signaux et slots en Python</vt:lpstr>
      <vt:lpstr>Signaux et slots en Python</vt:lpstr>
      <vt:lpstr>Présentation PowerPoint</vt:lpstr>
      <vt:lpstr>Présentation PowerPoint</vt:lpstr>
      <vt:lpstr>Présentation PowerPoint</vt:lpstr>
      <vt:lpstr>Présentation PowerPoint</vt:lpstr>
      <vt:lpstr>Modules de PyQt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ensta</dc:creator>
  <cp:lastModifiedBy>ensta</cp:lastModifiedBy>
  <cp:revision>53</cp:revision>
  <dcterms:created xsi:type="dcterms:W3CDTF">2016-03-15T18:06:02Z</dcterms:created>
  <dcterms:modified xsi:type="dcterms:W3CDTF">2016-03-16T20:20:48Z</dcterms:modified>
</cp:coreProperties>
</file>