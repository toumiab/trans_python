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2"/>
    <p:sldId id="312" r:id="rId3"/>
    <p:sldId id="259" r:id="rId4"/>
    <p:sldId id="263" r:id="rId5"/>
    <p:sldId id="264" r:id="rId6"/>
    <p:sldId id="265" r:id="rId7"/>
    <p:sldId id="269" r:id="rId8"/>
    <p:sldId id="268" r:id="rId9"/>
    <p:sldId id="276" r:id="rId10"/>
    <p:sldId id="317" r:id="rId11"/>
    <p:sldId id="270" r:id="rId12"/>
    <p:sldId id="273" r:id="rId13"/>
    <p:sldId id="274" r:id="rId14"/>
    <p:sldId id="278" r:id="rId15"/>
    <p:sldId id="272" r:id="rId16"/>
    <p:sldId id="292" r:id="rId17"/>
    <p:sldId id="282" r:id="rId18"/>
    <p:sldId id="281" r:id="rId19"/>
    <p:sldId id="296" r:id="rId20"/>
    <p:sldId id="293" r:id="rId21"/>
    <p:sldId id="298" r:id="rId22"/>
    <p:sldId id="313" r:id="rId23"/>
    <p:sldId id="294" r:id="rId24"/>
    <p:sldId id="301" r:id="rId25"/>
    <p:sldId id="299" r:id="rId26"/>
    <p:sldId id="314" r:id="rId27"/>
    <p:sldId id="297" r:id="rId28"/>
    <p:sldId id="279" r:id="rId29"/>
    <p:sldId id="304" r:id="rId30"/>
    <p:sldId id="306" r:id="rId31"/>
    <p:sldId id="303" r:id="rId32"/>
    <p:sldId id="283" r:id="rId33"/>
    <p:sldId id="307" r:id="rId34"/>
    <p:sldId id="308" r:id="rId35"/>
    <p:sldId id="309" r:id="rId36"/>
    <p:sldId id="310" r:id="rId37"/>
    <p:sldId id="289" r:id="rId38"/>
    <p:sldId id="290" r:id="rId39"/>
    <p:sldId id="316" r:id="rId40"/>
    <p:sldId id="257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C2BB77C0-C172-4496-90B6-A3D8A326893A}">
          <p14:sldIdLst>
            <p14:sldId id="256"/>
            <p14:sldId id="312"/>
            <p14:sldId id="259"/>
            <p14:sldId id="263"/>
            <p14:sldId id="264"/>
            <p14:sldId id="265"/>
            <p14:sldId id="269"/>
            <p14:sldId id="268"/>
            <p14:sldId id="276"/>
            <p14:sldId id="317"/>
            <p14:sldId id="270"/>
            <p14:sldId id="273"/>
            <p14:sldId id="274"/>
            <p14:sldId id="278"/>
            <p14:sldId id="272"/>
            <p14:sldId id="292"/>
            <p14:sldId id="282"/>
            <p14:sldId id="281"/>
            <p14:sldId id="296"/>
            <p14:sldId id="293"/>
            <p14:sldId id="298"/>
            <p14:sldId id="313"/>
            <p14:sldId id="294"/>
            <p14:sldId id="301"/>
            <p14:sldId id="299"/>
            <p14:sldId id="314"/>
            <p14:sldId id="297"/>
            <p14:sldId id="279"/>
            <p14:sldId id="304"/>
            <p14:sldId id="306"/>
            <p14:sldId id="303"/>
            <p14:sldId id="283"/>
            <p14:sldId id="307"/>
            <p14:sldId id="308"/>
            <p14:sldId id="309"/>
            <p14:sldId id="310"/>
            <p14:sldId id="289"/>
            <p14:sldId id="290"/>
            <p14:sldId id="316"/>
            <p14:sldId id="25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00"/>
    <a:srgbClr val="99FF33"/>
    <a:srgbClr val="CCFF33"/>
    <a:srgbClr val="3837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985" autoAdjust="0"/>
    <p:restoredTop sz="94286" autoAdjust="0"/>
  </p:normalViewPr>
  <p:slideViewPr>
    <p:cSldViewPr>
      <p:cViewPr>
        <p:scale>
          <a:sx n="100" d="100"/>
          <a:sy n="100" d="100"/>
        </p:scale>
        <p:origin x="-710" y="4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FR" smtClean="0"/>
              <a:t>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B09E36-4607-432C-A5A8-ECF49ED23085}" type="datetimeFigureOut">
              <a:rPr lang="fr-FR" smtClean="0"/>
              <a:t>29/03/2016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1A2791-0049-4703-88B7-A017233F8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7798303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FE8E1C-2662-4E6E-A1FD-77715E78031E}" type="datetimeFigureOut">
              <a:rPr lang="en-US" smtClean="0"/>
              <a:pPr/>
              <a:t>3/29/2016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FC9CF-D339-4A1B-9AF2-43BD7CEDA5C9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96311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77960" y="6332180"/>
            <a:ext cx="2133600" cy="365125"/>
          </a:xfrm>
        </p:spPr>
        <p:txBody>
          <a:bodyPr/>
          <a:lstStyle>
            <a:lvl1pPr>
              <a:defRPr sz="1100"/>
            </a:lvl1pPr>
          </a:lstStyle>
          <a:p>
            <a:fld id="{BECFFF0D-0199-40F6-98A2-0B4E765CD128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648072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fr-FR" dirty="0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3" hasCustomPrompt="1"/>
          </p:nvPr>
        </p:nvSpPr>
        <p:spPr>
          <a:xfrm>
            <a:off x="467544" y="23664"/>
            <a:ext cx="8208963" cy="576064"/>
          </a:xfrm>
        </p:spPr>
        <p:txBody>
          <a:bodyPr>
            <a:normAutofit/>
          </a:bodyPr>
          <a:lstStyle>
            <a:lvl1pPr marL="0" indent="0" algn="r">
              <a:buNone/>
              <a:defRPr sz="2000" u="none" baseline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fr-FR" dirty="0" smtClean="0"/>
              <a:t>Titre 2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782" y="44624"/>
            <a:ext cx="8229600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010" y="119675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3801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  <p:pic>
        <p:nvPicPr>
          <p:cNvPr id="7" name="Picture 15" descr="BottomLineLight.png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172049"/>
            <a:ext cx="9144000" cy="669726"/>
          </a:xfrm>
          <a:prstGeom prst="rect">
            <a:avLst/>
          </a:prstGeom>
        </p:spPr>
      </p:pic>
      <p:pic>
        <p:nvPicPr>
          <p:cNvPr id="8" name="Picture 16" descr="BottomLineDarker.png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822401"/>
            <a:ext cx="9144000" cy="44648"/>
          </a:xfrm>
          <a:prstGeom prst="rect">
            <a:avLst/>
          </a:prstGeom>
        </p:spPr>
      </p:pic>
      <p:pic>
        <p:nvPicPr>
          <p:cNvPr id="9" name="Picture 14" descr="Avatar.png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407995" y="6298997"/>
            <a:ext cx="377791" cy="387005"/>
          </a:xfrm>
          <a:prstGeom prst="rect">
            <a:avLst/>
          </a:prstGeom>
        </p:spPr>
      </p:pic>
      <p:sp>
        <p:nvSpPr>
          <p:cNvPr id="10" name="TextBox 4"/>
          <p:cNvSpPr txBox="1"/>
          <p:nvPr userDrawn="1"/>
        </p:nvSpPr>
        <p:spPr>
          <a:xfrm>
            <a:off x="785786" y="6224107"/>
            <a:ext cx="1095172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YOU ARE </a:t>
            </a:r>
            <a:r>
              <a:rPr lang="en-US" sz="800" dirty="0" smtClean="0"/>
              <a:t>LOOKING AT</a:t>
            </a:r>
            <a:endParaRPr lang="en-US" sz="800" dirty="0"/>
          </a:p>
        </p:txBody>
      </p:sp>
      <p:sp>
        <p:nvSpPr>
          <p:cNvPr id="11" name="TextBox 5"/>
          <p:cNvSpPr txBox="1"/>
          <p:nvPr userDrawn="1"/>
        </p:nvSpPr>
        <p:spPr>
          <a:xfrm>
            <a:off x="785786" y="6344958"/>
            <a:ext cx="1603324" cy="307777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Presenter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Toumi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A.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Malek</a:t>
            </a:r>
            <a:endParaRPr lang="en-US" sz="1400" dirty="0">
              <a:latin typeface="TypoSlabserif-Light" pitchFamily="2" charset="0"/>
            </a:endParaRPr>
          </a:p>
        </p:txBody>
      </p:sp>
      <p:sp>
        <p:nvSpPr>
          <p:cNvPr id="12" name="TextBox 6"/>
          <p:cNvSpPr txBox="1"/>
          <p:nvPr userDrawn="1"/>
        </p:nvSpPr>
        <p:spPr>
          <a:xfrm>
            <a:off x="785786" y="6524118"/>
            <a:ext cx="611065" cy="200055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7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PRESENTER</a:t>
            </a:r>
            <a:endParaRPr lang="en-US" sz="700" b="1" dirty="0"/>
          </a:p>
        </p:txBody>
      </p:sp>
      <p:sp>
        <p:nvSpPr>
          <p:cNvPr id="13" name="TextBox 9"/>
          <p:cNvSpPr txBox="1"/>
          <p:nvPr userDrawn="1"/>
        </p:nvSpPr>
        <p:spPr>
          <a:xfrm>
            <a:off x="2694634" y="6224107"/>
            <a:ext cx="1515158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Aujourd’hui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en-US" sz="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jeudi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31 mars 2016</a:t>
            </a:r>
            <a:endParaRPr lang="en-US" sz="800" dirty="0"/>
          </a:p>
        </p:txBody>
      </p:sp>
      <p:sp>
        <p:nvSpPr>
          <p:cNvPr id="14" name="TextBox 10"/>
          <p:cNvSpPr txBox="1"/>
          <p:nvPr userDrawn="1"/>
        </p:nvSpPr>
        <p:spPr>
          <a:xfrm>
            <a:off x="2694634" y="6344958"/>
            <a:ext cx="978153" cy="353943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Python; QT </a:t>
            </a:r>
            <a:endParaRPr lang="en-US" sz="1700" dirty="0">
              <a:latin typeface="TypoSlabserif-Light" pitchFamily="2" charset="0"/>
            </a:endParaRPr>
          </a:p>
        </p:txBody>
      </p:sp>
      <p:sp>
        <p:nvSpPr>
          <p:cNvPr id="15" name="TextBox 11"/>
          <p:cNvSpPr txBox="1"/>
          <p:nvPr userDrawn="1"/>
        </p:nvSpPr>
        <p:spPr>
          <a:xfrm>
            <a:off x="7447108" y="6224107"/>
            <a:ext cx="1268296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 ARE 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dist="12700" dir="2700000" sx="200000" sy="200000" algn="tl" rotWithShape="0">
                    <a:schemeClr val="bg1">
                      <a:alpha val="0"/>
                    </a:schemeClr>
                  </a:outerShdw>
                </a:effectLst>
              </a:rPr>
              <a:t>CURRENTLY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800" smtClean="0"/>
              <a:t>HERE</a:t>
            </a:r>
            <a:endParaRPr lang="en-US" sz="800"/>
          </a:p>
        </p:txBody>
      </p:sp>
      <p:sp>
        <p:nvSpPr>
          <p:cNvPr id="16" name="TextBox 12"/>
          <p:cNvSpPr txBox="1"/>
          <p:nvPr userDrawn="1"/>
        </p:nvSpPr>
        <p:spPr>
          <a:xfrm>
            <a:off x="8685382" y="6381328"/>
            <a:ext cx="461986" cy="276999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of </a:t>
            </a:r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40</a:t>
            </a:r>
            <a:endParaRPr lang="en-US" sz="1200" b="1" dirty="0">
              <a:latin typeface="TypoSlabserif-Light" pitchFamily="2" charset="0"/>
            </a:endParaRPr>
          </a:p>
        </p:txBody>
      </p:sp>
      <p:pic>
        <p:nvPicPr>
          <p:cNvPr id="17" name="Picture 18" descr="PrevArrow.png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395200" y="6429177"/>
            <a:ext cx="213333" cy="2133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iki/Base_de_donn%C3%A9es" TargetMode="External"/><Relationship Id="rId2" Type="http://schemas.openxmlformats.org/officeDocument/2006/relationships/hyperlink" Target="https://fr.wikipedia.org/wiki/OpenG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fr.wikipedia.org/wiki/Extensible_Markup_Language" TargetMode="External"/><Relationship Id="rId4" Type="http://schemas.openxmlformats.org/officeDocument/2006/relationships/hyperlink" Target="https://fr.wikipedia.org/wiki/Structured_Query_Language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doc.qt.io/qt-4.8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ottomLine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0384"/>
            <a:ext cx="9144000" cy="669726"/>
          </a:xfrm>
          <a:prstGeom prst="rect">
            <a:avLst/>
          </a:prstGeom>
        </p:spPr>
      </p:pic>
      <p:pic>
        <p:nvPicPr>
          <p:cNvPr id="17" name="Picture 16" descr="BottomLineDar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40736"/>
            <a:ext cx="9144000" cy="44648"/>
          </a:xfrm>
          <a:prstGeom prst="rect">
            <a:avLst/>
          </a:prstGeom>
        </p:spPr>
      </p:pic>
      <p:pic>
        <p:nvPicPr>
          <p:cNvPr id="15" name="Picture 14" descr="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95" y="6317332"/>
            <a:ext cx="377791" cy="3870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5786" y="6242442"/>
            <a:ext cx="1095172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YOU ARE </a:t>
            </a:r>
            <a:r>
              <a:rPr lang="en-US" sz="800" dirty="0" smtClean="0"/>
              <a:t>LOOKING AT</a:t>
            </a:r>
            <a:endParaRPr lang="en-US" sz="800" dirty="0"/>
          </a:p>
        </p:txBody>
      </p:sp>
      <p:sp>
        <p:nvSpPr>
          <p:cNvPr id="6" name="TextBox 5"/>
          <p:cNvSpPr txBox="1"/>
          <p:nvPr/>
        </p:nvSpPr>
        <p:spPr>
          <a:xfrm>
            <a:off x="785786" y="6363293"/>
            <a:ext cx="1603324" cy="307777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Presenter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Toumi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A.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Malek</a:t>
            </a:r>
            <a:endParaRPr lang="en-US" sz="1400" dirty="0">
              <a:latin typeface="TypoSlabserif-Light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5786" y="6542453"/>
            <a:ext cx="611065" cy="200055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7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PRESENTER</a:t>
            </a:r>
            <a:endParaRPr lang="en-US" sz="7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694634" y="6242442"/>
            <a:ext cx="1515158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Aujourd’hui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en-US" sz="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jeudi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31 mars 2016</a:t>
            </a:r>
            <a:endParaRPr lang="en-US" sz="800" dirty="0"/>
          </a:p>
        </p:txBody>
      </p:sp>
      <p:sp>
        <p:nvSpPr>
          <p:cNvPr id="11" name="TextBox 10"/>
          <p:cNvSpPr txBox="1"/>
          <p:nvPr/>
        </p:nvSpPr>
        <p:spPr>
          <a:xfrm>
            <a:off x="2694634" y="6363293"/>
            <a:ext cx="978153" cy="353943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Python; QT </a:t>
            </a:r>
            <a:endParaRPr lang="en-US" sz="1700" dirty="0">
              <a:latin typeface="TypoSlabserif-Light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47108" y="6242442"/>
            <a:ext cx="1268296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 ARE 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dist="12700" dir="2700000" sx="200000" sy="200000" algn="tl" rotWithShape="0">
                    <a:schemeClr val="bg1">
                      <a:alpha val="0"/>
                    </a:schemeClr>
                  </a:outerShdw>
                </a:effectLst>
              </a:rPr>
              <a:t>CURRENTLY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800" smtClean="0"/>
              <a:t>HERE</a:t>
            </a:r>
            <a:endParaRPr lang="en-US" sz="800"/>
          </a:p>
        </p:txBody>
      </p:sp>
      <p:sp>
        <p:nvSpPr>
          <p:cNvPr id="13" name="TextBox 12"/>
          <p:cNvSpPr txBox="1"/>
          <p:nvPr/>
        </p:nvSpPr>
        <p:spPr>
          <a:xfrm>
            <a:off x="7776000" y="6433112"/>
            <a:ext cx="558166" cy="276999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b="1" smtClean="0">
                <a:solidFill>
                  <a:schemeClr val="tx1">
                    <a:lumMod val="85000"/>
                    <a:lumOff val="15000"/>
                  </a:schemeClr>
                </a:solidFill>
                <a:latin typeface="TypoSlabserif-Light" pitchFamily="2" charset="0"/>
              </a:rPr>
              <a:t>1</a:t>
            </a:r>
            <a:r>
              <a:rPr 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of 7</a:t>
            </a:r>
            <a:endParaRPr lang="en-US" sz="1200" b="1">
              <a:latin typeface="TypoSlabserif-Light" pitchFamily="2" charset="0"/>
            </a:endParaRPr>
          </a:p>
        </p:txBody>
      </p:sp>
      <p:pic>
        <p:nvPicPr>
          <p:cNvPr id="19" name="Picture 18" descr="PrevArrow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200" y="6447512"/>
            <a:ext cx="213333" cy="2133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17549" y="1879105"/>
            <a:ext cx="4150752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00" b="1" dirty="0" smtClean="0">
                <a:solidFill>
                  <a:schemeClr val="bg1"/>
                </a:solidFill>
              </a:rPr>
              <a:t>Python</a:t>
            </a:r>
            <a:endParaRPr lang="en-US" sz="10400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47312" y="3389398"/>
            <a:ext cx="189827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 err="1" smtClean="0">
                <a:solidFill>
                  <a:schemeClr val="bg1">
                    <a:lumMod val="75000"/>
                  </a:schemeClr>
                </a:solidFill>
                <a:latin typeface="TypoSlabserif-Light" pitchFamily="2" charset="0"/>
              </a:rPr>
              <a:t>PyQT</a:t>
            </a:r>
            <a:r>
              <a:rPr lang="en-US" sz="2500" dirty="0" smtClean="0">
                <a:solidFill>
                  <a:schemeClr val="bg1">
                    <a:lumMod val="75000"/>
                  </a:schemeClr>
                </a:solidFill>
                <a:latin typeface="TypoSlabserif-Light" pitchFamily="2" charset="0"/>
              </a:rPr>
              <a:t>  pour </a:t>
            </a:r>
            <a:r>
              <a:rPr lang="en-US" sz="2500" dirty="0" err="1" smtClean="0">
                <a:solidFill>
                  <a:schemeClr val="bg1">
                    <a:lumMod val="75000"/>
                  </a:schemeClr>
                </a:solidFill>
                <a:latin typeface="TypoSlabserif-Light" pitchFamily="2" charset="0"/>
              </a:rPr>
              <a:t>l’IHM</a:t>
            </a:r>
            <a:endParaRPr lang="en-US" sz="2500" dirty="0">
              <a:solidFill>
                <a:schemeClr val="bg1">
                  <a:lumMod val="75000"/>
                </a:schemeClr>
              </a:solidFill>
              <a:latin typeface="TypoSlabserif-Light" pitchFamily="2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961" y="1857364"/>
            <a:ext cx="1555665" cy="1804572"/>
          </a:xfrm>
          <a:prstGeom prst="rect">
            <a:avLst/>
          </a:prstGeom>
        </p:spPr>
      </p:pic>
      <p:pic>
        <p:nvPicPr>
          <p:cNvPr id="23" name="Picture 22" descr="MainTitleImageShado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102" y="3714752"/>
            <a:ext cx="1902349" cy="243428"/>
          </a:xfrm>
          <a:prstGeom prst="rect">
            <a:avLst/>
          </a:prstGeom>
        </p:spPr>
      </p:pic>
      <p:pic>
        <p:nvPicPr>
          <p:cNvPr id="24" name="Picture 23" descr="MainTitleShado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00364" y="3714752"/>
            <a:ext cx="5202159" cy="270476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15" descr="BottomLine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0384"/>
            <a:ext cx="9144000" cy="669726"/>
          </a:xfrm>
          <a:prstGeom prst="rect">
            <a:avLst/>
          </a:prstGeom>
        </p:spPr>
      </p:pic>
      <p:pic>
        <p:nvPicPr>
          <p:cNvPr id="34" name="Picture 16" descr="BottomLineDar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40736"/>
            <a:ext cx="9144000" cy="44648"/>
          </a:xfrm>
          <a:prstGeom prst="rect">
            <a:avLst/>
          </a:prstGeom>
        </p:spPr>
      </p:pic>
      <p:pic>
        <p:nvPicPr>
          <p:cNvPr id="35" name="Picture 14" descr="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95" y="6317332"/>
            <a:ext cx="377791" cy="387005"/>
          </a:xfrm>
          <a:prstGeom prst="rect">
            <a:avLst/>
          </a:prstGeom>
        </p:spPr>
      </p:pic>
      <p:sp>
        <p:nvSpPr>
          <p:cNvPr id="36" name="TextBox 4"/>
          <p:cNvSpPr txBox="1"/>
          <p:nvPr/>
        </p:nvSpPr>
        <p:spPr>
          <a:xfrm>
            <a:off x="785786" y="6242442"/>
            <a:ext cx="1095172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YOU ARE </a:t>
            </a:r>
            <a:r>
              <a:rPr lang="en-US" sz="800" dirty="0" smtClean="0"/>
              <a:t>LOOKING AT</a:t>
            </a:r>
            <a:endParaRPr lang="en-US" sz="800" dirty="0"/>
          </a:p>
        </p:txBody>
      </p:sp>
      <p:sp>
        <p:nvSpPr>
          <p:cNvPr id="37" name="TextBox 5"/>
          <p:cNvSpPr txBox="1"/>
          <p:nvPr/>
        </p:nvSpPr>
        <p:spPr>
          <a:xfrm>
            <a:off x="785786" y="6363293"/>
            <a:ext cx="1603324" cy="307777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Presenter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Toumi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A.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Malek</a:t>
            </a:r>
            <a:endParaRPr lang="en-US" sz="1400" dirty="0">
              <a:latin typeface="TypoSlabserif-Light" pitchFamily="2" charset="0"/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785786" y="6542453"/>
            <a:ext cx="611065" cy="200055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7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PRESENTER</a:t>
            </a:r>
            <a:endParaRPr lang="en-US" sz="700" b="1" dirty="0"/>
          </a:p>
        </p:txBody>
      </p:sp>
      <p:sp>
        <p:nvSpPr>
          <p:cNvPr id="39" name="TextBox 9"/>
          <p:cNvSpPr txBox="1"/>
          <p:nvPr/>
        </p:nvSpPr>
        <p:spPr>
          <a:xfrm>
            <a:off x="2694634" y="6242442"/>
            <a:ext cx="1515158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Aujourd’hui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en-US" sz="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jeudi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31 mars 2016</a:t>
            </a:r>
            <a:endParaRPr lang="en-US" sz="800" dirty="0"/>
          </a:p>
        </p:txBody>
      </p:sp>
      <p:sp>
        <p:nvSpPr>
          <p:cNvPr id="40" name="TextBox 10"/>
          <p:cNvSpPr txBox="1"/>
          <p:nvPr/>
        </p:nvSpPr>
        <p:spPr>
          <a:xfrm>
            <a:off x="2694634" y="6363293"/>
            <a:ext cx="978153" cy="353943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Python; QT </a:t>
            </a:r>
            <a:endParaRPr lang="en-US" sz="1700" dirty="0">
              <a:latin typeface="TypoSlabserif-Light" pitchFamily="2" charset="0"/>
            </a:endParaRPr>
          </a:p>
        </p:txBody>
      </p:sp>
      <p:sp>
        <p:nvSpPr>
          <p:cNvPr id="41" name="TextBox 11"/>
          <p:cNvSpPr txBox="1"/>
          <p:nvPr/>
        </p:nvSpPr>
        <p:spPr>
          <a:xfrm>
            <a:off x="7447108" y="6242442"/>
            <a:ext cx="1268296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 ARE 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dist="12700" dir="2700000" sx="200000" sy="200000" algn="tl" rotWithShape="0">
                    <a:schemeClr val="bg1">
                      <a:alpha val="0"/>
                    </a:schemeClr>
                  </a:outerShdw>
                </a:effectLst>
              </a:rPr>
              <a:t>CURRENTLY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800" smtClean="0"/>
              <a:t>HERE</a:t>
            </a:r>
            <a:endParaRPr lang="en-US" sz="800"/>
          </a:p>
        </p:txBody>
      </p:sp>
      <p:sp>
        <p:nvSpPr>
          <p:cNvPr id="42" name="TextBox 12"/>
          <p:cNvSpPr txBox="1"/>
          <p:nvPr/>
        </p:nvSpPr>
        <p:spPr>
          <a:xfrm>
            <a:off x="8781044" y="6392361"/>
            <a:ext cx="399468" cy="276999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of 7</a:t>
            </a:r>
            <a:endParaRPr lang="en-US" sz="1200" b="1" dirty="0">
              <a:latin typeface="TypoSlabserif-Light" pitchFamily="2" charset="0"/>
            </a:endParaRPr>
          </a:p>
        </p:txBody>
      </p:sp>
      <p:pic>
        <p:nvPicPr>
          <p:cNvPr id="43" name="Picture 18" descr="PrevArrow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200" y="6447512"/>
            <a:ext cx="213333" cy="213333"/>
          </a:xfrm>
          <a:prstGeom prst="rect">
            <a:avLst/>
          </a:prstGeom>
        </p:spPr>
      </p:pic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Sommaire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Création d’interface graphique (IHM)</a:t>
            </a:r>
          </a:p>
          <a:p>
            <a:pPr marL="914400" lvl="1" indent="-514350"/>
            <a:r>
              <a:rPr lang="fr-FR" dirty="0"/>
              <a:t>Généralités</a:t>
            </a:r>
          </a:p>
          <a:p>
            <a:pPr marL="914400" lvl="1" indent="-514350"/>
            <a:r>
              <a:rPr lang="fr-FR" dirty="0"/>
              <a:t>Composants graphiques de base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Présentation de QT</a:t>
            </a:r>
          </a:p>
          <a:p>
            <a:pPr lvl="1"/>
            <a:r>
              <a:rPr lang="fr-FR" dirty="0" smtClean="0"/>
              <a:t>Introduction</a:t>
            </a:r>
          </a:p>
          <a:p>
            <a:pPr lvl="1"/>
            <a:r>
              <a:rPr lang="fr-FR" dirty="0" smtClean="0"/>
              <a:t>Les principaux modules</a:t>
            </a:r>
          </a:p>
          <a:p>
            <a:pPr lvl="1"/>
            <a:r>
              <a:rPr lang="fr-FR" dirty="0" smtClean="0"/>
              <a:t>Documentation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 smtClean="0"/>
          </a:p>
          <a:p>
            <a:pPr marL="857250" lvl="1" indent="-457200"/>
            <a:r>
              <a:rPr lang="fr-FR" dirty="0" smtClean="0"/>
              <a:t>Les modules de </a:t>
            </a:r>
            <a:r>
              <a:rPr lang="fr-FR" dirty="0" err="1" smtClean="0"/>
              <a:t>PyQt</a:t>
            </a:r>
            <a:endParaRPr lang="fr-FR" dirty="0" smtClean="0"/>
          </a:p>
          <a:p>
            <a:pPr marL="857250" lvl="1" indent="-457200"/>
            <a:r>
              <a:rPr lang="fr-FR" dirty="0" smtClean="0"/>
              <a:t>Les widgets</a:t>
            </a:r>
          </a:p>
          <a:p>
            <a:pPr marL="857250" lvl="1" indent="-457200"/>
            <a:r>
              <a:rPr lang="fr-FR" dirty="0" smtClean="0"/>
              <a:t>Définition de classe graphique</a:t>
            </a:r>
          </a:p>
          <a:p>
            <a:pPr marL="857250" lvl="1" indent="-457200"/>
            <a:r>
              <a:rPr lang="fr-FR" dirty="0" smtClean="0"/>
              <a:t>Les fenêtres </a:t>
            </a:r>
          </a:p>
          <a:p>
            <a:pPr marL="857250" lvl="1" indent="-457200"/>
            <a:r>
              <a:rPr lang="fr-FR" dirty="0" smtClean="0"/>
              <a:t>Signaux et slots en Python</a:t>
            </a:r>
          </a:p>
          <a:p>
            <a:pPr marL="457200" lvl="1" indent="0">
              <a:buNone/>
            </a:pP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6085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DarkPowerpointTemplate-Slide02-Small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" y="0"/>
            <a:ext cx="9144000" cy="6858000"/>
          </a:xfrm>
          <a:prstGeom prst="rect">
            <a:avLst/>
          </a:prstGeom>
        </p:spPr>
      </p:pic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pc="-400" dirty="0" smtClean="0"/>
              <a:t>Généralités</a:t>
            </a: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Création d’IHM</a:t>
            </a:r>
            <a:endParaRPr lang="fr-FR" dirty="0"/>
          </a:p>
        </p:txBody>
      </p:sp>
      <p:pic>
        <p:nvPicPr>
          <p:cNvPr id="41" name="Picture 15" descr="BottomLine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19924"/>
            <a:ext cx="9144000" cy="669726"/>
          </a:xfrm>
          <a:prstGeom prst="rect">
            <a:avLst/>
          </a:prstGeom>
        </p:spPr>
      </p:pic>
      <p:pic>
        <p:nvPicPr>
          <p:cNvPr id="42" name="Picture 16" descr="BottomLineDar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970276"/>
            <a:ext cx="9144000" cy="44648"/>
          </a:xfrm>
          <a:prstGeom prst="rect">
            <a:avLst/>
          </a:prstGeom>
        </p:spPr>
      </p:pic>
      <p:pic>
        <p:nvPicPr>
          <p:cNvPr id="43" name="Picture 14" descr="Ava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95" y="6446872"/>
            <a:ext cx="377791" cy="387005"/>
          </a:xfrm>
          <a:prstGeom prst="rect">
            <a:avLst/>
          </a:prstGeom>
        </p:spPr>
      </p:pic>
      <p:sp>
        <p:nvSpPr>
          <p:cNvPr id="44" name="TextBox 4"/>
          <p:cNvSpPr txBox="1"/>
          <p:nvPr/>
        </p:nvSpPr>
        <p:spPr>
          <a:xfrm>
            <a:off x="785786" y="6371982"/>
            <a:ext cx="1095172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YOU ARE </a:t>
            </a:r>
            <a:r>
              <a:rPr lang="en-US" sz="800" dirty="0" smtClean="0"/>
              <a:t>LOOKING AT</a:t>
            </a:r>
            <a:endParaRPr lang="en-US" sz="800" dirty="0"/>
          </a:p>
        </p:txBody>
      </p:sp>
      <p:sp>
        <p:nvSpPr>
          <p:cNvPr id="45" name="TextBox 5"/>
          <p:cNvSpPr txBox="1"/>
          <p:nvPr/>
        </p:nvSpPr>
        <p:spPr>
          <a:xfrm>
            <a:off x="785786" y="6492833"/>
            <a:ext cx="1603324" cy="307777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Presenter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Toumi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A.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Malek</a:t>
            </a:r>
            <a:endParaRPr lang="en-US" sz="1400" dirty="0">
              <a:latin typeface="TypoSlabserif-Light" pitchFamily="2" charset="0"/>
            </a:endParaRPr>
          </a:p>
        </p:txBody>
      </p:sp>
      <p:sp>
        <p:nvSpPr>
          <p:cNvPr id="46" name="TextBox 6"/>
          <p:cNvSpPr txBox="1"/>
          <p:nvPr/>
        </p:nvSpPr>
        <p:spPr>
          <a:xfrm>
            <a:off x="785786" y="6671993"/>
            <a:ext cx="611065" cy="200055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7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PRESENTER</a:t>
            </a:r>
            <a:endParaRPr lang="en-US" sz="700" b="1" dirty="0"/>
          </a:p>
        </p:txBody>
      </p:sp>
      <p:sp>
        <p:nvSpPr>
          <p:cNvPr id="47" name="TextBox 9"/>
          <p:cNvSpPr txBox="1"/>
          <p:nvPr/>
        </p:nvSpPr>
        <p:spPr>
          <a:xfrm>
            <a:off x="2694634" y="6371982"/>
            <a:ext cx="1515158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Aujourd’hui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en-US" sz="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jeudi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31 mars 2016</a:t>
            </a:r>
            <a:endParaRPr lang="en-US" sz="800" dirty="0"/>
          </a:p>
        </p:txBody>
      </p:sp>
      <p:sp>
        <p:nvSpPr>
          <p:cNvPr id="48" name="TextBox 10"/>
          <p:cNvSpPr txBox="1"/>
          <p:nvPr/>
        </p:nvSpPr>
        <p:spPr>
          <a:xfrm>
            <a:off x="2694634" y="6492833"/>
            <a:ext cx="978153" cy="353943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Python; QT </a:t>
            </a:r>
            <a:endParaRPr lang="en-US" sz="1700" dirty="0">
              <a:latin typeface="TypoSlabserif-Light" pitchFamily="2" charset="0"/>
            </a:endParaRPr>
          </a:p>
        </p:txBody>
      </p:sp>
      <p:sp>
        <p:nvSpPr>
          <p:cNvPr id="49" name="TextBox 11"/>
          <p:cNvSpPr txBox="1"/>
          <p:nvPr/>
        </p:nvSpPr>
        <p:spPr>
          <a:xfrm>
            <a:off x="7447108" y="6371982"/>
            <a:ext cx="1268296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 ARE 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dist="12700" dir="2700000" sx="200000" sy="200000" algn="tl" rotWithShape="0">
                    <a:schemeClr val="bg1">
                      <a:alpha val="0"/>
                    </a:schemeClr>
                  </a:outerShdw>
                </a:effectLst>
              </a:rPr>
              <a:t>CURRENTLY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800" smtClean="0"/>
              <a:t>HERE</a:t>
            </a:r>
            <a:endParaRPr lang="en-US" sz="800"/>
          </a:p>
        </p:txBody>
      </p:sp>
      <p:sp>
        <p:nvSpPr>
          <p:cNvPr id="50" name="TextBox 12"/>
          <p:cNvSpPr txBox="1"/>
          <p:nvPr/>
        </p:nvSpPr>
        <p:spPr>
          <a:xfrm>
            <a:off x="8781044" y="6521901"/>
            <a:ext cx="399468" cy="276999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of 7</a:t>
            </a:r>
            <a:endParaRPr lang="en-US" sz="1200" b="1" dirty="0">
              <a:latin typeface="TypoSlabserif-Light" pitchFamily="2" charset="0"/>
            </a:endParaRPr>
          </a:p>
        </p:txBody>
      </p:sp>
      <p:pic>
        <p:nvPicPr>
          <p:cNvPr id="51" name="Picture 18" descr="PrevArrow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5200" y="6577052"/>
            <a:ext cx="213333" cy="213333"/>
          </a:xfrm>
          <a:prstGeom prst="rect">
            <a:avLst/>
          </a:prstGeom>
        </p:spPr>
      </p:pic>
      <p:sp>
        <p:nvSpPr>
          <p:cNvPr id="52" name="Espace réservé du numéro de diapositive 1"/>
          <p:cNvSpPr txBox="1">
            <a:spLocks/>
          </p:cNvSpPr>
          <p:nvPr/>
        </p:nvSpPr>
        <p:spPr>
          <a:xfrm>
            <a:off x="6777960" y="646172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CFFF0D-0199-40F6-98A2-0B4E765CD12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ZoneTexte 2"/>
          <p:cNvSpPr txBox="1"/>
          <p:nvPr/>
        </p:nvSpPr>
        <p:spPr>
          <a:xfrm>
            <a:off x="435966" y="1351508"/>
            <a:ext cx="80659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</a:rPr>
              <a:t>Intérêt </a:t>
            </a:r>
            <a:r>
              <a:rPr lang="fr-FR" sz="2800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chemeClr val="bg1"/>
                </a:solidFill>
              </a:rPr>
              <a:t>Présenter </a:t>
            </a:r>
            <a:r>
              <a:rPr lang="fr-FR" sz="2000" dirty="0">
                <a:solidFill>
                  <a:schemeClr val="bg1"/>
                </a:solidFill>
              </a:rPr>
              <a:t>des informations de </a:t>
            </a:r>
            <a:r>
              <a:rPr lang="fr-FR" sz="2000" dirty="0" smtClean="0">
                <a:solidFill>
                  <a:schemeClr val="bg1"/>
                </a:solidFill>
              </a:rPr>
              <a:t>manière synthétique</a:t>
            </a:r>
            <a:endParaRPr lang="fr-FR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bg1"/>
                </a:solidFill>
              </a:rPr>
              <a:t>Permettre d'interagir avec le programme</a:t>
            </a:r>
          </a:p>
          <a:p>
            <a:endParaRPr lang="fr-FR" sz="2800" dirty="0" smtClean="0">
              <a:solidFill>
                <a:schemeClr val="bg1"/>
              </a:solidFill>
            </a:endParaRPr>
          </a:p>
          <a:p>
            <a:r>
              <a:rPr lang="fr-FR" sz="2800" dirty="0" smtClean="0">
                <a:solidFill>
                  <a:schemeClr val="bg1"/>
                </a:solidFill>
              </a:rPr>
              <a:t>Caractéristiques </a:t>
            </a:r>
            <a:r>
              <a:rPr lang="fr-FR" sz="2800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bg1"/>
                </a:solidFill>
              </a:rPr>
              <a:t>Code sans </a:t>
            </a:r>
            <a:r>
              <a:rPr lang="fr-FR" sz="2000" dirty="0" smtClean="0">
                <a:solidFill>
                  <a:schemeClr val="bg1"/>
                </a:solidFill>
              </a:rPr>
              <a:t>difficulté </a:t>
            </a:r>
            <a:r>
              <a:rPr lang="fr-FR" sz="2000" dirty="0">
                <a:solidFill>
                  <a:schemeClr val="bg1"/>
                </a:solidFill>
              </a:rPr>
              <a:t>technique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bg1"/>
                </a:solidFill>
              </a:rPr>
              <a:t>Code souvent long et peu lisible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bg1"/>
                </a:solidFill>
              </a:rPr>
              <a:t>Code pas </a:t>
            </a:r>
            <a:r>
              <a:rPr lang="fr-FR" sz="2000" dirty="0" smtClean="0">
                <a:solidFill>
                  <a:schemeClr val="bg1"/>
                </a:solidFill>
              </a:rPr>
              <a:t>intéressant </a:t>
            </a:r>
            <a:r>
              <a:rPr lang="fr-FR" sz="2000" dirty="0">
                <a:solidFill>
                  <a:schemeClr val="bg1"/>
                </a:solidFill>
              </a:rPr>
              <a:t>a </a:t>
            </a:r>
            <a:r>
              <a:rPr lang="fr-FR" sz="2000" dirty="0" smtClean="0">
                <a:solidFill>
                  <a:schemeClr val="bg1"/>
                </a:solidFill>
              </a:rPr>
              <a:t>écrire</a:t>
            </a:r>
          </a:p>
          <a:p>
            <a:endParaRPr lang="fr-FR" sz="2000" dirty="0">
              <a:solidFill>
                <a:schemeClr val="bg1"/>
              </a:solidFill>
            </a:endParaRPr>
          </a:p>
          <a:p>
            <a:r>
              <a:rPr lang="fr-FR" sz="2000" dirty="0" smtClean="0">
                <a:solidFill>
                  <a:schemeClr val="bg1"/>
                </a:solidFill>
              </a:rPr>
              <a:t>Solution 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bg1"/>
                </a:solidFill>
              </a:rPr>
              <a:t>Utilisation des « boites à outils (</a:t>
            </a:r>
            <a:r>
              <a:rPr lang="fr-FR" sz="2000" dirty="0" err="1">
                <a:solidFill>
                  <a:schemeClr val="bg1"/>
                </a:solidFill>
              </a:rPr>
              <a:t>toollkit</a:t>
            </a:r>
            <a:r>
              <a:rPr lang="fr-FR" sz="2000" dirty="0">
                <a:solidFill>
                  <a:schemeClr val="bg1"/>
                </a:solidFill>
              </a:rPr>
              <a:t> graphique)» </a:t>
            </a:r>
          </a:p>
          <a:p>
            <a:r>
              <a:rPr lang="fr-FR" sz="2000" dirty="0" smtClean="0">
                <a:solidFill>
                  <a:schemeClr val="bg1"/>
                </a:solidFill>
                <a:sym typeface="Wingdings" panose="05000000000000000000" pitchFamily="2" charset="2"/>
              </a:rPr>
              <a:t>   </a:t>
            </a:r>
            <a:r>
              <a:rPr lang="fr-FR" sz="2000" dirty="0">
                <a:solidFill>
                  <a:schemeClr val="bg1"/>
                </a:solidFill>
                <a:sym typeface="Wingdings" panose="05000000000000000000" pitchFamily="2" charset="2"/>
              </a:rPr>
              <a:t>Utilisent la programmation </a:t>
            </a:r>
            <a:r>
              <a:rPr lang="fr-FR" sz="2000" dirty="0" smtClean="0">
                <a:solidFill>
                  <a:schemeClr val="bg1"/>
                </a:solidFill>
                <a:sym typeface="Wingdings" panose="05000000000000000000" pitchFamily="2" charset="2"/>
              </a:rPr>
              <a:t>évènementielle</a:t>
            </a:r>
            <a:endParaRPr lang="fr-FR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 smtClean="0">
                <a:solidFill>
                  <a:schemeClr val="bg1"/>
                </a:solidFill>
              </a:rPr>
              <a:t>Principe : </a:t>
            </a:r>
            <a:r>
              <a:rPr lang="fr-FR" sz="2000" dirty="0" smtClean="0">
                <a:solidFill>
                  <a:schemeClr val="bg1"/>
                </a:solidFill>
              </a:rPr>
              <a:t>La programmation d’IHM se décompose en 4 phases :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000" dirty="0" smtClean="0">
                <a:solidFill>
                  <a:schemeClr val="bg1"/>
                </a:solidFill>
              </a:rPr>
              <a:t>Assemblage des composants graphiques (widgets) constituant l’IHM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000" dirty="0" smtClean="0">
                <a:solidFill>
                  <a:schemeClr val="bg1"/>
                </a:solidFill>
              </a:rPr>
              <a:t>Ecriture des traitements à déclencher par les actions de l’utilisateur (modules de traitements)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000" dirty="0" smtClean="0">
                <a:solidFill>
                  <a:schemeClr val="bg1"/>
                </a:solidFill>
              </a:rPr>
              <a:t>Association des ces traitements aux actions de l’utilisateur (on associer le clique d’un bouton pour lancer un calcul)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000" dirty="0" smtClean="0">
                <a:solidFill>
                  <a:schemeClr val="bg1"/>
                </a:solidFill>
              </a:rPr>
              <a:t>Lancement de la boucle principale de la boite à outils</a:t>
            </a:r>
          </a:p>
          <a:p>
            <a:pPr marL="0" indent="0">
              <a:buNone/>
            </a:pP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736432" y="6316940"/>
            <a:ext cx="2133600" cy="365125"/>
          </a:xfrm>
        </p:spPr>
        <p:txBody>
          <a:bodyPr/>
          <a:lstStyle/>
          <a:p>
            <a:fld id="{BECFFF0D-0199-40F6-98A2-0B4E765CD128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8" name="Groupe 7"/>
          <p:cNvGrpSpPr/>
          <p:nvPr/>
        </p:nvGrpSpPr>
        <p:grpSpPr>
          <a:xfrm>
            <a:off x="539984" y="4361512"/>
            <a:ext cx="7920880" cy="732964"/>
            <a:chOff x="539984" y="4361512"/>
            <a:chExt cx="7920880" cy="732964"/>
          </a:xfrm>
        </p:grpSpPr>
        <p:sp>
          <p:nvSpPr>
            <p:cNvPr id="6" name="ZoneTexte 5"/>
            <p:cNvSpPr txBox="1"/>
            <p:nvPr/>
          </p:nvSpPr>
          <p:spPr>
            <a:xfrm>
              <a:off x="539984" y="4725144"/>
              <a:ext cx="7920880" cy="369332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ln w="1905"/>
                  <a:gradFill>
                    <a:gsLst>
                      <a:gs pos="0">
                        <a:schemeClr val="accent6">
                          <a:shade val="20000"/>
                          <a:satMod val="200000"/>
                        </a:schemeClr>
                      </a:gs>
                      <a:gs pos="78000">
                        <a:schemeClr val="accent6">
                          <a:tint val="90000"/>
                          <a:shade val="89000"/>
                          <a:satMod val="220000"/>
                        </a:schemeClr>
                      </a:gs>
                      <a:gs pos="100000">
                        <a:schemeClr val="accent6">
                          <a:tint val="12000"/>
                          <a:satMod val="255000"/>
                        </a:schemeClr>
                      </a:gs>
                    </a:gsLst>
                    <a:lin ang="5400000"/>
                  </a:gra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</a:rPr>
                <a:t>Ces phases sont plus au moins indépendantes selon la boite à outils </a:t>
              </a:r>
              <a:r>
                <a:rPr lang="fr-FR" b="1" dirty="0" smtClean="0">
                  <a:ln w="1905"/>
                  <a:gradFill>
                    <a:gsLst>
                      <a:gs pos="0">
                        <a:schemeClr val="accent6">
                          <a:shade val="20000"/>
                          <a:satMod val="200000"/>
                        </a:schemeClr>
                      </a:gs>
                      <a:gs pos="78000">
                        <a:schemeClr val="accent6">
                          <a:tint val="90000"/>
                          <a:shade val="89000"/>
                          <a:satMod val="220000"/>
                        </a:schemeClr>
                      </a:gs>
                      <a:gs pos="100000">
                        <a:schemeClr val="accent6">
                          <a:tint val="12000"/>
                          <a:satMod val="255000"/>
                        </a:schemeClr>
                      </a:gs>
                    </a:gsLst>
                    <a:lin ang="5400000"/>
                  </a:gra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</a:rPr>
                <a:t>utilisée</a:t>
              </a:r>
              <a:endParaRPr lang="fr-FR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endParaRPr>
            </a:p>
          </p:txBody>
        </p:sp>
        <p:sp>
          <p:nvSpPr>
            <p:cNvPr id="7" name="ZoneTexte 6"/>
            <p:cNvSpPr txBox="1"/>
            <p:nvPr/>
          </p:nvSpPr>
          <p:spPr>
            <a:xfrm>
              <a:off x="539984" y="4361512"/>
              <a:ext cx="7920880" cy="369332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r>
                <a:rPr lang="fr-FR" dirty="0" smtClean="0"/>
                <a:t>Remarque :</a:t>
              </a:r>
              <a:endParaRPr lang="fr-FR" dirty="0"/>
            </a:p>
          </p:txBody>
        </p:sp>
      </p:grpSp>
      <p:sp>
        <p:nvSpPr>
          <p:cNvPr id="9" name="Titre 3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648072"/>
          </a:xfrm>
        </p:spPr>
        <p:txBody>
          <a:bodyPr/>
          <a:lstStyle/>
          <a:p>
            <a:r>
              <a:rPr lang="fr-FR" spc="-400" dirty="0" smtClean="0"/>
              <a:t>Généralités</a:t>
            </a:r>
            <a:endParaRPr lang="fr-FR" dirty="0"/>
          </a:p>
        </p:txBody>
      </p:sp>
      <p:sp>
        <p:nvSpPr>
          <p:cNvPr id="10" name="Espace réservé du contenu 8"/>
          <p:cNvSpPr>
            <a:spLocks noGrp="1"/>
          </p:cNvSpPr>
          <p:nvPr>
            <p:ph sz="quarter" idx="13"/>
          </p:nvPr>
        </p:nvSpPr>
        <p:spPr>
          <a:xfrm>
            <a:off x="467544" y="23664"/>
            <a:ext cx="8208963" cy="576064"/>
          </a:xfrm>
        </p:spPr>
        <p:txBody>
          <a:bodyPr/>
          <a:lstStyle/>
          <a:p>
            <a:r>
              <a:rPr lang="fr-FR" dirty="0" smtClean="0"/>
              <a:t>Création d’IHM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918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660232" y="6309320"/>
            <a:ext cx="2133600" cy="365125"/>
          </a:xfrm>
        </p:spPr>
        <p:txBody>
          <a:bodyPr/>
          <a:lstStyle/>
          <a:p>
            <a:fld id="{BECFFF0D-0199-40F6-98A2-0B4E765CD12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 smtClean="0">
                <a:solidFill>
                  <a:schemeClr val="bg1"/>
                </a:solidFill>
              </a:rPr>
              <a:t>Type de composants  (widgets)</a:t>
            </a:r>
            <a:r>
              <a:rPr lang="fr-FR" sz="2000" dirty="0" smtClean="0">
                <a:solidFill>
                  <a:schemeClr val="bg1"/>
                </a:solidFill>
              </a:rPr>
              <a:t> : Deux grandes catégories :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400" dirty="0" smtClean="0">
                <a:solidFill>
                  <a:srgbClr val="FFFF00"/>
                </a:solidFill>
              </a:rPr>
              <a:t>Les conteneurs : </a:t>
            </a:r>
            <a:r>
              <a:rPr lang="fr-FR" sz="2400" dirty="0" smtClean="0">
                <a:solidFill>
                  <a:schemeClr val="bg1"/>
                </a:solidFill>
              </a:rPr>
              <a:t>peuvent contenir d’autres composants</a:t>
            </a:r>
          </a:p>
          <a:p>
            <a:pPr marL="715963" indent="-266700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smtClean="0">
                <a:solidFill>
                  <a:srgbClr val="99FF33"/>
                </a:solidFill>
              </a:rPr>
              <a:t>Les conteneurs de haut niveau</a:t>
            </a:r>
            <a:r>
              <a:rPr lang="fr-FR" sz="2000" dirty="0" smtClean="0">
                <a:solidFill>
                  <a:schemeClr val="bg1"/>
                </a:solidFill>
              </a:rPr>
              <a:t> (top </a:t>
            </a:r>
            <a:r>
              <a:rPr lang="fr-FR" sz="2000" dirty="0" err="1" smtClean="0">
                <a:solidFill>
                  <a:schemeClr val="bg1"/>
                </a:solidFill>
              </a:rPr>
              <a:t>level</a:t>
            </a:r>
            <a:r>
              <a:rPr lang="fr-FR" sz="2000" dirty="0" smtClean="0">
                <a:solidFill>
                  <a:schemeClr val="bg1"/>
                </a:solidFill>
              </a:rPr>
              <a:t> containers) : Ne peuvent être contenus dans d’autre conteneurs.</a:t>
            </a:r>
          </a:p>
          <a:p>
            <a:pPr indent="0">
              <a:buNone/>
            </a:pPr>
            <a:r>
              <a:rPr lang="fr-FR" sz="2000" dirty="0" smtClean="0">
                <a:solidFill>
                  <a:schemeClr val="bg1"/>
                </a:solidFill>
              </a:rPr>
              <a:t> Exemple : Fenêtre , boite de dialogue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fr-FR" sz="2000" dirty="0" smtClean="0">
                <a:solidFill>
                  <a:srgbClr val="FFFF00"/>
                </a:solidFill>
              </a:rPr>
              <a:t>Autres </a:t>
            </a:r>
            <a:r>
              <a:rPr lang="fr-FR" sz="2000" dirty="0" smtClean="0">
                <a:solidFill>
                  <a:schemeClr val="bg1"/>
                </a:solidFill>
              </a:rPr>
              <a:t>:  ne peuvent contenir d’autre composants </a:t>
            </a:r>
          </a:p>
          <a:p>
            <a:pPr marL="0" indent="0">
              <a:buNone/>
            </a:pPr>
            <a:r>
              <a:rPr lang="fr-FR" sz="2000" dirty="0" smtClean="0">
                <a:solidFill>
                  <a:schemeClr val="bg1"/>
                </a:solidFill>
              </a:rPr>
              <a:t>         Exemple : Barre de défilement,  Bouton de  bascule (bouton radio)</a:t>
            </a:r>
            <a:endParaRPr lang="fr-FR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" name="Titre 3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648072"/>
          </a:xfrm>
        </p:spPr>
        <p:txBody>
          <a:bodyPr/>
          <a:lstStyle/>
          <a:p>
            <a:r>
              <a:rPr lang="fr-FR" dirty="0"/>
              <a:t>Composants graphiques de </a:t>
            </a:r>
            <a:r>
              <a:rPr lang="fr-FR" dirty="0" smtClean="0"/>
              <a:t>base</a:t>
            </a:r>
            <a:endParaRPr lang="fr-FR" dirty="0"/>
          </a:p>
        </p:txBody>
      </p:sp>
      <p:sp>
        <p:nvSpPr>
          <p:cNvPr id="8" name="Espace réservé du contenu 8"/>
          <p:cNvSpPr>
            <a:spLocks noGrp="1"/>
          </p:cNvSpPr>
          <p:nvPr>
            <p:ph sz="quarter" idx="13"/>
          </p:nvPr>
        </p:nvSpPr>
        <p:spPr>
          <a:xfrm>
            <a:off x="467544" y="23664"/>
            <a:ext cx="8208963" cy="576064"/>
          </a:xfrm>
        </p:spPr>
        <p:txBody>
          <a:bodyPr/>
          <a:lstStyle/>
          <a:p>
            <a:r>
              <a:rPr lang="fr-FR" dirty="0" smtClean="0"/>
              <a:t>Création d’IHM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5116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Espace réservé du contenu 2"/>
          <p:cNvSpPr txBox="1">
            <a:spLocks/>
          </p:cNvSpPr>
          <p:nvPr/>
        </p:nvSpPr>
        <p:spPr>
          <a:xfrm>
            <a:off x="609600" y="119675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chemeClr val="bg1"/>
                </a:solidFill>
              </a:rPr>
              <a:t>Disponibles dans toutes les boites à outils</a:t>
            </a:r>
          </a:p>
          <a:p>
            <a:pPr marL="514350" indent="-514350">
              <a:buFont typeface="+mj-lt"/>
              <a:buAutoNum type="arabicPeriod"/>
            </a:pPr>
            <a:endParaRPr lang="fr-FR" sz="2000" dirty="0" smtClean="0">
              <a:solidFill>
                <a:schemeClr val="bg1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fr-FR" sz="2000" dirty="0">
              <a:solidFill>
                <a:schemeClr val="bg1"/>
              </a:solidFill>
            </a:endParaRPr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572141"/>
              </p:ext>
            </p:extLst>
          </p:nvPr>
        </p:nvGraphicFramePr>
        <p:xfrm>
          <a:off x="213864" y="2200891"/>
          <a:ext cx="5870304" cy="350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3467"/>
                <a:gridCol w="4116837"/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Composants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Remarques </a:t>
                      </a:r>
                      <a:endParaRPr lang="fr-FR" dirty="0"/>
                    </a:p>
                  </a:txBody>
                  <a:tcPr/>
                </a:tc>
              </a:tr>
              <a:tr h="349240">
                <a:tc>
                  <a:txBody>
                    <a:bodyPr/>
                    <a:lstStyle/>
                    <a:p>
                      <a:r>
                        <a:rPr lang="fr-FR" dirty="0" smtClean="0"/>
                        <a:t>Fenêtre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 conteneur</a:t>
                      </a:r>
                      <a:r>
                        <a:rPr lang="fr-FR" baseline="0" dirty="0" smtClean="0"/>
                        <a:t> de base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Bouton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 composant muni d’un libellé -&gt; cliquer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libellé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Texte affiché</a:t>
                      </a:r>
                      <a:r>
                        <a:rPr lang="fr-FR" baseline="0" dirty="0" smtClean="0"/>
                        <a:t> -&gt; sans interaction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Champ</a:t>
                      </a:r>
                      <a:r>
                        <a:rPr lang="fr-FR" baseline="0" dirty="0" smtClean="0"/>
                        <a:t> texte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Zone permettant la saisi</a:t>
                      </a:r>
                      <a:r>
                        <a:rPr lang="fr-FR" baseline="0" dirty="0" smtClean="0"/>
                        <a:t> de texte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Bouton bascule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Composant</a:t>
                      </a:r>
                      <a:r>
                        <a:rPr lang="fr-FR" baseline="0" dirty="0" smtClean="0"/>
                        <a:t> avec un état binaire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Barre de défilement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Echelle</a:t>
                      </a:r>
                      <a:r>
                        <a:rPr lang="fr-FR" baseline="0" dirty="0" smtClean="0"/>
                        <a:t> permettant le défilement du contenu d’un conteneur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Zone de dessin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Conteneur</a:t>
                      </a:r>
                      <a:r>
                        <a:rPr lang="fr-FR" baseline="0" dirty="0" smtClean="0"/>
                        <a:t> (appelé </a:t>
                      </a:r>
                      <a:r>
                        <a:rPr lang="fr-FR" baseline="0" dirty="0" err="1" smtClean="0"/>
                        <a:t>canvas</a:t>
                      </a:r>
                      <a:r>
                        <a:rPr lang="fr-FR" baseline="0" dirty="0" smtClean="0"/>
                        <a:t>) destiné pour dessiner des primitives graphiques,,,</a:t>
                      </a:r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8" name="Picture 4" descr="Afficher l'image d'orig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424" y="2420888"/>
            <a:ext cx="2987824" cy="2474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5" y="3789040"/>
            <a:ext cx="360040" cy="208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4036690"/>
            <a:ext cx="468000" cy="238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re 3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648072"/>
          </a:xfrm>
        </p:spPr>
        <p:txBody>
          <a:bodyPr/>
          <a:lstStyle/>
          <a:p>
            <a:r>
              <a:rPr lang="fr-FR" dirty="0"/>
              <a:t>Composants graphiques de </a:t>
            </a:r>
            <a:r>
              <a:rPr lang="fr-FR" dirty="0" smtClean="0"/>
              <a:t>base</a:t>
            </a:r>
            <a:endParaRPr lang="fr-FR" dirty="0"/>
          </a:p>
        </p:txBody>
      </p:sp>
      <p:sp>
        <p:nvSpPr>
          <p:cNvPr id="10" name="Espace réservé du contenu 8"/>
          <p:cNvSpPr>
            <a:spLocks noGrp="1"/>
          </p:cNvSpPr>
          <p:nvPr>
            <p:ph sz="quarter" idx="13"/>
          </p:nvPr>
        </p:nvSpPr>
        <p:spPr>
          <a:xfrm>
            <a:off x="467544" y="23664"/>
            <a:ext cx="8208963" cy="576064"/>
          </a:xfrm>
        </p:spPr>
        <p:txBody>
          <a:bodyPr/>
          <a:lstStyle/>
          <a:p>
            <a:r>
              <a:rPr lang="fr-FR" dirty="0" smtClean="0"/>
              <a:t>Création d’IHM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88261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660232" y="6309320"/>
            <a:ext cx="2133600" cy="365125"/>
          </a:xfrm>
        </p:spPr>
        <p:txBody>
          <a:bodyPr/>
          <a:lstStyle/>
          <a:p>
            <a:fld id="{BECFFF0D-0199-40F6-98A2-0B4E765CD12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 smtClean="0">
                <a:solidFill>
                  <a:schemeClr val="bg1"/>
                </a:solidFill>
              </a:rPr>
              <a:t>Disposition des composants  (widgets)</a:t>
            </a:r>
            <a:endParaRPr lang="fr-FR" sz="2000" dirty="0" smtClean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 smtClean="0">
                <a:solidFill>
                  <a:schemeClr val="bg1"/>
                </a:solidFill>
              </a:rPr>
              <a:t>Pour un conteneur : on peut spécifier la disposition des composants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 smtClean="0">
                <a:solidFill>
                  <a:schemeClr val="bg1"/>
                </a:solidFill>
              </a:rPr>
              <a:t> Selon la boite à outils utilisée, la disposition peut être 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chemeClr val="bg1"/>
                </a:solidFill>
              </a:rPr>
              <a:t>propre au conteneur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2000" dirty="0" smtClean="0">
                <a:solidFill>
                  <a:schemeClr val="bg1"/>
                </a:solidFill>
              </a:rPr>
              <a:t>spécifiée par un objet externe associé au conteneur -&gt; </a:t>
            </a:r>
            <a:r>
              <a:rPr lang="fr-FR" sz="2000" dirty="0" err="1" smtClean="0">
                <a:solidFill>
                  <a:srgbClr val="FFFF00"/>
                </a:solidFill>
              </a:rPr>
              <a:t>Layout</a:t>
            </a:r>
            <a:endParaRPr lang="fr-FR" sz="2000" dirty="0" smtClean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fr-FR" sz="2000" dirty="0" smtClean="0">
                <a:solidFill>
                  <a:schemeClr val="bg1"/>
                </a:solidFill>
              </a:rPr>
              <a:t>Exemple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dirty="0" err="1" smtClean="0">
                <a:solidFill>
                  <a:srgbClr val="FFFF00"/>
                </a:solidFill>
              </a:rPr>
              <a:t>Tkinter</a:t>
            </a:r>
            <a:r>
              <a:rPr lang="fr-FR" sz="2000" dirty="0" smtClean="0">
                <a:solidFill>
                  <a:srgbClr val="FFFF00"/>
                </a:solidFill>
              </a:rPr>
              <a:t> </a:t>
            </a:r>
            <a:r>
              <a:rPr lang="fr-FR" sz="2000" dirty="0" smtClean="0">
                <a:solidFill>
                  <a:schemeClr val="bg1"/>
                </a:solidFill>
              </a:rPr>
              <a:t>: </a:t>
            </a:r>
            <a:r>
              <a:rPr lang="fr-FR" sz="1600" i="1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GridManager</a:t>
            </a:r>
            <a:r>
              <a:rPr lang="fr-FR" sz="2000" dirty="0" smtClean="0">
                <a:solidFill>
                  <a:schemeClr val="bg1"/>
                </a:solidFill>
              </a:rPr>
              <a:t> permet  de disposer les composants graphiques dans une </a:t>
            </a:r>
            <a:r>
              <a:rPr lang="fr-FR" sz="2000" dirty="0" err="1" smtClean="0">
                <a:solidFill>
                  <a:schemeClr val="bg1"/>
                </a:solidFill>
              </a:rPr>
              <a:t>grillebidimentielle</a:t>
            </a:r>
            <a:endParaRPr lang="fr-FR" sz="2000" dirty="0" smtClean="0">
              <a:solidFill>
                <a:schemeClr val="bg1"/>
              </a:solidFill>
            </a:endParaRPr>
          </a:p>
          <a:p>
            <a:r>
              <a:rPr lang="fr-FR" sz="2000" dirty="0" smtClean="0">
                <a:solidFill>
                  <a:srgbClr val="FFFF00"/>
                </a:solidFill>
              </a:rPr>
              <a:t>GTK</a:t>
            </a:r>
            <a:r>
              <a:rPr lang="fr-FR" sz="2000" dirty="0" smtClean="0">
                <a:solidFill>
                  <a:schemeClr val="bg1"/>
                </a:solidFill>
              </a:rPr>
              <a:t> : Le conteneur </a:t>
            </a:r>
            <a:r>
              <a:rPr lang="fr-FR" sz="1800" i="1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Hbox</a:t>
            </a:r>
            <a:r>
              <a:rPr lang="fr-FR" sz="2000" dirty="0" smtClean="0">
                <a:solidFill>
                  <a:schemeClr val="bg1"/>
                </a:solidFill>
              </a:rPr>
              <a:t> dispose son contenu selon une bande horizontale</a:t>
            </a:r>
            <a:endParaRPr lang="fr-FR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" name="Titre 3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648072"/>
          </a:xfrm>
        </p:spPr>
        <p:txBody>
          <a:bodyPr/>
          <a:lstStyle/>
          <a:p>
            <a:r>
              <a:rPr lang="fr-FR" dirty="0"/>
              <a:t>Composants graphiques de </a:t>
            </a:r>
            <a:r>
              <a:rPr lang="fr-FR" dirty="0" smtClean="0"/>
              <a:t>base</a:t>
            </a:r>
            <a:endParaRPr lang="fr-FR" dirty="0"/>
          </a:p>
        </p:txBody>
      </p:sp>
      <p:sp>
        <p:nvSpPr>
          <p:cNvPr id="8" name="Espace réservé du contenu 8"/>
          <p:cNvSpPr>
            <a:spLocks noGrp="1"/>
          </p:cNvSpPr>
          <p:nvPr>
            <p:ph sz="quarter" idx="13"/>
          </p:nvPr>
        </p:nvSpPr>
        <p:spPr>
          <a:xfrm>
            <a:off x="467544" y="23664"/>
            <a:ext cx="8208963" cy="576064"/>
          </a:xfrm>
        </p:spPr>
        <p:txBody>
          <a:bodyPr/>
          <a:lstStyle/>
          <a:p>
            <a:r>
              <a:rPr lang="fr-FR" dirty="0" smtClean="0"/>
              <a:t>Création d’IHM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295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44824"/>
            <a:ext cx="8523396" cy="36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20"/>
          <p:cNvSpPr txBox="1"/>
          <p:nvPr/>
        </p:nvSpPr>
        <p:spPr>
          <a:xfrm>
            <a:off x="357158" y="1268760"/>
            <a:ext cx="35589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solidFill>
                  <a:schemeClr val="bg1"/>
                </a:solidFill>
                <a:latin typeface="Street Corner Slab" pitchFamily="2" charset="0"/>
              </a:rPr>
              <a:t>Quelques</a:t>
            </a:r>
            <a:r>
              <a:rPr lang="en-US" sz="2400" dirty="0" smtClean="0">
                <a:solidFill>
                  <a:schemeClr val="bg1"/>
                </a:solidFill>
                <a:latin typeface="Street Corner Slab" pitchFamily="2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Street Corner Slab" pitchFamily="2" charset="0"/>
              </a:rPr>
              <a:t>boites</a:t>
            </a:r>
            <a:r>
              <a:rPr lang="en-US" sz="2400" dirty="0" smtClean="0">
                <a:solidFill>
                  <a:schemeClr val="bg1"/>
                </a:solidFill>
                <a:latin typeface="Street Corner Slab" pitchFamily="2" charset="0"/>
              </a:rPr>
              <a:t> à </a:t>
            </a:r>
            <a:r>
              <a:rPr lang="en-US" sz="2400" dirty="0" err="1" smtClean="0">
                <a:solidFill>
                  <a:schemeClr val="bg1"/>
                </a:solidFill>
                <a:latin typeface="Street Corner Slab" pitchFamily="2" charset="0"/>
              </a:rPr>
              <a:t>outils</a:t>
            </a:r>
            <a:r>
              <a:rPr lang="en-US" sz="2400" dirty="0" smtClean="0">
                <a:solidFill>
                  <a:schemeClr val="bg1"/>
                </a:solidFill>
                <a:latin typeface="Street Corner Slab" pitchFamily="2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Street Corner Slab" pitchFamily="2" charset="0"/>
              </a:rPr>
              <a:t>graphiques</a:t>
            </a:r>
            <a:endParaRPr lang="en-US" sz="2400" dirty="0">
              <a:solidFill>
                <a:schemeClr val="bg1"/>
              </a:solidFill>
              <a:latin typeface="Street Corner Slab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7584" y="3891528"/>
            <a:ext cx="7776864" cy="3295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827584" y="1916832"/>
            <a:ext cx="7776864" cy="3600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space réservé du contenu 8"/>
          <p:cNvSpPr>
            <a:spLocks noGrp="1"/>
          </p:cNvSpPr>
          <p:nvPr>
            <p:ph sz="quarter" idx="13"/>
          </p:nvPr>
        </p:nvSpPr>
        <p:spPr>
          <a:xfrm>
            <a:off x="467544" y="23664"/>
            <a:ext cx="8208963" cy="576064"/>
          </a:xfrm>
        </p:spPr>
        <p:txBody>
          <a:bodyPr/>
          <a:lstStyle/>
          <a:p>
            <a:r>
              <a:rPr lang="fr-FR" dirty="0" smtClean="0"/>
              <a:t>Création d’IHM</a:t>
            </a:r>
            <a:endParaRPr lang="fr-FR" dirty="0"/>
          </a:p>
        </p:txBody>
      </p:sp>
      <p:sp>
        <p:nvSpPr>
          <p:cNvPr id="12" name="Titre 3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648072"/>
          </a:xfrm>
        </p:spPr>
        <p:txBody>
          <a:bodyPr/>
          <a:lstStyle/>
          <a:p>
            <a:r>
              <a:rPr lang="fr-FR" dirty="0"/>
              <a:t>Composants graphiques de </a:t>
            </a:r>
            <a:r>
              <a:rPr lang="fr-FR" dirty="0" smtClean="0"/>
              <a:t>base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70499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" name="TextBox 20"/>
          <p:cNvSpPr txBox="1"/>
          <p:nvPr/>
        </p:nvSpPr>
        <p:spPr>
          <a:xfrm>
            <a:off x="357158" y="1268760"/>
            <a:ext cx="35589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solidFill>
                  <a:schemeClr val="bg1"/>
                </a:solidFill>
                <a:latin typeface="Street Corner Slab" pitchFamily="2" charset="0"/>
              </a:rPr>
              <a:t>Quelques</a:t>
            </a:r>
            <a:r>
              <a:rPr lang="en-US" sz="2400" dirty="0" smtClean="0">
                <a:solidFill>
                  <a:schemeClr val="bg1"/>
                </a:solidFill>
                <a:latin typeface="Street Corner Slab" pitchFamily="2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Street Corner Slab" pitchFamily="2" charset="0"/>
              </a:rPr>
              <a:t>boites</a:t>
            </a:r>
            <a:r>
              <a:rPr lang="en-US" sz="2400" dirty="0" smtClean="0">
                <a:solidFill>
                  <a:schemeClr val="bg1"/>
                </a:solidFill>
                <a:latin typeface="Street Corner Slab" pitchFamily="2" charset="0"/>
              </a:rPr>
              <a:t> à </a:t>
            </a:r>
            <a:r>
              <a:rPr lang="en-US" sz="2400" dirty="0" err="1" smtClean="0">
                <a:solidFill>
                  <a:schemeClr val="bg1"/>
                </a:solidFill>
                <a:latin typeface="Street Corner Slab" pitchFamily="2" charset="0"/>
              </a:rPr>
              <a:t>outils</a:t>
            </a:r>
            <a:r>
              <a:rPr lang="en-US" sz="2400" dirty="0" smtClean="0">
                <a:solidFill>
                  <a:schemeClr val="bg1"/>
                </a:solidFill>
                <a:latin typeface="Street Corner Slab" pitchFamily="2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Street Corner Slab" pitchFamily="2" charset="0"/>
              </a:rPr>
              <a:t>graphiques</a:t>
            </a:r>
            <a:endParaRPr lang="en-US" sz="2400" dirty="0">
              <a:solidFill>
                <a:schemeClr val="bg1"/>
              </a:solidFill>
              <a:latin typeface="Street Corner Slab" pitchFamily="2" charset="0"/>
            </a:endParaRPr>
          </a:p>
        </p:txBody>
      </p:sp>
      <p:graphicFrame>
        <p:nvGraphicFramePr>
          <p:cNvPr id="2" name="Espace réservé du contenu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0458080"/>
              </p:ext>
            </p:extLst>
          </p:nvPr>
        </p:nvGraphicFramePr>
        <p:xfrm>
          <a:off x="384175" y="1730375"/>
          <a:ext cx="8229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521"/>
                <a:gridCol w="1512168"/>
                <a:gridCol w="1872208"/>
                <a:gridCol w="3393703"/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Toolkit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Nom Python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Plate-formes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Licence 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QT</a:t>
                      </a:r>
                      <a:endParaRPr lang="fr-FR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PyQt</a:t>
                      </a:r>
                      <a:endParaRPr lang="fr-FR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Toutes (installée)</a:t>
                      </a:r>
                      <a:endParaRPr lang="fr-FR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LGPL(QT4)+GPL(PyQt4)/</a:t>
                      </a:r>
                      <a:r>
                        <a:rPr lang="fr-FR" dirty="0" err="1" smtClean="0"/>
                        <a:t>cciale</a:t>
                      </a:r>
                      <a:endParaRPr lang="fr-FR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QT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PySide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Toutes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LGPL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wxWidgets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wxPython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smtClean="0"/>
                        <a:t>Toutes (installée)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smtClean="0"/>
                        <a:t>LGPL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Tcl</a:t>
                      </a:r>
                      <a:r>
                        <a:rPr lang="fr-FR" dirty="0" smtClean="0"/>
                        <a:t>/</a:t>
                      </a:r>
                      <a:r>
                        <a:rPr lang="fr-FR" dirty="0" err="1" smtClean="0"/>
                        <a:t>Tk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Tkinter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smtClean="0"/>
                        <a:t>Toutes (installée)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Licence</a:t>
                      </a:r>
                      <a:r>
                        <a:rPr lang="fr-FR" baseline="0" dirty="0" smtClean="0"/>
                        <a:t> Python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Gtk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pyGtk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Toutes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LGPL</a:t>
                      </a:r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Espace réservé du contenu 8"/>
          <p:cNvSpPr>
            <a:spLocks noGrp="1"/>
          </p:cNvSpPr>
          <p:nvPr>
            <p:ph sz="quarter" idx="13"/>
          </p:nvPr>
        </p:nvSpPr>
        <p:spPr>
          <a:xfrm>
            <a:off x="467544" y="23664"/>
            <a:ext cx="8208963" cy="576064"/>
          </a:xfrm>
        </p:spPr>
        <p:txBody>
          <a:bodyPr/>
          <a:lstStyle/>
          <a:p>
            <a:r>
              <a:rPr lang="fr-FR" dirty="0" smtClean="0"/>
              <a:t>Création d’IHM</a:t>
            </a:r>
            <a:endParaRPr lang="fr-FR" dirty="0"/>
          </a:p>
        </p:txBody>
      </p:sp>
      <p:sp>
        <p:nvSpPr>
          <p:cNvPr id="7" name="Titre 3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648072"/>
          </a:xfrm>
        </p:spPr>
        <p:txBody>
          <a:bodyPr/>
          <a:lstStyle/>
          <a:p>
            <a:r>
              <a:rPr lang="fr-FR" dirty="0"/>
              <a:t>Composants graphiques de </a:t>
            </a:r>
            <a:r>
              <a:rPr lang="fr-FR" dirty="0" smtClean="0"/>
              <a:t>base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81745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15" descr="BottomLine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0384"/>
            <a:ext cx="9144000" cy="669726"/>
          </a:xfrm>
          <a:prstGeom prst="rect">
            <a:avLst/>
          </a:prstGeom>
        </p:spPr>
      </p:pic>
      <p:pic>
        <p:nvPicPr>
          <p:cNvPr id="34" name="Picture 16" descr="BottomLineDar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40736"/>
            <a:ext cx="9144000" cy="44648"/>
          </a:xfrm>
          <a:prstGeom prst="rect">
            <a:avLst/>
          </a:prstGeom>
        </p:spPr>
      </p:pic>
      <p:pic>
        <p:nvPicPr>
          <p:cNvPr id="35" name="Picture 14" descr="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95" y="6317332"/>
            <a:ext cx="377791" cy="387005"/>
          </a:xfrm>
          <a:prstGeom prst="rect">
            <a:avLst/>
          </a:prstGeom>
        </p:spPr>
      </p:pic>
      <p:sp>
        <p:nvSpPr>
          <p:cNvPr id="36" name="TextBox 4"/>
          <p:cNvSpPr txBox="1"/>
          <p:nvPr/>
        </p:nvSpPr>
        <p:spPr>
          <a:xfrm>
            <a:off x="785786" y="6242442"/>
            <a:ext cx="1095172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YOU ARE </a:t>
            </a:r>
            <a:r>
              <a:rPr lang="en-US" sz="800" dirty="0" smtClean="0"/>
              <a:t>LOOKING AT</a:t>
            </a:r>
            <a:endParaRPr lang="en-US" sz="800" dirty="0"/>
          </a:p>
        </p:txBody>
      </p:sp>
      <p:sp>
        <p:nvSpPr>
          <p:cNvPr id="37" name="TextBox 5"/>
          <p:cNvSpPr txBox="1"/>
          <p:nvPr/>
        </p:nvSpPr>
        <p:spPr>
          <a:xfrm>
            <a:off x="785786" y="6363293"/>
            <a:ext cx="1603324" cy="307777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Presenter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Toumi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A.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Malek</a:t>
            </a:r>
            <a:endParaRPr lang="en-US" sz="1400" dirty="0">
              <a:latin typeface="TypoSlabserif-Light" pitchFamily="2" charset="0"/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785786" y="6542453"/>
            <a:ext cx="611065" cy="200055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7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PRESENTER</a:t>
            </a:r>
            <a:endParaRPr lang="en-US" sz="700" b="1" dirty="0"/>
          </a:p>
        </p:txBody>
      </p:sp>
      <p:sp>
        <p:nvSpPr>
          <p:cNvPr id="39" name="TextBox 9"/>
          <p:cNvSpPr txBox="1"/>
          <p:nvPr/>
        </p:nvSpPr>
        <p:spPr>
          <a:xfrm>
            <a:off x="2694634" y="6242442"/>
            <a:ext cx="1515158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Aujourd’hui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en-US" sz="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jeudi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31 mars 2016</a:t>
            </a:r>
            <a:endParaRPr lang="en-US" sz="800" dirty="0"/>
          </a:p>
        </p:txBody>
      </p:sp>
      <p:sp>
        <p:nvSpPr>
          <p:cNvPr id="40" name="TextBox 10"/>
          <p:cNvSpPr txBox="1"/>
          <p:nvPr/>
        </p:nvSpPr>
        <p:spPr>
          <a:xfrm>
            <a:off x="2694634" y="6363293"/>
            <a:ext cx="978153" cy="353943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Python; QT </a:t>
            </a:r>
            <a:endParaRPr lang="en-US" sz="1700" dirty="0">
              <a:latin typeface="TypoSlabserif-Light" pitchFamily="2" charset="0"/>
            </a:endParaRPr>
          </a:p>
        </p:txBody>
      </p:sp>
      <p:sp>
        <p:nvSpPr>
          <p:cNvPr id="41" name="TextBox 11"/>
          <p:cNvSpPr txBox="1"/>
          <p:nvPr/>
        </p:nvSpPr>
        <p:spPr>
          <a:xfrm>
            <a:off x="7447108" y="6242442"/>
            <a:ext cx="1268296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 ARE 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dist="12700" dir="2700000" sx="200000" sy="200000" algn="tl" rotWithShape="0">
                    <a:schemeClr val="bg1">
                      <a:alpha val="0"/>
                    </a:schemeClr>
                  </a:outerShdw>
                </a:effectLst>
              </a:rPr>
              <a:t>CURRENTLY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800" smtClean="0"/>
              <a:t>HERE</a:t>
            </a:r>
            <a:endParaRPr lang="en-US" sz="800"/>
          </a:p>
        </p:txBody>
      </p:sp>
      <p:sp>
        <p:nvSpPr>
          <p:cNvPr id="42" name="TextBox 12"/>
          <p:cNvSpPr txBox="1"/>
          <p:nvPr/>
        </p:nvSpPr>
        <p:spPr>
          <a:xfrm>
            <a:off x="8781044" y="6392361"/>
            <a:ext cx="399468" cy="276999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of 7</a:t>
            </a:r>
            <a:endParaRPr lang="en-US" sz="1200" b="1" dirty="0">
              <a:latin typeface="TypoSlabserif-Light" pitchFamily="2" charset="0"/>
            </a:endParaRPr>
          </a:p>
        </p:txBody>
      </p:sp>
      <p:pic>
        <p:nvPicPr>
          <p:cNvPr id="43" name="Picture 18" descr="PrevArrow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200" y="6447512"/>
            <a:ext cx="213333" cy="213333"/>
          </a:xfrm>
          <a:prstGeom prst="rect">
            <a:avLst/>
          </a:prstGeom>
        </p:spPr>
      </p:pic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Sommaire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Création d’interface graphique (IHM)</a:t>
            </a:r>
          </a:p>
          <a:p>
            <a:pPr marL="914400" lvl="1" indent="-514350"/>
            <a:r>
              <a:rPr lang="fr-FR" dirty="0"/>
              <a:t>Généralités</a:t>
            </a:r>
          </a:p>
          <a:p>
            <a:pPr marL="914400" lvl="1" indent="-514350"/>
            <a:r>
              <a:rPr lang="fr-FR" dirty="0"/>
              <a:t>Composants graphiques de base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Présentation de QT</a:t>
            </a:r>
          </a:p>
          <a:p>
            <a:pPr lvl="1"/>
            <a:r>
              <a:rPr lang="fr-FR" dirty="0" smtClean="0"/>
              <a:t>Introduction</a:t>
            </a:r>
          </a:p>
          <a:p>
            <a:pPr lvl="1"/>
            <a:r>
              <a:rPr lang="fr-FR" dirty="0" smtClean="0"/>
              <a:t>Les principaux modules</a:t>
            </a:r>
          </a:p>
          <a:p>
            <a:pPr lvl="1"/>
            <a:r>
              <a:rPr lang="fr-FR" dirty="0" smtClean="0"/>
              <a:t>Documentation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 smtClean="0"/>
          </a:p>
          <a:p>
            <a:pPr marL="857250" lvl="1" indent="-457200"/>
            <a:r>
              <a:rPr lang="fr-FR" dirty="0" smtClean="0"/>
              <a:t>Les modules de </a:t>
            </a:r>
            <a:r>
              <a:rPr lang="fr-FR" dirty="0" err="1" smtClean="0"/>
              <a:t>PyQt</a:t>
            </a:r>
            <a:endParaRPr lang="fr-FR" dirty="0" smtClean="0"/>
          </a:p>
          <a:p>
            <a:pPr marL="857250" lvl="1" indent="-457200"/>
            <a:r>
              <a:rPr lang="fr-FR" dirty="0" smtClean="0"/>
              <a:t>Les widgets</a:t>
            </a:r>
          </a:p>
          <a:p>
            <a:pPr marL="857250" lvl="1" indent="-457200"/>
            <a:r>
              <a:rPr lang="fr-FR" dirty="0" smtClean="0"/>
              <a:t>Définition de classe graphique</a:t>
            </a:r>
          </a:p>
          <a:p>
            <a:pPr marL="857250" lvl="1" indent="-457200"/>
            <a:r>
              <a:rPr lang="fr-FR" dirty="0" smtClean="0"/>
              <a:t>Les fenêtres </a:t>
            </a:r>
          </a:p>
          <a:p>
            <a:pPr marL="857250" lvl="1" indent="-457200"/>
            <a:r>
              <a:rPr lang="fr-FR" dirty="0" smtClean="0"/>
              <a:t>Signaux et slots en Python</a:t>
            </a:r>
          </a:p>
          <a:p>
            <a:pPr marL="457200" lvl="1" indent="0">
              <a:buNone/>
            </a:pP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54412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Introduction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000" dirty="0" err="1" smtClean="0"/>
              <a:t>Qt</a:t>
            </a:r>
            <a:r>
              <a:rPr lang="fr-FR" sz="2000" dirty="0" smtClean="0"/>
              <a:t> est une bibliothèque C++ pour le développement d’application indépendantes des plateformes</a:t>
            </a:r>
          </a:p>
          <a:p>
            <a:r>
              <a:rPr lang="fr-FR" sz="2000" dirty="0" err="1"/>
              <a:t>Qt</a:t>
            </a:r>
            <a:r>
              <a:rPr lang="fr-FR" sz="2000" dirty="0"/>
              <a:t> permet la portabilité des applications qui n'utilisent que ses composants par simple recompilation du code source</a:t>
            </a:r>
            <a:r>
              <a:rPr lang="fr-FR" sz="2000" dirty="0" smtClean="0"/>
              <a:t>.</a:t>
            </a:r>
          </a:p>
          <a:p>
            <a:r>
              <a:rPr lang="fr-FR" sz="2000" dirty="0" err="1"/>
              <a:t>Qt</a:t>
            </a:r>
            <a:r>
              <a:rPr lang="fr-FR" sz="2000" dirty="0"/>
              <a:t> offre des composants d'interface graphique (widgets), d'accès aux données, de connexions réseaux, de gestion des fils d'exécution, d'analyse XML, </a:t>
            </a:r>
            <a:r>
              <a:rPr lang="fr-FR" sz="2000" dirty="0" err="1"/>
              <a:t>etc</a:t>
            </a:r>
            <a:endParaRPr lang="fr-FR" sz="2000" dirty="0" smtClean="0"/>
          </a:p>
          <a:p>
            <a:r>
              <a:rPr lang="fr-FR" sz="2000" dirty="0" err="1" smtClean="0"/>
              <a:t>Qt</a:t>
            </a:r>
            <a:r>
              <a:rPr lang="fr-FR" sz="2000" dirty="0" smtClean="0"/>
              <a:t> </a:t>
            </a:r>
            <a:r>
              <a:rPr lang="fr-FR" sz="2000" dirty="0"/>
              <a:t>supporte des bindings avec plus d'une dizaine de langages autres que le C++, comme Java, Python, Ruby, Ada, C#, Pascal, Perl, Common Lisp, etc.</a:t>
            </a:r>
            <a:endParaRPr lang="fr-FR" sz="2000" dirty="0" smtClean="0"/>
          </a:p>
          <a:p>
            <a:r>
              <a:rPr lang="fr-FR" sz="2000" dirty="0" smtClean="0"/>
              <a:t>QT est disponible en licence commerciale ou libre</a:t>
            </a:r>
            <a:endParaRPr lang="fr-FR" sz="2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Espace réservé du contenu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Présentation de QT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282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principaux modules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2000" i="1" dirty="0" err="1">
                <a:solidFill>
                  <a:srgbClr val="FFFF00"/>
                </a:solidFill>
              </a:rPr>
              <a:t>QtCore</a:t>
            </a:r>
            <a:r>
              <a:rPr lang="fr-FR" sz="2000" dirty="0"/>
              <a:t> : pour les fonctionnalités non graphiques utilisées par les autres modules </a:t>
            </a:r>
            <a:r>
              <a:rPr lang="fr-FR" sz="2000" dirty="0" smtClean="0"/>
              <a:t>: mécanisme de support pour les signaux et les slots, …</a:t>
            </a:r>
            <a:endParaRPr lang="fr-FR" sz="2000" dirty="0"/>
          </a:p>
          <a:p>
            <a:r>
              <a:rPr lang="fr-FR" sz="2000" i="1" dirty="0" err="1">
                <a:solidFill>
                  <a:srgbClr val="FFFF00"/>
                </a:solidFill>
              </a:rPr>
              <a:t>QtGui</a:t>
            </a:r>
            <a:r>
              <a:rPr lang="fr-FR" sz="2000" dirty="0"/>
              <a:t> : pour les composants graphiques ;</a:t>
            </a:r>
          </a:p>
          <a:p>
            <a:r>
              <a:rPr lang="fr-FR" sz="2000" i="1" dirty="0" err="1">
                <a:solidFill>
                  <a:srgbClr val="FFFF00"/>
                </a:solidFill>
              </a:rPr>
              <a:t>QtNetwork</a:t>
            </a:r>
            <a:r>
              <a:rPr lang="fr-FR" sz="2000" dirty="0"/>
              <a:t> : pour la programmation réseau ;</a:t>
            </a:r>
          </a:p>
          <a:p>
            <a:r>
              <a:rPr lang="fr-FR" sz="2000" i="1" dirty="0" err="1">
                <a:solidFill>
                  <a:srgbClr val="FFFF00"/>
                </a:solidFill>
              </a:rPr>
              <a:t>QtOpenGL</a:t>
            </a:r>
            <a:r>
              <a:rPr lang="fr-FR" sz="2000" dirty="0"/>
              <a:t> : </a:t>
            </a:r>
            <a:r>
              <a:rPr lang="fr-FR" sz="2000" dirty="0" smtClean="0"/>
              <a:t>3D basée sur </a:t>
            </a:r>
            <a:r>
              <a:rPr lang="fr-FR" sz="2000" dirty="0" smtClean="0">
                <a:hlinkClick r:id="rId2" tooltip="OpenGL"/>
              </a:rPr>
              <a:t>OpenGL</a:t>
            </a:r>
            <a:r>
              <a:rPr lang="fr-FR" sz="2000" dirty="0"/>
              <a:t> ;</a:t>
            </a:r>
          </a:p>
          <a:p>
            <a:r>
              <a:rPr lang="fr-FR" sz="2000" i="1" dirty="0" err="1">
                <a:solidFill>
                  <a:srgbClr val="FFFF00"/>
                </a:solidFill>
              </a:rPr>
              <a:t>QtSql</a:t>
            </a:r>
            <a:r>
              <a:rPr lang="fr-FR" sz="2000" dirty="0"/>
              <a:t> : pour l'utilisation de </a:t>
            </a:r>
            <a:r>
              <a:rPr lang="fr-FR" sz="2000" dirty="0">
                <a:hlinkClick r:id="rId3" tooltip="Base de données"/>
              </a:rPr>
              <a:t>base de données</a:t>
            </a:r>
            <a:r>
              <a:rPr lang="fr-FR" sz="2000" dirty="0"/>
              <a:t> </a:t>
            </a:r>
            <a:r>
              <a:rPr lang="fr-FR" sz="2000" dirty="0">
                <a:hlinkClick r:id="rId4" tooltip="Structured Query Language"/>
              </a:rPr>
              <a:t>SQL</a:t>
            </a:r>
            <a:r>
              <a:rPr lang="fr-FR" sz="2000" dirty="0"/>
              <a:t> ;</a:t>
            </a:r>
          </a:p>
          <a:p>
            <a:r>
              <a:rPr lang="fr-FR" sz="2000" i="1" dirty="0" err="1">
                <a:solidFill>
                  <a:srgbClr val="FFFF00"/>
                </a:solidFill>
              </a:rPr>
              <a:t>QtXml</a:t>
            </a:r>
            <a:r>
              <a:rPr lang="fr-FR" sz="2000" dirty="0"/>
              <a:t> : pour la manipulation et la génération de fichiers </a:t>
            </a:r>
            <a:r>
              <a:rPr lang="fr-FR" sz="2000" dirty="0">
                <a:hlinkClick r:id="rId5" tooltip="Extensible Markup Language"/>
              </a:rPr>
              <a:t>XML</a:t>
            </a:r>
            <a:r>
              <a:rPr lang="fr-FR" sz="2000" dirty="0"/>
              <a:t> ;</a:t>
            </a:r>
          </a:p>
          <a:p>
            <a:r>
              <a:rPr lang="fr-FR" sz="2000" i="1" dirty="0" err="1">
                <a:solidFill>
                  <a:srgbClr val="FFFF00"/>
                </a:solidFill>
              </a:rPr>
              <a:t>QtDesigner</a:t>
            </a:r>
            <a:r>
              <a:rPr lang="fr-FR" sz="2000" dirty="0"/>
              <a:t> : pour étendre les fonctionnalités de </a:t>
            </a:r>
            <a:r>
              <a:rPr lang="fr-FR" sz="2000" dirty="0" err="1"/>
              <a:t>Qt</a:t>
            </a:r>
            <a:r>
              <a:rPr lang="fr-FR" sz="2000" dirty="0"/>
              <a:t> Designer, l'assistant de création d'interfaces graphiques ;</a:t>
            </a:r>
          </a:p>
          <a:p>
            <a:r>
              <a:rPr lang="fr-FR" sz="2000" i="1" dirty="0" err="1">
                <a:solidFill>
                  <a:srgbClr val="FFFF00"/>
                </a:solidFill>
              </a:rPr>
              <a:t>QtAssistant</a:t>
            </a:r>
            <a:r>
              <a:rPr lang="fr-FR" sz="2000" dirty="0"/>
              <a:t> : pour l'utilisation de l'aide de </a:t>
            </a:r>
            <a:r>
              <a:rPr lang="fr-FR" sz="2000" dirty="0" err="1"/>
              <a:t>Qt</a:t>
            </a:r>
            <a:r>
              <a:rPr lang="fr-FR" sz="2000" dirty="0"/>
              <a:t> </a:t>
            </a:r>
            <a:r>
              <a:rPr lang="fr-FR" sz="2000" dirty="0" smtClean="0"/>
              <a:t>;</a:t>
            </a:r>
            <a:endParaRPr lang="fr-FR" sz="2000" dirty="0"/>
          </a:p>
          <a:p>
            <a:r>
              <a:rPr lang="fr-FR" sz="2000" dirty="0" err="1" smtClean="0">
                <a:solidFill>
                  <a:srgbClr val="FFFF00"/>
                </a:solidFill>
              </a:rPr>
              <a:t>QtWebKit</a:t>
            </a:r>
            <a:r>
              <a:rPr lang="fr-FR" sz="2000" dirty="0" smtClean="0">
                <a:solidFill>
                  <a:srgbClr val="FFFF00"/>
                </a:solidFill>
              </a:rPr>
              <a:t> </a:t>
            </a:r>
            <a:r>
              <a:rPr lang="fr-FR" sz="2000" dirty="0" smtClean="0"/>
              <a:t>: widget navigateur web (</a:t>
            </a:r>
            <a:r>
              <a:rPr lang="fr-FR" sz="2000" dirty="0" err="1" smtClean="0"/>
              <a:t>webkit</a:t>
            </a:r>
            <a:r>
              <a:rPr lang="fr-FR" sz="2000" dirty="0" smtClean="0"/>
              <a:t>);</a:t>
            </a:r>
          </a:p>
          <a:p>
            <a:r>
              <a:rPr lang="fr-FR" sz="2000" dirty="0" err="1" smtClean="0">
                <a:solidFill>
                  <a:srgbClr val="FFFF00"/>
                </a:solidFill>
              </a:rPr>
              <a:t>QtTest</a:t>
            </a:r>
            <a:r>
              <a:rPr lang="fr-FR" sz="2000" dirty="0" smtClean="0">
                <a:solidFill>
                  <a:srgbClr val="FFFF00"/>
                </a:solidFill>
              </a:rPr>
              <a:t> </a:t>
            </a:r>
            <a:r>
              <a:rPr lang="fr-FR" sz="2000" dirty="0" smtClean="0"/>
              <a:t>: tests unitaires</a:t>
            </a:r>
          </a:p>
          <a:p>
            <a:endParaRPr lang="fr-FR" sz="2000" dirty="0"/>
          </a:p>
          <a:p>
            <a:pPr marL="0" indent="0">
              <a:buNone/>
            </a:pPr>
            <a:r>
              <a:rPr lang="fr-FR" sz="2000" dirty="0" smtClean="0"/>
              <a:t>Consulter </a:t>
            </a:r>
            <a:r>
              <a:rPr lang="fr-FR" sz="2000" dirty="0" smtClean="0">
                <a:solidFill>
                  <a:srgbClr val="99FF33"/>
                </a:solidFill>
              </a:rPr>
              <a:t>https</a:t>
            </a:r>
            <a:r>
              <a:rPr lang="fr-FR" sz="2000" dirty="0">
                <a:solidFill>
                  <a:srgbClr val="99FF33"/>
                </a:solidFill>
              </a:rPr>
              <a:t>://fr.wikipedia.org/wiki/Qt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Espace réservé du contenu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Présentation de QT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710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La documentation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000" dirty="0" smtClean="0"/>
              <a:t>La documentation est accessible </a:t>
            </a:r>
          </a:p>
          <a:p>
            <a:pPr marL="457200" lvl="1" indent="0">
              <a:buNone/>
            </a:pPr>
            <a:r>
              <a:rPr lang="fr-FR" sz="1600" b="1" i="1" dirty="0" smtClean="0"/>
              <a:t>Enligne : </a:t>
            </a:r>
            <a:r>
              <a:rPr lang="fr-FR" sz="1600" b="1" i="1" dirty="0" smtClean="0">
                <a:hlinkClick r:id="rId2"/>
              </a:rPr>
              <a:t>http://doc</a:t>
            </a:r>
            <a:r>
              <a:rPr lang="fr-FR" sz="1600" i="1" dirty="0" smtClean="0">
                <a:hlinkClick r:id="rId2"/>
              </a:rPr>
              <a:t>.</a:t>
            </a:r>
            <a:r>
              <a:rPr lang="fr-FR" sz="1600" b="1" i="1" dirty="0" smtClean="0">
                <a:hlinkClick r:id="rId2"/>
              </a:rPr>
              <a:t>qt</a:t>
            </a:r>
            <a:r>
              <a:rPr lang="fr-FR" sz="1600" i="1" dirty="0" smtClean="0">
                <a:hlinkClick r:id="rId2"/>
              </a:rPr>
              <a:t>.io/qt-4.8/</a:t>
            </a:r>
            <a:endParaRPr lang="fr-FR" sz="1600" i="1" dirty="0" smtClean="0"/>
          </a:p>
          <a:p>
            <a:pPr lvl="1"/>
            <a:r>
              <a:rPr lang="fr-FR" sz="1600" dirty="0" smtClean="0"/>
              <a:t>Documentation </a:t>
            </a:r>
            <a:r>
              <a:rPr lang="fr-FR" sz="1600" dirty="0"/>
              <a:t>de référence</a:t>
            </a:r>
            <a:r>
              <a:rPr lang="fr-FR" sz="1600" i="1" dirty="0">
                <a:solidFill>
                  <a:srgbClr val="92D050"/>
                </a:solidFill>
              </a:rPr>
              <a:t> </a:t>
            </a:r>
            <a:r>
              <a:rPr lang="fr-FR" sz="1600" i="1" dirty="0" smtClean="0">
                <a:solidFill>
                  <a:srgbClr val="92D050"/>
                </a:solidFill>
              </a:rPr>
              <a:t>: http</a:t>
            </a:r>
            <a:r>
              <a:rPr lang="fr-FR" sz="1600" i="1" dirty="0">
                <a:solidFill>
                  <a:srgbClr val="92D050"/>
                </a:solidFill>
              </a:rPr>
              <a:t>://doc.qt.io/qt-4.8/modules.html</a:t>
            </a:r>
          </a:p>
          <a:p>
            <a:pPr lvl="1"/>
            <a:r>
              <a:rPr lang="fr-FR" sz="1600" i="1" dirty="0" smtClean="0"/>
              <a:t>Via le navigateur  d’aide QT Assistant : la commande   </a:t>
            </a:r>
            <a:r>
              <a:rPr lang="fr-FR" sz="1600" i="1" dirty="0" smtClean="0">
                <a:solidFill>
                  <a:srgbClr val="92D050"/>
                </a:solidFill>
              </a:rPr>
              <a:t>&gt;&gt; </a:t>
            </a:r>
            <a:r>
              <a:rPr lang="fr-FR" sz="1600" i="1" dirty="0" err="1" smtClean="0">
                <a:solidFill>
                  <a:srgbClr val="92D050"/>
                </a:solidFill>
              </a:rPr>
              <a:t>assisstant</a:t>
            </a:r>
            <a:r>
              <a:rPr lang="fr-FR" sz="1600" i="1" dirty="0" smtClean="0">
                <a:solidFill>
                  <a:srgbClr val="92D050"/>
                </a:solidFill>
              </a:rPr>
              <a:t> </a:t>
            </a:r>
          </a:p>
          <a:p>
            <a:pPr marL="457200" lvl="1" indent="0">
              <a:buNone/>
            </a:pPr>
            <a:endParaRPr lang="fr-FR" sz="1600" i="1" dirty="0">
              <a:solidFill>
                <a:srgbClr val="92D050"/>
              </a:solidFill>
            </a:endParaRPr>
          </a:p>
          <a:p>
            <a:pPr marL="457200" lvl="1" indent="0">
              <a:buNone/>
            </a:pPr>
            <a:r>
              <a:rPr lang="fr-FR" sz="2000" dirty="0"/>
              <a:t>Codes sources des exemples de démos </a:t>
            </a:r>
            <a:endParaRPr lang="fr-FR" sz="2000" dirty="0" smtClean="0"/>
          </a:p>
          <a:p>
            <a:pPr lvl="1"/>
            <a:r>
              <a:rPr lang="fr-FR" sz="2000" dirty="0" smtClean="0"/>
              <a:t>Des centaines d’exemples et leurs codes sont accessibles et fournis</a:t>
            </a:r>
          </a:p>
          <a:p>
            <a:pPr lvl="1"/>
            <a:r>
              <a:rPr lang="fr-FR" sz="1600" i="1" dirty="0">
                <a:solidFill>
                  <a:srgbClr val="92D050"/>
                </a:solidFill>
              </a:rPr>
              <a:t>     &gt;&gt; QT </a:t>
            </a:r>
            <a:r>
              <a:rPr lang="fr-FR" sz="1600" i="1" dirty="0" err="1" smtClean="0">
                <a:solidFill>
                  <a:srgbClr val="92D050"/>
                </a:solidFill>
              </a:rPr>
              <a:t>demos</a:t>
            </a:r>
            <a:endParaRPr lang="fr-FR" sz="1600" i="1" dirty="0" smtClean="0">
              <a:solidFill>
                <a:srgbClr val="92D050"/>
              </a:solidFill>
            </a:endParaRPr>
          </a:p>
          <a:p>
            <a:pPr marL="457200" lvl="1" indent="0">
              <a:buNone/>
            </a:pPr>
            <a:endParaRPr lang="fr-FR" sz="1600" i="1" dirty="0">
              <a:solidFill>
                <a:srgbClr val="92D05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Espace réservé du contenu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Présentation de QT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7015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15" descr="BottomLine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0384"/>
            <a:ext cx="9144000" cy="669726"/>
          </a:xfrm>
          <a:prstGeom prst="rect">
            <a:avLst/>
          </a:prstGeom>
        </p:spPr>
      </p:pic>
      <p:pic>
        <p:nvPicPr>
          <p:cNvPr id="34" name="Picture 16" descr="BottomLineDar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40736"/>
            <a:ext cx="9144000" cy="44648"/>
          </a:xfrm>
          <a:prstGeom prst="rect">
            <a:avLst/>
          </a:prstGeom>
        </p:spPr>
      </p:pic>
      <p:pic>
        <p:nvPicPr>
          <p:cNvPr id="35" name="Picture 14" descr="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95" y="6317332"/>
            <a:ext cx="377791" cy="387005"/>
          </a:xfrm>
          <a:prstGeom prst="rect">
            <a:avLst/>
          </a:prstGeom>
        </p:spPr>
      </p:pic>
      <p:sp>
        <p:nvSpPr>
          <p:cNvPr id="36" name="TextBox 4"/>
          <p:cNvSpPr txBox="1"/>
          <p:nvPr/>
        </p:nvSpPr>
        <p:spPr>
          <a:xfrm>
            <a:off x="785786" y="6242442"/>
            <a:ext cx="1095172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YOU ARE </a:t>
            </a:r>
            <a:r>
              <a:rPr lang="en-US" sz="800" dirty="0" smtClean="0"/>
              <a:t>LOOKING AT</a:t>
            </a:r>
            <a:endParaRPr lang="en-US" sz="800" dirty="0"/>
          </a:p>
        </p:txBody>
      </p:sp>
      <p:sp>
        <p:nvSpPr>
          <p:cNvPr id="37" name="TextBox 5"/>
          <p:cNvSpPr txBox="1"/>
          <p:nvPr/>
        </p:nvSpPr>
        <p:spPr>
          <a:xfrm>
            <a:off x="785786" y="6363293"/>
            <a:ext cx="1603324" cy="307777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Presenter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Toumi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A.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Malek</a:t>
            </a:r>
            <a:endParaRPr lang="en-US" sz="1400" dirty="0">
              <a:latin typeface="TypoSlabserif-Light" pitchFamily="2" charset="0"/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785786" y="6542453"/>
            <a:ext cx="611065" cy="200055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7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PRESENTER</a:t>
            </a:r>
            <a:endParaRPr lang="en-US" sz="700" b="1" dirty="0"/>
          </a:p>
        </p:txBody>
      </p:sp>
      <p:sp>
        <p:nvSpPr>
          <p:cNvPr id="39" name="TextBox 9"/>
          <p:cNvSpPr txBox="1"/>
          <p:nvPr/>
        </p:nvSpPr>
        <p:spPr>
          <a:xfrm>
            <a:off x="2694634" y="6242442"/>
            <a:ext cx="1515158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Aujourd’hui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en-US" sz="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jeudi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31 mars 2016</a:t>
            </a:r>
            <a:endParaRPr lang="en-US" sz="800" dirty="0"/>
          </a:p>
        </p:txBody>
      </p:sp>
      <p:sp>
        <p:nvSpPr>
          <p:cNvPr id="40" name="TextBox 10"/>
          <p:cNvSpPr txBox="1"/>
          <p:nvPr/>
        </p:nvSpPr>
        <p:spPr>
          <a:xfrm>
            <a:off x="2694634" y="6363293"/>
            <a:ext cx="978153" cy="353943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Python; QT </a:t>
            </a:r>
            <a:endParaRPr lang="en-US" sz="1700" dirty="0">
              <a:latin typeface="TypoSlabserif-Light" pitchFamily="2" charset="0"/>
            </a:endParaRPr>
          </a:p>
        </p:txBody>
      </p:sp>
      <p:sp>
        <p:nvSpPr>
          <p:cNvPr id="41" name="TextBox 11"/>
          <p:cNvSpPr txBox="1"/>
          <p:nvPr/>
        </p:nvSpPr>
        <p:spPr>
          <a:xfrm>
            <a:off x="7447108" y="6242442"/>
            <a:ext cx="1268296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 ARE 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dist="12700" dir="2700000" sx="200000" sy="200000" algn="tl" rotWithShape="0">
                    <a:schemeClr val="bg1">
                      <a:alpha val="0"/>
                    </a:schemeClr>
                  </a:outerShdw>
                </a:effectLst>
              </a:rPr>
              <a:t>CURRENTLY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800" smtClean="0"/>
              <a:t>HERE</a:t>
            </a:r>
            <a:endParaRPr lang="en-US" sz="800"/>
          </a:p>
        </p:txBody>
      </p:sp>
      <p:sp>
        <p:nvSpPr>
          <p:cNvPr id="42" name="TextBox 12"/>
          <p:cNvSpPr txBox="1"/>
          <p:nvPr/>
        </p:nvSpPr>
        <p:spPr>
          <a:xfrm>
            <a:off x="8781044" y="6392361"/>
            <a:ext cx="399468" cy="276999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of 7</a:t>
            </a:r>
            <a:endParaRPr lang="en-US" sz="1200" b="1" dirty="0">
              <a:latin typeface="TypoSlabserif-Light" pitchFamily="2" charset="0"/>
            </a:endParaRPr>
          </a:p>
        </p:txBody>
      </p:sp>
      <p:pic>
        <p:nvPicPr>
          <p:cNvPr id="43" name="Picture 18" descr="PrevArrow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200" y="6447512"/>
            <a:ext cx="213333" cy="213333"/>
          </a:xfrm>
          <a:prstGeom prst="rect">
            <a:avLst/>
          </a:prstGeom>
        </p:spPr>
      </p:pic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Sommaire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Création d’interface graphique (IHM)</a:t>
            </a:r>
          </a:p>
          <a:p>
            <a:pPr marL="914400" lvl="1" indent="-514350"/>
            <a:r>
              <a:rPr lang="fr-FR" dirty="0"/>
              <a:t>Généralités</a:t>
            </a:r>
          </a:p>
          <a:p>
            <a:pPr marL="914400" lvl="1" indent="-514350"/>
            <a:r>
              <a:rPr lang="fr-FR" dirty="0"/>
              <a:t>Composants graphiques de base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Présentation de QT</a:t>
            </a:r>
          </a:p>
          <a:p>
            <a:pPr lvl="1"/>
            <a:r>
              <a:rPr lang="fr-FR" dirty="0" smtClean="0"/>
              <a:t>Introduction</a:t>
            </a:r>
          </a:p>
          <a:p>
            <a:pPr lvl="1"/>
            <a:r>
              <a:rPr lang="fr-FR" dirty="0" smtClean="0"/>
              <a:t>Les principaux modules</a:t>
            </a:r>
          </a:p>
          <a:p>
            <a:pPr lvl="1"/>
            <a:r>
              <a:rPr lang="fr-FR" dirty="0" smtClean="0"/>
              <a:t>Documentation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 smtClean="0"/>
          </a:p>
          <a:p>
            <a:pPr marL="857250" lvl="1" indent="-457200"/>
            <a:r>
              <a:rPr lang="fr-FR" dirty="0" smtClean="0"/>
              <a:t>Les modules de </a:t>
            </a:r>
            <a:r>
              <a:rPr lang="fr-FR" dirty="0" err="1" smtClean="0"/>
              <a:t>PyQt</a:t>
            </a:r>
            <a:endParaRPr lang="fr-FR" dirty="0" smtClean="0"/>
          </a:p>
          <a:p>
            <a:pPr marL="857250" lvl="1" indent="-457200"/>
            <a:r>
              <a:rPr lang="fr-FR" dirty="0" smtClean="0"/>
              <a:t>Les widgets</a:t>
            </a:r>
          </a:p>
          <a:p>
            <a:pPr marL="857250" lvl="1" indent="-457200"/>
            <a:r>
              <a:rPr lang="fr-FR" dirty="0" smtClean="0"/>
              <a:t>Définition de classe graphique</a:t>
            </a:r>
          </a:p>
          <a:p>
            <a:pPr marL="857250" lvl="1" indent="-457200"/>
            <a:r>
              <a:rPr lang="fr-FR" dirty="0" smtClean="0"/>
              <a:t>Les fenêtres </a:t>
            </a:r>
          </a:p>
          <a:p>
            <a:pPr marL="857250" lvl="1" indent="-457200"/>
            <a:r>
              <a:rPr lang="fr-FR" dirty="0" smtClean="0"/>
              <a:t>Signaux et slots en Python</a:t>
            </a:r>
          </a:p>
          <a:p>
            <a:pPr marL="457200" lvl="1" indent="0">
              <a:buNone/>
            </a:pP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3329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Modules de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err="1" smtClean="0"/>
              <a:t>PyQt</a:t>
            </a:r>
            <a:r>
              <a:rPr lang="fr-FR" dirty="0" smtClean="0"/>
              <a:t> fournit un module Python PyQt4</a:t>
            </a:r>
          </a:p>
          <a:p>
            <a:r>
              <a:rPr lang="fr-FR" sz="2000" i="1" dirty="0" smtClean="0">
                <a:solidFill>
                  <a:srgbClr val="FFFF00"/>
                </a:solidFill>
              </a:rPr>
              <a:t>PyQt4.QtCore</a:t>
            </a:r>
            <a:r>
              <a:rPr lang="fr-FR" sz="2000" dirty="0"/>
              <a:t> : pour les fonctionnalités non graphiques utilisées par les autres modules : mécanisme de support pour les </a:t>
            </a:r>
            <a:r>
              <a:rPr lang="fr-FR" sz="2000" dirty="0">
                <a:solidFill>
                  <a:srgbClr val="FFFF00"/>
                </a:solidFill>
              </a:rPr>
              <a:t>signaux et les slots</a:t>
            </a:r>
            <a:r>
              <a:rPr lang="fr-FR" sz="2000" dirty="0"/>
              <a:t>, …</a:t>
            </a:r>
          </a:p>
          <a:p>
            <a:r>
              <a:rPr lang="fr-FR" sz="2000" i="1" dirty="0">
                <a:solidFill>
                  <a:srgbClr val="FFFF00"/>
                </a:solidFill>
              </a:rPr>
              <a:t>PyQt4.</a:t>
            </a:r>
            <a:r>
              <a:rPr lang="fr-FR" sz="2000" i="1" dirty="0" smtClean="0">
                <a:solidFill>
                  <a:srgbClr val="FFFF00"/>
                </a:solidFill>
              </a:rPr>
              <a:t>QtGui</a:t>
            </a:r>
            <a:r>
              <a:rPr lang="fr-FR" sz="2000" dirty="0"/>
              <a:t> : pour les composants graphiques ;</a:t>
            </a:r>
          </a:p>
          <a:p>
            <a:r>
              <a:rPr lang="fr-FR" sz="2000" i="1" dirty="0" smtClean="0"/>
              <a:t>PyQt4.QtNetwork</a:t>
            </a:r>
            <a:r>
              <a:rPr lang="fr-FR" sz="2000" dirty="0"/>
              <a:t> </a:t>
            </a:r>
            <a:endParaRPr lang="fr-FR" sz="2000" dirty="0" smtClean="0"/>
          </a:p>
          <a:p>
            <a:r>
              <a:rPr lang="fr-FR" sz="2000" i="1" dirty="0" smtClean="0"/>
              <a:t>PyQt4.QtOpenGL</a:t>
            </a:r>
            <a:r>
              <a:rPr lang="fr-FR" sz="2000" dirty="0"/>
              <a:t> </a:t>
            </a:r>
            <a:endParaRPr lang="fr-FR" sz="2000" dirty="0" smtClean="0"/>
          </a:p>
          <a:p>
            <a:r>
              <a:rPr lang="fr-FR" sz="2000" i="1" dirty="0" smtClean="0"/>
              <a:t>PyQt4.QtSql</a:t>
            </a:r>
            <a:r>
              <a:rPr lang="fr-FR" sz="2000" dirty="0"/>
              <a:t> </a:t>
            </a:r>
            <a:r>
              <a:rPr lang="fr-FR" sz="2000" dirty="0" smtClean="0"/>
              <a:t>;</a:t>
            </a:r>
            <a:endParaRPr lang="fr-FR" sz="2000" dirty="0"/>
          </a:p>
          <a:p>
            <a:r>
              <a:rPr lang="fr-FR" sz="2000" i="1" dirty="0"/>
              <a:t>PyQt4.</a:t>
            </a:r>
            <a:r>
              <a:rPr lang="fr-FR" sz="2000" i="1" dirty="0" smtClean="0"/>
              <a:t>QtXml</a:t>
            </a:r>
            <a:r>
              <a:rPr lang="fr-FR" sz="2000" dirty="0"/>
              <a:t> </a:t>
            </a:r>
          </a:p>
          <a:p>
            <a:r>
              <a:rPr lang="fr-FR" sz="2000" i="1" dirty="0" smtClean="0"/>
              <a:t>PyQt4.QtAssistant</a:t>
            </a:r>
            <a:r>
              <a:rPr lang="fr-FR" sz="2000" dirty="0"/>
              <a:t> </a:t>
            </a:r>
            <a:endParaRPr lang="fr-FR" sz="2000" dirty="0" smtClean="0"/>
          </a:p>
          <a:p>
            <a:r>
              <a:rPr lang="fr-FR" sz="2000" i="1" dirty="0" smtClean="0"/>
              <a:t>PyQt4.</a:t>
            </a:r>
            <a:r>
              <a:rPr lang="fr-FR" sz="2000" dirty="0" smtClean="0"/>
              <a:t>QtWebKit </a:t>
            </a:r>
          </a:p>
          <a:p>
            <a:r>
              <a:rPr lang="fr-FR" sz="2000" i="1" dirty="0" smtClean="0"/>
              <a:t>PyQt4.</a:t>
            </a:r>
            <a:r>
              <a:rPr lang="fr-FR" sz="2000" dirty="0" smtClean="0"/>
              <a:t>QtTest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35925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3789040"/>
            <a:ext cx="4139952" cy="240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6856" y="260648"/>
            <a:ext cx="8229600" cy="648072"/>
          </a:xfrm>
        </p:spPr>
        <p:txBody>
          <a:bodyPr/>
          <a:lstStyle/>
          <a:p>
            <a:r>
              <a:rPr lang="fr-FR" dirty="0" smtClean="0"/>
              <a:t>Les widgets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732240" y="6309320"/>
            <a:ext cx="2133600" cy="365125"/>
          </a:xfrm>
        </p:spPr>
        <p:txBody>
          <a:bodyPr/>
          <a:lstStyle/>
          <a:p>
            <a:fld id="{BECFFF0D-0199-40F6-98A2-0B4E765CD128}" type="slidenum">
              <a:rPr lang="en-US" sz="1100" smtClean="0"/>
              <a:pPr/>
              <a:t>16</a:t>
            </a:fld>
            <a:endParaRPr lang="en-US" sz="11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179512" y="980728"/>
            <a:ext cx="8712968" cy="4525963"/>
          </a:xfrm>
        </p:spPr>
        <p:txBody>
          <a:bodyPr>
            <a:normAutofit/>
          </a:bodyPr>
          <a:lstStyle/>
          <a:p>
            <a:r>
              <a:rPr lang="fr-FR" sz="2400" dirty="0" err="1" smtClean="0"/>
              <a:t>Qwidget</a:t>
            </a:r>
            <a:r>
              <a:rPr lang="fr-FR" sz="2400" dirty="0" smtClean="0"/>
              <a:t> : la classe de base de tous les objets visibles dans l’IHM</a:t>
            </a:r>
          </a:p>
          <a:p>
            <a:r>
              <a:rPr lang="fr-FR" sz="2400" dirty="0" smtClean="0"/>
              <a:t>Les fenêtres : </a:t>
            </a:r>
            <a:r>
              <a:rPr lang="fr-FR" sz="2400" dirty="0" err="1" smtClean="0">
                <a:solidFill>
                  <a:srgbClr val="FFFF00"/>
                </a:solidFill>
              </a:rPr>
              <a:t>QMainWindow</a:t>
            </a:r>
            <a:r>
              <a:rPr lang="fr-FR" sz="2400" dirty="0" smtClean="0">
                <a:solidFill>
                  <a:srgbClr val="FFFF00"/>
                </a:solidFill>
              </a:rPr>
              <a:t>, </a:t>
            </a:r>
            <a:r>
              <a:rPr lang="fr-FR" sz="2400" dirty="0" err="1" smtClean="0">
                <a:solidFill>
                  <a:srgbClr val="FFFF00"/>
                </a:solidFill>
              </a:rPr>
              <a:t>QDialog</a:t>
            </a:r>
            <a:endParaRPr lang="fr-FR" sz="2400" dirty="0" smtClean="0">
              <a:solidFill>
                <a:srgbClr val="FFFF00"/>
              </a:solidFill>
            </a:endParaRPr>
          </a:p>
          <a:p>
            <a:r>
              <a:rPr lang="fr-FR" sz="2400" dirty="0" smtClean="0"/>
              <a:t>Les conteneurs : </a:t>
            </a:r>
            <a:r>
              <a:rPr lang="fr-FR" sz="2400" dirty="0" err="1" smtClean="0">
                <a:solidFill>
                  <a:srgbClr val="FFFF00"/>
                </a:solidFill>
              </a:rPr>
              <a:t>Qframe</a:t>
            </a:r>
            <a:r>
              <a:rPr lang="fr-FR" sz="2400" dirty="0" smtClean="0">
                <a:solidFill>
                  <a:srgbClr val="FFFF00"/>
                </a:solidFill>
              </a:rPr>
              <a:t>, </a:t>
            </a:r>
            <a:r>
              <a:rPr lang="fr-FR" sz="2400" dirty="0" err="1" smtClean="0">
                <a:solidFill>
                  <a:srgbClr val="FFFF00"/>
                </a:solidFill>
              </a:rPr>
              <a:t>QGroupBox</a:t>
            </a:r>
            <a:endParaRPr lang="fr-FR" sz="2400" dirty="0" smtClean="0">
              <a:solidFill>
                <a:srgbClr val="FFFF00"/>
              </a:solidFill>
            </a:endParaRPr>
          </a:p>
          <a:p>
            <a:r>
              <a:rPr lang="fr-FR" sz="2400" dirty="0" smtClean="0"/>
              <a:t>Les objets graphiques</a:t>
            </a:r>
          </a:p>
          <a:p>
            <a:pPr lvl="1"/>
            <a:r>
              <a:rPr lang="fr-FR" sz="2400" dirty="0" smtClean="0"/>
              <a:t>Les boutons : </a:t>
            </a:r>
            <a:r>
              <a:rPr lang="fr-FR" sz="2400" dirty="0" err="1" smtClean="0">
                <a:solidFill>
                  <a:srgbClr val="FFFF00"/>
                </a:solidFill>
              </a:rPr>
              <a:t>QPushButton</a:t>
            </a:r>
            <a:r>
              <a:rPr lang="fr-FR" sz="2400" dirty="0" smtClean="0">
                <a:solidFill>
                  <a:srgbClr val="FFFF00"/>
                </a:solidFill>
              </a:rPr>
              <a:t>, </a:t>
            </a:r>
            <a:r>
              <a:rPr lang="fr-FR" sz="2400" dirty="0" err="1" smtClean="0">
                <a:solidFill>
                  <a:srgbClr val="FFFF00"/>
                </a:solidFill>
              </a:rPr>
              <a:t>QRadioButton</a:t>
            </a:r>
            <a:endParaRPr lang="fr-FR" sz="2400" dirty="0" smtClean="0">
              <a:solidFill>
                <a:srgbClr val="FFFF00"/>
              </a:solidFill>
            </a:endParaRPr>
          </a:p>
          <a:p>
            <a:pPr lvl="1"/>
            <a:r>
              <a:rPr lang="fr-FR" sz="2400" dirty="0" smtClean="0"/>
              <a:t>Les menus  : </a:t>
            </a:r>
            <a:r>
              <a:rPr lang="fr-FR" sz="2400" dirty="0" err="1" smtClean="0">
                <a:solidFill>
                  <a:srgbClr val="FFFF00"/>
                </a:solidFill>
              </a:rPr>
              <a:t>QMenuBar</a:t>
            </a:r>
            <a:r>
              <a:rPr lang="fr-FR" sz="2400" dirty="0" smtClean="0">
                <a:solidFill>
                  <a:srgbClr val="FFFF00"/>
                </a:solidFill>
              </a:rPr>
              <a:t>, </a:t>
            </a:r>
            <a:r>
              <a:rPr lang="fr-FR" sz="2400" dirty="0" err="1" smtClean="0">
                <a:solidFill>
                  <a:srgbClr val="FFFF00"/>
                </a:solidFill>
              </a:rPr>
              <a:t>QPopMenu</a:t>
            </a:r>
            <a:endParaRPr lang="fr-FR" sz="2400" dirty="0" smtClean="0">
              <a:solidFill>
                <a:srgbClr val="FFFF00"/>
              </a:solidFill>
            </a:endParaRPr>
          </a:p>
          <a:p>
            <a:pPr lvl="1"/>
            <a:r>
              <a:rPr lang="fr-FR" sz="2400" dirty="0"/>
              <a:t>Les barres d’outils : </a:t>
            </a:r>
            <a:r>
              <a:rPr lang="fr-FR" sz="2400" dirty="0" err="1" smtClean="0">
                <a:solidFill>
                  <a:srgbClr val="FFFF00"/>
                </a:solidFill>
              </a:rPr>
              <a:t>QToolBarre</a:t>
            </a:r>
            <a:endParaRPr lang="fr-FR" sz="2400" dirty="0" smtClean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2111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6856" y="260648"/>
            <a:ext cx="8229600" cy="648072"/>
          </a:xfrm>
        </p:spPr>
        <p:txBody>
          <a:bodyPr/>
          <a:lstStyle/>
          <a:p>
            <a:r>
              <a:rPr lang="fr-FR" dirty="0" smtClean="0"/>
              <a:t>Exemple 1 : widget simple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732240" y="6309320"/>
            <a:ext cx="2133600" cy="365125"/>
          </a:xfrm>
        </p:spPr>
        <p:txBody>
          <a:bodyPr/>
          <a:lstStyle/>
          <a:p>
            <a:fld id="{BECFFF0D-0199-40F6-98A2-0B4E765CD128}" type="slidenum">
              <a:rPr lang="en-US" sz="1100" smtClean="0"/>
              <a:pPr/>
              <a:t>17</a:t>
            </a:fld>
            <a:endParaRPr lang="en-US" sz="11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7" name="Espace réservé du contenu 2"/>
          <p:cNvSpPr txBox="1">
            <a:spLocks/>
          </p:cNvSpPr>
          <p:nvPr/>
        </p:nvSpPr>
        <p:spPr>
          <a:xfrm>
            <a:off x="455360" y="2924944"/>
            <a:ext cx="8013104" cy="2520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55000" lnSpcReduction="2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fr-FR" dirty="0" err="1">
                <a:solidFill>
                  <a:schemeClr val="tx1"/>
                </a:solidFill>
              </a:rPr>
              <a:t>from</a:t>
            </a:r>
            <a:r>
              <a:rPr lang="fr-FR" dirty="0">
                <a:solidFill>
                  <a:schemeClr val="tx1"/>
                </a:solidFill>
              </a:rPr>
              <a:t> PyQt4 import </a:t>
            </a:r>
            <a:r>
              <a:rPr lang="fr-FR" dirty="0" err="1">
                <a:solidFill>
                  <a:schemeClr val="tx1"/>
                </a:solidFill>
              </a:rPr>
              <a:t>QtGui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import </a:t>
            </a:r>
            <a:r>
              <a:rPr lang="fr-FR" dirty="0" err="1">
                <a:solidFill>
                  <a:schemeClr val="tx1"/>
                </a:solidFill>
              </a:rPr>
              <a:t>sys</a:t>
            </a: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endParaRPr lang="fr-FR" dirty="0">
              <a:solidFill>
                <a:schemeClr val="tx1"/>
              </a:solidFill>
            </a:endParaRPr>
          </a:p>
          <a:p>
            <a:r>
              <a:rPr lang="fr-FR" dirty="0" err="1">
                <a:solidFill>
                  <a:schemeClr val="tx1"/>
                </a:solidFill>
              </a:rPr>
              <a:t>def</a:t>
            </a:r>
            <a:r>
              <a:rPr lang="fr-FR" dirty="0">
                <a:solidFill>
                  <a:schemeClr val="tx1"/>
                </a:solidFill>
              </a:rPr>
              <a:t> main(</a:t>
            </a:r>
            <a:r>
              <a:rPr lang="fr-FR" dirty="0" err="1">
                <a:solidFill>
                  <a:schemeClr val="tx1"/>
                </a:solidFill>
              </a:rPr>
              <a:t>args</a:t>
            </a:r>
            <a:r>
              <a:rPr lang="fr-FR" dirty="0">
                <a:solidFill>
                  <a:schemeClr val="tx1"/>
                </a:solidFill>
              </a:rPr>
              <a:t>) :</a:t>
            </a: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smtClean="0"/>
              <a:t>#on doit disposer </a:t>
            </a:r>
            <a:r>
              <a:rPr lang="fr-FR" dirty="0"/>
              <a:t>d'une instance de </a:t>
            </a:r>
            <a:r>
              <a:rPr lang="fr-FR" dirty="0" err="1"/>
              <a:t>QApplication</a:t>
            </a:r>
            <a:r>
              <a:rPr lang="fr-FR" dirty="0"/>
              <a:t> gérant l'ensemble des widgets</a:t>
            </a: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app</a:t>
            </a:r>
            <a:r>
              <a:rPr lang="fr-FR" dirty="0" smtClean="0">
                <a:solidFill>
                  <a:schemeClr val="tx1"/>
                </a:solidFill>
              </a:rPr>
              <a:t> = </a:t>
            </a:r>
            <a:r>
              <a:rPr lang="fr-FR" dirty="0" err="1">
                <a:solidFill>
                  <a:schemeClr val="tx1"/>
                </a:solidFill>
              </a:rPr>
              <a:t>QtGui.</a:t>
            </a:r>
            <a:r>
              <a:rPr lang="fr-FR" dirty="0" err="1" smtClean="0">
                <a:solidFill>
                  <a:schemeClr val="tx1"/>
                </a:solidFill>
              </a:rPr>
              <a:t>QApplication</a:t>
            </a:r>
            <a:r>
              <a:rPr lang="fr-FR" dirty="0" smtClean="0">
                <a:solidFill>
                  <a:schemeClr val="tx1"/>
                </a:solidFill>
              </a:rPr>
              <a:t>(</a:t>
            </a:r>
            <a:r>
              <a:rPr lang="fr-FR" dirty="0" err="1" smtClean="0">
                <a:solidFill>
                  <a:schemeClr val="tx1"/>
                </a:solidFill>
              </a:rPr>
              <a:t>args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/>
              <a:t>#</a:t>
            </a:r>
            <a:r>
              <a:rPr lang="fr-FR" dirty="0" smtClean="0"/>
              <a:t>une </a:t>
            </a:r>
            <a:r>
              <a:rPr lang="fr-FR" dirty="0" err="1" smtClean="0"/>
              <a:t>fenetre</a:t>
            </a:r>
            <a:endParaRPr lang="fr-FR" dirty="0"/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fen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= </a:t>
            </a:r>
            <a:r>
              <a:rPr lang="fr-FR" dirty="0" err="1">
                <a:solidFill>
                  <a:schemeClr val="tx1"/>
                </a:solidFill>
              </a:rPr>
              <a:t>QtGui.QWidget</a:t>
            </a:r>
            <a:r>
              <a:rPr lang="fr-FR" dirty="0" smtClean="0">
                <a:solidFill>
                  <a:schemeClr val="tx1"/>
                </a:solidFill>
              </a:rPr>
              <a:t>() </a:t>
            </a:r>
            <a:endParaRPr lang="fr-FR" dirty="0" smtClean="0">
              <a:solidFill>
                <a:srgbClr val="FF0000"/>
              </a:solidFill>
            </a:endParaRPr>
          </a:p>
          <a:p>
            <a:r>
              <a:rPr lang="fr-FR" dirty="0" smtClean="0"/>
              <a:t>   # titre de la </a:t>
            </a:r>
            <a:r>
              <a:rPr lang="fr-FR" dirty="0" err="1" smtClean="0"/>
              <a:t>fenetre</a:t>
            </a:r>
            <a:endParaRPr lang="fr-FR" dirty="0" smtClean="0"/>
          </a:p>
          <a:p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fen.setWindowTitle</a:t>
            </a:r>
            <a:r>
              <a:rPr lang="fr-FR" dirty="0">
                <a:solidFill>
                  <a:schemeClr val="tx1"/>
                </a:solidFill>
              </a:rPr>
              <a:t>("</a:t>
            </a:r>
            <a:r>
              <a:rPr lang="fr-FR" dirty="0" err="1">
                <a:solidFill>
                  <a:schemeClr val="tx1"/>
                </a:solidFill>
              </a:rPr>
              <a:t>Demo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QMainWindow</a:t>
            </a:r>
            <a:r>
              <a:rPr lang="fr-FR" dirty="0" smtClean="0">
                <a:solidFill>
                  <a:schemeClr val="tx1"/>
                </a:solidFill>
              </a:rPr>
              <a:t>")</a:t>
            </a:r>
          </a:p>
          <a:p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</a:t>
            </a:r>
            <a:r>
              <a:rPr lang="fr-FR" dirty="0"/>
              <a:t># </a:t>
            </a:r>
            <a:r>
              <a:rPr lang="fr-FR" dirty="0" smtClean="0"/>
              <a:t>taille de </a:t>
            </a:r>
            <a:r>
              <a:rPr lang="fr-FR" dirty="0"/>
              <a:t>la </a:t>
            </a:r>
            <a:r>
              <a:rPr lang="fr-FR" dirty="0" err="1"/>
              <a:t>fenetre</a:t>
            </a:r>
            <a:endParaRPr lang="fr-FR" dirty="0"/>
          </a:p>
          <a:p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fen.resize</a:t>
            </a:r>
            <a:r>
              <a:rPr lang="fr-FR" dirty="0" smtClean="0">
                <a:solidFill>
                  <a:schemeClr val="tx1"/>
                </a:solidFill>
              </a:rPr>
              <a:t>(40,80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r>
              <a:rPr lang="fr-FR" dirty="0" smtClean="0"/>
              <a:t>   #</a:t>
            </a:r>
            <a:r>
              <a:rPr lang="fr-FR" dirty="0"/>
              <a:t>qu'on affiche</a:t>
            </a: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fen.show</a:t>
            </a:r>
            <a:r>
              <a:rPr lang="fr-FR" dirty="0">
                <a:solidFill>
                  <a:schemeClr val="tx1"/>
                </a:solidFill>
              </a:rPr>
              <a:t>()</a:t>
            </a: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err="1">
                <a:solidFill>
                  <a:schemeClr val="tx1"/>
                </a:solidFill>
              </a:rPr>
              <a:t>app.exec</a:t>
            </a:r>
            <a:r>
              <a:rPr lang="fr-FR" dirty="0">
                <a:solidFill>
                  <a:schemeClr val="tx1"/>
                </a:solidFill>
              </a:rPr>
              <a:t>_()</a:t>
            </a:r>
          </a:p>
          <a:p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if __</a:t>
            </a:r>
            <a:r>
              <a:rPr lang="fr-FR" dirty="0" err="1">
                <a:solidFill>
                  <a:schemeClr val="tx1"/>
                </a:solidFill>
              </a:rPr>
              <a:t>name</a:t>
            </a:r>
            <a:r>
              <a:rPr lang="fr-FR" dirty="0">
                <a:solidFill>
                  <a:schemeClr val="tx1"/>
                </a:solidFill>
              </a:rPr>
              <a:t>__ == "__main__" :</a:t>
            </a:r>
          </a:p>
          <a:p>
            <a:r>
              <a:rPr lang="fr-FR" dirty="0">
                <a:solidFill>
                  <a:schemeClr val="tx1"/>
                </a:solidFill>
              </a:rPr>
              <a:t>   main(</a:t>
            </a:r>
            <a:r>
              <a:rPr lang="fr-FR" dirty="0" err="1">
                <a:solidFill>
                  <a:schemeClr val="tx1"/>
                </a:solidFill>
              </a:rPr>
              <a:t>sys.argv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8439" y="980728"/>
            <a:ext cx="3455561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Espace réservé du contenu 2"/>
          <p:cNvSpPr>
            <a:spLocks noGrp="1"/>
          </p:cNvSpPr>
          <p:nvPr>
            <p:ph idx="1"/>
          </p:nvPr>
        </p:nvSpPr>
        <p:spPr>
          <a:xfrm>
            <a:off x="539552" y="1124744"/>
            <a:ext cx="5040560" cy="1408802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sz="1400" dirty="0" err="1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from</a:t>
            </a:r>
            <a:r>
              <a:rPr lang="fr-FR" sz="1400" dirty="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PyQt4 </a:t>
            </a:r>
            <a:r>
              <a:rPr lang="fr-FR" sz="1400" dirty="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import </a:t>
            </a:r>
            <a:r>
              <a:rPr lang="fr-FR" sz="14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</a:t>
            </a:r>
            <a:endParaRPr lang="fr-FR" sz="1400" dirty="0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import</a:t>
            </a:r>
            <a:r>
              <a:rPr lang="fr-FR" sz="1400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fr-FR" sz="1400" dirty="0" err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sys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endParaRPr lang="fr-FR" sz="1400" dirty="0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app</a:t>
            </a:r>
            <a:r>
              <a:rPr lang="fr-FR" sz="1400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 </a:t>
            </a:r>
            <a:r>
              <a:rPr lang="fr-FR" sz="1400" dirty="0" err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QtGui.QApplication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fr-FR" sz="1400" dirty="0" err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sys.argv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 </a:t>
            </a:r>
            <a:endParaRPr lang="fr-FR" sz="1400" dirty="0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fen</a:t>
            </a:r>
            <a:r>
              <a:rPr lang="fr-FR" sz="1400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= </a:t>
            </a:r>
            <a:r>
              <a:rPr lang="fr-FR" sz="14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QtGui.QWidget</a:t>
            </a:r>
            <a:r>
              <a:rPr lang="fr-FR" sz="1400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fr-FR" sz="15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fen.setWindowTitle</a:t>
            </a:r>
            <a:r>
              <a:rPr lang="fr-FR" sz="15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("</a:t>
            </a:r>
            <a:r>
              <a:rPr lang="fr-FR" sz="1500" dirty="0" err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Demo</a:t>
            </a:r>
            <a:r>
              <a:rPr lang="fr-FR" sz="15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fr-FR" sz="1500" dirty="0" err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QMainWindow</a:t>
            </a:r>
            <a:r>
              <a:rPr lang="fr-FR" sz="15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fr-FR" sz="15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fen.resize</a:t>
            </a:r>
            <a:r>
              <a:rPr lang="fr-FR" sz="1500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(40,80</a:t>
            </a:r>
            <a:r>
              <a:rPr lang="fr-FR" sz="15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fr-FR" sz="15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fen.show</a:t>
            </a:r>
            <a:r>
              <a:rPr lang="fr-FR" sz="15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fr-FR" sz="15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app.exec</a:t>
            </a:r>
            <a:r>
              <a:rPr lang="fr-FR" sz="15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_()</a:t>
            </a:r>
          </a:p>
        </p:txBody>
      </p:sp>
    </p:spTree>
    <p:extLst>
      <p:ext uri="{BB962C8B-B14F-4D97-AF65-F5344CB8AC3E}">
        <p14:creationId xmlns:p14="http://schemas.microsoft.com/office/powerpoint/2010/main" val="337746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6856" y="260648"/>
            <a:ext cx="8229600" cy="648072"/>
          </a:xfrm>
        </p:spPr>
        <p:txBody>
          <a:bodyPr/>
          <a:lstStyle/>
          <a:p>
            <a:r>
              <a:rPr lang="fr-FR" dirty="0" smtClean="0"/>
              <a:t>Exemple 2 : création d’un bouton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96888" y="1228110"/>
            <a:ext cx="5040560" cy="1296144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1400" dirty="0" err="1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from</a:t>
            </a:r>
            <a:r>
              <a:rPr lang="fr-FR" sz="1400" dirty="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PyQt4 </a:t>
            </a:r>
            <a:r>
              <a:rPr lang="fr-FR" sz="1400" dirty="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import </a:t>
            </a:r>
            <a:r>
              <a:rPr lang="fr-FR" sz="14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</a:t>
            </a:r>
            <a:endParaRPr lang="fr-FR" sz="1400" dirty="0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import</a:t>
            </a:r>
            <a:r>
              <a:rPr lang="fr-FR" sz="1400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fr-FR" sz="1400" dirty="0" err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sys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endParaRPr lang="fr-FR" sz="1400" dirty="0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app</a:t>
            </a:r>
            <a:r>
              <a:rPr lang="fr-FR" sz="1400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 </a:t>
            </a:r>
            <a:r>
              <a:rPr lang="fr-FR" sz="1400" dirty="0" err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QtGui.QApplication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fr-FR" sz="1400" dirty="0" err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sys.argv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 </a:t>
            </a:r>
            <a:endParaRPr lang="fr-FR" sz="1400" dirty="0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hello 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 </a:t>
            </a:r>
            <a:r>
              <a:rPr lang="fr-FR" sz="1400" dirty="0" err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QtGui.QPushButton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("Hello World!", None) </a:t>
            </a:r>
            <a:endParaRPr lang="fr-FR" sz="1400" dirty="0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hello.show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() </a:t>
            </a:r>
            <a:endParaRPr lang="fr-FR" sz="1400" dirty="0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 err="1" smtClean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app.exec</a:t>
            </a:r>
            <a:r>
              <a:rPr lang="fr-FR" sz="1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_()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732240" y="6309320"/>
            <a:ext cx="2133600" cy="365125"/>
          </a:xfrm>
        </p:spPr>
        <p:txBody>
          <a:bodyPr/>
          <a:lstStyle/>
          <a:p>
            <a:fld id="{BECFFF0D-0199-40F6-98A2-0B4E765CD128}" type="slidenum">
              <a:rPr lang="en-US" sz="1100" smtClean="0"/>
              <a:pPr/>
              <a:t>18</a:t>
            </a:fld>
            <a:endParaRPr lang="en-US" sz="11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1403162"/>
            <a:ext cx="160020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Espace réservé du contenu 2"/>
          <p:cNvSpPr txBox="1">
            <a:spLocks/>
          </p:cNvSpPr>
          <p:nvPr/>
        </p:nvSpPr>
        <p:spPr>
          <a:xfrm>
            <a:off x="467544" y="2893586"/>
            <a:ext cx="8424936" cy="31683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fr-FR" dirty="0" err="1">
                <a:solidFill>
                  <a:schemeClr val="tx1"/>
                </a:solidFill>
              </a:rPr>
              <a:t>from</a:t>
            </a:r>
            <a:r>
              <a:rPr lang="fr-FR" dirty="0">
                <a:solidFill>
                  <a:schemeClr val="tx1"/>
                </a:solidFill>
              </a:rPr>
              <a:t> PyQt4 import </a:t>
            </a:r>
            <a:r>
              <a:rPr lang="fr-FR" dirty="0" smtClean="0">
                <a:solidFill>
                  <a:schemeClr val="tx1"/>
                </a:solidFill>
              </a:rPr>
              <a:t>*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import </a:t>
            </a:r>
            <a:r>
              <a:rPr lang="fr-FR" dirty="0" err="1">
                <a:solidFill>
                  <a:schemeClr val="tx1"/>
                </a:solidFill>
              </a:rPr>
              <a:t>sys</a:t>
            </a: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endParaRPr lang="fr-FR" dirty="0">
              <a:solidFill>
                <a:schemeClr val="tx1"/>
              </a:solidFill>
            </a:endParaRPr>
          </a:p>
          <a:p>
            <a:r>
              <a:rPr lang="fr-FR" dirty="0" err="1">
                <a:solidFill>
                  <a:schemeClr val="tx1"/>
                </a:solidFill>
              </a:rPr>
              <a:t>def</a:t>
            </a:r>
            <a:r>
              <a:rPr lang="fr-FR" dirty="0">
                <a:solidFill>
                  <a:schemeClr val="tx1"/>
                </a:solidFill>
              </a:rPr>
              <a:t> main(</a:t>
            </a:r>
            <a:r>
              <a:rPr lang="fr-FR" dirty="0" err="1">
                <a:solidFill>
                  <a:schemeClr val="tx1"/>
                </a:solidFill>
              </a:rPr>
              <a:t>args</a:t>
            </a:r>
            <a:r>
              <a:rPr lang="fr-FR" dirty="0">
                <a:solidFill>
                  <a:schemeClr val="tx1"/>
                </a:solidFill>
              </a:rPr>
              <a:t>) :</a:t>
            </a: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smtClean="0"/>
              <a:t>#on doit disposer </a:t>
            </a:r>
            <a:r>
              <a:rPr lang="fr-FR" dirty="0"/>
              <a:t>d'une instance de </a:t>
            </a:r>
            <a:r>
              <a:rPr lang="fr-FR" dirty="0" err="1"/>
              <a:t>QApplication</a:t>
            </a:r>
            <a:r>
              <a:rPr lang="fr-FR" dirty="0"/>
              <a:t> gérant l'ensemble des widgets</a:t>
            </a: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app</a:t>
            </a:r>
            <a:r>
              <a:rPr lang="fr-FR" dirty="0" smtClean="0">
                <a:solidFill>
                  <a:schemeClr val="tx1"/>
                </a:solidFill>
              </a:rPr>
              <a:t> = </a:t>
            </a:r>
            <a:r>
              <a:rPr lang="fr-FR" dirty="0" err="1" smtClean="0">
                <a:solidFill>
                  <a:schemeClr val="tx1"/>
                </a:solidFill>
              </a:rPr>
              <a:t>QApplication</a:t>
            </a:r>
            <a:r>
              <a:rPr lang="fr-FR" dirty="0" smtClean="0">
                <a:solidFill>
                  <a:schemeClr val="tx1"/>
                </a:solidFill>
              </a:rPr>
              <a:t>(</a:t>
            </a:r>
            <a:r>
              <a:rPr lang="fr-FR" dirty="0" err="1" smtClean="0">
                <a:solidFill>
                  <a:schemeClr val="tx1"/>
                </a:solidFill>
              </a:rPr>
              <a:t>args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/>
              <a:t>#un nouveau bouton</a:t>
            </a: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button</a:t>
            </a:r>
            <a:r>
              <a:rPr lang="fr-FR" dirty="0" smtClean="0">
                <a:solidFill>
                  <a:schemeClr val="tx1"/>
                </a:solidFill>
              </a:rPr>
              <a:t> = </a:t>
            </a:r>
            <a:r>
              <a:rPr lang="fr-FR" dirty="0" err="1" smtClean="0">
                <a:solidFill>
                  <a:schemeClr val="tx1"/>
                </a:solidFill>
              </a:rPr>
              <a:t>QPushButton</a:t>
            </a:r>
            <a:r>
              <a:rPr lang="fr-FR" dirty="0">
                <a:solidFill>
                  <a:schemeClr val="tx1"/>
                </a:solidFill>
              </a:rPr>
              <a:t>("Hello World !", None)</a:t>
            </a: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/>
              <a:t>#qu'on affiche</a:t>
            </a: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err="1">
                <a:solidFill>
                  <a:schemeClr val="tx1"/>
                </a:solidFill>
              </a:rPr>
              <a:t>button.show</a:t>
            </a:r>
            <a:r>
              <a:rPr lang="fr-FR" dirty="0">
                <a:solidFill>
                  <a:schemeClr val="tx1"/>
                </a:solidFill>
              </a:rPr>
              <a:t>()</a:t>
            </a: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err="1">
                <a:solidFill>
                  <a:schemeClr val="tx1"/>
                </a:solidFill>
              </a:rPr>
              <a:t>app.exec</a:t>
            </a:r>
            <a:r>
              <a:rPr lang="fr-FR" dirty="0">
                <a:solidFill>
                  <a:schemeClr val="tx1"/>
                </a:solidFill>
              </a:rPr>
              <a:t>_()</a:t>
            </a:r>
          </a:p>
          <a:p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if __</a:t>
            </a:r>
            <a:r>
              <a:rPr lang="fr-FR" dirty="0" err="1">
                <a:solidFill>
                  <a:schemeClr val="tx1"/>
                </a:solidFill>
              </a:rPr>
              <a:t>name</a:t>
            </a:r>
            <a:r>
              <a:rPr lang="fr-FR" dirty="0">
                <a:solidFill>
                  <a:schemeClr val="tx1"/>
                </a:solidFill>
              </a:rPr>
              <a:t>__ == "__main__" :</a:t>
            </a:r>
          </a:p>
          <a:p>
            <a:r>
              <a:rPr lang="fr-FR" dirty="0">
                <a:solidFill>
                  <a:schemeClr val="tx1"/>
                </a:solidFill>
              </a:rPr>
              <a:t>   main(</a:t>
            </a:r>
            <a:r>
              <a:rPr lang="fr-FR" dirty="0" err="1">
                <a:solidFill>
                  <a:schemeClr val="tx1"/>
                </a:solidFill>
              </a:rPr>
              <a:t>sys.argv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467544" y="836712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Version simple :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67544" y="2524254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Version recommandée : 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16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Agencement des widgets (</a:t>
            </a:r>
            <a:r>
              <a:rPr lang="fr-FR" i="1" dirty="0" err="1" smtClean="0"/>
              <a:t>layout</a:t>
            </a:r>
            <a:r>
              <a:rPr lang="fr-FR" dirty="0" smtClean="0"/>
              <a:t>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1520" y="1196752"/>
            <a:ext cx="8784976" cy="4525963"/>
          </a:xfrm>
        </p:spPr>
        <p:txBody>
          <a:bodyPr>
            <a:normAutofit/>
          </a:bodyPr>
          <a:lstStyle/>
          <a:p>
            <a:r>
              <a:rPr lang="fr-FR" sz="2000" dirty="0" smtClean="0"/>
              <a:t>Plusieurs types d’agencement :</a:t>
            </a:r>
          </a:p>
          <a:p>
            <a:pPr lvl="1"/>
            <a:r>
              <a:rPr lang="fr-FR" sz="1600" dirty="0" err="1" smtClean="0"/>
              <a:t>QHBoxLayout</a:t>
            </a:r>
            <a:r>
              <a:rPr lang="fr-FR" sz="1600" dirty="0" smtClean="0"/>
              <a:t>  et </a:t>
            </a:r>
            <a:r>
              <a:rPr lang="fr-FR" sz="1600" dirty="0" err="1" smtClean="0"/>
              <a:t>QVBoxLayout</a:t>
            </a:r>
            <a:r>
              <a:rPr lang="fr-FR" sz="1600" dirty="0" smtClean="0"/>
              <a:t> : placement des widget horizontalement et verticalement</a:t>
            </a:r>
          </a:p>
          <a:p>
            <a:pPr lvl="2"/>
            <a:r>
              <a:rPr lang="fr-FR" sz="1200" dirty="0" err="1" smtClean="0">
                <a:solidFill>
                  <a:srgbClr val="FFFF00"/>
                </a:solidFill>
              </a:rPr>
              <a:t>addWidget</a:t>
            </a:r>
            <a:r>
              <a:rPr lang="fr-FR" sz="1200" dirty="0" smtClean="0">
                <a:solidFill>
                  <a:srgbClr val="FFFF00"/>
                </a:solidFill>
              </a:rPr>
              <a:t>(widget)</a:t>
            </a:r>
            <a:r>
              <a:rPr lang="fr-FR" sz="1200" dirty="0">
                <a:solidFill>
                  <a:srgbClr val="FFFF00"/>
                </a:solidFill>
              </a:rPr>
              <a:t> </a:t>
            </a:r>
            <a:r>
              <a:rPr lang="fr-FR" sz="1200" dirty="0" smtClean="0"/>
              <a:t>:  </a:t>
            </a:r>
            <a:r>
              <a:rPr lang="fr-FR" sz="1200" dirty="0"/>
              <a:t>ajouter un widget </a:t>
            </a:r>
            <a:r>
              <a:rPr lang="fr-FR" sz="1200" dirty="0" smtClean="0"/>
              <a:t>:</a:t>
            </a:r>
          </a:p>
          <a:p>
            <a:pPr lvl="2"/>
            <a:r>
              <a:rPr lang="fr-FR" sz="1200" dirty="0" err="1" smtClean="0">
                <a:solidFill>
                  <a:srgbClr val="FFFF00"/>
                </a:solidFill>
              </a:rPr>
              <a:t>addSpacing</a:t>
            </a:r>
            <a:r>
              <a:rPr lang="fr-FR" sz="1200" dirty="0" smtClean="0">
                <a:solidFill>
                  <a:srgbClr val="FFFF00"/>
                </a:solidFill>
              </a:rPr>
              <a:t>(size) </a:t>
            </a:r>
            <a:r>
              <a:rPr lang="fr-FR" sz="1200" dirty="0" smtClean="0"/>
              <a:t>: ajouter d’un espace de taille fixe</a:t>
            </a:r>
          </a:p>
          <a:p>
            <a:pPr lvl="2"/>
            <a:r>
              <a:rPr lang="fr-FR" sz="1200" dirty="0" err="1" smtClean="0">
                <a:solidFill>
                  <a:srgbClr val="FFFF00"/>
                </a:solidFill>
              </a:rPr>
              <a:t>addStretch</a:t>
            </a:r>
            <a:r>
              <a:rPr lang="fr-FR" sz="1200" dirty="0" smtClean="0">
                <a:solidFill>
                  <a:srgbClr val="FFFF00"/>
                </a:solidFill>
              </a:rPr>
              <a:t>(</a:t>
            </a:r>
            <a:r>
              <a:rPr lang="fr-FR" sz="1200" dirty="0" err="1" smtClean="0">
                <a:solidFill>
                  <a:srgbClr val="FFFF00"/>
                </a:solidFill>
              </a:rPr>
              <a:t>stretch_factor</a:t>
            </a:r>
            <a:r>
              <a:rPr lang="fr-FR" sz="1200" dirty="0" smtClean="0">
                <a:solidFill>
                  <a:srgbClr val="FFFF00"/>
                </a:solidFill>
              </a:rPr>
              <a:t>) </a:t>
            </a:r>
            <a:r>
              <a:rPr lang="fr-FR" sz="1200" dirty="0" smtClean="0"/>
              <a:t>: ajout un espace de taille </a:t>
            </a:r>
            <a:r>
              <a:rPr lang="fr-FR" sz="1200" dirty="0" err="1" smtClean="0"/>
              <a:t>extensile</a:t>
            </a:r>
            <a:endParaRPr lang="fr-FR" sz="1200" dirty="0" smtClean="0"/>
          </a:p>
          <a:p>
            <a:pPr lvl="1"/>
            <a:r>
              <a:rPr lang="fr-FR" sz="1600" dirty="0" err="1" smtClean="0"/>
              <a:t>QGridLayout</a:t>
            </a:r>
            <a:r>
              <a:rPr lang="fr-FR" sz="1600" dirty="0" smtClean="0"/>
              <a:t> : placement des widgets en grille</a:t>
            </a:r>
          </a:p>
          <a:p>
            <a:pPr lvl="2"/>
            <a:r>
              <a:rPr lang="fr-FR" sz="1200" dirty="0" err="1" smtClean="0">
                <a:solidFill>
                  <a:srgbClr val="FFFF00"/>
                </a:solidFill>
              </a:rPr>
              <a:t>addWidget</a:t>
            </a:r>
            <a:r>
              <a:rPr lang="fr-FR" sz="1200" dirty="0" smtClean="0">
                <a:solidFill>
                  <a:srgbClr val="FFFF00"/>
                </a:solidFill>
              </a:rPr>
              <a:t>(widget, </a:t>
            </a:r>
            <a:r>
              <a:rPr lang="fr-FR" sz="1200" dirty="0" err="1" smtClean="0">
                <a:solidFill>
                  <a:srgbClr val="FFFF00"/>
                </a:solidFill>
              </a:rPr>
              <a:t>row</a:t>
            </a:r>
            <a:r>
              <a:rPr lang="fr-FR" sz="1200" dirty="0" smtClean="0">
                <a:solidFill>
                  <a:srgbClr val="FFFF00"/>
                </a:solidFill>
              </a:rPr>
              <a:t>, col) </a:t>
            </a:r>
            <a:r>
              <a:rPr lang="fr-FR" sz="1200" dirty="0" smtClean="0"/>
              <a:t>: ajouter un widget à la position (</a:t>
            </a:r>
            <a:r>
              <a:rPr lang="fr-FR" sz="1200" dirty="0" err="1" smtClean="0"/>
              <a:t>row</a:t>
            </a:r>
            <a:r>
              <a:rPr lang="fr-FR" sz="1200" dirty="0" smtClean="0"/>
              <a:t>, col)</a:t>
            </a:r>
          </a:p>
          <a:p>
            <a:pPr lvl="2"/>
            <a:r>
              <a:rPr lang="fr-FR" sz="1200" dirty="0" err="1" smtClean="0">
                <a:solidFill>
                  <a:srgbClr val="FFFF00"/>
                </a:solidFill>
              </a:rPr>
              <a:t>addMultiCellWidget</a:t>
            </a:r>
            <a:r>
              <a:rPr lang="fr-FR" sz="1200" dirty="0" smtClean="0">
                <a:solidFill>
                  <a:srgbClr val="FFFF00"/>
                </a:solidFill>
              </a:rPr>
              <a:t>(widget, </a:t>
            </a:r>
            <a:r>
              <a:rPr lang="fr-FR" sz="1200" dirty="0" err="1" smtClean="0">
                <a:solidFill>
                  <a:srgbClr val="FFFF00"/>
                </a:solidFill>
              </a:rPr>
              <a:t>fromRow</a:t>
            </a:r>
            <a:r>
              <a:rPr lang="fr-FR" sz="1200" dirty="0" smtClean="0">
                <a:solidFill>
                  <a:srgbClr val="FFFF00"/>
                </a:solidFill>
              </a:rPr>
              <a:t>, </a:t>
            </a:r>
            <a:r>
              <a:rPr lang="fr-FR" sz="1200" dirty="0" err="1" smtClean="0">
                <a:solidFill>
                  <a:srgbClr val="FFFF00"/>
                </a:solidFill>
              </a:rPr>
              <a:t>toRow</a:t>
            </a:r>
            <a:r>
              <a:rPr lang="fr-FR" sz="1200" dirty="0" smtClean="0">
                <a:solidFill>
                  <a:srgbClr val="FFFF00"/>
                </a:solidFill>
              </a:rPr>
              <a:t>, </a:t>
            </a:r>
            <a:r>
              <a:rPr lang="fr-FR" sz="1200" dirty="0" err="1" smtClean="0">
                <a:solidFill>
                  <a:srgbClr val="FFFF00"/>
                </a:solidFill>
              </a:rPr>
              <a:t>fromCol</a:t>
            </a:r>
            <a:r>
              <a:rPr lang="fr-FR" sz="1200" dirty="0" smtClean="0">
                <a:solidFill>
                  <a:srgbClr val="FFFF00"/>
                </a:solidFill>
              </a:rPr>
              <a:t>, </a:t>
            </a:r>
            <a:r>
              <a:rPr lang="fr-FR" sz="1200" dirty="0" err="1" smtClean="0">
                <a:solidFill>
                  <a:srgbClr val="FFFF00"/>
                </a:solidFill>
              </a:rPr>
              <a:t>toCol</a:t>
            </a:r>
            <a:r>
              <a:rPr lang="fr-FR" sz="1200" dirty="0" smtClean="0">
                <a:solidFill>
                  <a:srgbClr val="FFFF00"/>
                </a:solidFill>
              </a:rPr>
              <a:t>)</a:t>
            </a:r>
            <a:endParaRPr lang="fr-FR" sz="1200" dirty="0">
              <a:solidFill>
                <a:srgbClr val="FFFF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500708" y="3573016"/>
            <a:ext cx="3711252" cy="25922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fr-FR" dirty="0" err="1" smtClean="0">
                <a:solidFill>
                  <a:schemeClr val="tx1"/>
                </a:solidFill>
              </a:rPr>
              <a:t>from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PyQt4 import </a:t>
            </a:r>
            <a:r>
              <a:rPr lang="fr-FR" dirty="0" err="1">
                <a:solidFill>
                  <a:schemeClr val="tx1"/>
                </a:solidFill>
              </a:rPr>
              <a:t>QtGui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import </a:t>
            </a:r>
            <a:r>
              <a:rPr lang="fr-FR" dirty="0" err="1">
                <a:solidFill>
                  <a:schemeClr val="tx1"/>
                </a:solidFill>
              </a:rPr>
              <a:t>sys</a:t>
            </a: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r>
              <a:rPr lang="fr-FR" dirty="0" err="1">
                <a:solidFill>
                  <a:schemeClr val="tx1"/>
                </a:solidFill>
              </a:rPr>
              <a:t>app</a:t>
            </a:r>
            <a:r>
              <a:rPr lang="fr-FR" dirty="0">
                <a:solidFill>
                  <a:schemeClr val="tx1"/>
                </a:solidFill>
              </a:rPr>
              <a:t> = </a:t>
            </a:r>
            <a:r>
              <a:rPr lang="fr-FR" dirty="0" err="1">
                <a:solidFill>
                  <a:schemeClr val="tx1"/>
                </a:solidFill>
              </a:rPr>
              <a:t>QtGui.QApplication</a:t>
            </a:r>
            <a:r>
              <a:rPr lang="fr-FR" dirty="0">
                <a:solidFill>
                  <a:schemeClr val="tx1"/>
                </a:solidFill>
              </a:rPr>
              <a:t>(</a:t>
            </a:r>
            <a:r>
              <a:rPr lang="fr-FR" dirty="0" err="1">
                <a:solidFill>
                  <a:schemeClr val="tx1"/>
                </a:solidFill>
              </a:rPr>
              <a:t>sys.argv</a:t>
            </a:r>
            <a:r>
              <a:rPr lang="fr-FR" dirty="0">
                <a:solidFill>
                  <a:schemeClr val="tx1"/>
                </a:solidFill>
              </a:rPr>
              <a:t>) </a:t>
            </a:r>
          </a:p>
          <a:p>
            <a:r>
              <a:rPr lang="fr-FR" dirty="0" err="1">
                <a:solidFill>
                  <a:schemeClr val="tx1"/>
                </a:solidFill>
              </a:rPr>
              <a:t>fen</a:t>
            </a:r>
            <a:r>
              <a:rPr lang="fr-FR" dirty="0">
                <a:solidFill>
                  <a:schemeClr val="tx1"/>
                </a:solidFill>
              </a:rPr>
              <a:t> = </a:t>
            </a:r>
            <a:r>
              <a:rPr lang="fr-FR" dirty="0" err="1">
                <a:solidFill>
                  <a:schemeClr val="tx1"/>
                </a:solidFill>
              </a:rPr>
              <a:t>QtGui.QWidget</a:t>
            </a:r>
            <a:r>
              <a:rPr lang="fr-FR" dirty="0">
                <a:solidFill>
                  <a:schemeClr val="tx1"/>
                </a:solidFill>
              </a:rPr>
              <a:t>()</a:t>
            </a:r>
          </a:p>
          <a:p>
            <a:r>
              <a:rPr lang="fr-FR" dirty="0" err="1">
                <a:solidFill>
                  <a:schemeClr val="tx1"/>
                </a:solidFill>
              </a:rPr>
              <a:t>fen.setWindowTitle</a:t>
            </a:r>
            <a:r>
              <a:rPr lang="fr-FR" dirty="0">
                <a:solidFill>
                  <a:schemeClr val="tx1"/>
                </a:solidFill>
              </a:rPr>
              <a:t>("</a:t>
            </a:r>
            <a:r>
              <a:rPr lang="fr-FR" dirty="0" err="1">
                <a:solidFill>
                  <a:schemeClr val="tx1"/>
                </a:solidFill>
              </a:rPr>
              <a:t>Demo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QMainWindow</a:t>
            </a:r>
            <a:r>
              <a:rPr lang="fr-FR" dirty="0">
                <a:solidFill>
                  <a:schemeClr val="tx1"/>
                </a:solidFill>
              </a:rPr>
              <a:t>")</a:t>
            </a:r>
          </a:p>
          <a:p>
            <a:r>
              <a:rPr lang="fr-FR" dirty="0" err="1">
                <a:solidFill>
                  <a:schemeClr val="tx1"/>
                </a:solidFill>
              </a:rPr>
              <a:t>fen.resize</a:t>
            </a:r>
            <a:r>
              <a:rPr lang="fr-FR" dirty="0">
                <a:solidFill>
                  <a:schemeClr val="tx1"/>
                </a:solidFill>
              </a:rPr>
              <a:t>(640,480)</a:t>
            </a:r>
          </a:p>
          <a:p>
            <a:r>
              <a:rPr lang="fr-FR" dirty="0" err="1">
                <a:solidFill>
                  <a:srgbClr val="FF0000"/>
                </a:solidFill>
              </a:rPr>
              <a:t>layout</a:t>
            </a:r>
            <a:r>
              <a:rPr lang="fr-FR" dirty="0">
                <a:solidFill>
                  <a:srgbClr val="FF0000"/>
                </a:solidFill>
              </a:rPr>
              <a:t>=</a:t>
            </a:r>
            <a:r>
              <a:rPr lang="fr-FR" dirty="0" err="1">
                <a:solidFill>
                  <a:srgbClr val="FF0000"/>
                </a:solidFill>
              </a:rPr>
              <a:t>QtGui.QHBoxLayout</a:t>
            </a:r>
            <a:r>
              <a:rPr lang="fr-FR" dirty="0">
                <a:solidFill>
                  <a:srgbClr val="FF0000"/>
                </a:solidFill>
              </a:rPr>
              <a:t>(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r>
              <a:rPr lang="fr-FR" dirty="0">
                <a:solidFill>
                  <a:schemeClr val="tx1"/>
                </a:solidFill>
              </a:rPr>
              <a:t>bouton1= </a:t>
            </a:r>
            <a:r>
              <a:rPr lang="fr-FR" dirty="0" err="1">
                <a:solidFill>
                  <a:schemeClr val="tx1"/>
                </a:solidFill>
              </a:rPr>
              <a:t>QtGui.QPushButton</a:t>
            </a:r>
            <a:r>
              <a:rPr lang="fr-FR" dirty="0">
                <a:solidFill>
                  <a:schemeClr val="tx1"/>
                </a:solidFill>
              </a:rPr>
              <a:t>("bouton 1", </a:t>
            </a:r>
            <a:r>
              <a:rPr lang="fr-FR" dirty="0" err="1">
                <a:solidFill>
                  <a:schemeClr val="tx1"/>
                </a:solidFill>
              </a:rPr>
              <a:t>fen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r>
              <a:rPr lang="fr-FR" dirty="0">
                <a:solidFill>
                  <a:schemeClr val="tx1"/>
                </a:solidFill>
              </a:rPr>
              <a:t>bouton2= </a:t>
            </a:r>
            <a:r>
              <a:rPr lang="fr-FR" dirty="0" err="1">
                <a:solidFill>
                  <a:schemeClr val="tx1"/>
                </a:solidFill>
              </a:rPr>
              <a:t>QtGui.QPushButton</a:t>
            </a:r>
            <a:r>
              <a:rPr lang="fr-FR" dirty="0">
                <a:solidFill>
                  <a:schemeClr val="tx1"/>
                </a:solidFill>
              </a:rPr>
              <a:t>("bouton 2",fen)</a:t>
            </a:r>
          </a:p>
          <a:p>
            <a:r>
              <a:rPr lang="fr-FR" dirty="0">
                <a:solidFill>
                  <a:schemeClr val="tx1"/>
                </a:solidFill>
              </a:rPr>
              <a:t>bouton3= </a:t>
            </a:r>
            <a:r>
              <a:rPr lang="fr-FR" dirty="0" err="1">
                <a:solidFill>
                  <a:schemeClr val="tx1"/>
                </a:solidFill>
              </a:rPr>
              <a:t>QtGui.QPushButton</a:t>
            </a:r>
            <a:r>
              <a:rPr lang="fr-FR" dirty="0">
                <a:solidFill>
                  <a:schemeClr val="tx1"/>
                </a:solidFill>
              </a:rPr>
              <a:t>("bouton 3",fen)</a:t>
            </a:r>
          </a:p>
          <a:p>
            <a:r>
              <a:rPr lang="fr-FR" dirty="0" err="1" smtClean="0">
                <a:solidFill>
                  <a:schemeClr val="tx1"/>
                </a:solidFill>
              </a:rPr>
              <a:t>layout.addWidget</a:t>
            </a:r>
            <a:r>
              <a:rPr lang="fr-FR" dirty="0" smtClean="0">
                <a:solidFill>
                  <a:schemeClr val="tx1"/>
                </a:solidFill>
              </a:rPr>
              <a:t>(bouton1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r>
              <a:rPr lang="fr-FR" dirty="0" err="1">
                <a:solidFill>
                  <a:schemeClr val="tx1"/>
                </a:solidFill>
              </a:rPr>
              <a:t>layout.addWidget</a:t>
            </a:r>
            <a:r>
              <a:rPr lang="fr-FR" dirty="0">
                <a:solidFill>
                  <a:schemeClr val="tx1"/>
                </a:solidFill>
              </a:rPr>
              <a:t>(bouton2)</a:t>
            </a:r>
          </a:p>
          <a:p>
            <a:r>
              <a:rPr lang="fr-FR" dirty="0" err="1">
                <a:solidFill>
                  <a:schemeClr val="tx1"/>
                </a:solidFill>
              </a:rPr>
              <a:t>layout.addWidget</a:t>
            </a:r>
            <a:r>
              <a:rPr lang="fr-FR" dirty="0">
                <a:solidFill>
                  <a:schemeClr val="tx1"/>
                </a:solidFill>
              </a:rPr>
              <a:t>(bouton3)</a:t>
            </a:r>
          </a:p>
          <a:p>
            <a:r>
              <a:rPr lang="fr-FR" dirty="0" err="1" smtClean="0">
                <a:solidFill>
                  <a:schemeClr val="tx1"/>
                </a:solidFill>
              </a:rPr>
              <a:t>fen.setLayout</a:t>
            </a:r>
            <a:r>
              <a:rPr lang="fr-FR" dirty="0" smtClean="0">
                <a:solidFill>
                  <a:schemeClr val="tx1"/>
                </a:solidFill>
              </a:rPr>
              <a:t>(</a:t>
            </a:r>
            <a:r>
              <a:rPr lang="fr-FR" dirty="0" err="1" smtClean="0">
                <a:solidFill>
                  <a:schemeClr val="tx1"/>
                </a:solidFill>
              </a:rPr>
              <a:t>layout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r>
              <a:rPr lang="fr-FR" dirty="0" err="1">
                <a:solidFill>
                  <a:schemeClr val="tx1"/>
                </a:solidFill>
              </a:rPr>
              <a:t>fen.show</a:t>
            </a:r>
            <a:r>
              <a:rPr lang="fr-FR" dirty="0">
                <a:solidFill>
                  <a:schemeClr val="tx1"/>
                </a:solidFill>
              </a:rPr>
              <a:t>()</a:t>
            </a:r>
          </a:p>
          <a:p>
            <a:r>
              <a:rPr lang="fr-FR" dirty="0" err="1">
                <a:solidFill>
                  <a:schemeClr val="tx1"/>
                </a:solidFill>
              </a:rPr>
              <a:t>app.exec</a:t>
            </a:r>
            <a:r>
              <a:rPr lang="fr-FR" dirty="0">
                <a:solidFill>
                  <a:schemeClr val="tx1"/>
                </a:solidFill>
              </a:rPr>
              <a:t>_()</a:t>
            </a:r>
          </a:p>
        </p:txBody>
      </p:sp>
      <p:sp>
        <p:nvSpPr>
          <p:cNvPr id="9" name="Espace réservé du contenu 2"/>
          <p:cNvSpPr txBox="1">
            <a:spLocks/>
          </p:cNvSpPr>
          <p:nvPr/>
        </p:nvSpPr>
        <p:spPr>
          <a:xfrm>
            <a:off x="509856" y="3579639"/>
            <a:ext cx="3711252" cy="25922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fr-FR" dirty="0" err="1" smtClean="0">
                <a:solidFill>
                  <a:schemeClr val="tx1"/>
                </a:solidFill>
              </a:rPr>
              <a:t>from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PyQt4 import </a:t>
            </a:r>
            <a:r>
              <a:rPr lang="fr-FR" dirty="0" err="1">
                <a:solidFill>
                  <a:schemeClr val="tx1"/>
                </a:solidFill>
              </a:rPr>
              <a:t>QtGui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import </a:t>
            </a:r>
            <a:r>
              <a:rPr lang="fr-FR" dirty="0" err="1">
                <a:solidFill>
                  <a:schemeClr val="tx1"/>
                </a:solidFill>
              </a:rPr>
              <a:t>sys</a:t>
            </a: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r>
              <a:rPr lang="fr-FR" dirty="0" err="1">
                <a:solidFill>
                  <a:schemeClr val="tx1"/>
                </a:solidFill>
              </a:rPr>
              <a:t>app</a:t>
            </a:r>
            <a:r>
              <a:rPr lang="fr-FR" dirty="0">
                <a:solidFill>
                  <a:schemeClr val="tx1"/>
                </a:solidFill>
              </a:rPr>
              <a:t> = </a:t>
            </a:r>
            <a:r>
              <a:rPr lang="fr-FR" dirty="0" err="1">
                <a:solidFill>
                  <a:schemeClr val="tx1"/>
                </a:solidFill>
              </a:rPr>
              <a:t>QtGui.QApplication</a:t>
            </a:r>
            <a:r>
              <a:rPr lang="fr-FR" dirty="0">
                <a:solidFill>
                  <a:schemeClr val="tx1"/>
                </a:solidFill>
              </a:rPr>
              <a:t>(</a:t>
            </a:r>
            <a:r>
              <a:rPr lang="fr-FR" dirty="0" err="1">
                <a:solidFill>
                  <a:schemeClr val="tx1"/>
                </a:solidFill>
              </a:rPr>
              <a:t>sys.argv</a:t>
            </a:r>
            <a:r>
              <a:rPr lang="fr-FR" dirty="0">
                <a:solidFill>
                  <a:schemeClr val="tx1"/>
                </a:solidFill>
              </a:rPr>
              <a:t>) </a:t>
            </a:r>
          </a:p>
          <a:p>
            <a:r>
              <a:rPr lang="fr-FR" dirty="0" err="1">
                <a:solidFill>
                  <a:schemeClr val="tx1"/>
                </a:solidFill>
              </a:rPr>
              <a:t>fen</a:t>
            </a:r>
            <a:r>
              <a:rPr lang="fr-FR" dirty="0">
                <a:solidFill>
                  <a:schemeClr val="tx1"/>
                </a:solidFill>
              </a:rPr>
              <a:t> = </a:t>
            </a:r>
            <a:r>
              <a:rPr lang="fr-FR" dirty="0" err="1">
                <a:solidFill>
                  <a:schemeClr val="tx1"/>
                </a:solidFill>
              </a:rPr>
              <a:t>QtGui.QWidget</a:t>
            </a:r>
            <a:r>
              <a:rPr lang="fr-FR" dirty="0">
                <a:solidFill>
                  <a:schemeClr val="tx1"/>
                </a:solidFill>
              </a:rPr>
              <a:t>()</a:t>
            </a:r>
          </a:p>
          <a:p>
            <a:r>
              <a:rPr lang="fr-FR" dirty="0" err="1">
                <a:solidFill>
                  <a:schemeClr val="tx1"/>
                </a:solidFill>
              </a:rPr>
              <a:t>fen.setWindowTitle</a:t>
            </a:r>
            <a:r>
              <a:rPr lang="fr-FR" dirty="0">
                <a:solidFill>
                  <a:schemeClr val="tx1"/>
                </a:solidFill>
              </a:rPr>
              <a:t>("</a:t>
            </a:r>
            <a:r>
              <a:rPr lang="fr-FR" dirty="0" err="1">
                <a:solidFill>
                  <a:schemeClr val="tx1"/>
                </a:solidFill>
              </a:rPr>
              <a:t>Demo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QMainWindow</a:t>
            </a:r>
            <a:r>
              <a:rPr lang="fr-FR" dirty="0">
                <a:solidFill>
                  <a:schemeClr val="tx1"/>
                </a:solidFill>
              </a:rPr>
              <a:t>")</a:t>
            </a:r>
          </a:p>
          <a:p>
            <a:r>
              <a:rPr lang="fr-FR" dirty="0" err="1">
                <a:solidFill>
                  <a:schemeClr val="tx1"/>
                </a:solidFill>
              </a:rPr>
              <a:t>fen.resize</a:t>
            </a:r>
            <a:r>
              <a:rPr lang="fr-FR" dirty="0">
                <a:solidFill>
                  <a:schemeClr val="tx1"/>
                </a:solidFill>
              </a:rPr>
              <a:t>(640,480)</a:t>
            </a:r>
          </a:p>
          <a:p>
            <a:r>
              <a:rPr lang="fr-FR" dirty="0" err="1" smtClean="0">
                <a:solidFill>
                  <a:srgbClr val="FF0000"/>
                </a:solidFill>
              </a:rPr>
              <a:t>layout</a:t>
            </a:r>
            <a:r>
              <a:rPr lang="fr-FR" dirty="0" smtClean="0">
                <a:solidFill>
                  <a:srgbClr val="FF0000"/>
                </a:solidFill>
              </a:rPr>
              <a:t>=</a:t>
            </a:r>
            <a:r>
              <a:rPr lang="fr-FR" dirty="0" err="1" smtClean="0">
                <a:solidFill>
                  <a:srgbClr val="FF0000"/>
                </a:solidFill>
              </a:rPr>
              <a:t>QtGui.QVBoxLayout</a:t>
            </a:r>
            <a:r>
              <a:rPr lang="fr-FR" dirty="0">
                <a:solidFill>
                  <a:srgbClr val="FF0000"/>
                </a:solidFill>
              </a:rPr>
              <a:t>()</a:t>
            </a:r>
          </a:p>
          <a:p>
            <a:r>
              <a:rPr lang="fr-FR" dirty="0">
                <a:solidFill>
                  <a:schemeClr val="tx1"/>
                </a:solidFill>
              </a:rPr>
              <a:t>bouton1= </a:t>
            </a:r>
            <a:r>
              <a:rPr lang="fr-FR" dirty="0" err="1">
                <a:solidFill>
                  <a:schemeClr val="tx1"/>
                </a:solidFill>
              </a:rPr>
              <a:t>QtGui.QPushButton</a:t>
            </a:r>
            <a:r>
              <a:rPr lang="fr-FR" dirty="0">
                <a:solidFill>
                  <a:schemeClr val="tx1"/>
                </a:solidFill>
              </a:rPr>
              <a:t>("bouton 1", </a:t>
            </a:r>
            <a:r>
              <a:rPr lang="fr-FR" dirty="0" err="1">
                <a:solidFill>
                  <a:schemeClr val="tx1"/>
                </a:solidFill>
              </a:rPr>
              <a:t>fen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r>
              <a:rPr lang="fr-FR" dirty="0">
                <a:solidFill>
                  <a:schemeClr val="tx1"/>
                </a:solidFill>
              </a:rPr>
              <a:t>bouton2= </a:t>
            </a:r>
            <a:r>
              <a:rPr lang="fr-FR" dirty="0" err="1">
                <a:solidFill>
                  <a:schemeClr val="tx1"/>
                </a:solidFill>
              </a:rPr>
              <a:t>QtGui.QPushButton</a:t>
            </a:r>
            <a:r>
              <a:rPr lang="fr-FR" dirty="0">
                <a:solidFill>
                  <a:schemeClr val="tx1"/>
                </a:solidFill>
              </a:rPr>
              <a:t>("bouton 2",fen)</a:t>
            </a:r>
          </a:p>
          <a:p>
            <a:r>
              <a:rPr lang="fr-FR" dirty="0">
                <a:solidFill>
                  <a:schemeClr val="tx1"/>
                </a:solidFill>
              </a:rPr>
              <a:t>bouton3= </a:t>
            </a:r>
            <a:r>
              <a:rPr lang="fr-FR" dirty="0" err="1">
                <a:solidFill>
                  <a:schemeClr val="tx1"/>
                </a:solidFill>
              </a:rPr>
              <a:t>QtGui.QPushButton</a:t>
            </a:r>
            <a:r>
              <a:rPr lang="fr-FR" dirty="0">
                <a:solidFill>
                  <a:schemeClr val="tx1"/>
                </a:solidFill>
              </a:rPr>
              <a:t>("bouton 3",fen)</a:t>
            </a:r>
          </a:p>
          <a:p>
            <a:r>
              <a:rPr lang="fr-FR" dirty="0" err="1" smtClean="0">
                <a:solidFill>
                  <a:schemeClr val="tx1"/>
                </a:solidFill>
              </a:rPr>
              <a:t>layout.addWidget</a:t>
            </a:r>
            <a:r>
              <a:rPr lang="fr-FR" dirty="0" smtClean="0">
                <a:solidFill>
                  <a:schemeClr val="tx1"/>
                </a:solidFill>
              </a:rPr>
              <a:t>(bouton1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r>
              <a:rPr lang="fr-FR" dirty="0" err="1">
                <a:solidFill>
                  <a:schemeClr val="tx1"/>
                </a:solidFill>
              </a:rPr>
              <a:t>layout.addWidget</a:t>
            </a:r>
            <a:r>
              <a:rPr lang="fr-FR" dirty="0">
                <a:solidFill>
                  <a:schemeClr val="tx1"/>
                </a:solidFill>
              </a:rPr>
              <a:t>(bouton2)</a:t>
            </a:r>
          </a:p>
          <a:p>
            <a:r>
              <a:rPr lang="fr-FR" dirty="0" err="1">
                <a:solidFill>
                  <a:schemeClr val="tx1"/>
                </a:solidFill>
              </a:rPr>
              <a:t>layout.addWidget</a:t>
            </a:r>
            <a:r>
              <a:rPr lang="fr-FR" dirty="0">
                <a:solidFill>
                  <a:schemeClr val="tx1"/>
                </a:solidFill>
              </a:rPr>
              <a:t>(bouton3)</a:t>
            </a:r>
          </a:p>
          <a:p>
            <a:r>
              <a:rPr lang="fr-FR" dirty="0" err="1" smtClean="0">
                <a:solidFill>
                  <a:schemeClr val="tx1"/>
                </a:solidFill>
              </a:rPr>
              <a:t>fen.setLayout</a:t>
            </a:r>
            <a:r>
              <a:rPr lang="fr-FR" dirty="0" smtClean="0">
                <a:solidFill>
                  <a:schemeClr val="tx1"/>
                </a:solidFill>
              </a:rPr>
              <a:t>(</a:t>
            </a:r>
            <a:r>
              <a:rPr lang="fr-FR" dirty="0" err="1" smtClean="0">
                <a:solidFill>
                  <a:schemeClr val="tx1"/>
                </a:solidFill>
              </a:rPr>
              <a:t>layout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r>
              <a:rPr lang="fr-FR" dirty="0" err="1">
                <a:solidFill>
                  <a:schemeClr val="tx1"/>
                </a:solidFill>
              </a:rPr>
              <a:t>fen.show</a:t>
            </a:r>
            <a:r>
              <a:rPr lang="fr-FR" dirty="0">
                <a:solidFill>
                  <a:schemeClr val="tx1"/>
                </a:solidFill>
              </a:rPr>
              <a:t>()</a:t>
            </a:r>
          </a:p>
          <a:p>
            <a:r>
              <a:rPr lang="fr-FR" dirty="0" err="1">
                <a:solidFill>
                  <a:schemeClr val="tx1"/>
                </a:solidFill>
              </a:rPr>
              <a:t>app.exec</a:t>
            </a:r>
            <a:r>
              <a:rPr lang="fr-FR" dirty="0">
                <a:solidFill>
                  <a:schemeClr val="tx1"/>
                </a:solidFill>
              </a:rPr>
              <a:t>_()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429000"/>
            <a:ext cx="3964974" cy="1717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408432"/>
            <a:ext cx="3964974" cy="200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791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Définition d’une classe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 smtClean="0"/>
              <a:t>Classe héritant d’un </a:t>
            </a:r>
            <a:r>
              <a:rPr lang="fr-FR" sz="2400" dirty="0" err="1" smtClean="0"/>
              <a:t>QWidget</a:t>
            </a:r>
            <a:r>
              <a:rPr lang="fr-FR" sz="2400" dirty="0" smtClean="0"/>
              <a:t> , </a:t>
            </a:r>
            <a:r>
              <a:rPr lang="fr-FR" sz="2400" dirty="0" err="1" smtClean="0"/>
              <a:t>QMainWindow</a:t>
            </a:r>
            <a:r>
              <a:rPr lang="fr-FR" sz="2400" dirty="0" smtClean="0"/>
              <a:t>, </a:t>
            </a:r>
            <a:r>
              <a:rPr lang="fr-FR" sz="2400" dirty="0" err="1" smtClean="0"/>
              <a:t>QDialog</a:t>
            </a:r>
            <a:endParaRPr lang="fr-FR" sz="2400" dirty="0" smtClean="0"/>
          </a:p>
          <a:p>
            <a:r>
              <a:rPr lang="fr-FR" sz="2400" dirty="0" smtClean="0"/>
              <a:t>Variables d’instance : divers composant de l’interface</a:t>
            </a:r>
          </a:p>
          <a:p>
            <a:r>
              <a:rPr lang="fr-FR" sz="2400" dirty="0" smtClean="0"/>
              <a:t>Exemple :</a:t>
            </a:r>
            <a:endParaRPr lang="en-US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471344" y="2780928"/>
            <a:ext cx="8424936" cy="25922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2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from PyQt4 import </a:t>
            </a:r>
            <a:r>
              <a:rPr lang="en-US" dirty="0" err="1">
                <a:solidFill>
                  <a:schemeClr val="tx1"/>
                </a:solidFill>
              </a:rPr>
              <a:t>QtGui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import sys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class </a:t>
            </a:r>
            <a:r>
              <a:rPr lang="en-US" dirty="0" err="1">
                <a:solidFill>
                  <a:schemeClr val="tx1"/>
                </a:solidFill>
              </a:rPr>
              <a:t>Fenetre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QtGui.QWidget</a:t>
            </a:r>
            <a:r>
              <a:rPr lang="en-US" dirty="0">
                <a:solidFill>
                  <a:schemeClr val="tx1"/>
                </a:solidFill>
              </a:rPr>
              <a:t>): </a:t>
            </a:r>
          </a:p>
          <a:p>
            <a:r>
              <a:rPr lang="en-US" dirty="0">
                <a:solidFill>
                  <a:schemeClr val="tx1"/>
                </a:solidFill>
              </a:rPr>
              <a:t>   </a:t>
            </a:r>
            <a:r>
              <a:rPr lang="en-US" dirty="0" err="1">
                <a:solidFill>
                  <a:schemeClr val="tx1"/>
                </a:solidFill>
              </a:rPr>
              <a:t>def</a:t>
            </a:r>
            <a:r>
              <a:rPr lang="en-US" dirty="0">
                <a:solidFill>
                  <a:schemeClr val="tx1"/>
                </a:solidFill>
              </a:rPr>
              <a:t> 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__(self):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</a:t>
            </a:r>
            <a:r>
              <a:rPr lang="en-US" dirty="0" smtClean="0">
                <a:solidFill>
                  <a:schemeClr val="tx1"/>
                </a:solidFill>
              </a:rPr>
              <a:t>super</a:t>
            </a:r>
            <a:r>
              <a:rPr lang="en-US" dirty="0">
                <a:solidFill>
                  <a:schemeClr val="tx1"/>
                </a:solidFill>
              </a:rPr>
              <a:t>().__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__()</a:t>
            </a:r>
          </a:p>
          <a:p>
            <a:r>
              <a:rPr lang="en-US" dirty="0">
                <a:solidFill>
                  <a:schemeClr val="tx1"/>
                </a:solidFill>
              </a:rPr>
              <a:t>       </a:t>
            </a:r>
            <a:r>
              <a:rPr lang="en-US" dirty="0" err="1">
                <a:solidFill>
                  <a:schemeClr val="tx1"/>
                </a:solidFill>
              </a:rPr>
              <a:t>self.setWindowTitle</a:t>
            </a:r>
            <a:r>
              <a:rPr lang="en-US" dirty="0">
                <a:solidFill>
                  <a:schemeClr val="tx1"/>
                </a:solidFill>
              </a:rPr>
              <a:t>("Ma </a:t>
            </a:r>
            <a:r>
              <a:rPr lang="en-US" dirty="0" err="1">
                <a:solidFill>
                  <a:schemeClr val="tx1"/>
                </a:solidFill>
              </a:rPr>
              <a:t>fenetre</a:t>
            </a:r>
            <a:r>
              <a:rPr lang="en-US" dirty="0">
                <a:solidFill>
                  <a:schemeClr val="tx1"/>
                </a:solidFill>
              </a:rPr>
              <a:t>")</a:t>
            </a:r>
          </a:p>
          <a:p>
            <a:r>
              <a:rPr lang="en-US" dirty="0">
                <a:solidFill>
                  <a:schemeClr val="tx1"/>
                </a:solidFill>
              </a:rPr>
              <a:t>       </a:t>
            </a:r>
            <a:r>
              <a:rPr lang="en-US" dirty="0" err="1">
                <a:solidFill>
                  <a:schemeClr val="tx1"/>
                </a:solidFill>
              </a:rPr>
              <a:t>self.bouton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 err="1">
                <a:solidFill>
                  <a:schemeClr val="tx1"/>
                </a:solidFill>
              </a:rPr>
              <a:t>QtGui.QPushButton</a:t>
            </a:r>
            <a:r>
              <a:rPr lang="en-US" dirty="0">
                <a:solidFill>
                  <a:schemeClr val="tx1"/>
                </a:solidFill>
              </a:rPr>
              <a:t>('un </a:t>
            </a:r>
            <a:r>
              <a:rPr lang="en-US" dirty="0" err="1">
                <a:solidFill>
                  <a:schemeClr val="tx1"/>
                </a:solidFill>
              </a:rPr>
              <a:t>texte</a:t>
            </a:r>
            <a:r>
              <a:rPr lang="en-US" dirty="0">
                <a:solidFill>
                  <a:schemeClr val="tx1"/>
                </a:solidFill>
              </a:rPr>
              <a:t>', self)</a:t>
            </a:r>
          </a:p>
          <a:p>
            <a:r>
              <a:rPr lang="en-US" dirty="0">
                <a:solidFill>
                  <a:schemeClr val="tx1"/>
                </a:solidFill>
              </a:rPr>
              <a:t>             </a:t>
            </a:r>
          </a:p>
          <a:p>
            <a:r>
              <a:rPr lang="en-US" dirty="0">
                <a:solidFill>
                  <a:schemeClr val="tx1"/>
                </a:solidFill>
              </a:rPr>
              <a:t>if __name__=='__main__' :       </a:t>
            </a:r>
          </a:p>
          <a:p>
            <a:r>
              <a:rPr lang="en-US" dirty="0">
                <a:solidFill>
                  <a:schemeClr val="tx1"/>
                </a:solidFill>
              </a:rPr>
              <a:t>    app = </a:t>
            </a:r>
            <a:r>
              <a:rPr lang="en-US" dirty="0" err="1">
                <a:solidFill>
                  <a:schemeClr val="tx1"/>
                </a:solidFill>
              </a:rPr>
              <a:t>QtGui.QApplication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sys.argv</a:t>
            </a:r>
            <a:r>
              <a:rPr lang="en-US" dirty="0">
                <a:solidFill>
                  <a:schemeClr val="tx1"/>
                </a:solidFill>
              </a:rPr>
              <a:t>) </a:t>
            </a:r>
          </a:p>
          <a:p>
            <a:r>
              <a:rPr lang="en-US" dirty="0">
                <a:solidFill>
                  <a:schemeClr val="tx1"/>
                </a:solidFill>
              </a:rPr>
              <a:t>    fen = </a:t>
            </a:r>
            <a:r>
              <a:rPr lang="en-US" dirty="0" err="1">
                <a:solidFill>
                  <a:schemeClr val="tx1"/>
                </a:solidFill>
              </a:rPr>
              <a:t>Fenetre</a:t>
            </a:r>
            <a:r>
              <a:rPr lang="en-US" dirty="0">
                <a:solidFill>
                  <a:schemeClr val="tx1"/>
                </a:solidFill>
              </a:rPr>
              <a:t>() 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fen.show</a:t>
            </a:r>
            <a:r>
              <a:rPr lang="en-US" dirty="0">
                <a:solidFill>
                  <a:schemeClr val="tx1"/>
                </a:solidFill>
              </a:rPr>
              <a:t>() 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app.exec</a:t>
            </a:r>
            <a:r>
              <a:rPr lang="en-US" dirty="0">
                <a:solidFill>
                  <a:schemeClr val="tx1"/>
                </a:solidFill>
              </a:rPr>
              <a:t>_() 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" name="Espace réservé du contenu 2"/>
          <p:cNvSpPr txBox="1">
            <a:spLocks/>
          </p:cNvSpPr>
          <p:nvPr/>
        </p:nvSpPr>
        <p:spPr>
          <a:xfrm>
            <a:off x="471344" y="2780928"/>
            <a:ext cx="8424936" cy="25922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2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from PyQt4 import </a:t>
            </a:r>
            <a:r>
              <a:rPr lang="en-US" dirty="0" err="1">
                <a:solidFill>
                  <a:schemeClr val="tx1"/>
                </a:solidFill>
              </a:rPr>
              <a:t>QtGui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import sys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class </a:t>
            </a:r>
            <a:r>
              <a:rPr lang="en-US" dirty="0" err="1" smtClean="0">
                <a:solidFill>
                  <a:schemeClr val="tx1"/>
                </a:solidFill>
              </a:rPr>
              <a:t>Fenetre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QtGui.QMainWindow</a:t>
            </a:r>
            <a:r>
              <a:rPr lang="en-US" dirty="0" smtClean="0">
                <a:solidFill>
                  <a:schemeClr val="tx1"/>
                </a:solidFill>
              </a:rPr>
              <a:t>):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</a:t>
            </a:r>
            <a:r>
              <a:rPr lang="en-US" dirty="0" err="1">
                <a:solidFill>
                  <a:schemeClr val="tx1"/>
                </a:solidFill>
              </a:rPr>
              <a:t>def</a:t>
            </a:r>
            <a:r>
              <a:rPr lang="en-US" dirty="0">
                <a:solidFill>
                  <a:schemeClr val="tx1"/>
                </a:solidFill>
              </a:rPr>
              <a:t> 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__(self):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</a:t>
            </a:r>
            <a:r>
              <a:rPr lang="en-US" dirty="0" smtClean="0">
                <a:solidFill>
                  <a:schemeClr val="tx1"/>
                </a:solidFill>
              </a:rPr>
              <a:t>super</a:t>
            </a:r>
            <a:r>
              <a:rPr lang="en-US" dirty="0">
                <a:solidFill>
                  <a:schemeClr val="tx1"/>
                </a:solidFill>
              </a:rPr>
              <a:t>().__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__()</a:t>
            </a:r>
          </a:p>
          <a:p>
            <a:r>
              <a:rPr lang="en-US" dirty="0">
                <a:solidFill>
                  <a:schemeClr val="tx1"/>
                </a:solidFill>
              </a:rPr>
              <a:t>       </a:t>
            </a:r>
            <a:r>
              <a:rPr lang="en-US" dirty="0" err="1">
                <a:solidFill>
                  <a:schemeClr val="tx1"/>
                </a:solidFill>
              </a:rPr>
              <a:t>self.setWindowTitle</a:t>
            </a:r>
            <a:r>
              <a:rPr lang="en-US" dirty="0">
                <a:solidFill>
                  <a:schemeClr val="tx1"/>
                </a:solidFill>
              </a:rPr>
              <a:t>("Ma </a:t>
            </a:r>
            <a:r>
              <a:rPr lang="en-US" dirty="0" err="1">
                <a:solidFill>
                  <a:schemeClr val="tx1"/>
                </a:solidFill>
              </a:rPr>
              <a:t>fenetre</a:t>
            </a:r>
            <a:r>
              <a:rPr lang="en-US" dirty="0">
                <a:solidFill>
                  <a:schemeClr val="tx1"/>
                </a:solidFill>
              </a:rPr>
              <a:t>")</a:t>
            </a:r>
          </a:p>
          <a:p>
            <a:r>
              <a:rPr lang="en-US" dirty="0">
                <a:solidFill>
                  <a:schemeClr val="tx1"/>
                </a:solidFill>
              </a:rPr>
              <a:t>       </a:t>
            </a:r>
            <a:r>
              <a:rPr lang="en-US" dirty="0" err="1">
                <a:solidFill>
                  <a:schemeClr val="tx1"/>
                </a:solidFill>
              </a:rPr>
              <a:t>self.bouton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 err="1">
                <a:solidFill>
                  <a:schemeClr val="tx1"/>
                </a:solidFill>
              </a:rPr>
              <a:t>QtGui.QPushButton</a:t>
            </a:r>
            <a:r>
              <a:rPr lang="en-US" dirty="0">
                <a:solidFill>
                  <a:schemeClr val="tx1"/>
                </a:solidFill>
              </a:rPr>
              <a:t>('un </a:t>
            </a:r>
            <a:r>
              <a:rPr lang="en-US" dirty="0" err="1">
                <a:solidFill>
                  <a:schemeClr val="tx1"/>
                </a:solidFill>
              </a:rPr>
              <a:t>texte</a:t>
            </a:r>
            <a:r>
              <a:rPr lang="en-US" dirty="0">
                <a:solidFill>
                  <a:schemeClr val="tx1"/>
                </a:solidFill>
              </a:rPr>
              <a:t>', self)</a:t>
            </a:r>
          </a:p>
          <a:p>
            <a:r>
              <a:rPr lang="en-US" dirty="0">
                <a:solidFill>
                  <a:schemeClr val="tx1"/>
                </a:solidFill>
              </a:rPr>
              <a:t>             </a:t>
            </a:r>
          </a:p>
          <a:p>
            <a:r>
              <a:rPr lang="en-US" dirty="0">
                <a:solidFill>
                  <a:schemeClr val="tx1"/>
                </a:solidFill>
              </a:rPr>
              <a:t>if __name__=='__main__' :       </a:t>
            </a:r>
          </a:p>
          <a:p>
            <a:r>
              <a:rPr lang="en-US" dirty="0">
                <a:solidFill>
                  <a:schemeClr val="tx1"/>
                </a:solidFill>
              </a:rPr>
              <a:t>    app = </a:t>
            </a:r>
            <a:r>
              <a:rPr lang="en-US" dirty="0" err="1">
                <a:solidFill>
                  <a:schemeClr val="tx1"/>
                </a:solidFill>
              </a:rPr>
              <a:t>QtGui.QApplication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sys.argv</a:t>
            </a:r>
            <a:r>
              <a:rPr lang="en-US" dirty="0">
                <a:solidFill>
                  <a:schemeClr val="tx1"/>
                </a:solidFill>
              </a:rPr>
              <a:t>) </a:t>
            </a:r>
          </a:p>
          <a:p>
            <a:r>
              <a:rPr lang="en-US" dirty="0">
                <a:solidFill>
                  <a:schemeClr val="tx1"/>
                </a:solidFill>
              </a:rPr>
              <a:t>    fen = </a:t>
            </a:r>
            <a:r>
              <a:rPr lang="en-US" dirty="0" err="1">
                <a:solidFill>
                  <a:schemeClr val="tx1"/>
                </a:solidFill>
              </a:rPr>
              <a:t>Fenetre</a:t>
            </a:r>
            <a:r>
              <a:rPr lang="en-US" dirty="0">
                <a:solidFill>
                  <a:schemeClr val="tx1"/>
                </a:solidFill>
              </a:rPr>
              <a:t>() 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fen.show</a:t>
            </a:r>
            <a:r>
              <a:rPr lang="en-US" dirty="0">
                <a:solidFill>
                  <a:schemeClr val="tx1"/>
                </a:solidFill>
              </a:rPr>
              <a:t>() 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app.exec</a:t>
            </a:r>
            <a:r>
              <a:rPr lang="en-US" dirty="0">
                <a:solidFill>
                  <a:schemeClr val="tx1"/>
                </a:solidFill>
              </a:rPr>
              <a:t>_() 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4693" y="2794288"/>
            <a:ext cx="16668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5925" y="2780928"/>
            <a:ext cx="227647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Espace réservé du contenu 2"/>
          <p:cNvSpPr txBox="1">
            <a:spLocks/>
          </p:cNvSpPr>
          <p:nvPr/>
        </p:nvSpPr>
        <p:spPr>
          <a:xfrm>
            <a:off x="467544" y="2780928"/>
            <a:ext cx="8464856" cy="25922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2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from PyQt4 import </a:t>
            </a:r>
            <a:r>
              <a:rPr lang="en-US" dirty="0" err="1">
                <a:solidFill>
                  <a:schemeClr val="tx1"/>
                </a:solidFill>
              </a:rPr>
              <a:t>QtGui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import sys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class </a:t>
            </a:r>
            <a:r>
              <a:rPr lang="en-US" dirty="0" err="1" smtClean="0">
                <a:solidFill>
                  <a:schemeClr val="tx1"/>
                </a:solidFill>
              </a:rPr>
              <a:t>Fenetre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QtGui.QDialog</a:t>
            </a:r>
            <a:r>
              <a:rPr lang="en-US" dirty="0" smtClean="0">
                <a:solidFill>
                  <a:schemeClr val="tx1"/>
                </a:solidFill>
              </a:rPr>
              <a:t>):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</a:t>
            </a:r>
            <a:r>
              <a:rPr lang="en-US" dirty="0" err="1">
                <a:solidFill>
                  <a:schemeClr val="tx1"/>
                </a:solidFill>
              </a:rPr>
              <a:t>def</a:t>
            </a:r>
            <a:r>
              <a:rPr lang="en-US" dirty="0">
                <a:solidFill>
                  <a:schemeClr val="tx1"/>
                </a:solidFill>
              </a:rPr>
              <a:t> 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__(self):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</a:t>
            </a:r>
            <a:r>
              <a:rPr lang="en-US" dirty="0" smtClean="0">
                <a:solidFill>
                  <a:schemeClr val="tx1"/>
                </a:solidFill>
              </a:rPr>
              <a:t>super</a:t>
            </a:r>
            <a:r>
              <a:rPr lang="en-US" dirty="0">
                <a:solidFill>
                  <a:schemeClr val="tx1"/>
                </a:solidFill>
              </a:rPr>
              <a:t>().__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__()</a:t>
            </a:r>
          </a:p>
          <a:p>
            <a:r>
              <a:rPr lang="en-US" dirty="0">
                <a:solidFill>
                  <a:schemeClr val="tx1"/>
                </a:solidFill>
              </a:rPr>
              <a:t>       </a:t>
            </a:r>
            <a:r>
              <a:rPr lang="en-US" dirty="0" err="1">
                <a:solidFill>
                  <a:schemeClr val="tx1"/>
                </a:solidFill>
              </a:rPr>
              <a:t>self.setWindowTitle</a:t>
            </a:r>
            <a:r>
              <a:rPr lang="en-US" dirty="0">
                <a:solidFill>
                  <a:schemeClr val="tx1"/>
                </a:solidFill>
              </a:rPr>
              <a:t>("Ma </a:t>
            </a:r>
            <a:r>
              <a:rPr lang="en-US" dirty="0" err="1">
                <a:solidFill>
                  <a:schemeClr val="tx1"/>
                </a:solidFill>
              </a:rPr>
              <a:t>fenetre</a:t>
            </a:r>
            <a:r>
              <a:rPr lang="en-US" dirty="0">
                <a:solidFill>
                  <a:schemeClr val="tx1"/>
                </a:solidFill>
              </a:rPr>
              <a:t>")</a:t>
            </a:r>
          </a:p>
          <a:p>
            <a:r>
              <a:rPr lang="en-US" dirty="0">
                <a:solidFill>
                  <a:schemeClr val="tx1"/>
                </a:solidFill>
              </a:rPr>
              <a:t>       </a:t>
            </a:r>
            <a:r>
              <a:rPr lang="en-US" dirty="0" err="1" smtClean="0">
                <a:solidFill>
                  <a:schemeClr val="tx1"/>
                </a:solidFill>
              </a:rPr>
              <a:t>self.bouton</a:t>
            </a:r>
            <a:r>
              <a:rPr lang="en-US" dirty="0" smtClean="0">
                <a:solidFill>
                  <a:schemeClr val="tx1"/>
                </a:solidFill>
              </a:rPr>
              <a:t> = </a:t>
            </a:r>
            <a:r>
              <a:rPr lang="en-US" dirty="0" err="1" smtClean="0">
                <a:solidFill>
                  <a:schemeClr val="tx1"/>
                </a:solidFill>
              </a:rPr>
              <a:t>QtGui.QPushButton</a:t>
            </a:r>
            <a:r>
              <a:rPr lang="en-US" dirty="0">
                <a:solidFill>
                  <a:schemeClr val="tx1"/>
                </a:solidFill>
              </a:rPr>
              <a:t>('un </a:t>
            </a:r>
            <a:r>
              <a:rPr lang="en-US" dirty="0" err="1">
                <a:solidFill>
                  <a:schemeClr val="tx1"/>
                </a:solidFill>
              </a:rPr>
              <a:t>texte</a:t>
            </a:r>
            <a:r>
              <a:rPr lang="en-US" dirty="0">
                <a:solidFill>
                  <a:schemeClr val="tx1"/>
                </a:solidFill>
              </a:rPr>
              <a:t>', self)</a:t>
            </a:r>
          </a:p>
          <a:p>
            <a:r>
              <a:rPr lang="en-US" dirty="0">
                <a:solidFill>
                  <a:schemeClr val="tx1"/>
                </a:solidFill>
              </a:rPr>
              <a:t>             </a:t>
            </a:r>
          </a:p>
          <a:p>
            <a:r>
              <a:rPr lang="en-US" dirty="0">
                <a:solidFill>
                  <a:schemeClr val="tx1"/>
                </a:solidFill>
              </a:rPr>
              <a:t>if __name__=='__main__' :       </a:t>
            </a:r>
          </a:p>
          <a:p>
            <a:r>
              <a:rPr lang="en-US" dirty="0">
                <a:solidFill>
                  <a:schemeClr val="tx1"/>
                </a:solidFill>
              </a:rPr>
              <a:t>    app = </a:t>
            </a:r>
            <a:r>
              <a:rPr lang="en-US" dirty="0" err="1">
                <a:solidFill>
                  <a:schemeClr val="tx1"/>
                </a:solidFill>
              </a:rPr>
              <a:t>QtGui.QApplication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sys.argv</a:t>
            </a:r>
            <a:r>
              <a:rPr lang="en-US" dirty="0">
                <a:solidFill>
                  <a:schemeClr val="tx1"/>
                </a:solidFill>
              </a:rPr>
              <a:t>) </a:t>
            </a:r>
          </a:p>
          <a:p>
            <a:r>
              <a:rPr lang="en-US" dirty="0">
                <a:solidFill>
                  <a:schemeClr val="tx1"/>
                </a:solidFill>
              </a:rPr>
              <a:t>    fen = </a:t>
            </a:r>
            <a:r>
              <a:rPr lang="en-US" dirty="0" err="1">
                <a:solidFill>
                  <a:schemeClr val="tx1"/>
                </a:solidFill>
              </a:rPr>
              <a:t>Fenetre</a:t>
            </a:r>
            <a:r>
              <a:rPr lang="en-US" dirty="0">
                <a:solidFill>
                  <a:schemeClr val="tx1"/>
                </a:solidFill>
              </a:rPr>
              <a:t>() 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fen.show</a:t>
            </a:r>
            <a:r>
              <a:rPr lang="en-US" dirty="0">
                <a:solidFill>
                  <a:schemeClr val="tx1"/>
                </a:solidFill>
              </a:rPr>
              <a:t>() 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app.exec</a:t>
            </a:r>
            <a:r>
              <a:rPr lang="en-US" dirty="0">
                <a:solidFill>
                  <a:schemeClr val="tx1"/>
                </a:solidFill>
              </a:rPr>
              <a:t>_() 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5100" y="3629397"/>
            <a:ext cx="16668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6311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Remarques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 smtClean="0"/>
              <a:t>Toutes les instances des classes </a:t>
            </a:r>
            <a:r>
              <a:rPr lang="fr-FR" sz="2400" dirty="0" err="1" smtClean="0"/>
              <a:t>PyQt</a:t>
            </a:r>
            <a:r>
              <a:rPr lang="fr-FR" sz="2400" dirty="0" smtClean="0"/>
              <a:t> héritant de la classe </a:t>
            </a:r>
            <a:r>
              <a:rPr lang="fr-FR" sz="2400" dirty="0" err="1" smtClean="0"/>
              <a:t>QObject</a:t>
            </a:r>
            <a:r>
              <a:rPr lang="fr-FR" sz="2400" dirty="0" smtClean="0"/>
              <a:t> peuvent avoir un « parent »</a:t>
            </a:r>
          </a:p>
          <a:p>
            <a:r>
              <a:rPr lang="fr-FR" sz="2400" dirty="0" smtClean="0"/>
              <a:t>Si un objet parent est supprimés, tous les objets ‘fils’ sont supprimés</a:t>
            </a:r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PyQT4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2808724"/>
            <a:ext cx="3614523" cy="2590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Espace réservé du contenu 2"/>
          <p:cNvSpPr txBox="1">
            <a:spLocks/>
          </p:cNvSpPr>
          <p:nvPr/>
        </p:nvSpPr>
        <p:spPr>
          <a:xfrm>
            <a:off x="481376" y="2852936"/>
            <a:ext cx="4882712" cy="25922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import sys </a:t>
            </a:r>
          </a:p>
          <a:p>
            <a:r>
              <a:rPr lang="en-US" dirty="0">
                <a:solidFill>
                  <a:schemeClr val="tx1"/>
                </a:solidFill>
              </a:rPr>
              <a:t>from PyQt4 import </a:t>
            </a:r>
            <a:r>
              <a:rPr lang="en-US" dirty="0" err="1" smtClean="0">
                <a:solidFill>
                  <a:schemeClr val="tx1"/>
                </a:solidFill>
              </a:rPr>
              <a:t>QtGui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class </a:t>
            </a:r>
            <a:r>
              <a:rPr lang="en-US" dirty="0" err="1">
                <a:solidFill>
                  <a:schemeClr val="tx1"/>
                </a:solidFill>
              </a:rPr>
              <a:t>QuitButton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QtGui.QWidget</a:t>
            </a:r>
            <a:r>
              <a:rPr lang="en-US" dirty="0">
                <a:solidFill>
                  <a:schemeClr val="tx1"/>
                </a:solidFill>
              </a:rPr>
              <a:t>):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dirty="0" err="1" smtClean="0">
                <a:solidFill>
                  <a:schemeClr val="tx1"/>
                </a:solidFill>
              </a:rPr>
              <a:t>def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__(self, parent=None):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      QtGui.</a:t>
            </a:r>
            <a:r>
              <a:rPr lang="en-US" dirty="0" err="1" smtClean="0">
                <a:solidFill>
                  <a:schemeClr val="tx1"/>
                </a:solidFill>
              </a:rPr>
              <a:t>QWidget</a:t>
            </a:r>
            <a:r>
              <a:rPr lang="en-US" dirty="0">
                <a:solidFill>
                  <a:schemeClr val="tx1"/>
                </a:solidFill>
              </a:rPr>
              <a:t>.__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__(self, parent)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      </a:t>
            </a:r>
            <a:r>
              <a:rPr lang="en-US" dirty="0" err="1" smtClean="0">
                <a:solidFill>
                  <a:schemeClr val="tx1"/>
                </a:solidFill>
              </a:rPr>
              <a:t>self.setGeometry</a:t>
            </a:r>
            <a:r>
              <a:rPr lang="en-US" dirty="0" smtClean="0">
                <a:solidFill>
                  <a:schemeClr val="tx1"/>
                </a:solidFill>
              </a:rPr>
              <a:t>(300</a:t>
            </a:r>
            <a:r>
              <a:rPr lang="en-US" dirty="0">
                <a:solidFill>
                  <a:schemeClr val="tx1"/>
                </a:solidFill>
              </a:rPr>
              <a:t>, 300, 250, 150)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      </a:t>
            </a:r>
            <a:r>
              <a:rPr lang="en-US" dirty="0" err="1" smtClean="0">
                <a:solidFill>
                  <a:schemeClr val="tx1"/>
                </a:solidFill>
              </a:rPr>
              <a:t>self.setWindowTitle</a:t>
            </a:r>
            <a:r>
              <a:rPr lang="en-US" dirty="0">
                <a:solidFill>
                  <a:schemeClr val="tx1"/>
                </a:solidFill>
              </a:rPr>
              <a:t>('Simple')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      quit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 err="1">
                <a:solidFill>
                  <a:schemeClr val="tx1"/>
                </a:solidFill>
              </a:rPr>
              <a:t>QtGui.QPushButton</a:t>
            </a:r>
            <a:r>
              <a:rPr lang="en-US" dirty="0">
                <a:solidFill>
                  <a:schemeClr val="tx1"/>
                </a:solidFill>
              </a:rPr>
              <a:t>('Close', self)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      </a:t>
            </a:r>
            <a:r>
              <a:rPr lang="en-US" dirty="0" err="1" smtClean="0">
                <a:solidFill>
                  <a:schemeClr val="tx1"/>
                </a:solidFill>
              </a:rPr>
              <a:t>quit.setGeometry</a:t>
            </a:r>
            <a:r>
              <a:rPr lang="en-US" dirty="0" smtClean="0">
                <a:solidFill>
                  <a:schemeClr val="tx1"/>
                </a:solidFill>
              </a:rPr>
              <a:t>(10</a:t>
            </a:r>
            <a:r>
              <a:rPr lang="en-US" dirty="0">
                <a:solidFill>
                  <a:schemeClr val="tx1"/>
                </a:solidFill>
              </a:rPr>
              <a:t>, 10, 60, 35)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if </a:t>
            </a:r>
            <a:r>
              <a:rPr lang="en-US" dirty="0">
                <a:solidFill>
                  <a:schemeClr val="tx1"/>
                </a:solidFill>
              </a:rPr>
              <a:t>__name__=='__main__' :       </a:t>
            </a:r>
          </a:p>
          <a:p>
            <a:r>
              <a:rPr lang="en-US" dirty="0">
                <a:solidFill>
                  <a:schemeClr val="tx1"/>
                </a:solidFill>
              </a:rPr>
              <a:t>    app = </a:t>
            </a:r>
            <a:r>
              <a:rPr lang="en-US" dirty="0" err="1">
                <a:solidFill>
                  <a:schemeClr val="tx1"/>
                </a:solidFill>
              </a:rPr>
              <a:t>QtGui.QApplication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sys.argv</a:t>
            </a:r>
            <a:r>
              <a:rPr lang="en-US" dirty="0">
                <a:solidFill>
                  <a:schemeClr val="tx1"/>
                </a:solidFill>
              </a:rPr>
              <a:t>) </a:t>
            </a:r>
          </a:p>
          <a:p>
            <a:r>
              <a:rPr lang="en-US" dirty="0">
                <a:solidFill>
                  <a:schemeClr val="tx1"/>
                </a:solidFill>
              </a:rPr>
              <a:t>    fen = </a:t>
            </a:r>
            <a:r>
              <a:rPr lang="en-US" dirty="0" err="1" smtClean="0">
                <a:solidFill>
                  <a:schemeClr val="tx1"/>
                </a:solidFill>
              </a:rPr>
              <a:t>QuitButton</a:t>
            </a:r>
            <a:r>
              <a:rPr lang="en-US" dirty="0" smtClean="0">
                <a:solidFill>
                  <a:schemeClr val="tx1"/>
                </a:solidFill>
              </a:rPr>
              <a:t>()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fen.show</a:t>
            </a:r>
            <a:r>
              <a:rPr lang="en-US" dirty="0">
                <a:solidFill>
                  <a:schemeClr val="tx1"/>
                </a:solidFill>
              </a:rPr>
              <a:t>() 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app.exec</a:t>
            </a:r>
            <a:r>
              <a:rPr lang="en-US" dirty="0">
                <a:solidFill>
                  <a:schemeClr val="tx1"/>
                </a:solidFill>
              </a:rPr>
              <a:t>_() 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3995936" y="4149080"/>
            <a:ext cx="792088" cy="288032"/>
          </a:xfrm>
          <a:prstGeom prst="ellipse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9490" y="2805472"/>
            <a:ext cx="257175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9374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15" descr="BottomLine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0384"/>
            <a:ext cx="9144000" cy="669726"/>
          </a:xfrm>
          <a:prstGeom prst="rect">
            <a:avLst/>
          </a:prstGeom>
        </p:spPr>
      </p:pic>
      <p:pic>
        <p:nvPicPr>
          <p:cNvPr id="34" name="Picture 16" descr="BottomLineDar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40736"/>
            <a:ext cx="9144000" cy="44648"/>
          </a:xfrm>
          <a:prstGeom prst="rect">
            <a:avLst/>
          </a:prstGeom>
        </p:spPr>
      </p:pic>
      <p:pic>
        <p:nvPicPr>
          <p:cNvPr id="35" name="Picture 14" descr="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95" y="6317332"/>
            <a:ext cx="377791" cy="387005"/>
          </a:xfrm>
          <a:prstGeom prst="rect">
            <a:avLst/>
          </a:prstGeom>
        </p:spPr>
      </p:pic>
      <p:sp>
        <p:nvSpPr>
          <p:cNvPr id="36" name="TextBox 4"/>
          <p:cNvSpPr txBox="1"/>
          <p:nvPr/>
        </p:nvSpPr>
        <p:spPr>
          <a:xfrm>
            <a:off x="785786" y="6242442"/>
            <a:ext cx="1095172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YOU ARE </a:t>
            </a:r>
            <a:r>
              <a:rPr lang="en-US" sz="800" dirty="0" smtClean="0"/>
              <a:t>LOOKING AT</a:t>
            </a:r>
            <a:endParaRPr lang="en-US" sz="800" dirty="0"/>
          </a:p>
        </p:txBody>
      </p:sp>
      <p:sp>
        <p:nvSpPr>
          <p:cNvPr id="37" name="TextBox 5"/>
          <p:cNvSpPr txBox="1"/>
          <p:nvPr/>
        </p:nvSpPr>
        <p:spPr>
          <a:xfrm>
            <a:off x="785786" y="6363293"/>
            <a:ext cx="1603324" cy="307777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Presenter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Toumi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A.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Malek</a:t>
            </a:r>
            <a:endParaRPr lang="en-US" sz="1400" dirty="0">
              <a:latin typeface="TypoSlabserif-Light" pitchFamily="2" charset="0"/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785786" y="6542453"/>
            <a:ext cx="611065" cy="200055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7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PRESENTER</a:t>
            </a:r>
            <a:endParaRPr lang="en-US" sz="700" b="1" dirty="0"/>
          </a:p>
        </p:txBody>
      </p:sp>
      <p:sp>
        <p:nvSpPr>
          <p:cNvPr id="39" name="TextBox 9"/>
          <p:cNvSpPr txBox="1"/>
          <p:nvPr/>
        </p:nvSpPr>
        <p:spPr>
          <a:xfrm>
            <a:off x="2694634" y="6242442"/>
            <a:ext cx="1515158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Aujourd’hui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en-US" sz="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jeudi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31 mars 2016</a:t>
            </a:r>
            <a:endParaRPr lang="en-US" sz="800" dirty="0"/>
          </a:p>
        </p:txBody>
      </p:sp>
      <p:sp>
        <p:nvSpPr>
          <p:cNvPr id="40" name="TextBox 10"/>
          <p:cNvSpPr txBox="1"/>
          <p:nvPr/>
        </p:nvSpPr>
        <p:spPr>
          <a:xfrm>
            <a:off x="2694634" y="6363293"/>
            <a:ext cx="978153" cy="353943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Python; QT </a:t>
            </a:r>
            <a:endParaRPr lang="en-US" sz="1700" dirty="0">
              <a:latin typeface="TypoSlabserif-Light" pitchFamily="2" charset="0"/>
            </a:endParaRPr>
          </a:p>
        </p:txBody>
      </p:sp>
      <p:sp>
        <p:nvSpPr>
          <p:cNvPr id="41" name="TextBox 11"/>
          <p:cNvSpPr txBox="1"/>
          <p:nvPr/>
        </p:nvSpPr>
        <p:spPr>
          <a:xfrm>
            <a:off x="7447108" y="6242442"/>
            <a:ext cx="1268296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 ARE 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dist="12700" dir="2700000" sx="200000" sy="200000" algn="tl" rotWithShape="0">
                    <a:schemeClr val="bg1">
                      <a:alpha val="0"/>
                    </a:schemeClr>
                  </a:outerShdw>
                </a:effectLst>
              </a:rPr>
              <a:t>CURRENTLY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800" smtClean="0"/>
              <a:t>HERE</a:t>
            </a:r>
            <a:endParaRPr lang="en-US" sz="800"/>
          </a:p>
        </p:txBody>
      </p:sp>
      <p:sp>
        <p:nvSpPr>
          <p:cNvPr id="42" name="TextBox 12"/>
          <p:cNvSpPr txBox="1"/>
          <p:nvPr/>
        </p:nvSpPr>
        <p:spPr>
          <a:xfrm>
            <a:off x="8781044" y="6392361"/>
            <a:ext cx="399468" cy="276999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of 7</a:t>
            </a:r>
            <a:endParaRPr lang="en-US" sz="1200" b="1" dirty="0">
              <a:latin typeface="TypoSlabserif-Light" pitchFamily="2" charset="0"/>
            </a:endParaRPr>
          </a:p>
        </p:txBody>
      </p:sp>
      <p:pic>
        <p:nvPicPr>
          <p:cNvPr id="43" name="Picture 18" descr="PrevArrow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200" y="6447512"/>
            <a:ext cx="213333" cy="213333"/>
          </a:xfrm>
          <a:prstGeom prst="rect">
            <a:avLst/>
          </a:prstGeom>
        </p:spPr>
      </p:pic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Sommaire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Création d’interface graphique (IHM)</a:t>
            </a:r>
          </a:p>
          <a:p>
            <a:pPr marL="914400" lvl="1" indent="-514350"/>
            <a:r>
              <a:rPr lang="fr-FR" dirty="0"/>
              <a:t>Généralités</a:t>
            </a:r>
          </a:p>
          <a:p>
            <a:pPr marL="914400" lvl="1" indent="-514350"/>
            <a:r>
              <a:rPr lang="fr-FR" dirty="0"/>
              <a:t>Composants graphiques de base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Présentation de QT</a:t>
            </a:r>
          </a:p>
          <a:p>
            <a:pPr lvl="1"/>
            <a:r>
              <a:rPr lang="fr-FR" dirty="0" smtClean="0"/>
              <a:t>Introduction</a:t>
            </a:r>
          </a:p>
          <a:p>
            <a:pPr lvl="1"/>
            <a:r>
              <a:rPr lang="fr-FR" dirty="0" smtClean="0"/>
              <a:t>Les principaux modules</a:t>
            </a:r>
          </a:p>
          <a:p>
            <a:pPr lvl="1"/>
            <a:r>
              <a:rPr lang="fr-FR" dirty="0" smtClean="0"/>
              <a:t>Documentation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 smtClean="0"/>
          </a:p>
          <a:p>
            <a:pPr marL="857250" lvl="1" indent="-457200"/>
            <a:r>
              <a:rPr lang="fr-FR" dirty="0" smtClean="0"/>
              <a:t>Les modules de </a:t>
            </a:r>
            <a:r>
              <a:rPr lang="fr-FR" dirty="0" err="1" smtClean="0"/>
              <a:t>PyQt</a:t>
            </a:r>
            <a:endParaRPr lang="fr-FR" dirty="0" smtClean="0"/>
          </a:p>
          <a:p>
            <a:pPr marL="857250" lvl="1" indent="-457200"/>
            <a:r>
              <a:rPr lang="fr-FR" dirty="0" smtClean="0"/>
              <a:t>Les widgets</a:t>
            </a:r>
          </a:p>
          <a:p>
            <a:pPr marL="857250" lvl="1" indent="-457200"/>
            <a:r>
              <a:rPr lang="fr-FR" dirty="0" smtClean="0"/>
              <a:t>Définition de classe graphique</a:t>
            </a:r>
          </a:p>
          <a:p>
            <a:pPr marL="857250" lvl="1" indent="-457200"/>
            <a:r>
              <a:rPr lang="fr-FR" dirty="0" smtClean="0">
                <a:solidFill>
                  <a:srgbClr val="FFFF00"/>
                </a:solidFill>
              </a:rPr>
              <a:t>Les fenêtres </a:t>
            </a:r>
          </a:p>
          <a:p>
            <a:pPr marL="857250" lvl="1" indent="-457200"/>
            <a:r>
              <a:rPr lang="fr-FR" dirty="0" smtClean="0"/>
              <a:t>Signaux et slots en Python</a:t>
            </a:r>
          </a:p>
          <a:p>
            <a:pPr marL="457200" lvl="1" indent="0">
              <a:buNone/>
            </a:pP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78697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6856" y="260648"/>
            <a:ext cx="8229600" cy="648072"/>
          </a:xfrm>
        </p:spPr>
        <p:txBody>
          <a:bodyPr/>
          <a:lstStyle/>
          <a:p>
            <a:r>
              <a:rPr lang="fr-FR" dirty="0" smtClean="0"/>
              <a:t>Les fenêtres 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732240" y="6309320"/>
            <a:ext cx="2133600" cy="365125"/>
          </a:xfrm>
        </p:spPr>
        <p:txBody>
          <a:bodyPr/>
          <a:lstStyle/>
          <a:p>
            <a:fld id="{BECFFF0D-0199-40F6-98A2-0B4E765CD128}" type="slidenum">
              <a:rPr lang="en-US" sz="1100" smtClean="0"/>
              <a:pPr/>
              <a:t>23</a:t>
            </a:fld>
            <a:endParaRPr lang="en-US" sz="11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179512" y="980728"/>
            <a:ext cx="8712968" cy="4525963"/>
          </a:xfrm>
        </p:spPr>
        <p:txBody>
          <a:bodyPr>
            <a:normAutofit/>
          </a:bodyPr>
          <a:lstStyle/>
          <a:p>
            <a:r>
              <a:rPr lang="fr-FR" sz="2400" dirty="0" smtClean="0"/>
              <a:t>La fenêtre principale  est de type : </a:t>
            </a:r>
          </a:p>
          <a:p>
            <a:pPr lvl="1"/>
            <a:r>
              <a:rPr lang="fr-FR" sz="2000" dirty="0" err="1" smtClean="0">
                <a:solidFill>
                  <a:srgbClr val="FFFF00"/>
                </a:solidFill>
              </a:rPr>
              <a:t>QMainWindow</a:t>
            </a:r>
            <a:endParaRPr lang="fr-FR" sz="2000" dirty="0" smtClean="0">
              <a:solidFill>
                <a:srgbClr val="FFFF00"/>
              </a:solidFill>
            </a:endParaRPr>
          </a:p>
          <a:p>
            <a:pPr lvl="1"/>
            <a:r>
              <a:rPr lang="fr-FR" sz="2000" dirty="0" err="1" smtClean="0">
                <a:solidFill>
                  <a:srgbClr val="FFFF00"/>
                </a:solidFill>
              </a:rPr>
              <a:t>Qdialog</a:t>
            </a:r>
            <a:endParaRPr lang="fr-FR" sz="2000" dirty="0" smtClean="0">
              <a:solidFill>
                <a:srgbClr val="FFFF00"/>
              </a:solidFill>
            </a:endParaRPr>
          </a:p>
          <a:p>
            <a:r>
              <a:rPr lang="fr-FR" sz="2400" dirty="0" err="1"/>
              <a:t>QMainWindow</a:t>
            </a:r>
            <a:endParaRPr lang="fr-FR" sz="2400" dirty="0"/>
          </a:p>
          <a:p>
            <a:pPr lvl="1"/>
            <a:r>
              <a:rPr lang="fr-FR" sz="2000" dirty="0" smtClean="0"/>
              <a:t>Barre de menus  : </a:t>
            </a:r>
            <a:r>
              <a:rPr lang="fr-FR" sz="2000" dirty="0" err="1" smtClean="0"/>
              <a:t>QMenuBar</a:t>
            </a:r>
            <a:endParaRPr lang="fr-FR" sz="2000" dirty="0" smtClean="0"/>
          </a:p>
          <a:p>
            <a:pPr lvl="1"/>
            <a:r>
              <a:rPr lang="fr-FR" sz="2000" dirty="0" smtClean="0"/>
              <a:t>Le conteneur (widget) central</a:t>
            </a:r>
          </a:p>
          <a:p>
            <a:pPr lvl="2"/>
            <a:r>
              <a:rPr lang="en-US" sz="1600" dirty="0" err="1">
                <a:solidFill>
                  <a:srgbClr val="FFFF00"/>
                </a:solidFill>
              </a:rPr>
              <a:t>setCentralWidget</a:t>
            </a:r>
            <a:r>
              <a:rPr lang="en-US" sz="1600" dirty="0">
                <a:solidFill>
                  <a:srgbClr val="FFFF00"/>
                </a:solidFill>
              </a:rPr>
              <a:t>()</a:t>
            </a:r>
            <a:endParaRPr lang="fr-FR" sz="1600" dirty="0">
              <a:solidFill>
                <a:srgbClr val="FFFF00"/>
              </a:solidFill>
            </a:endParaRPr>
          </a:p>
          <a:p>
            <a:pPr lvl="1"/>
            <a:r>
              <a:rPr lang="fr-FR" sz="2000" dirty="0" smtClean="0"/>
              <a:t>Barre d’outils : </a:t>
            </a:r>
            <a:r>
              <a:rPr lang="fr-FR" sz="2000" dirty="0" err="1" smtClean="0"/>
              <a:t>QToolBarre</a:t>
            </a:r>
            <a:endParaRPr lang="fr-FR" sz="2000" dirty="0" smtClean="0"/>
          </a:p>
          <a:p>
            <a:pPr lvl="1"/>
            <a:r>
              <a:rPr lang="fr-FR" sz="2000" dirty="0" smtClean="0"/>
              <a:t>Une barre d’état : </a:t>
            </a:r>
            <a:r>
              <a:rPr lang="fr-FR" sz="2000" dirty="0" err="1" smtClean="0"/>
              <a:t>QStatusBar</a:t>
            </a:r>
            <a:endParaRPr lang="fr-FR" sz="2000" dirty="0" smtClean="0"/>
          </a:p>
          <a:p>
            <a:pPr lvl="1"/>
            <a:r>
              <a:rPr lang="fr-FR" sz="2000" dirty="0" smtClean="0"/>
              <a:t>Les ancres (docks) </a:t>
            </a:r>
            <a:endParaRPr lang="fr-FR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988840"/>
            <a:ext cx="24765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1691" y="1562376"/>
            <a:ext cx="4782309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399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6856" y="260648"/>
            <a:ext cx="8229600" cy="648072"/>
          </a:xfrm>
        </p:spPr>
        <p:txBody>
          <a:bodyPr/>
          <a:lstStyle/>
          <a:p>
            <a:r>
              <a:rPr lang="fr-FR" dirty="0" smtClean="0"/>
              <a:t>Les fenêtres 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732240" y="6309320"/>
            <a:ext cx="2133600" cy="365125"/>
          </a:xfrm>
        </p:spPr>
        <p:txBody>
          <a:bodyPr/>
          <a:lstStyle/>
          <a:p>
            <a:fld id="{BECFFF0D-0199-40F6-98A2-0B4E765CD128}" type="slidenum">
              <a:rPr lang="en-US" sz="1100" smtClean="0"/>
              <a:pPr/>
              <a:t>24</a:t>
            </a:fld>
            <a:endParaRPr lang="en-US" sz="11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179512" y="980728"/>
            <a:ext cx="8712968" cy="4525963"/>
          </a:xfrm>
        </p:spPr>
        <p:txBody>
          <a:bodyPr>
            <a:normAutofit/>
          </a:bodyPr>
          <a:lstStyle/>
          <a:p>
            <a:r>
              <a:rPr lang="fr-FR" sz="2400" dirty="0" err="1" smtClean="0"/>
              <a:t>QMainWindow</a:t>
            </a:r>
            <a:endParaRPr lang="fr-FR" sz="2400" dirty="0" smtClean="0"/>
          </a:p>
          <a:p>
            <a:pPr marL="0" indent="0">
              <a:buNone/>
            </a:pPr>
            <a:r>
              <a:rPr lang="fr-FR" sz="2400" dirty="0" smtClean="0"/>
              <a:t>Exemple 1: </a:t>
            </a:r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8" name="Espace réservé du contenu 2"/>
          <p:cNvSpPr txBox="1">
            <a:spLocks/>
          </p:cNvSpPr>
          <p:nvPr/>
        </p:nvSpPr>
        <p:spPr>
          <a:xfrm>
            <a:off x="467544" y="2060848"/>
            <a:ext cx="8424936" cy="35283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from PyQt4.QtGui import *</a:t>
            </a:r>
          </a:p>
          <a:p>
            <a:r>
              <a:rPr lang="en-US" dirty="0"/>
              <a:t>import sys</a:t>
            </a:r>
          </a:p>
          <a:p>
            <a:r>
              <a:rPr lang="en-US" dirty="0">
                <a:solidFill>
                  <a:schemeClr val="tx1"/>
                </a:solidFill>
              </a:rPr>
              <a:t>class </a:t>
            </a:r>
            <a:r>
              <a:rPr lang="en-US" dirty="0" err="1">
                <a:solidFill>
                  <a:schemeClr val="tx1"/>
                </a:solidFill>
              </a:rPr>
              <a:t>MyForm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QMainWindow</a:t>
            </a:r>
            <a:r>
              <a:rPr lang="en-US" dirty="0">
                <a:solidFill>
                  <a:schemeClr val="tx1"/>
                </a:solidFill>
              </a:rPr>
              <a:t>):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dirty="0" err="1" smtClean="0">
                <a:solidFill>
                  <a:schemeClr val="tx1"/>
                </a:solidFill>
              </a:rPr>
              <a:t>def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</a:t>
            </a:r>
            <a:r>
              <a:rPr lang="en-US" dirty="0" smtClean="0">
                <a:solidFill>
                  <a:schemeClr val="tx1"/>
                </a:solidFill>
              </a:rPr>
              <a:t>self):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       super(</a:t>
            </a:r>
            <a:r>
              <a:rPr lang="en-US" dirty="0" err="1" smtClean="0">
                <a:solidFill>
                  <a:schemeClr val="tx1"/>
                </a:solidFill>
              </a:rPr>
              <a:t>MyForm</a:t>
            </a:r>
            <a:r>
              <a:rPr lang="en-US" dirty="0">
                <a:solidFill>
                  <a:schemeClr val="tx1"/>
                </a:solidFill>
              </a:rPr>
              <a:t>, self).__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 smtClean="0">
                <a:solidFill>
                  <a:schemeClr val="tx1"/>
                </a:solidFill>
              </a:rPr>
              <a:t>__()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       </a:t>
            </a:r>
            <a:r>
              <a:rPr lang="en-US" dirty="0" err="1" smtClean="0">
                <a:solidFill>
                  <a:schemeClr val="tx1"/>
                </a:solidFill>
              </a:rPr>
              <a:t>the_button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 err="1" smtClean="0">
                <a:solidFill>
                  <a:schemeClr val="tx1"/>
                </a:solidFill>
              </a:rPr>
              <a:t>QPushButton</a:t>
            </a:r>
            <a:r>
              <a:rPr lang="en-US" dirty="0" smtClean="0">
                <a:solidFill>
                  <a:schemeClr val="tx1"/>
                </a:solidFill>
              </a:rPr>
              <a:t>(‘Close’, self)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       </a:t>
            </a:r>
            <a:r>
              <a:rPr lang="en-US" dirty="0" err="1" smtClean="0">
                <a:solidFill>
                  <a:schemeClr val="tx1"/>
                </a:solidFill>
              </a:rPr>
              <a:t>self.setCentralWidget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the_button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if __name__=='__main__' : </a:t>
            </a:r>
          </a:p>
          <a:p>
            <a:r>
              <a:rPr lang="en-US" dirty="0">
                <a:solidFill>
                  <a:schemeClr val="tx1"/>
                </a:solidFill>
              </a:rPr>
              <a:t>app = </a:t>
            </a:r>
            <a:r>
              <a:rPr lang="en-US" dirty="0" err="1">
                <a:solidFill>
                  <a:schemeClr val="tx1"/>
                </a:solidFill>
              </a:rPr>
              <a:t>QApplication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sys.argv</a:t>
            </a:r>
            <a:r>
              <a:rPr lang="en-US" dirty="0">
                <a:solidFill>
                  <a:schemeClr val="tx1"/>
                </a:solidFill>
              </a:rPr>
              <a:t>) </a:t>
            </a:r>
          </a:p>
          <a:p>
            <a:r>
              <a:rPr lang="en-US" dirty="0">
                <a:solidFill>
                  <a:schemeClr val="tx1"/>
                </a:solidFill>
              </a:rPr>
              <a:t>fen = </a:t>
            </a:r>
            <a:r>
              <a:rPr lang="en-US" dirty="0" err="1">
                <a:solidFill>
                  <a:schemeClr val="tx1"/>
                </a:solidFill>
              </a:rPr>
              <a:t>MyForm</a:t>
            </a:r>
            <a:r>
              <a:rPr lang="en-US" dirty="0">
                <a:solidFill>
                  <a:schemeClr val="tx1"/>
                </a:solidFill>
              </a:rPr>
              <a:t>() </a:t>
            </a:r>
          </a:p>
          <a:p>
            <a:r>
              <a:rPr lang="en-US" dirty="0" err="1">
                <a:solidFill>
                  <a:schemeClr val="tx1"/>
                </a:solidFill>
              </a:rPr>
              <a:t>fen.show</a:t>
            </a:r>
            <a:r>
              <a:rPr lang="en-US" dirty="0">
                <a:solidFill>
                  <a:schemeClr val="tx1"/>
                </a:solidFill>
              </a:rPr>
              <a:t>() </a:t>
            </a:r>
          </a:p>
          <a:p>
            <a:r>
              <a:rPr lang="en-US" dirty="0" err="1">
                <a:solidFill>
                  <a:schemeClr val="tx1"/>
                </a:solidFill>
              </a:rPr>
              <a:t>app.exec</a:t>
            </a:r>
            <a:r>
              <a:rPr lang="en-US" dirty="0">
                <a:solidFill>
                  <a:schemeClr val="tx1"/>
                </a:solidFill>
              </a:rPr>
              <a:t>_() 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080" y="2132856"/>
            <a:ext cx="20574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828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fenêtres 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Exemple 2 :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/>
              <a:t>IHM avec </a:t>
            </a:r>
            <a:r>
              <a:rPr lang="fr-FR" dirty="0" err="1"/>
              <a:t>PyQt</a:t>
            </a:r>
            <a:endParaRPr lang="fr-FR" dirty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2996952"/>
            <a:ext cx="2505075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Espace réservé du contenu 2"/>
          <p:cNvSpPr txBox="1">
            <a:spLocks/>
          </p:cNvSpPr>
          <p:nvPr/>
        </p:nvSpPr>
        <p:spPr>
          <a:xfrm>
            <a:off x="971600" y="1772816"/>
            <a:ext cx="4968552" cy="37444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2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from PyQt4.QtGui import *</a:t>
            </a:r>
          </a:p>
          <a:p>
            <a:r>
              <a:rPr lang="en-US" dirty="0"/>
              <a:t>import sys</a:t>
            </a:r>
          </a:p>
          <a:p>
            <a:r>
              <a:rPr lang="en-US" dirty="0">
                <a:solidFill>
                  <a:schemeClr val="tx1"/>
                </a:solidFill>
              </a:rPr>
              <a:t>class </a:t>
            </a:r>
            <a:r>
              <a:rPr lang="en-US" dirty="0" err="1">
                <a:solidFill>
                  <a:schemeClr val="tx1"/>
                </a:solidFill>
              </a:rPr>
              <a:t>MaFenetre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QMainWindow</a:t>
            </a:r>
            <a:r>
              <a:rPr lang="en-US" dirty="0">
                <a:solidFill>
                  <a:schemeClr val="tx1"/>
                </a:solidFill>
              </a:rPr>
              <a:t>):</a:t>
            </a: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dirty="0" err="1" smtClean="0">
                <a:solidFill>
                  <a:schemeClr val="tx1"/>
                </a:solidFill>
              </a:rPr>
              <a:t>def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__(self):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</a:t>
            </a:r>
            <a:r>
              <a:rPr lang="en-US" dirty="0" err="1" smtClean="0">
                <a:solidFill>
                  <a:schemeClr val="tx1"/>
                </a:solidFill>
              </a:rPr>
              <a:t>QMainWindow</a:t>
            </a:r>
            <a:r>
              <a:rPr lang="en-US" dirty="0">
                <a:solidFill>
                  <a:schemeClr val="tx1"/>
                </a:solidFill>
              </a:rPr>
              <a:t>.__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__(self)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</a:t>
            </a:r>
            <a:r>
              <a:rPr lang="en-US" dirty="0" err="1" smtClean="0">
                <a:solidFill>
                  <a:schemeClr val="tx1"/>
                </a:solidFill>
              </a:rPr>
              <a:t>zoneCentrale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 err="1">
                <a:solidFill>
                  <a:schemeClr val="tx1"/>
                </a:solidFill>
              </a:rPr>
              <a:t>QWidget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nom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 err="1">
                <a:solidFill>
                  <a:schemeClr val="tx1"/>
                </a:solidFill>
              </a:rPr>
              <a:t>QLineEdit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</a:t>
            </a:r>
            <a:r>
              <a:rPr lang="en-US" dirty="0" err="1" smtClean="0">
                <a:solidFill>
                  <a:schemeClr val="tx1"/>
                </a:solidFill>
              </a:rPr>
              <a:t>prenom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 err="1">
                <a:solidFill>
                  <a:schemeClr val="tx1"/>
                </a:solidFill>
              </a:rPr>
              <a:t>QLineEdit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age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 err="1">
                <a:solidFill>
                  <a:schemeClr val="tx1"/>
                </a:solidFill>
              </a:rPr>
              <a:t>QLineEdit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layout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 err="1">
                <a:solidFill>
                  <a:schemeClr val="tx1"/>
                </a:solidFill>
              </a:rPr>
              <a:t>QFormLayout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</a:t>
            </a:r>
            <a:r>
              <a:rPr lang="en-US" dirty="0" err="1" smtClean="0">
                <a:solidFill>
                  <a:schemeClr val="tx1"/>
                </a:solidFill>
              </a:rPr>
              <a:t>layout.addRow</a:t>
            </a:r>
            <a:r>
              <a:rPr lang="en-US" dirty="0">
                <a:solidFill>
                  <a:schemeClr val="tx1"/>
                </a:solidFill>
              </a:rPr>
              <a:t>("</a:t>
            </a:r>
            <a:r>
              <a:rPr lang="en-US" dirty="0" err="1">
                <a:solidFill>
                  <a:schemeClr val="tx1"/>
                </a:solidFill>
              </a:rPr>
              <a:t>Votre</a:t>
            </a:r>
            <a:r>
              <a:rPr lang="en-US" dirty="0">
                <a:solidFill>
                  <a:schemeClr val="tx1"/>
                </a:solidFill>
              </a:rPr>
              <a:t> nom", nom)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</a:t>
            </a:r>
            <a:r>
              <a:rPr lang="en-US" dirty="0" err="1" smtClean="0">
                <a:solidFill>
                  <a:schemeClr val="tx1"/>
                </a:solidFill>
              </a:rPr>
              <a:t>layout.addRow</a:t>
            </a:r>
            <a:r>
              <a:rPr lang="en-US" dirty="0">
                <a:solidFill>
                  <a:schemeClr val="tx1"/>
                </a:solidFill>
              </a:rPr>
              <a:t>("</a:t>
            </a:r>
            <a:r>
              <a:rPr lang="en-US" dirty="0" err="1">
                <a:solidFill>
                  <a:schemeClr val="tx1"/>
                </a:solidFill>
              </a:rPr>
              <a:t>Votre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prénom</a:t>
            </a:r>
            <a:r>
              <a:rPr lang="en-US" dirty="0">
                <a:solidFill>
                  <a:schemeClr val="tx1"/>
                </a:solidFill>
              </a:rPr>
              <a:t>", </a:t>
            </a:r>
            <a:r>
              <a:rPr lang="en-US" dirty="0" err="1">
                <a:solidFill>
                  <a:schemeClr val="tx1"/>
                </a:solidFill>
              </a:rPr>
              <a:t>prenom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</a:t>
            </a:r>
            <a:r>
              <a:rPr lang="en-US" dirty="0" err="1" smtClean="0">
                <a:solidFill>
                  <a:schemeClr val="tx1"/>
                </a:solidFill>
              </a:rPr>
              <a:t>layout.addRow</a:t>
            </a:r>
            <a:r>
              <a:rPr lang="en-US" dirty="0">
                <a:solidFill>
                  <a:schemeClr val="tx1"/>
                </a:solidFill>
              </a:rPr>
              <a:t>("</a:t>
            </a:r>
            <a:r>
              <a:rPr lang="en-US" dirty="0" err="1">
                <a:solidFill>
                  <a:schemeClr val="tx1"/>
                </a:solidFill>
              </a:rPr>
              <a:t>Votre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âge</a:t>
            </a:r>
            <a:r>
              <a:rPr lang="en-US" dirty="0">
                <a:solidFill>
                  <a:schemeClr val="tx1"/>
                </a:solidFill>
              </a:rPr>
              <a:t>", age)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</a:t>
            </a:r>
            <a:r>
              <a:rPr lang="en-US" dirty="0" err="1" smtClean="0">
                <a:solidFill>
                  <a:schemeClr val="tx1"/>
                </a:solidFill>
              </a:rPr>
              <a:t>zoneCentrale.setLayout</a:t>
            </a:r>
            <a:r>
              <a:rPr lang="en-US" dirty="0" smtClean="0">
                <a:solidFill>
                  <a:schemeClr val="tx1"/>
                </a:solidFill>
              </a:rPr>
              <a:t>(layout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</a:t>
            </a:r>
            <a:r>
              <a:rPr lang="en-US" dirty="0" err="1" smtClean="0">
                <a:solidFill>
                  <a:schemeClr val="tx1"/>
                </a:solidFill>
              </a:rPr>
              <a:t>self.setCentralWidget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zoneCentrale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</a:rPr>
              <a:t>if __name__=='__main__' :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app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 err="1">
                <a:solidFill>
                  <a:schemeClr val="tx1"/>
                </a:solidFill>
              </a:rPr>
              <a:t>QApplication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sys.argv</a:t>
            </a:r>
            <a:r>
              <a:rPr lang="en-US" dirty="0">
                <a:solidFill>
                  <a:schemeClr val="tx1"/>
                </a:solidFill>
              </a:rPr>
              <a:t>)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fen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 err="1">
                <a:solidFill>
                  <a:schemeClr val="tx1"/>
                </a:solidFill>
              </a:rPr>
              <a:t>MaFenetre</a:t>
            </a:r>
            <a:r>
              <a:rPr lang="en-US" dirty="0">
                <a:solidFill>
                  <a:schemeClr val="tx1"/>
                </a:solidFill>
              </a:rPr>
              <a:t>()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dirty="0" err="1" smtClean="0">
                <a:solidFill>
                  <a:schemeClr val="tx1"/>
                </a:solidFill>
              </a:rPr>
              <a:t>fen.show</a:t>
            </a:r>
            <a:r>
              <a:rPr lang="en-US" dirty="0">
                <a:solidFill>
                  <a:schemeClr val="tx1"/>
                </a:solidFill>
              </a:rPr>
              <a:t>()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dirty="0" err="1" smtClean="0">
                <a:solidFill>
                  <a:schemeClr val="tx1"/>
                </a:solidFill>
              </a:rPr>
              <a:t>app.exec</a:t>
            </a:r>
            <a:r>
              <a:rPr lang="en-US" dirty="0">
                <a:solidFill>
                  <a:schemeClr val="tx1"/>
                </a:solidFill>
              </a:rPr>
              <a:t>_() </a:t>
            </a:r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0911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15" descr="BottomLine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0384"/>
            <a:ext cx="9144000" cy="669726"/>
          </a:xfrm>
          <a:prstGeom prst="rect">
            <a:avLst/>
          </a:prstGeom>
        </p:spPr>
      </p:pic>
      <p:pic>
        <p:nvPicPr>
          <p:cNvPr id="34" name="Picture 16" descr="BottomLineDar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40736"/>
            <a:ext cx="9144000" cy="44648"/>
          </a:xfrm>
          <a:prstGeom prst="rect">
            <a:avLst/>
          </a:prstGeom>
        </p:spPr>
      </p:pic>
      <p:pic>
        <p:nvPicPr>
          <p:cNvPr id="35" name="Picture 14" descr="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95" y="6317332"/>
            <a:ext cx="377791" cy="387005"/>
          </a:xfrm>
          <a:prstGeom prst="rect">
            <a:avLst/>
          </a:prstGeom>
        </p:spPr>
      </p:pic>
      <p:sp>
        <p:nvSpPr>
          <p:cNvPr id="36" name="TextBox 4"/>
          <p:cNvSpPr txBox="1"/>
          <p:nvPr/>
        </p:nvSpPr>
        <p:spPr>
          <a:xfrm>
            <a:off x="785786" y="6242442"/>
            <a:ext cx="1095172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YOU ARE </a:t>
            </a:r>
            <a:r>
              <a:rPr lang="en-US" sz="800" dirty="0" smtClean="0"/>
              <a:t>LOOKING AT</a:t>
            </a:r>
            <a:endParaRPr lang="en-US" sz="800" dirty="0"/>
          </a:p>
        </p:txBody>
      </p:sp>
      <p:sp>
        <p:nvSpPr>
          <p:cNvPr id="37" name="TextBox 5"/>
          <p:cNvSpPr txBox="1"/>
          <p:nvPr/>
        </p:nvSpPr>
        <p:spPr>
          <a:xfrm>
            <a:off x="785786" y="6363293"/>
            <a:ext cx="1603324" cy="307777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Presenter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Toumi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A.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Malek</a:t>
            </a:r>
            <a:endParaRPr lang="en-US" sz="1400" dirty="0">
              <a:latin typeface="TypoSlabserif-Light" pitchFamily="2" charset="0"/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785786" y="6542453"/>
            <a:ext cx="611065" cy="200055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7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PRESENTER</a:t>
            </a:r>
            <a:endParaRPr lang="en-US" sz="700" b="1" dirty="0"/>
          </a:p>
        </p:txBody>
      </p:sp>
      <p:sp>
        <p:nvSpPr>
          <p:cNvPr id="39" name="TextBox 9"/>
          <p:cNvSpPr txBox="1"/>
          <p:nvPr/>
        </p:nvSpPr>
        <p:spPr>
          <a:xfrm>
            <a:off x="2694634" y="6242442"/>
            <a:ext cx="1515158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Aujourd’hui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en-US" sz="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jeudi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31 mars 2016</a:t>
            </a:r>
            <a:endParaRPr lang="en-US" sz="800" dirty="0"/>
          </a:p>
        </p:txBody>
      </p:sp>
      <p:sp>
        <p:nvSpPr>
          <p:cNvPr id="40" name="TextBox 10"/>
          <p:cNvSpPr txBox="1"/>
          <p:nvPr/>
        </p:nvSpPr>
        <p:spPr>
          <a:xfrm>
            <a:off x="2694634" y="6363293"/>
            <a:ext cx="978153" cy="353943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Python; QT </a:t>
            </a:r>
            <a:endParaRPr lang="en-US" sz="1700" dirty="0">
              <a:latin typeface="TypoSlabserif-Light" pitchFamily="2" charset="0"/>
            </a:endParaRPr>
          </a:p>
        </p:txBody>
      </p:sp>
      <p:sp>
        <p:nvSpPr>
          <p:cNvPr id="41" name="TextBox 11"/>
          <p:cNvSpPr txBox="1"/>
          <p:nvPr/>
        </p:nvSpPr>
        <p:spPr>
          <a:xfrm>
            <a:off x="7447108" y="6242442"/>
            <a:ext cx="1268296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 ARE 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dist="12700" dir="2700000" sx="200000" sy="200000" algn="tl" rotWithShape="0">
                    <a:schemeClr val="bg1">
                      <a:alpha val="0"/>
                    </a:schemeClr>
                  </a:outerShdw>
                </a:effectLst>
              </a:rPr>
              <a:t>CURRENTLY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800" smtClean="0"/>
              <a:t>HERE</a:t>
            </a:r>
            <a:endParaRPr lang="en-US" sz="800"/>
          </a:p>
        </p:txBody>
      </p:sp>
      <p:sp>
        <p:nvSpPr>
          <p:cNvPr id="42" name="TextBox 12"/>
          <p:cNvSpPr txBox="1"/>
          <p:nvPr/>
        </p:nvSpPr>
        <p:spPr>
          <a:xfrm>
            <a:off x="8781044" y="6392361"/>
            <a:ext cx="399468" cy="276999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of 7</a:t>
            </a:r>
            <a:endParaRPr lang="en-US" sz="1200" b="1" dirty="0">
              <a:latin typeface="TypoSlabserif-Light" pitchFamily="2" charset="0"/>
            </a:endParaRPr>
          </a:p>
        </p:txBody>
      </p:sp>
      <p:pic>
        <p:nvPicPr>
          <p:cNvPr id="43" name="Picture 18" descr="PrevArrow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200" y="6447512"/>
            <a:ext cx="213333" cy="213333"/>
          </a:xfrm>
          <a:prstGeom prst="rect">
            <a:avLst/>
          </a:prstGeom>
        </p:spPr>
      </p:pic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Sommaire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Création d’interface graphique (IHM)</a:t>
            </a:r>
          </a:p>
          <a:p>
            <a:pPr marL="914400" lvl="1" indent="-514350"/>
            <a:r>
              <a:rPr lang="fr-FR" dirty="0"/>
              <a:t>Généralités</a:t>
            </a:r>
          </a:p>
          <a:p>
            <a:pPr marL="914400" lvl="1" indent="-514350"/>
            <a:r>
              <a:rPr lang="fr-FR" dirty="0"/>
              <a:t>Composants graphiques de base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Présentation de QT</a:t>
            </a:r>
          </a:p>
          <a:p>
            <a:pPr lvl="1"/>
            <a:r>
              <a:rPr lang="fr-FR" dirty="0" smtClean="0"/>
              <a:t>Introduction</a:t>
            </a:r>
          </a:p>
          <a:p>
            <a:pPr lvl="1"/>
            <a:r>
              <a:rPr lang="fr-FR" dirty="0" smtClean="0"/>
              <a:t>Les principaux modules</a:t>
            </a:r>
          </a:p>
          <a:p>
            <a:pPr lvl="1"/>
            <a:r>
              <a:rPr lang="fr-FR" dirty="0" smtClean="0"/>
              <a:t>Documentation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 smtClean="0"/>
          </a:p>
          <a:p>
            <a:pPr marL="857250" lvl="1" indent="-457200"/>
            <a:r>
              <a:rPr lang="fr-FR" dirty="0" smtClean="0"/>
              <a:t>Les modules de </a:t>
            </a:r>
            <a:r>
              <a:rPr lang="fr-FR" dirty="0" err="1" smtClean="0"/>
              <a:t>PyQt</a:t>
            </a:r>
            <a:endParaRPr lang="fr-FR" dirty="0" smtClean="0"/>
          </a:p>
          <a:p>
            <a:pPr marL="857250" lvl="1" indent="-457200"/>
            <a:r>
              <a:rPr lang="fr-FR" dirty="0" smtClean="0"/>
              <a:t>Les widgets</a:t>
            </a:r>
          </a:p>
          <a:p>
            <a:pPr marL="857250" lvl="1" indent="-457200"/>
            <a:r>
              <a:rPr lang="fr-FR" dirty="0" smtClean="0"/>
              <a:t>Définition de classe graphique</a:t>
            </a:r>
          </a:p>
          <a:p>
            <a:pPr marL="857250" lvl="1" indent="-457200"/>
            <a:r>
              <a:rPr lang="fr-FR" dirty="0" smtClean="0"/>
              <a:t>Les fenêtres </a:t>
            </a:r>
          </a:p>
          <a:p>
            <a:pPr marL="857250" lvl="1" indent="-457200"/>
            <a:r>
              <a:rPr lang="fr-FR" dirty="0" smtClean="0">
                <a:solidFill>
                  <a:srgbClr val="FFFF00"/>
                </a:solidFill>
              </a:rPr>
              <a:t>Signaux et slots en Python</a:t>
            </a:r>
          </a:p>
          <a:p>
            <a:pPr marL="457200" lvl="1" indent="0">
              <a:buNone/>
            </a:pP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78697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Rappel :Structure d’un programme QT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1520" y="1196752"/>
            <a:ext cx="8784976" cy="4525963"/>
          </a:xfrm>
        </p:spPr>
        <p:txBody>
          <a:bodyPr>
            <a:normAutofit/>
          </a:bodyPr>
          <a:lstStyle/>
          <a:p>
            <a:r>
              <a:rPr lang="fr-FR" sz="2800" dirty="0" smtClean="0"/>
              <a:t>Un programme </a:t>
            </a:r>
            <a:r>
              <a:rPr lang="fr-FR" sz="2800" dirty="0" err="1" smtClean="0"/>
              <a:t>PyQt</a:t>
            </a:r>
            <a:r>
              <a:rPr lang="fr-FR" sz="2800" dirty="0" smtClean="0"/>
              <a:t> typique contient les étapes suivante </a:t>
            </a:r>
          </a:p>
          <a:p>
            <a:pPr marL="914400" lvl="1" indent="-514350">
              <a:buFont typeface="+mj-lt"/>
              <a:buAutoNum type="arabicPeriod"/>
            </a:pPr>
            <a:r>
              <a:rPr lang="fr-FR" sz="2000" dirty="0" smtClean="0"/>
              <a:t>Création de l’instance de </a:t>
            </a:r>
            <a:r>
              <a:rPr lang="fr-FR" sz="2000" dirty="0" err="1" smtClean="0">
                <a:solidFill>
                  <a:srgbClr val="FFFF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QApplication</a:t>
            </a:r>
            <a:endParaRPr lang="fr-FR" sz="2000" dirty="0">
              <a:solidFill>
                <a:srgbClr val="FFFF00"/>
              </a:solidFill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marL="914400" lvl="1" indent="-514350">
              <a:buFont typeface="+mj-lt"/>
              <a:buAutoNum type="arabicPeriod"/>
            </a:pPr>
            <a:r>
              <a:rPr lang="fr-FR" sz="2000" dirty="0" smtClean="0"/>
              <a:t>Création et affichage de la fenêtre principale et ses composants</a:t>
            </a:r>
          </a:p>
          <a:p>
            <a:pPr lvl="2" indent="-342900">
              <a:buFont typeface="+mj-lt"/>
              <a:buAutoNum type="arabicPeriod" startAt="3"/>
            </a:pPr>
            <a:r>
              <a:rPr lang="fr-FR" sz="1600" dirty="0" smtClean="0">
                <a:solidFill>
                  <a:srgbClr val="FFFF00"/>
                </a:solidFill>
              </a:rPr>
              <a:t>Connexion des signaux aux slots : gestion des évènements (</a:t>
            </a:r>
            <a:r>
              <a:rPr lang="fr-FR" sz="1600" dirty="0" err="1" smtClean="0">
                <a:solidFill>
                  <a:srgbClr val="FFFF00"/>
                </a:solidFill>
              </a:rPr>
              <a:t>QtCore</a:t>
            </a:r>
            <a:r>
              <a:rPr lang="fr-FR" sz="1600" dirty="0" smtClean="0">
                <a:solidFill>
                  <a:srgbClr val="FFFF00"/>
                </a:solidFill>
              </a:rPr>
              <a:t>)</a:t>
            </a:r>
          </a:p>
          <a:p>
            <a:pPr marL="914400" lvl="1" indent="-514350">
              <a:buFont typeface="+mj-lt"/>
              <a:buAutoNum type="arabicPeriod" startAt="4"/>
            </a:pPr>
            <a:r>
              <a:rPr lang="fr-FR" sz="2000" dirty="0" smtClean="0"/>
              <a:t>Appel de la méthode </a:t>
            </a:r>
            <a:r>
              <a:rPr lang="fr-FR" sz="2000" dirty="0" err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exec</a:t>
            </a:r>
            <a:r>
              <a:rPr lang="fr-FR" sz="20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__() </a:t>
            </a:r>
            <a:r>
              <a:rPr lang="fr-FR" sz="2000" dirty="0" smtClean="0"/>
              <a:t>de l’application</a:t>
            </a:r>
          </a:p>
          <a:p>
            <a:pPr marL="400050" lvl="1" indent="0">
              <a:buNone/>
            </a:pPr>
            <a:r>
              <a:rPr lang="fr-FR" sz="2000" dirty="0" smtClean="0"/>
              <a:t>Exemple :</a:t>
            </a:r>
            <a:endParaRPr lang="fr-FR" sz="2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500708" y="3429000"/>
            <a:ext cx="8424936" cy="25922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smtClean="0"/>
              <a:t># 1 - Création d’une instance </a:t>
            </a:r>
            <a:r>
              <a:rPr lang="fr-FR" dirty="0" err="1">
                <a:solidFill>
                  <a:schemeClr val="tx1"/>
                </a:solidFill>
              </a:rPr>
              <a:t>QApplication</a:t>
            </a:r>
            <a:r>
              <a:rPr lang="fr-FR" dirty="0" smtClean="0"/>
              <a:t> </a:t>
            </a:r>
            <a:endParaRPr lang="fr-FR" dirty="0"/>
          </a:p>
          <a:p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app</a:t>
            </a:r>
            <a:r>
              <a:rPr lang="fr-FR" dirty="0" smtClean="0">
                <a:solidFill>
                  <a:schemeClr val="tx1"/>
                </a:solidFill>
              </a:rPr>
              <a:t> = </a:t>
            </a:r>
            <a:r>
              <a:rPr lang="fr-FR" dirty="0" err="1" smtClean="0">
                <a:solidFill>
                  <a:schemeClr val="tx1"/>
                </a:solidFill>
              </a:rPr>
              <a:t>QApplication</a:t>
            </a:r>
            <a:r>
              <a:rPr lang="fr-FR" dirty="0" smtClean="0">
                <a:solidFill>
                  <a:schemeClr val="tx1"/>
                </a:solidFill>
              </a:rPr>
              <a:t>(</a:t>
            </a:r>
            <a:r>
              <a:rPr lang="fr-FR" dirty="0" err="1" smtClean="0">
                <a:solidFill>
                  <a:schemeClr val="tx1"/>
                </a:solidFill>
              </a:rPr>
              <a:t>args</a:t>
            </a:r>
            <a:r>
              <a:rPr lang="fr-FR" dirty="0" smtClean="0">
                <a:solidFill>
                  <a:schemeClr val="tx1"/>
                </a:solidFill>
              </a:rPr>
              <a:t>) </a:t>
            </a:r>
          </a:p>
          <a:p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</a:t>
            </a:r>
            <a:r>
              <a:rPr lang="fr-FR" dirty="0" smtClean="0"/>
              <a:t># 2 - Création de fenêtre</a:t>
            </a:r>
            <a:endParaRPr lang="fr-FR" dirty="0"/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fen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= </a:t>
            </a:r>
            <a:r>
              <a:rPr lang="fr-FR" dirty="0" err="1" smtClean="0">
                <a:solidFill>
                  <a:schemeClr val="tx1"/>
                </a:solidFill>
              </a:rPr>
              <a:t>QMainWindow</a:t>
            </a:r>
            <a:r>
              <a:rPr lang="fr-FR" dirty="0" smtClean="0">
                <a:solidFill>
                  <a:schemeClr val="tx1"/>
                </a:solidFill>
              </a:rPr>
              <a:t>() </a:t>
            </a:r>
          </a:p>
          <a:p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fen.setWindowTitle</a:t>
            </a:r>
            <a:r>
              <a:rPr lang="fr-FR" dirty="0">
                <a:solidFill>
                  <a:schemeClr val="tx1"/>
                </a:solidFill>
              </a:rPr>
              <a:t>("</a:t>
            </a:r>
            <a:r>
              <a:rPr lang="fr-FR" dirty="0" err="1">
                <a:solidFill>
                  <a:schemeClr val="tx1"/>
                </a:solidFill>
              </a:rPr>
              <a:t>Demo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QMainWindow</a:t>
            </a:r>
            <a:r>
              <a:rPr lang="fr-FR" dirty="0" smtClean="0">
                <a:solidFill>
                  <a:schemeClr val="tx1"/>
                </a:solidFill>
              </a:rPr>
              <a:t>")</a:t>
            </a:r>
          </a:p>
          <a:p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fen.resize</a:t>
            </a:r>
            <a:r>
              <a:rPr lang="fr-FR" dirty="0" smtClean="0">
                <a:solidFill>
                  <a:schemeClr val="tx1"/>
                </a:solidFill>
              </a:rPr>
              <a:t>(40,80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fen.show</a:t>
            </a:r>
            <a:r>
              <a:rPr lang="fr-FR" dirty="0" smtClean="0">
                <a:solidFill>
                  <a:schemeClr val="tx1"/>
                </a:solidFill>
              </a:rPr>
              <a:t>()</a:t>
            </a:r>
          </a:p>
          <a:p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</a:t>
            </a:r>
            <a:r>
              <a:rPr lang="fr-FR" dirty="0"/>
              <a:t># </a:t>
            </a:r>
            <a:r>
              <a:rPr lang="fr-FR" dirty="0" smtClean="0"/>
              <a:t>3 – Connexion des signaux aux slots</a:t>
            </a:r>
            <a:endParaRPr lang="fr-FR" dirty="0"/>
          </a:p>
          <a:p>
            <a:r>
              <a:rPr lang="fr-FR" dirty="0" smtClean="0">
                <a:solidFill>
                  <a:schemeClr val="tx1"/>
                </a:solidFill>
              </a:rPr>
              <a:t>    # TODO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smtClean="0"/>
              <a:t># 4 - Création </a:t>
            </a:r>
            <a:r>
              <a:rPr lang="fr-FR" dirty="0"/>
              <a:t>de fenêtre</a:t>
            </a:r>
          </a:p>
          <a:p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app.exec</a:t>
            </a:r>
            <a:r>
              <a:rPr lang="fr-FR" dirty="0">
                <a:solidFill>
                  <a:schemeClr val="tx1"/>
                </a:solidFill>
              </a:rPr>
              <a:t>_()</a:t>
            </a:r>
          </a:p>
          <a:p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25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Signaux et slots en Python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196752"/>
            <a:ext cx="8928992" cy="4525963"/>
          </a:xfrm>
        </p:spPr>
        <p:txBody>
          <a:bodyPr>
            <a:normAutofit/>
          </a:bodyPr>
          <a:lstStyle/>
          <a:p>
            <a:r>
              <a:rPr lang="fr-FR" sz="2000" dirty="0" smtClean="0"/>
              <a:t>Mécanisme utilisé dans QT pour assurer </a:t>
            </a:r>
            <a:r>
              <a:rPr lang="fr-FR" sz="2000" dirty="0"/>
              <a:t>la communication entre les objets</a:t>
            </a:r>
            <a:r>
              <a:rPr lang="fr-FR" sz="2000" dirty="0" smtClean="0"/>
              <a:t>.</a:t>
            </a:r>
          </a:p>
          <a:p>
            <a:pPr lvl="1"/>
            <a:r>
              <a:rPr lang="fr-FR" sz="1600" dirty="0"/>
              <a:t> </a:t>
            </a:r>
            <a:r>
              <a:rPr lang="fr-FR" sz="1600" dirty="0" err="1" smtClean="0"/>
              <a:t>QTCore</a:t>
            </a:r>
            <a:endParaRPr lang="fr-FR" sz="1600" dirty="0" smtClean="0"/>
          </a:p>
          <a:p>
            <a:r>
              <a:rPr lang="fr-FR" sz="2000" dirty="0">
                <a:solidFill>
                  <a:srgbClr val="FFFF00"/>
                </a:solidFill>
              </a:rPr>
              <a:t>Un </a:t>
            </a:r>
            <a:r>
              <a:rPr lang="fr-FR" sz="2000" dirty="0" smtClean="0">
                <a:solidFill>
                  <a:srgbClr val="FFFF00"/>
                </a:solidFill>
              </a:rPr>
              <a:t>signal </a:t>
            </a:r>
            <a:r>
              <a:rPr lang="fr-FR" sz="2000" dirty="0" smtClean="0"/>
              <a:t>: </a:t>
            </a:r>
            <a:r>
              <a:rPr lang="fr-FR" sz="2000" dirty="0"/>
              <a:t>c'est un message envoyé par un widget lorsqu'un évènement se </a:t>
            </a:r>
            <a:r>
              <a:rPr lang="fr-FR" sz="2000" dirty="0" smtClean="0"/>
              <a:t>produit. Exemple </a:t>
            </a:r>
            <a:r>
              <a:rPr lang="fr-FR" sz="2000" dirty="0"/>
              <a:t>: on a cliqué sur un bouton. </a:t>
            </a:r>
          </a:p>
          <a:p>
            <a:r>
              <a:rPr lang="fr-FR" sz="2000" dirty="0" smtClean="0">
                <a:solidFill>
                  <a:srgbClr val="FFFF00"/>
                </a:solidFill>
              </a:rPr>
              <a:t>Un slot </a:t>
            </a:r>
            <a:r>
              <a:rPr lang="fr-FR" sz="2000" dirty="0" smtClean="0"/>
              <a:t>:  </a:t>
            </a:r>
            <a:r>
              <a:rPr lang="fr-FR" sz="2000" dirty="0"/>
              <a:t>c'est la fonction qui est appelée lorsqu'un évènement s'est produit. On dit que le signal appelle le slot. </a:t>
            </a:r>
            <a:r>
              <a:rPr lang="fr-FR" sz="2000" dirty="0" smtClean="0"/>
              <a:t>Concrètement</a:t>
            </a:r>
            <a:r>
              <a:rPr lang="fr-FR" sz="2000" dirty="0"/>
              <a:t>, un </a:t>
            </a:r>
            <a:r>
              <a:rPr lang="fr-FR" sz="2000" dirty="0" smtClean="0"/>
              <a:t>slot est </a:t>
            </a:r>
            <a:r>
              <a:rPr lang="fr-FR" sz="2000" dirty="0"/>
              <a:t>une méthode d'une </a:t>
            </a:r>
            <a:r>
              <a:rPr lang="fr-FR" sz="2000" dirty="0" smtClean="0"/>
              <a:t>classe.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382628" y="5805264"/>
            <a:ext cx="8280920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fr-FR" dirty="0">
                <a:solidFill>
                  <a:schemeClr val="tx1"/>
                </a:solidFill>
              </a:rPr>
              <a:t>PyQt4.QtCore.QObject.connect(</a:t>
            </a:r>
            <a:r>
              <a:rPr lang="fr-FR" dirty="0" err="1">
                <a:solidFill>
                  <a:schemeClr val="tx1"/>
                </a:solidFill>
              </a:rPr>
              <a:t>emeteur</a:t>
            </a:r>
            <a:r>
              <a:rPr lang="fr-FR" dirty="0">
                <a:solidFill>
                  <a:schemeClr val="tx1"/>
                </a:solidFill>
              </a:rPr>
              <a:t>, SIGNAL(), </a:t>
            </a:r>
            <a:r>
              <a:rPr lang="fr-FR" dirty="0" err="1">
                <a:solidFill>
                  <a:schemeClr val="tx1"/>
                </a:solidFill>
              </a:rPr>
              <a:t>recepteur</a:t>
            </a:r>
            <a:r>
              <a:rPr lang="fr-FR" dirty="0">
                <a:solidFill>
                  <a:schemeClr val="tx1"/>
                </a:solidFill>
              </a:rPr>
              <a:t>, SLOT())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3284984"/>
            <a:ext cx="4071508" cy="2336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014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Signaux et slots en Python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5008" y="1164586"/>
            <a:ext cx="8928992" cy="4525963"/>
          </a:xfrm>
        </p:spPr>
        <p:txBody>
          <a:bodyPr>
            <a:normAutofit/>
          </a:bodyPr>
          <a:lstStyle/>
          <a:p>
            <a:r>
              <a:rPr lang="fr-FR" sz="2000" dirty="0" smtClean="0"/>
              <a:t>Mécanisme utilisé dans QT pour assurer </a:t>
            </a:r>
            <a:r>
              <a:rPr lang="fr-FR" sz="2000" dirty="0"/>
              <a:t>la communication entre les objets</a:t>
            </a:r>
            <a:r>
              <a:rPr lang="fr-FR" sz="2000" dirty="0" smtClean="0"/>
              <a:t>.</a:t>
            </a:r>
          </a:p>
          <a:p>
            <a:r>
              <a:rPr lang="fr-FR" sz="2000" dirty="0">
                <a:solidFill>
                  <a:srgbClr val="FFFF00"/>
                </a:solidFill>
              </a:rPr>
              <a:t>Un </a:t>
            </a:r>
            <a:r>
              <a:rPr lang="fr-FR" sz="2000" dirty="0" smtClean="0">
                <a:solidFill>
                  <a:srgbClr val="FFFF00"/>
                </a:solidFill>
              </a:rPr>
              <a:t>signal </a:t>
            </a:r>
            <a:r>
              <a:rPr lang="fr-FR" sz="2000" dirty="0" smtClean="0"/>
              <a:t>: </a:t>
            </a:r>
            <a:r>
              <a:rPr lang="fr-FR" sz="2000" dirty="0"/>
              <a:t>c'est un message envoyé par un widget lorsqu'un évènement se </a:t>
            </a:r>
            <a:r>
              <a:rPr lang="fr-FR" sz="2000" dirty="0" smtClean="0"/>
              <a:t>produit. Exemple </a:t>
            </a:r>
            <a:r>
              <a:rPr lang="fr-FR" sz="2000" dirty="0"/>
              <a:t>: on a cliqué sur un bouton. </a:t>
            </a:r>
          </a:p>
          <a:p>
            <a:r>
              <a:rPr lang="fr-FR" sz="2000" dirty="0" smtClean="0">
                <a:solidFill>
                  <a:srgbClr val="FFFF00"/>
                </a:solidFill>
              </a:rPr>
              <a:t>Un slot </a:t>
            </a:r>
            <a:r>
              <a:rPr lang="fr-FR" sz="2000" dirty="0" smtClean="0"/>
              <a:t>:  </a:t>
            </a:r>
            <a:r>
              <a:rPr lang="fr-FR" sz="2000" dirty="0"/>
              <a:t>c'est la fonction qui est appelée lorsqu'un évènement s'est produit. On dit que le signal appelle le slot. </a:t>
            </a:r>
            <a:r>
              <a:rPr lang="fr-FR" sz="2000" dirty="0" smtClean="0"/>
              <a:t>Concrètement</a:t>
            </a:r>
            <a:r>
              <a:rPr lang="fr-FR" sz="2000" dirty="0"/>
              <a:t>, un </a:t>
            </a:r>
            <a:r>
              <a:rPr lang="fr-FR" sz="2000" dirty="0" smtClean="0"/>
              <a:t>slot est </a:t>
            </a:r>
            <a:r>
              <a:rPr lang="fr-FR" sz="2000" dirty="0"/>
              <a:t>une méthode d'une </a:t>
            </a:r>
            <a:r>
              <a:rPr lang="fr-FR" sz="2000" dirty="0" smtClean="0"/>
              <a:t>classe.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3284984"/>
            <a:ext cx="2232248" cy="2366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8491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Signaux et slots en Python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323528" y="1196753"/>
            <a:ext cx="8229600" cy="47681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smtClean="0"/>
              <a:t>Principe : </a:t>
            </a:r>
          </a:p>
          <a:p>
            <a:r>
              <a:rPr lang="fr-FR" sz="2400" dirty="0" smtClean="0"/>
              <a:t>La connexion : la méthode </a:t>
            </a:r>
            <a:r>
              <a:rPr lang="fr-FR" sz="2400" dirty="0" err="1" smtClean="0">
                <a:solidFill>
                  <a:srgbClr val="FFFF00"/>
                </a:solidFill>
              </a:rPr>
              <a:t>connect</a:t>
            </a:r>
            <a:r>
              <a:rPr lang="fr-FR" sz="2400" dirty="0" smtClean="0"/>
              <a:t>() de l’objet </a:t>
            </a:r>
            <a:r>
              <a:rPr lang="fr-FR" sz="2400" dirty="0" err="1" smtClean="0"/>
              <a:t>Qobject</a:t>
            </a:r>
            <a:endParaRPr lang="fr-FR" sz="2400" dirty="0" smtClean="0"/>
          </a:p>
          <a:p>
            <a:pPr marL="0" indent="0">
              <a:buNone/>
            </a:pPr>
            <a:r>
              <a:rPr lang="fr-FR" sz="2400" dirty="0" smtClean="0"/>
              <a:t>Syntaxe :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Elle prend  4 arguments :</a:t>
            </a:r>
          </a:p>
          <a:p>
            <a:pPr>
              <a:buFont typeface="+mj-lt"/>
              <a:buAutoNum type="arabicPeriod"/>
            </a:pPr>
            <a:r>
              <a:rPr lang="fr-FR" sz="1800" dirty="0" smtClean="0"/>
              <a:t>l'objet </a:t>
            </a:r>
            <a:r>
              <a:rPr lang="fr-FR" sz="1800" dirty="0"/>
              <a:t>qui émet le signal. </a:t>
            </a:r>
          </a:p>
          <a:p>
            <a:pPr>
              <a:buFont typeface="+mj-lt"/>
              <a:buAutoNum type="arabicPeriod"/>
            </a:pPr>
            <a:r>
              <a:rPr lang="fr-FR" sz="1800" dirty="0" smtClean="0"/>
              <a:t>Le </a:t>
            </a:r>
            <a:r>
              <a:rPr lang="fr-FR" sz="1800" dirty="0"/>
              <a:t>nom du signal que l'on veut "intercepter". </a:t>
            </a:r>
            <a:endParaRPr lang="fr-FR" sz="1800" dirty="0" smtClean="0"/>
          </a:p>
          <a:p>
            <a:pPr>
              <a:buFont typeface="+mj-lt"/>
              <a:buAutoNum type="arabicPeriod"/>
            </a:pPr>
            <a:r>
              <a:rPr lang="fr-FR" sz="1800" dirty="0" smtClean="0"/>
              <a:t>L’objet </a:t>
            </a:r>
            <a:r>
              <a:rPr lang="fr-FR" sz="1800" dirty="0"/>
              <a:t>qui contient le slot récepteur. </a:t>
            </a:r>
          </a:p>
          <a:p>
            <a:pPr>
              <a:buFont typeface="+mj-lt"/>
              <a:buAutoNum type="arabicPeriod"/>
            </a:pPr>
            <a:r>
              <a:rPr lang="fr-FR" sz="1800" dirty="0" smtClean="0"/>
              <a:t>Le </a:t>
            </a:r>
            <a:r>
              <a:rPr lang="fr-FR" sz="1800" dirty="0"/>
              <a:t>nom du slot qui doit s'exécuter lorsque </a:t>
            </a:r>
            <a:endParaRPr lang="fr-FR" sz="1800" dirty="0" smtClean="0"/>
          </a:p>
          <a:p>
            <a:pPr marL="0" indent="0">
              <a:buNone/>
            </a:pPr>
            <a:r>
              <a:rPr lang="fr-FR" sz="1800" dirty="0"/>
              <a:t> </a:t>
            </a:r>
            <a:r>
              <a:rPr lang="fr-FR" sz="1800" dirty="0" smtClean="0"/>
              <a:t>     le </a:t>
            </a:r>
            <a:r>
              <a:rPr lang="fr-FR" sz="1800" dirty="0"/>
              <a:t>signal se </a:t>
            </a:r>
            <a:r>
              <a:rPr lang="fr-FR" sz="1800" dirty="0" smtClean="0"/>
              <a:t>produit</a:t>
            </a:r>
            <a:endParaRPr lang="fr-FR" sz="1800" dirty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 smtClean="0"/>
          </a:p>
        </p:txBody>
      </p:sp>
      <p:sp>
        <p:nvSpPr>
          <p:cNvPr id="8" name="ZoneTexte 7"/>
          <p:cNvSpPr txBox="1"/>
          <p:nvPr/>
        </p:nvSpPr>
        <p:spPr>
          <a:xfrm>
            <a:off x="536164" y="2600908"/>
            <a:ext cx="8280920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fr-FR" dirty="0" err="1" smtClean="0">
                <a:solidFill>
                  <a:schemeClr val="tx1"/>
                </a:solidFill>
              </a:rPr>
              <a:t>QObject.connect</a:t>
            </a:r>
            <a:r>
              <a:rPr lang="fr-FR" dirty="0" smtClean="0">
                <a:solidFill>
                  <a:schemeClr val="tx1"/>
                </a:solidFill>
              </a:rPr>
              <a:t>(</a:t>
            </a:r>
            <a:r>
              <a:rPr lang="fr-FR" dirty="0" err="1" smtClean="0">
                <a:solidFill>
                  <a:schemeClr val="tx1"/>
                </a:solidFill>
              </a:rPr>
              <a:t>emeteur</a:t>
            </a:r>
            <a:r>
              <a:rPr lang="fr-FR" dirty="0">
                <a:solidFill>
                  <a:schemeClr val="tx1"/>
                </a:solidFill>
              </a:rPr>
              <a:t>, </a:t>
            </a:r>
            <a:r>
              <a:rPr lang="fr-FR" dirty="0">
                <a:solidFill>
                  <a:srgbClr val="FF0000"/>
                </a:solidFill>
              </a:rPr>
              <a:t>SIGNAL()</a:t>
            </a:r>
            <a:r>
              <a:rPr lang="fr-FR" dirty="0">
                <a:solidFill>
                  <a:schemeClr val="tx1"/>
                </a:solidFill>
              </a:rPr>
              <a:t>,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recepteur</a:t>
            </a:r>
            <a:r>
              <a:rPr lang="fr-FR" dirty="0">
                <a:solidFill>
                  <a:schemeClr val="tx1"/>
                </a:solidFill>
              </a:rPr>
              <a:t>, </a:t>
            </a:r>
            <a:r>
              <a:rPr lang="fr-FR" dirty="0">
                <a:solidFill>
                  <a:srgbClr val="FF0000"/>
                </a:solidFill>
              </a:rPr>
              <a:t>SLOT()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</p:txBody>
      </p:sp>
      <p:grpSp>
        <p:nvGrpSpPr>
          <p:cNvPr id="6" name="Groupe 5"/>
          <p:cNvGrpSpPr/>
          <p:nvPr/>
        </p:nvGrpSpPr>
        <p:grpSpPr>
          <a:xfrm>
            <a:off x="4976976" y="3557364"/>
            <a:ext cx="4131528" cy="2247900"/>
            <a:chOff x="4976976" y="3557364"/>
            <a:chExt cx="4131528" cy="2247900"/>
          </a:xfrm>
        </p:grpSpPr>
        <p:grpSp>
          <p:nvGrpSpPr>
            <p:cNvPr id="12" name="Groupe 11"/>
            <p:cNvGrpSpPr/>
            <p:nvPr/>
          </p:nvGrpSpPr>
          <p:grpSpPr>
            <a:xfrm>
              <a:off x="4976976" y="3557364"/>
              <a:ext cx="4131528" cy="2247900"/>
              <a:chOff x="4860032" y="3356992"/>
              <a:chExt cx="4131528" cy="2247900"/>
            </a:xfrm>
          </p:grpSpPr>
          <p:pic>
            <p:nvPicPr>
              <p:cNvPr id="9" name="Picture 3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60032" y="3356992"/>
                <a:ext cx="4104456" cy="22479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91360" y="3356992"/>
                <a:ext cx="1600200" cy="742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" name="Picture 4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60032" y="3356992"/>
                <a:ext cx="1323975" cy="276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" name="ZoneTexte 2"/>
            <p:cNvSpPr txBox="1"/>
            <p:nvPr/>
          </p:nvSpPr>
          <p:spPr>
            <a:xfrm>
              <a:off x="7740352" y="4993431"/>
              <a:ext cx="864096" cy="307777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fr-FR" sz="1400" dirty="0" smtClean="0"/>
                <a:t>Close()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28031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Signaux et slots en Python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Exemples : 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000" dirty="0" smtClean="0"/>
              <a:t>Fermer la fenêtre en cliquant sur un bouton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000" dirty="0" smtClean="0"/>
              <a:t>Afficher ‘Hello’ en cliquant sur un bouton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/>
              <a:t>IHM avec </a:t>
            </a:r>
            <a:r>
              <a:rPr lang="fr-FR" dirty="0" err="1"/>
              <a:t>PyQt</a:t>
            </a:r>
            <a:endParaRPr lang="fr-FR" dirty="0"/>
          </a:p>
          <a:p>
            <a:endParaRPr lang="en-US" dirty="0"/>
          </a:p>
        </p:txBody>
      </p:sp>
      <p:sp>
        <p:nvSpPr>
          <p:cNvPr id="7" name="Espace réservé du contenu 2"/>
          <p:cNvSpPr txBox="1">
            <a:spLocks/>
          </p:cNvSpPr>
          <p:nvPr/>
        </p:nvSpPr>
        <p:spPr>
          <a:xfrm>
            <a:off x="323528" y="2463572"/>
            <a:ext cx="8712968" cy="31683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fr-FR" dirty="0" err="1"/>
              <a:t>from</a:t>
            </a:r>
            <a:r>
              <a:rPr lang="fr-FR" dirty="0"/>
              <a:t> PyQt4.QtGui import * </a:t>
            </a:r>
            <a:endParaRPr lang="fr-FR" dirty="0" smtClean="0"/>
          </a:p>
          <a:p>
            <a:r>
              <a:rPr lang="fr-FR" dirty="0" err="1" smtClean="0">
                <a:solidFill>
                  <a:srgbClr val="FF0000"/>
                </a:solidFill>
              </a:rPr>
              <a:t>from</a:t>
            </a:r>
            <a:r>
              <a:rPr lang="fr-FR" dirty="0" smtClean="0">
                <a:solidFill>
                  <a:srgbClr val="FF0000"/>
                </a:solidFill>
              </a:rPr>
              <a:t> </a:t>
            </a:r>
            <a:r>
              <a:rPr lang="fr-FR" dirty="0">
                <a:solidFill>
                  <a:srgbClr val="FF0000"/>
                </a:solidFill>
              </a:rPr>
              <a:t>PyQt4.QtCore import *</a:t>
            </a:r>
          </a:p>
          <a:p>
            <a:r>
              <a:rPr lang="fr-FR" dirty="0">
                <a:solidFill>
                  <a:schemeClr val="tx1"/>
                </a:solidFill>
              </a:rPr>
              <a:t>import </a:t>
            </a:r>
            <a:r>
              <a:rPr lang="fr-FR" dirty="0" err="1">
                <a:solidFill>
                  <a:schemeClr val="tx1"/>
                </a:solidFill>
              </a:rPr>
              <a:t>sys</a:t>
            </a: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class </a:t>
            </a:r>
            <a:r>
              <a:rPr lang="en-US" dirty="0" err="1">
                <a:solidFill>
                  <a:schemeClr val="tx1"/>
                </a:solidFill>
              </a:rPr>
              <a:t>MyForm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QMainWindow</a:t>
            </a:r>
            <a:r>
              <a:rPr lang="en-US" dirty="0">
                <a:solidFill>
                  <a:schemeClr val="tx1"/>
                </a:solidFill>
              </a:rPr>
              <a:t>):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dirty="0" err="1" smtClean="0">
                <a:solidFill>
                  <a:schemeClr val="tx1"/>
                </a:solidFill>
              </a:rPr>
              <a:t>def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__(self, parent=None):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dirty="0" err="1" smtClean="0">
                <a:solidFill>
                  <a:schemeClr val="tx1"/>
                </a:solidFill>
              </a:rPr>
              <a:t>QMainWindow</a:t>
            </a:r>
            <a:r>
              <a:rPr lang="en-US" dirty="0">
                <a:solidFill>
                  <a:schemeClr val="tx1"/>
                </a:solidFill>
              </a:rPr>
              <a:t>.__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</a:t>
            </a:r>
            <a:r>
              <a:rPr lang="en-US" dirty="0" err="1">
                <a:solidFill>
                  <a:schemeClr val="tx1"/>
                </a:solidFill>
              </a:rPr>
              <a:t>self,parent</a:t>
            </a:r>
            <a:r>
              <a:rPr lang="en-US" dirty="0">
                <a:solidFill>
                  <a:schemeClr val="tx1"/>
                </a:solidFill>
              </a:rPr>
              <a:t>)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dirty="0" err="1" smtClean="0">
                <a:solidFill>
                  <a:schemeClr val="tx1"/>
                </a:solidFill>
              </a:rPr>
              <a:t>the_button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 err="1">
                <a:solidFill>
                  <a:schemeClr val="tx1"/>
                </a:solidFill>
              </a:rPr>
              <a:t>QPushButton</a:t>
            </a:r>
            <a:r>
              <a:rPr lang="en-US" dirty="0">
                <a:solidFill>
                  <a:schemeClr val="tx1"/>
                </a:solidFill>
              </a:rPr>
              <a:t>(‘Close')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</a:t>
            </a:r>
            <a:r>
              <a:rPr lang="en-US" dirty="0" err="1" smtClean="0">
                <a:solidFill>
                  <a:schemeClr val="tx1"/>
                </a:solidFill>
              </a:rPr>
              <a:t>self.connect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the_button</a:t>
            </a:r>
            <a:r>
              <a:rPr lang="en-US" dirty="0">
                <a:solidFill>
                  <a:schemeClr val="tx1"/>
                </a:solidFill>
              </a:rPr>
              <a:t>, SIGNAL('clicked()'), self, </a:t>
            </a:r>
            <a:r>
              <a:rPr lang="en-US" dirty="0" smtClean="0">
                <a:solidFill>
                  <a:schemeClr val="tx1"/>
                </a:solidFill>
              </a:rPr>
              <a:t>SLOT(‘close</a:t>
            </a:r>
            <a:r>
              <a:rPr lang="en-US" dirty="0">
                <a:solidFill>
                  <a:schemeClr val="tx1"/>
                </a:solidFill>
              </a:rPr>
              <a:t>()’))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dirty="0" err="1" smtClean="0">
                <a:solidFill>
                  <a:schemeClr val="tx1"/>
                </a:solidFill>
              </a:rPr>
              <a:t>self.setCentralWidget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the_button</a:t>
            </a:r>
            <a:r>
              <a:rPr lang="en-US" dirty="0">
                <a:solidFill>
                  <a:schemeClr val="tx1"/>
                </a:solidFill>
              </a:rPr>
              <a:t>) 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Espace réservé du contenu 2"/>
          <p:cNvSpPr txBox="1">
            <a:spLocks/>
          </p:cNvSpPr>
          <p:nvPr/>
        </p:nvSpPr>
        <p:spPr>
          <a:xfrm>
            <a:off x="338728" y="2463572"/>
            <a:ext cx="8712968" cy="31683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fr-FR" dirty="0" err="1"/>
              <a:t>from</a:t>
            </a:r>
            <a:r>
              <a:rPr lang="fr-FR" dirty="0"/>
              <a:t> PyQt4.QtGui import * </a:t>
            </a:r>
            <a:endParaRPr lang="fr-FR" dirty="0" smtClean="0"/>
          </a:p>
          <a:p>
            <a:r>
              <a:rPr lang="fr-FR" dirty="0" err="1" smtClean="0">
                <a:solidFill>
                  <a:srgbClr val="FF0000"/>
                </a:solidFill>
              </a:rPr>
              <a:t>from</a:t>
            </a:r>
            <a:r>
              <a:rPr lang="fr-FR" dirty="0" smtClean="0">
                <a:solidFill>
                  <a:srgbClr val="FF0000"/>
                </a:solidFill>
              </a:rPr>
              <a:t> </a:t>
            </a:r>
            <a:r>
              <a:rPr lang="fr-FR" dirty="0">
                <a:solidFill>
                  <a:srgbClr val="FF0000"/>
                </a:solidFill>
              </a:rPr>
              <a:t>PyQt4.QtCore import *</a:t>
            </a:r>
          </a:p>
          <a:p>
            <a:r>
              <a:rPr lang="fr-FR" dirty="0">
                <a:solidFill>
                  <a:schemeClr val="tx1"/>
                </a:solidFill>
              </a:rPr>
              <a:t>import </a:t>
            </a:r>
            <a:r>
              <a:rPr lang="fr-FR" dirty="0" err="1">
                <a:solidFill>
                  <a:schemeClr val="tx1"/>
                </a:solidFill>
              </a:rPr>
              <a:t>sys</a:t>
            </a: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class </a:t>
            </a:r>
            <a:r>
              <a:rPr lang="en-US" dirty="0" err="1">
                <a:solidFill>
                  <a:schemeClr val="tx1"/>
                </a:solidFill>
              </a:rPr>
              <a:t>MyForm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QMainWindow</a:t>
            </a:r>
            <a:r>
              <a:rPr lang="en-US" dirty="0">
                <a:solidFill>
                  <a:schemeClr val="tx1"/>
                </a:solidFill>
              </a:rPr>
              <a:t>):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dirty="0" err="1" smtClean="0">
                <a:solidFill>
                  <a:schemeClr val="tx1"/>
                </a:solidFill>
              </a:rPr>
              <a:t>def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__(self, parent=None):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dirty="0" err="1" smtClean="0">
                <a:solidFill>
                  <a:schemeClr val="tx1"/>
                </a:solidFill>
              </a:rPr>
              <a:t>QMainWindow</a:t>
            </a:r>
            <a:r>
              <a:rPr lang="en-US" dirty="0">
                <a:solidFill>
                  <a:schemeClr val="tx1"/>
                </a:solidFill>
              </a:rPr>
              <a:t>.__</a:t>
            </a:r>
            <a:r>
              <a:rPr lang="en-US" dirty="0" err="1">
                <a:solidFill>
                  <a:schemeClr val="tx1"/>
                </a:solidFill>
              </a:rPr>
              <a:t>init</a:t>
            </a:r>
            <a:r>
              <a:rPr lang="en-US" dirty="0">
                <a:solidFill>
                  <a:schemeClr val="tx1"/>
                </a:solidFill>
              </a:rPr>
              <a:t>__(</a:t>
            </a:r>
            <a:r>
              <a:rPr lang="en-US" dirty="0" err="1">
                <a:solidFill>
                  <a:schemeClr val="tx1"/>
                </a:solidFill>
              </a:rPr>
              <a:t>self,parent</a:t>
            </a:r>
            <a:r>
              <a:rPr lang="en-US" dirty="0">
                <a:solidFill>
                  <a:schemeClr val="tx1"/>
                </a:solidFill>
              </a:rPr>
              <a:t>)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dirty="0" err="1" smtClean="0">
                <a:solidFill>
                  <a:schemeClr val="tx1"/>
                </a:solidFill>
              </a:rPr>
              <a:t>the_button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 err="1">
                <a:solidFill>
                  <a:schemeClr val="tx1"/>
                </a:solidFill>
              </a:rPr>
              <a:t>QPushButton</a:t>
            </a:r>
            <a:r>
              <a:rPr lang="en-US" dirty="0" smtClean="0">
                <a:solidFill>
                  <a:schemeClr val="tx1"/>
                </a:solidFill>
              </a:rPr>
              <a:t>(‘Hello') </a:t>
            </a: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</a:t>
            </a:r>
            <a:r>
              <a:rPr lang="en-US" dirty="0" err="1" smtClean="0">
                <a:solidFill>
                  <a:schemeClr val="tx1"/>
                </a:solidFill>
              </a:rPr>
              <a:t>self.connect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the_button</a:t>
            </a:r>
            <a:r>
              <a:rPr lang="en-US" dirty="0">
                <a:solidFill>
                  <a:schemeClr val="tx1"/>
                </a:solidFill>
              </a:rPr>
              <a:t>, SIGNAL('clicked()'), </a:t>
            </a:r>
            <a:r>
              <a:rPr lang="en-US" dirty="0" smtClean="0">
                <a:solidFill>
                  <a:schemeClr val="tx1"/>
                </a:solidFill>
              </a:rPr>
              <a:t>self.do)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dirty="0" err="1" smtClean="0">
                <a:solidFill>
                  <a:schemeClr val="tx1"/>
                </a:solidFill>
              </a:rPr>
              <a:t>self.setCentralWidget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the_button</a:t>
            </a:r>
            <a:r>
              <a:rPr lang="en-US" dirty="0">
                <a:solidFill>
                  <a:schemeClr val="tx1"/>
                </a:solidFill>
              </a:rPr>
              <a:t>)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</a:t>
            </a:r>
            <a:r>
              <a:rPr lang="fr-FR" dirty="0" err="1" smtClean="0">
                <a:solidFill>
                  <a:schemeClr val="tx1"/>
                </a:solidFill>
              </a:rPr>
              <a:t>def</a:t>
            </a:r>
            <a:r>
              <a:rPr lang="fr-FR" dirty="0" smtClean="0">
                <a:solidFill>
                  <a:schemeClr val="tx1"/>
                </a:solidFill>
              </a:rPr>
              <a:t> do(self):</a:t>
            </a:r>
          </a:p>
          <a:p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    </a:t>
            </a:r>
            <a:r>
              <a:rPr lang="fr-FR" dirty="0" err="1" smtClean="0">
                <a:solidFill>
                  <a:schemeClr val="tx1"/>
                </a:solidFill>
              </a:rPr>
              <a:t>print</a:t>
            </a:r>
            <a:r>
              <a:rPr lang="fr-FR" dirty="0" smtClean="0">
                <a:solidFill>
                  <a:schemeClr val="tx1"/>
                </a:solidFill>
              </a:rPr>
              <a:t>(‘Hello’)</a:t>
            </a:r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060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Signaux et slots en Python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323528" y="1196753"/>
            <a:ext cx="8229600" cy="47681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smtClean="0"/>
              <a:t>Principe : </a:t>
            </a:r>
          </a:p>
          <a:p>
            <a:r>
              <a:rPr lang="fr-FR" sz="2400" dirty="0" smtClean="0"/>
              <a:t>La connexion : la méthode </a:t>
            </a:r>
            <a:r>
              <a:rPr lang="fr-FR" sz="2400" dirty="0" err="1" smtClean="0">
                <a:solidFill>
                  <a:srgbClr val="FFFF00"/>
                </a:solidFill>
              </a:rPr>
              <a:t>connect</a:t>
            </a:r>
            <a:r>
              <a:rPr lang="fr-FR" sz="2400" dirty="0" smtClean="0"/>
              <a:t>() de l’objet </a:t>
            </a:r>
            <a:r>
              <a:rPr lang="fr-FR" sz="2400" dirty="0" err="1" smtClean="0"/>
              <a:t>QObject</a:t>
            </a:r>
            <a:endParaRPr lang="fr-FR" sz="2400" dirty="0" smtClean="0"/>
          </a:p>
          <a:p>
            <a:pPr marL="0" indent="0">
              <a:buNone/>
            </a:pPr>
            <a:r>
              <a:rPr lang="fr-FR" sz="2400" dirty="0" smtClean="0"/>
              <a:t>Nouvelle Syntaxe (à partir de PyQt4.5)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 smtClean="0"/>
          </a:p>
        </p:txBody>
      </p:sp>
      <p:sp>
        <p:nvSpPr>
          <p:cNvPr id="8" name="ZoneTexte 7"/>
          <p:cNvSpPr txBox="1"/>
          <p:nvPr/>
        </p:nvSpPr>
        <p:spPr>
          <a:xfrm>
            <a:off x="536164" y="2600908"/>
            <a:ext cx="8280920" cy="4680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25000" lnSpcReduction="20000"/>
          </a:bodyPr>
          <a:lstStyle>
            <a:defPPr>
              <a:defRPr lang="en-US"/>
            </a:defPPr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endParaRPr lang="en-US" dirty="0"/>
          </a:p>
          <a:p>
            <a:r>
              <a:rPr lang="en-US" sz="7200" dirty="0" err="1">
                <a:solidFill>
                  <a:schemeClr val="tx1"/>
                </a:solidFill>
              </a:rPr>
              <a:t>sender.signalName.connect</a:t>
            </a:r>
            <a:r>
              <a:rPr lang="en-US" sz="7200" dirty="0">
                <a:solidFill>
                  <a:schemeClr val="tx1"/>
                </a:solidFill>
              </a:rPr>
              <a:t>(</a:t>
            </a:r>
            <a:r>
              <a:rPr lang="en-US" sz="7200" dirty="0" err="1">
                <a:solidFill>
                  <a:schemeClr val="tx1"/>
                </a:solidFill>
              </a:rPr>
              <a:t>receiver.slotName</a:t>
            </a:r>
            <a:r>
              <a:rPr lang="en-US" sz="7200" dirty="0">
                <a:solidFill>
                  <a:schemeClr val="tx1"/>
                </a:solidFill>
              </a:rPr>
              <a:t>) </a:t>
            </a:r>
            <a:endParaRPr lang="fr-FR" sz="7200" dirty="0">
              <a:solidFill>
                <a:schemeClr val="tx1"/>
              </a:solidFill>
            </a:endParaRPr>
          </a:p>
        </p:txBody>
      </p:sp>
      <p:sp>
        <p:nvSpPr>
          <p:cNvPr id="13" name="Espace réservé du contenu 2"/>
          <p:cNvSpPr txBox="1">
            <a:spLocks/>
          </p:cNvSpPr>
          <p:nvPr/>
        </p:nvSpPr>
        <p:spPr>
          <a:xfrm>
            <a:off x="536164" y="3573016"/>
            <a:ext cx="6003616" cy="17281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fr-FR" dirty="0" smtClean="0"/>
              <a:t>…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>
                <a:solidFill>
                  <a:schemeClr val="tx1"/>
                </a:solidFill>
              </a:rPr>
              <a:t>the_button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 err="1">
                <a:solidFill>
                  <a:schemeClr val="tx1"/>
                </a:solidFill>
              </a:rPr>
              <a:t>QPushButton</a:t>
            </a:r>
            <a:r>
              <a:rPr lang="en-US" dirty="0">
                <a:solidFill>
                  <a:schemeClr val="tx1"/>
                </a:solidFill>
              </a:rPr>
              <a:t>('Close</a:t>
            </a:r>
            <a:r>
              <a:rPr lang="en-US" dirty="0" smtClean="0">
                <a:solidFill>
                  <a:schemeClr val="tx1"/>
                </a:solidFill>
              </a:rPr>
              <a:t>')</a:t>
            </a:r>
          </a:p>
          <a:p>
            <a:r>
              <a:rPr lang="en-US" dirty="0" err="1" smtClean="0">
                <a:solidFill>
                  <a:schemeClr val="tx1"/>
                </a:solidFill>
              </a:rPr>
              <a:t>the_button.clicked.connect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self.close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</a:p>
          <a:p>
            <a:r>
              <a:rPr lang="fr-FR" dirty="0" smtClean="0"/>
              <a:t># Pour appeler une méthode hello()</a:t>
            </a:r>
          </a:p>
          <a:p>
            <a:r>
              <a:rPr lang="en-US" dirty="0" err="1" smtClean="0">
                <a:solidFill>
                  <a:schemeClr val="tx1"/>
                </a:solidFill>
              </a:rPr>
              <a:t>the_button.clicked.connect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self.hello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  <a:endParaRPr lang="en-US" dirty="0">
              <a:solidFill>
                <a:schemeClr val="tx1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505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Signaux et slots en Python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323528" y="1196753"/>
            <a:ext cx="8229600" cy="47681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 smtClean="0"/>
              <a:t>Remarques </a:t>
            </a:r>
          </a:p>
          <a:p>
            <a:r>
              <a:rPr lang="fr-FR" sz="2400" dirty="0" smtClean="0"/>
              <a:t>Un signal peut se connecter à plusieurs slots. </a:t>
            </a:r>
          </a:p>
          <a:p>
            <a:pPr marL="0" indent="182563">
              <a:buNone/>
            </a:pPr>
            <a:r>
              <a:rPr lang="fr-FR" sz="2400" dirty="0" smtClean="0"/>
              <a:t> </a:t>
            </a:r>
            <a:r>
              <a:rPr lang="fr-FR" sz="2400" dirty="0" smtClean="0">
                <a:sym typeface="Wingdings" panose="05000000000000000000" pitchFamily="2" charset="2"/>
              </a:rPr>
              <a:t> Les slots connectés sont activés dans un ordre arbitraire</a:t>
            </a:r>
            <a:r>
              <a:rPr lang="fr-FR" sz="2400" dirty="0" smtClean="0"/>
              <a:t>. </a:t>
            </a:r>
          </a:p>
          <a:p>
            <a:r>
              <a:rPr lang="fr-FR" sz="2400" dirty="0" smtClean="0"/>
              <a:t>Un signal/slot peut avoir des arguments.</a:t>
            </a:r>
          </a:p>
          <a:p>
            <a:pPr lvl="1"/>
            <a:r>
              <a:rPr lang="fr-FR" sz="2000" dirty="0" smtClean="0"/>
              <a:t>Pour connecter un signal à un slot, le slot (méthode) doit avoir au moins les même arguments (nombre)</a:t>
            </a:r>
          </a:p>
          <a:p>
            <a:pPr lvl="1"/>
            <a:r>
              <a:rPr lang="fr-FR" sz="2000" dirty="0" smtClean="0"/>
              <a:t>Si le signal connecté à un slot a plus de paramètres que ce slot, les paramètres , les paramètres supplémentaires seront ignorés </a:t>
            </a:r>
          </a:p>
          <a:p>
            <a:r>
              <a:rPr lang="fr-FR" sz="2400" dirty="0" smtClean="0"/>
              <a:t>Les </a:t>
            </a:r>
            <a:r>
              <a:rPr lang="fr-FR" sz="2400" dirty="0"/>
              <a:t>arguments </a:t>
            </a:r>
            <a:r>
              <a:rPr lang="fr-FR" sz="2400" dirty="0" smtClean="0"/>
              <a:t>entre </a:t>
            </a:r>
            <a:r>
              <a:rPr lang="fr-FR" sz="2400" dirty="0"/>
              <a:t>signal et slot </a:t>
            </a:r>
            <a:r>
              <a:rPr lang="fr-FR" sz="2400" dirty="0" smtClean="0"/>
              <a:t>connectés doivent </a:t>
            </a:r>
            <a:r>
              <a:rPr lang="fr-FR" sz="2400" dirty="0"/>
              <a:t>avoir les même types. </a:t>
            </a:r>
            <a:endParaRPr lang="fr-FR" sz="2000" dirty="0" smtClean="0"/>
          </a:p>
          <a:p>
            <a:r>
              <a:rPr lang="fr-FR" sz="2400" dirty="0"/>
              <a:t>Un signal peut se connecter à un autre signal. </a:t>
            </a:r>
          </a:p>
          <a:p>
            <a:pPr marL="0" indent="0">
              <a:buNone/>
            </a:pPr>
            <a:r>
              <a:rPr lang="fr-FR" sz="2400" dirty="0" smtClean="0"/>
              <a:t>Exemple : </a:t>
            </a:r>
          </a:p>
          <a:p>
            <a:pPr marL="0" indent="0">
              <a:buNone/>
            </a:pPr>
            <a:r>
              <a:rPr lang="fr-FR" sz="2000" dirty="0" smtClean="0"/>
              <a:t>On ne peut connecter directement le signal </a:t>
            </a:r>
            <a:r>
              <a:rPr lang="fr-FR" sz="2000" dirty="0" err="1" smtClean="0"/>
              <a:t>valueChanged</a:t>
            </a:r>
            <a:r>
              <a:rPr lang="fr-FR" sz="2000" dirty="0" smtClean="0"/>
              <a:t>(</a:t>
            </a:r>
            <a:r>
              <a:rPr lang="fr-FR" sz="2000" dirty="0" err="1" smtClean="0"/>
              <a:t>int</a:t>
            </a:r>
            <a:r>
              <a:rPr lang="fr-FR" sz="2000" dirty="0" smtClean="0"/>
              <a:t>) du widget </a:t>
            </a:r>
            <a:r>
              <a:rPr lang="fr-FR" sz="2000" dirty="0" err="1" smtClean="0"/>
              <a:t>Qdial</a:t>
            </a:r>
            <a:r>
              <a:rPr lang="fr-FR" sz="2000" dirty="0" smtClean="0"/>
              <a:t> au slot </a:t>
            </a:r>
            <a:r>
              <a:rPr lang="fr-FR" sz="2000" dirty="0" err="1" smtClean="0"/>
              <a:t>setText</a:t>
            </a:r>
            <a:r>
              <a:rPr lang="fr-FR" sz="2000" dirty="0" smtClean="0"/>
              <a:t>(</a:t>
            </a:r>
            <a:r>
              <a:rPr lang="fr-FR" sz="2000" dirty="0" err="1" smtClean="0"/>
              <a:t>QString</a:t>
            </a:r>
            <a:r>
              <a:rPr lang="fr-FR" sz="2000" dirty="0" smtClean="0"/>
              <a:t>) du widget </a:t>
            </a:r>
            <a:r>
              <a:rPr lang="fr-FR" sz="2000" dirty="0" err="1" smtClean="0"/>
              <a:t>QLineEdit</a:t>
            </a:r>
            <a:r>
              <a:rPr lang="fr-FR" sz="2000" dirty="0" smtClean="0"/>
              <a:t>. </a:t>
            </a:r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 smtClean="0"/>
          </a:p>
        </p:txBody>
      </p:sp>
    </p:spTree>
    <p:extLst>
      <p:ext uri="{BB962C8B-B14F-4D97-AF65-F5344CB8AC3E}">
        <p14:creationId xmlns:p14="http://schemas.microsoft.com/office/powerpoint/2010/main" val="377421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Signaux et slots en Python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323528" y="1196753"/>
            <a:ext cx="8229600" cy="47681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smtClean="0"/>
              <a:t>Exemple :</a:t>
            </a:r>
            <a:endParaRPr lang="fr-FR" sz="2400" dirty="0" smtClean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 smtClean="0"/>
          </a:p>
        </p:txBody>
      </p:sp>
      <p:sp>
        <p:nvSpPr>
          <p:cNvPr id="13" name="Espace réservé du contenu 2"/>
          <p:cNvSpPr txBox="1">
            <a:spLocks/>
          </p:cNvSpPr>
          <p:nvPr/>
        </p:nvSpPr>
        <p:spPr>
          <a:xfrm>
            <a:off x="536164" y="1916832"/>
            <a:ext cx="6003616" cy="41044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from </a:t>
            </a:r>
            <a:r>
              <a:rPr lang="en-US" dirty="0">
                <a:solidFill>
                  <a:schemeClr val="tx1"/>
                </a:solidFill>
              </a:rPr>
              <a:t>PyQt4 import </a:t>
            </a:r>
            <a:r>
              <a:rPr lang="en-US" dirty="0" err="1">
                <a:solidFill>
                  <a:schemeClr val="tx1"/>
                </a:solidFill>
              </a:rPr>
              <a:t>QtGui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QtCore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fr-FR" dirty="0">
                <a:solidFill>
                  <a:schemeClr val="tx1"/>
                </a:solidFill>
              </a:rPr>
              <a:t>import </a:t>
            </a:r>
            <a:r>
              <a:rPr lang="fr-FR" dirty="0" err="1">
                <a:solidFill>
                  <a:schemeClr val="tx1"/>
                </a:solidFill>
              </a:rPr>
              <a:t>sys</a:t>
            </a: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r>
              <a:rPr lang="fr-FR" dirty="0">
                <a:solidFill>
                  <a:schemeClr val="tx1"/>
                </a:solidFill>
              </a:rPr>
              <a:t>class </a:t>
            </a:r>
            <a:r>
              <a:rPr lang="fr-FR" dirty="0" smtClean="0">
                <a:solidFill>
                  <a:schemeClr val="tx1"/>
                </a:solidFill>
              </a:rPr>
              <a:t>Composant(</a:t>
            </a:r>
            <a:r>
              <a:rPr lang="fr-FR" dirty="0" err="1" smtClean="0">
                <a:solidFill>
                  <a:schemeClr val="tx1"/>
                </a:solidFill>
              </a:rPr>
              <a:t>QtGui.QWidget</a:t>
            </a:r>
            <a:r>
              <a:rPr lang="fr-FR" dirty="0">
                <a:solidFill>
                  <a:schemeClr val="tx1"/>
                </a:solidFill>
              </a:rPr>
              <a:t>): </a:t>
            </a:r>
          </a:p>
          <a:p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def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__</a:t>
            </a:r>
            <a:r>
              <a:rPr lang="fr-FR" dirty="0" err="1">
                <a:solidFill>
                  <a:schemeClr val="tx1"/>
                </a:solidFill>
              </a:rPr>
              <a:t>init</a:t>
            </a:r>
            <a:r>
              <a:rPr lang="fr-FR" dirty="0">
                <a:solidFill>
                  <a:schemeClr val="tx1"/>
                </a:solidFill>
              </a:rPr>
              <a:t>__(</a:t>
            </a:r>
            <a:r>
              <a:rPr lang="fr-FR" dirty="0" err="1">
                <a:solidFill>
                  <a:schemeClr val="tx1"/>
                </a:solidFill>
              </a:rPr>
              <a:t>self,parent</a:t>
            </a:r>
            <a:r>
              <a:rPr lang="fr-FR" dirty="0">
                <a:solidFill>
                  <a:schemeClr val="tx1"/>
                </a:solidFill>
              </a:rPr>
              <a:t>=None): </a:t>
            </a:r>
          </a:p>
          <a:p>
            <a:pPr marL="857250" lvl="2" indent="0">
              <a:buNone/>
            </a:pP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QWidget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.__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init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__(self, parent)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self.setWindowTitle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('Simple‘)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self.setGeometry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(300,300,250,150)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self.Line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QtGui.QLineEdit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 ',self)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self.ComboBox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QtGui.QComboBox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(self)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self.ComboBox.addItem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('Item1')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self.ComboBox.addItem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('Item2')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self.grid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QtGui.QGridLayout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self.grid.addWidget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(self.Line,0,0)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self.grid.addWidget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(self.ComboBox,0,1)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self.setLayout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self.grid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self.connect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fr-FR" sz="11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self.ComboBox,QtCore.SIGNAL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</a:t>
            </a:r>
            <a:r>
              <a:rPr lang="fr-FR" sz="11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currentIndexChanged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fr-FR" sz="11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QString</a:t>
            </a:r>
            <a:r>
              <a:rPr lang="fr-FR" sz="1100" dirty="0" smtClean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)'),</a:t>
            </a:r>
            <a:r>
              <a:rPr lang="fr-FR" sz="1100" dirty="0" err="1" smtClean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self.Line,QtCore.SLOT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</a:t>
            </a:r>
            <a:r>
              <a:rPr lang="fr-FR" sz="11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setText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fr-FR" sz="11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QString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)'))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2348880"/>
            <a:ext cx="27051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3501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Signaux et slots en Python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323528" y="1196753"/>
            <a:ext cx="8229600" cy="47681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smtClean="0"/>
              <a:t>Exemple :</a:t>
            </a:r>
            <a:endParaRPr lang="fr-FR" sz="2400" dirty="0" smtClean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 smtClean="0"/>
          </a:p>
        </p:txBody>
      </p:sp>
      <p:sp>
        <p:nvSpPr>
          <p:cNvPr id="13" name="Espace réservé du contenu 2"/>
          <p:cNvSpPr txBox="1">
            <a:spLocks/>
          </p:cNvSpPr>
          <p:nvPr/>
        </p:nvSpPr>
        <p:spPr>
          <a:xfrm>
            <a:off x="536164" y="1916832"/>
            <a:ext cx="6003616" cy="41044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from </a:t>
            </a:r>
            <a:r>
              <a:rPr lang="en-US" dirty="0">
                <a:solidFill>
                  <a:schemeClr val="tx1"/>
                </a:solidFill>
              </a:rPr>
              <a:t>PyQt4 import </a:t>
            </a:r>
            <a:r>
              <a:rPr lang="en-US" dirty="0" err="1">
                <a:solidFill>
                  <a:schemeClr val="tx1"/>
                </a:solidFill>
              </a:rPr>
              <a:t>QtGui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QtCore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fr-FR" dirty="0">
                <a:solidFill>
                  <a:schemeClr val="tx1"/>
                </a:solidFill>
              </a:rPr>
              <a:t>import </a:t>
            </a:r>
            <a:r>
              <a:rPr lang="fr-FR" dirty="0" err="1">
                <a:solidFill>
                  <a:schemeClr val="tx1"/>
                </a:solidFill>
              </a:rPr>
              <a:t>sys</a:t>
            </a: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r>
              <a:rPr lang="fr-FR" dirty="0">
                <a:solidFill>
                  <a:schemeClr val="tx1"/>
                </a:solidFill>
              </a:rPr>
              <a:t>class </a:t>
            </a:r>
            <a:r>
              <a:rPr lang="fr-FR" dirty="0" smtClean="0">
                <a:solidFill>
                  <a:schemeClr val="tx1"/>
                </a:solidFill>
              </a:rPr>
              <a:t>Composant(</a:t>
            </a:r>
            <a:r>
              <a:rPr lang="fr-FR" dirty="0" err="1" smtClean="0">
                <a:solidFill>
                  <a:schemeClr val="tx1"/>
                </a:solidFill>
              </a:rPr>
              <a:t>QtGui.QWidget</a:t>
            </a:r>
            <a:r>
              <a:rPr lang="fr-FR" dirty="0">
                <a:solidFill>
                  <a:schemeClr val="tx1"/>
                </a:solidFill>
              </a:rPr>
              <a:t>): </a:t>
            </a:r>
          </a:p>
          <a:p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def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__</a:t>
            </a:r>
            <a:r>
              <a:rPr lang="fr-FR" dirty="0" err="1">
                <a:solidFill>
                  <a:schemeClr val="tx1"/>
                </a:solidFill>
              </a:rPr>
              <a:t>init</a:t>
            </a:r>
            <a:r>
              <a:rPr lang="fr-FR" dirty="0">
                <a:solidFill>
                  <a:schemeClr val="tx1"/>
                </a:solidFill>
              </a:rPr>
              <a:t>__(</a:t>
            </a:r>
            <a:r>
              <a:rPr lang="fr-FR" dirty="0" err="1">
                <a:solidFill>
                  <a:schemeClr val="tx1"/>
                </a:solidFill>
              </a:rPr>
              <a:t>self,parent</a:t>
            </a:r>
            <a:r>
              <a:rPr lang="fr-FR" dirty="0">
                <a:solidFill>
                  <a:schemeClr val="tx1"/>
                </a:solidFill>
              </a:rPr>
              <a:t>=None): </a:t>
            </a:r>
          </a:p>
          <a:p>
            <a:pPr marL="857250" lvl="2" indent="0">
              <a:buNone/>
            </a:pP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QWidget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.__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init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__(self, parent)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self.setWindowTitle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('Simple‘)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self.setGeometry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(300,300,250,150)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self.Line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QtGui.QLineEdit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 ',self)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self.ComboBox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QtGui.QComboBox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(self)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self.ComboBox.addItem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('Item1')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self.ComboBox.addItem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('Item2')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self.grid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QtGui.QGridLayout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self.grid.addWidget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(self.Line,0,0)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self.grid.addWidget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(self.ComboBox,0,1)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self.setLayout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self.grid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self.connect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fr-FR" sz="11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self.ComboBox,QtCore.SIGNAL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</a:t>
            </a:r>
            <a:r>
              <a:rPr lang="fr-FR" sz="11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currentIndexChanged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fr-FR" sz="11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QString</a:t>
            </a:r>
            <a:r>
              <a:rPr lang="fr-FR" sz="1100" dirty="0" smtClean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)'),</a:t>
            </a:r>
            <a:r>
              <a:rPr lang="fr-FR" sz="1100" dirty="0" err="1" smtClean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self.Line,QtCore.SLOT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</a:t>
            </a:r>
            <a:r>
              <a:rPr lang="fr-FR" sz="11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setText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fr-FR" sz="11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QString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)'))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2348880"/>
            <a:ext cx="27051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7688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Signaux et slots en Python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323528" y="1196753"/>
            <a:ext cx="8229600" cy="47681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smtClean="0"/>
              <a:t>Exemple :</a:t>
            </a:r>
            <a:endParaRPr lang="fr-FR" sz="2400" dirty="0" smtClean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 smtClean="0"/>
          </a:p>
        </p:txBody>
      </p:sp>
      <p:sp>
        <p:nvSpPr>
          <p:cNvPr id="13" name="Espace réservé du contenu 2"/>
          <p:cNvSpPr txBox="1">
            <a:spLocks/>
          </p:cNvSpPr>
          <p:nvPr/>
        </p:nvSpPr>
        <p:spPr>
          <a:xfrm>
            <a:off x="536164" y="1916832"/>
            <a:ext cx="6003616" cy="41044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from </a:t>
            </a:r>
            <a:r>
              <a:rPr lang="en-US" dirty="0">
                <a:solidFill>
                  <a:schemeClr val="tx1"/>
                </a:solidFill>
              </a:rPr>
              <a:t>PyQt4 import </a:t>
            </a:r>
            <a:r>
              <a:rPr lang="en-US" dirty="0" err="1">
                <a:solidFill>
                  <a:schemeClr val="tx1"/>
                </a:solidFill>
              </a:rPr>
              <a:t>QtGui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QtCore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fr-FR" dirty="0">
                <a:solidFill>
                  <a:schemeClr val="tx1"/>
                </a:solidFill>
              </a:rPr>
              <a:t>import </a:t>
            </a:r>
            <a:r>
              <a:rPr lang="fr-FR" dirty="0" err="1">
                <a:solidFill>
                  <a:schemeClr val="tx1"/>
                </a:solidFill>
              </a:rPr>
              <a:t>sys</a:t>
            </a: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r>
              <a:rPr lang="fr-FR" dirty="0">
                <a:solidFill>
                  <a:schemeClr val="tx1"/>
                </a:solidFill>
              </a:rPr>
              <a:t>class </a:t>
            </a:r>
            <a:r>
              <a:rPr lang="fr-FR" dirty="0" smtClean="0">
                <a:solidFill>
                  <a:schemeClr val="tx1"/>
                </a:solidFill>
              </a:rPr>
              <a:t>Composant(</a:t>
            </a:r>
            <a:r>
              <a:rPr lang="fr-FR" dirty="0" err="1" smtClean="0">
                <a:solidFill>
                  <a:schemeClr val="tx1"/>
                </a:solidFill>
              </a:rPr>
              <a:t>QtGui.QWidget</a:t>
            </a:r>
            <a:r>
              <a:rPr lang="fr-FR" dirty="0">
                <a:solidFill>
                  <a:schemeClr val="tx1"/>
                </a:solidFill>
              </a:rPr>
              <a:t>): </a:t>
            </a:r>
          </a:p>
          <a:p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def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__</a:t>
            </a:r>
            <a:r>
              <a:rPr lang="fr-FR" dirty="0" err="1">
                <a:solidFill>
                  <a:schemeClr val="tx1"/>
                </a:solidFill>
              </a:rPr>
              <a:t>init</a:t>
            </a:r>
            <a:r>
              <a:rPr lang="fr-FR" dirty="0">
                <a:solidFill>
                  <a:schemeClr val="tx1"/>
                </a:solidFill>
              </a:rPr>
              <a:t>__(</a:t>
            </a:r>
            <a:r>
              <a:rPr lang="fr-FR" dirty="0" err="1">
                <a:solidFill>
                  <a:schemeClr val="tx1"/>
                </a:solidFill>
              </a:rPr>
              <a:t>self,parent</a:t>
            </a:r>
            <a:r>
              <a:rPr lang="fr-FR" dirty="0">
                <a:solidFill>
                  <a:schemeClr val="tx1"/>
                </a:solidFill>
              </a:rPr>
              <a:t>=None): </a:t>
            </a:r>
          </a:p>
          <a:p>
            <a:pPr marL="857250" lvl="2" indent="0">
              <a:buNone/>
            </a:pP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QWidget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.__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init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__(self, parent)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self.setWindowTitle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('Simple‘)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self.setGeometry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(300,300,250,150)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self.Line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QtGui.QLineEdit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 ',self)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self.ComboBox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QtGui.QComboBox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(self)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self.ComboBox.addItem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('Item1')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self.ComboBox.addItem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('Item2')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self.grid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QtGui.QGridLayout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self.grid.addWidget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(self.Line,0,0)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self.grid.addWidget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(self.ComboBox,0,1)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self.setLayout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self.grid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self.connect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fr-FR" sz="11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self.ComboBox,QtCore.SIGNAL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</a:t>
            </a:r>
            <a:r>
              <a:rPr lang="fr-FR" sz="11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currentIndexChanged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fr-FR" sz="11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QString</a:t>
            </a:r>
            <a:r>
              <a:rPr lang="fr-FR" sz="1100" dirty="0" smtClean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)'),</a:t>
            </a:r>
            <a:r>
              <a:rPr lang="fr-FR" sz="1100" dirty="0" err="1" smtClean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self.Line,QtCore.SLOT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</a:t>
            </a:r>
            <a:r>
              <a:rPr lang="fr-FR" sz="11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setText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fr-FR" sz="11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QString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)'))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2348880"/>
            <a:ext cx="27051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7688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Définition</a:t>
            </a:r>
            <a:r>
              <a:rPr lang="en-US" dirty="0" smtClean="0"/>
              <a:t> signal/slot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 smtClean="0"/>
              <a:t>Signal</a:t>
            </a:r>
          </a:p>
          <a:p>
            <a:r>
              <a:rPr lang="fr-FR" sz="2400" dirty="0" err="1" smtClean="0"/>
              <a:t>Utilisantion</a:t>
            </a:r>
            <a:r>
              <a:rPr lang="fr-FR" sz="2400" dirty="0" smtClean="0"/>
              <a:t> de la méthode </a:t>
            </a:r>
            <a:r>
              <a:rPr lang="fr-FR" sz="2400" dirty="0" err="1" smtClean="0">
                <a:solidFill>
                  <a:srgbClr val="FFFF00"/>
                </a:solidFill>
              </a:rPr>
              <a:t>pyqtsignal</a:t>
            </a:r>
            <a:r>
              <a:rPr lang="fr-FR" sz="2400" dirty="0" smtClean="0">
                <a:solidFill>
                  <a:srgbClr val="FFFF00"/>
                </a:solidFill>
              </a:rPr>
              <a:t>() </a:t>
            </a:r>
            <a:r>
              <a:rPr lang="fr-FR" sz="2400" dirty="0" smtClean="0"/>
              <a:t>avec la liste des types de paramètres</a:t>
            </a:r>
          </a:p>
          <a:p>
            <a:r>
              <a:rPr lang="fr-FR" sz="2400" dirty="0" smtClean="0"/>
              <a:t>Emission manuelle d’un signal est réalisée par la </a:t>
            </a:r>
            <a:r>
              <a:rPr lang="fr-FR" sz="2400" dirty="0" err="1" smtClean="0"/>
              <a:t>methode</a:t>
            </a:r>
            <a:r>
              <a:rPr lang="fr-FR" sz="2400" dirty="0" smtClean="0"/>
              <a:t> : </a:t>
            </a:r>
            <a:r>
              <a:rPr lang="fr-FR" sz="2400" dirty="0" err="1" smtClean="0">
                <a:solidFill>
                  <a:srgbClr val="FFFF00"/>
                </a:solidFill>
              </a:rPr>
              <a:t>emit</a:t>
            </a:r>
            <a:r>
              <a:rPr lang="fr-FR" sz="2400" dirty="0" smtClean="0">
                <a:solidFill>
                  <a:srgbClr val="FFFF00"/>
                </a:solidFill>
              </a:rPr>
              <a:t>()</a:t>
            </a:r>
          </a:p>
          <a:p>
            <a:pPr marL="0" indent="0">
              <a:buNone/>
            </a:pPr>
            <a:r>
              <a:rPr lang="fr-FR" sz="2400" dirty="0" smtClean="0"/>
              <a:t>Exemple :</a:t>
            </a:r>
          </a:p>
          <a:p>
            <a:endParaRPr lang="fr-FR" dirty="0" smtClean="0"/>
          </a:p>
          <a:p>
            <a:endParaRPr lang="fr-FR" sz="2400" dirty="0" smtClean="0"/>
          </a:p>
          <a:p>
            <a:r>
              <a:rPr lang="fr-FR" sz="2400" dirty="0" smtClean="0"/>
              <a:t>Le </a:t>
            </a:r>
            <a:r>
              <a:rPr lang="fr-FR" sz="2400" dirty="0"/>
              <a:t>signal crée se connecte à un slot avec </a:t>
            </a:r>
            <a:r>
              <a:rPr lang="fr-FR" sz="2400" dirty="0" smtClean="0"/>
              <a:t>la même </a:t>
            </a:r>
            <a:r>
              <a:rPr lang="fr-FR" sz="2400" dirty="0"/>
              <a:t>liste de </a:t>
            </a:r>
            <a:r>
              <a:rPr lang="fr-FR" sz="2400" dirty="0" smtClean="0"/>
              <a:t>types de paramètres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/>
              <a:t>IHM avec </a:t>
            </a:r>
            <a:r>
              <a:rPr lang="fr-FR" dirty="0" err="1"/>
              <a:t>PyQt</a:t>
            </a:r>
            <a:endParaRPr lang="fr-FR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907704" y="3501008"/>
            <a:ext cx="6003616" cy="11521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from PyQt4 import </a:t>
            </a:r>
            <a:r>
              <a:rPr lang="en-US" dirty="0" err="1" smtClean="0">
                <a:solidFill>
                  <a:schemeClr val="tx1"/>
                </a:solidFill>
              </a:rPr>
              <a:t>QtGui</a:t>
            </a:r>
            <a:r>
              <a:rPr lang="en-US" dirty="0" smtClean="0">
                <a:solidFill>
                  <a:schemeClr val="tx1"/>
                </a:solidFill>
              </a:rPr>
              <a:t>, </a:t>
            </a:r>
            <a:r>
              <a:rPr lang="en-US" dirty="0" err="1" smtClean="0">
                <a:solidFill>
                  <a:schemeClr val="tx1"/>
                </a:solidFill>
              </a:rPr>
              <a:t>QtCore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fr-FR" dirty="0" smtClean="0">
              <a:solidFill>
                <a:schemeClr val="tx1"/>
              </a:solidFill>
            </a:endParaRPr>
          </a:p>
          <a:p>
            <a:r>
              <a:rPr lang="fr-FR" dirty="0" err="1" smtClean="0">
                <a:solidFill>
                  <a:schemeClr val="tx1"/>
                </a:solidFill>
              </a:rPr>
              <a:t>mysignal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= </a:t>
            </a:r>
            <a:r>
              <a:rPr lang="fr-FR" dirty="0" err="1" smtClean="0">
                <a:solidFill>
                  <a:schemeClr val="tx1"/>
                </a:solidFill>
              </a:rPr>
              <a:t>QtCore.pyqtSignal</a:t>
            </a:r>
            <a:r>
              <a:rPr lang="fr-FR" dirty="0" smtClean="0">
                <a:solidFill>
                  <a:schemeClr val="tx1"/>
                </a:solidFill>
              </a:rPr>
              <a:t>(</a:t>
            </a:r>
            <a:r>
              <a:rPr lang="fr-FR" dirty="0" err="1" smtClean="0">
                <a:solidFill>
                  <a:schemeClr val="tx1"/>
                </a:solidFill>
              </a:rPr>
              <a:t>list</a:t>
            </a:r>
            <a:r>
              <a:rPr lang="fr-FR" dirty="0" smtClean="0">
                <a:solidFill>
                  <a:schemeClr val="tx1"/>
                </a:solidFill>
              </a:rPr>
              <a:t>, </a:t>
            </a:r>
            <a:r>
              <a:rPr lang="fr-FR" dirty="0" err="1" smtClean="0">
                <a:solidFill>
                  <a:schemeClr val="tx1"/>
                </a:solidFill>
              </a:rPr>
              <a:t>int</a:t>
            </a:r>
            <a:r>
              <a:rPr lang="fr-FR" dirty="0" smtClean="0">
                <a:solidFill>
                  <a:schemeClr val="tx1"/>
                </a:solidFill>
              </a:rPr>
              <a:t>)</a:t>
            </a:r>
          </a:p>
          <a:p>
            <a:r>
              <a:rPr lang="fr-FR" dirty="0" err="1" smtClean="0">
                <a:solidFill>
                  <a:schemeClr val="tx1"/>
                </a:solidFill>
              </a:rPr>
              <a:t>mysignal.emit</a:t>
            </a:r>
            <a:r>
              <a:rPr lang="fr-FR" dirty="0" smtClean="0">
                <a:solidFill>
                  <a:schemeClr val="tx1"/>
                </a:solidFill>
              </a:rPr>
              <a:t>([1,2,3,6],3)</a:t>
            </a:r>
          </a:p>
          <a:p>
            <a:r>
              <a:rPr lang="fr-FR" dirty="0" smtClean="0">
                <a:solidFill>
                  <a:srgbClr val="C00000"/>
                </a:solidFill>
              </a:rPr>
              <a:t># </a:t>
            </a:r>
            <a:r>
              <a:rPr lang="fr-FR" dirty="0" err="1" smtClean="0">
                <a:solidFill>
                  <a:srgbClr val="C00000"/>
                </a:solidFill>
              </a:rPr>
              <a:t>error</a:t>
            </a:r>
            <a:r>
              <a:rPr lang="fr-FR" dirty="0" smtClean="0">
                <a:solidFill>
                  <a:srgbClr val="C00000"/>
                </a:solidFill>
              </a:rPr>
              <a:t>  :  </a:t>
            </a:r>
            <a:r>
              <a:rPr lang="fr-FR" dirty="0" err="1" smtClean="0">
                <a:solidFill>
                  <a:srgbClr val="C00000"/>
                </a:solidFill>
              </a:rPr>
              <a:t>mysignal.emit</a:t>
            </a:r>
            <a:r>
              <a:rPr lang="fr-FR" dirty="0">
                <a:solidFill>
                  <a:srgbClr val="C00000"/>
                </a:solidFill>
              </a:rPr>
              <a:t>([1,2,3,6</a:t>
            </a:r>
            <a:r>
              <a:rPr lang="fr-FR" dirty="0" smtClean="0">
                <a:solidFill>
                  <a:srgbClr val="C00000"/>
                </a:solidFill>
              </a:rPr>
              <a:t>], ’3’)</a:t>
            </a:r>
            <a:endParaRPr lang="fr-FR" dirty="0">
              <a:solidFill>
                <a:srgbClr val="C00000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" name="Espace réservé du contenu 2"/>
          <p:cNvSpPr txBox="1">
            <a:spLocks/>
          </p:cNvSpPr>
          <p:nvPr/>
        </p:nvSpPr>
        <p:spPr>
          <a:xfrm>
            <a:off x="2014756" y="5157192"/>
            <a:ext cx="6003616" cy="4320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pPr algn="ctr"/>
            <a:r>
              <a:rPr lang="fr-FR" dirty="0" err="1">
                <a:solidFill>
                  <a:srgbClr val="C00000"/>
                </a:solidFill>
              </a:rPr>
              <a:t>c</a:t>
            </a:r>
            <a:r>
              <a:rPr lang="fr-FR" dirty="0" err="1" smtClean="0">
                <a:solidFill>
                  <a:srgbClr val="C00000"/>
                </a:solidFill>
              </a:rPr>
              <a:t>onnect</a:t>
            </a:r>
            <a:r>
              <a:rPr lang="fr-FR" dirty="0" smtClean="0">
                <a:solidFill>
                  <a:srgbClr val="C00000"/>
                </a:solidFill>
              </a:rPr>
              <a:t>(</a:t>
            </a:r>
            <a:r>
              <a:rPr lang="fr-FR" dirty="0" err="1" smtClean="0">
                <a:solidFill>
                  <a:srgbClr val="C00000"/>
                </a:solidFill>
              </a:rPr>
              <a:t>emetteur</a:t>
            </a:r>
            <a:r>
              <a:rPr lang="fr-FR" dirty="0" smtClean="0">
                <a:solidFill>
                  <a:srgbClr val="C00000"/>
                </a:solidFill>
              </a:rPr>
              <a:t>, SIGNAL(‘</a:t>
            </a:r>
            <a:r>
              <a:rPr lang="fr-FR" dirty="0">
                <a:solidFill>
                  <a:srgbClr val="C00000"/>
                </a:solidFill>
              </a:rPr>
              <a:t>‘</a:t>
            </a:r>
            <a:r>
              <a:rPr lang="fr-FR" dirty="0" err="1" smtClean="0">
                <a:solidFill>
                  <a:srgbClr val="C00000"/>
                </a:solidFill>
              </a:rPr>
              <a:t>mysignal</a:t>
            </a:r>
            <a:r>
              <a:rPr lang="fr-FR" dirty="0" smtClean="0">
                <a:solidFill>
                  <a:srgbClr val="C00000"/>
                </a:solidFill>
              </a:rPr>
              <a:t>(</a:t>
            </a:r>
            <a:r>
              <a:rPr lang="fr-FR" dirty="0" err="1" smtClean="0">
                <a:solidFill>
                  <a:srgbClr val="C00000"/>
                </a:solidFill>
              </a:rPr>
              <a:t>list,int</a:t>
            </a:r>
            <a:r>
              <a:rPr lang="fr-FR" dirty="0" smtClean="0">
                <a:solidFill>
                  <a:srgbClr val="C00000"/>
                </a:solidFill>
              </a:rPr>
              <a:t>)″), </a:t>
            </a:r>
            <a:r>
              <a:rPr lang="fr-FR" dirty="0" err="1" smtClean="0">
                <a:solidFill>
                  <a:srgbClr val="C00000"/>
                </a:solidFill>
              </a:rPr>
              <a:t>methode</a:t>
            </a:r>
            <a:r>
              <a:rPr lang="fr-FR" dirty="0" smtClean="0">
                <a:solidFill>
                  <a:srgbClr val="C00000"/>
                </a:solidFill>
              </a:rPr>
              <a:t>)</a:t>
            </a:r>
            <a:endParaRPr lang="fr-FR" dirty="0">
              <a:solidFill>
                <a:srgbClr val="C00000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64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Exemple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IHM avec </a:t>
            </a:r>
            <a:r>
              <a:rPr lang="en-US" dirty="0" err="1" smtClean="0"/>
              <a:t>PyQt</a:t>
            </a:r>
            <a:endParaRPr lang="en-US" dirty="0"/>
          </a:p>
        </p:txBody>
      </p:sp>
      <p:grpSp>
        <p:nvGrpSpPr>
          <p:cNvPr id="9" name="Groupe 8"/>
          <p:cNvGrpSpPr/>
          <p:nvPr/>
        </p:nvGrpSpPr>
        <p:grpSpPr>
          <a:xfrm>
            <a:off x="5940152" y="695843"/>
            <a:ext cx="3019425" cy="3864625"/>
            <a:chOff x="6053137" y="836712"/>
            <a:chExt cx="3019425" cy="386462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1713" y="836712"/>
              <a:ext cx="2962275" cy="847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3137" y="2132856"/>
              <a:ext cx="3019425" cy="990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7" name="Connecteur droit avec flèche 6"/>
            <p:cNvCxnSpPr>
              <a:stCxn id="1026" idx="2"/>
              <a:endCxn id="1027" idx="0"/>
            </p:cNvCxnSpPr>
            <p:nvPr/>
          </p:nvCxnSpPr>
          <p:spPr>
            <a:xfrm flipH="1">
              <a:off x="7562850" y="1684437"/>
              <a:ext cx="1" cy="448419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ZoneTexte 7"/>
            <p:cNvSpPr txBox="1"/>
            <p:nvPr/>
          </p:nvSpPr>
          <p:spPr>
            <a:xfrm>
              <a:off x="6156176" y="3501008"/>
              <a:ext cx="288781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>
                  <a:solidFill>
                    <a:schemeClr val="bg1"/>
                  </a:solidFill>
                </a:rPr>
                <a:t>Préciser la valeur val de </a:t>
              </a:r>
              <a:r>
                <a:rPr lang="fr-FR" dirty="0" err="1" smtClean="0">
                  <a:solidFill>
                    <a:schemeClr val="bg1"/>
                  </a:solidFill>
                </a:rPr>
                <a:t>SpinBox</a:t>
              </a:r>
              <a:r>
                <a:rPr lang="fr-FR" dirty="0" smtClean="0">
                  <a:solidFill>
                    <a:schemeClr val="bg1"/>
                  </a:solidFill>
                </a:rPr>
                <a:t>, cliquer sur le ok, la liste (range(val)) est envoyée et affichée sur </a:t>
              </a:r>
              <a:r>
                <a:rPr lang="fr-FR" dirty="0" err="1" smtClean="0">
                  <a:solidFill>
                    <a:schemeClr val="bg1"/>
                  </a:solidFill>
                </a:rPr>
                <a:t>QlineEdit</a:t>
              </a:r>
              <a:endParaRPr lang="fr-FR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Espace réservé du contenu 2"/>
          <p:cNvSpPr txBox="1">
            <a:spLocks/>
          </p:cNvSpPr>
          <p:nvPr/>
        </p:nvSpPr>
        <p:spPr>
          <a:xfrm>
            <a:off x="0" y="1163895"/>
            <a:ext cx="5256584" cy="3705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</a:rPr>
              <a:t>import sys</a:t>
            </a:r>
          </a:p>
          <a:p>
            <a:r>
              <a:rPr lang="en-US" sz="2000" dirty="0">
                <a:solidFill>
                  <a:schemeClr val="tx1"/>
                </a:solidFill>
              </a:rPr>
              <a:t>from PyQt4 import </a:t>
            </a:r>
            <a:r>
              <a:rPr lang="en-US" sz="2000" dirty="0" err="1">
                <a:solidFill>
                  <a:schemeClr val="tx1"/>
                </a:solidFill>
              </a:rPr>
              <a:t>QtGui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 err="1">
                <a:solidFill>
                  <a:schemeClr val="tx1"/>
                </a:solidFill>
              </a:rPr>
              <a:t>QtCore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class </a:t>
            </a:r>
            <a:r>
              <a:rPr lang="en-US" sz="2000" dirty="0" err="1">
                <a:solidFill>
                  <a:schemeClr val="tx1"/>
                </a:solidFill>
              </a:rPr>
              <a:t>MyWidget</a:t>
            </a:r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dirty="0" err="1">
                <a:solidFill>
                  <a:schemeClr val="tx1"/>
                </a:solidFill>
              </a:rPr>
              <a:t>QtGui.QWidget</a:t>
            </a:r>
            <a:r>
              <a:rPr lang="en-US" sz="2000" dirty="0">
                <a:solidFill>
                  <a:schemeClr val="tx1"/>
                </a:solidFill>
              </a:rPr>
              <a:t>):</a:t>
            </a:r>
          </a:p>
          <a:p>
            <a:pPr marL="457200" lvl="1" indent="-274638">
              <a:buNone/>
            </a:pPr>
            <a:r>
              <a:rPr lang="en-US" sz="20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mysignal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QtCore.pyqtSignal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(list)</a:t>
            </a:r>
          </a:p>
          <a:p>
            <a:pPr marL="457200" lvl="1" indent="-274638">
              <a:buNone/>
            </a:pP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def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__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init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__(self, parent=None):</a:t>
            </a:r>
          </a:p>
          <a:p>
            <a:pPr marL="457200" lvl="1" indent="-7938">
              <a:buNone/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QWidget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.__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init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__(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self,parent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</a:t>
            </a:r>
          </a:p>
          <a:p>
            <a:pPr marL="457200" lvl="1" indent="-7938">
              <a:buNone/>
            </a:pP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self.button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QtGui.QPushButton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("OK", self)</a:t>
            </a:r>
          </a:p>
          <a:p>
            <a:pPr marL="457200" lvl="1" indent="-7938">
              <a:buNone/>
            </a:pP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self.text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QtGui.QLineEdit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()</a:t>
            </a:r>
          </a:p>
          <a:p>
            <a:pPr marL="457200" lvl="1" indent="-7938">
              <a:buNone/>
            </a:pP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self.spin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QtGui.QSpinBox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()</a:t>
            </a:r>
          </a:p>
          <a:p>
            <a:pPr marL="457200" lvl="1" indent="-7938">
              <a:buNone/>
            </a:pP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self.grid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QtGui.QGridLayout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()</a:t>
            </a:r>
          </a:p>
          <a:p>
            <a:pPr marL="457200" lvl="1" indent="-7938">
              <a:buNone/>
            </a:pP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self.grid.addWidget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(self.button,0,1)</a:t>
            </a:r>
          </a:p>
          <a:p>
            <a:pPr marL="457200" lvl="1" indent="-7938">
              <a:buNone/>
            </a:pP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self.grid.addWidget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(self.spin,0,0)</a:t>
            </a:r>
          </a:p>
          <a:p>
            <a:pPr marL="457200" lvl="1" indent="-7938">
              <a:buNone/>
            </a:pP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self.grid.addWidget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(self.text,0,2)</a:t>
            </a:r>
          </a:p>
          <a:p>
            <a:pPr marL="457200" lvl="1" indent="-7938">
              <a:buNone/>
            </a:pP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self.setLayout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self.grid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</a:t>
            </a:r>
          </a:p>
          <a:p>
            <a:pPr marL="457200" lvl="1" indent="-7938">
              <a:buNone/>
            </a:pP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self.button.clicked.connect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self.OnClicked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</a:t>
            </a:r>
          </a:p>
          <a:p>
            <a:pPr marL="457200" lvl="1" indent="-7938">
              <a:buNone/>
            </a:pPr>
            <a:r>
              <a:rPr lang="en-US" sz="20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self.mysignal.connect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self.OnPrint</a:t>
            </a:r>
            <a:r>
              <a:rPr lang="en-US" sz="25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3" name="Espace réservé du contenu 2"/>
          <p:cNvSpPr txBox="1">
            <a:spLocks/>
          </p:cNvSpPr>
          <p:nvPr/>
        </p:nvSpPr>
        <p:spPr>
          <a:xfrm>
            <a:off x="5076056" y="3217932"/>
            <a:ext cx="4392488" cy="28803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pPr marL="0" lvl="1" indent="0">
              <a:buNone/>
            </a:pP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def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OnClicked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(self):</a:t>
            </a:r>
          </a:p>
          <a:p>
            <a:pPr marL="266700" lvl="1" indent="-182563">
              <a:buNone/>
            </a:pP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</a:t>
            </a:r>
            <a:r>
              <a:rPr lang="en-US" sz="1400" dirty="0" err="1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val</a:t>
            </a:r>
            <a:r>
              <a:rPr lang="en-US" sz="1400" dirty="0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</a:t>
            </a:r>
            <a:r>
              <a:rPr lang="en-US" sz="1400" dirty="0" err="1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self.spin.value</a:t>
            </a:r>
            <a:r>
              <a:rPr lang="en-US" sz="1400" dirty="0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()</a:t>
            </a:r>
          </a:p>
          <a:p>
            <a:pPr marL="266700" lvl="1" indent="-182563">
              <a:buNone/>
            </a:pP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400" dirty="0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self.mysignal.emit</a:t>
            </a:r>
            <a:r>
              <a:rPr lang="en-US" sz="1400" dirty="0" smtClean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(list(range(</a:t>
            </a:r>
            <a:r>
              <a:rPr lang="en-US" sz="1400" dirty="0" err="1" smtClean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val</a:t>
            </a:r>
            <a:r>
              <a:rPr lang="en-US" sz="1400" dirty="0" smtClean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))) </a:t>
            </a:r>
            <a:r>
              <a:rPr lang="en-US" sz="1400" dirty="0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#</a:t>
            </a:r>
            <a:r>
              <a:rPr lang="en-US" sz="1400" dirty="0" err="1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self.emit</a:t>
            </a:r>
            <a:r>
              <a:rPr lang="en-US" sz="1400" dirty="0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en-US" sz="1400" dirty="0" err="1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QtCore.SIGNAL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mysignal</a:t>
            </a:r>
            <a:r>
              <a:rPr lang="en-US" sz="1400" dirty="0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'),</a:t>
            </a:r>
          </a:p>
          <a:p>
            <a:pPr marL="266700" lvl="1" indent="-182563">
              <a:buNone/>
            </a:pP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400" dirty="0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#list(range(</a:t>
            </a:r>
            <a:r>
              <a:rPr lang="en-US" sz="1400" dirty="0" err="1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val</a:t>
            </a:r>
            <a:r>
              <a:rPr lang="en-US" sz="1400" dirty="0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)))</a:t>
            </a:r>
            <a:endParaRPr lang="en-US" sz="1400" dirty="0">
              <a:solidFill>
                <a:schemeClr val="tx1"/>
              </a:solidFill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def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OnPrint</a:t>
            </a:r>
            <a:r>
              <a:rPr lang="en-US" dirty="0">
                <a:solidFill>
                  <a:schemeClr val="tx1"/>
                </a:solidFill>
              </a:rPr>
              <a:t>(self</a:t>
            </a:r>
            <a:r>
              <a:rPr lang="en-US" dirty="0" smtClean="0">
                <a:solidFill>
                  <a:schemeClr val="tx1"/>
                </a:solidFill>
              </a:rPr>
              <a:t>, </a:t>
            </a:r>
            <a:r>
              <a:rPr lang="en-US" dirty="0" err="1" smtClean="0">
                <a:solidFill>
                  <a:schemeClr val="tx1"/>
                </a:solidFill>
              </a:rPr>
              <a:t>val</a:t>
            </a:r>
            <a:r>
              <a:rPr lang="en-US" dirty="0">
                <a:solidFill>
                  <a:schemeClr val="tx1"/>
                </a:solidFill>
              </a:rPr>
              <a:t>):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s</a:t>
            </a:r>
            <a:r>
              <a:rPr lang="en-US" dirty="0">
                <a:solidFill>
                  <a:schemeClr val="tx1"/>
                </a:solidFill>
              </a:rPr>
              <a:t>= ' '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for </a:t>
            </a:r>
            <a:r>
              <a:rPr lang="en-US" dirty="0">
                <a:solidFill>
                  <a:schemeClr val="tx1"/>
                </a:solidFill>
              </a:rPr>
              <a:t>el in </a:t>
            </a:r>
            <a:r>
              <a:rPr lang="en-US" dirty="0" err="1">
                <a:solidFill>
                  <a:schemeClr val="tx1"/>
                </a:solidFill>
              </a:rPr>
              <a:t>val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  s</a:t>
            </a:r>
            <a:r>
              <a:rPr lang="en-US" dirty="0">
                <a:solidFill>
                  <a:schemeClr val="tx1"/>
                </a:solidFill>
              </a:rPr>
              <a:t>+=</a:t>
            </a:r>
            <a:r>
              <a:rPr lang="en-US" dirty="0" err="1">
                <a:solidFill>
                  <a:schemeClr val="tx1"/>
                </a:solidFill>
              </a:rPr>
              <a:t>str</a:t>
            </a:r>
            <a:r>
              <a:rPr lang="en-US" dirty="0">
                <a:solidFill>
                  <a:schemeClr val="tx1"/>
                </a:solidFill>
              </a:rPr>
              <a:t>(el)+' '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dirty="0" err="1" smtClean="0">
                <a:solidFill>
                  <a:schemeClr val="tx1"/>
                </a:solidFill>
              </a:rPr>
              <a:t>self.text.setText</a:t>
            </a:r>
            <a:r>
              <a:rPr lang="en-US" dirty="0" smtClean="0">
                <a:solidFill>
                  <a:schemeClr val="tx1"/>
                </a:solidFill>
              </a:rPr>
              <a:t>(s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604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15" descr="BottomLine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0384"/>
            <a:ext cx="9144000" cy="669726"/>
          </a:xfrm>
          <a:prstGeom prst="rect">
            <a:avLst/>
          </a:prstGeom>
        </p:spPr>
      </p:pic>
      <p:pic>
        <p:nvPicPr>
          <p:cNvPr id="34" name="Picture 16" descr="BottomLineDar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40736"/>
            <a:ext cx="9144000" cy="44648"/>
          </a:xfrm>
          <a:prstGeom prst="rect">
            <a:avLst/>
          </a:prstGeom>
        </p:spPr>
      </p:pic>
      <p:pic>
        <p:nvPicPr>
          <p:cNvPr id="35" name="Picture 14" descr="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95" y="6317332"/>
            <a:ext cx="377791" cy="387005"/>
          </a:xfrm>
          <a:prstGeom prst="rect">
            <a:avLst/>
          </a:prstGeom>
        </p:spPr>
      </p:pic>
      <p:sp>
        <p:nvSpPr>
          <p:cNvPr id="36" name="TextBox 4"/>
          <p:cNvSpPr txBox="1"/>
          <p:nvPr/>
        </p:nvSpPr>
        <p:spPr>
          <a:xfrm>
            <a:off x="785786" y="6242442"/>
            <a:ext cx="1095172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YOU ARE </a:t>
            </a:r>
            <a:r>
              <a:rPr lang="en-US" sz="800" dirty="0" smtClean="0"/>
              <a:t>LOOKING AT</a:t>
            </a:r>
            <a:endParaRPr lang="en-US" sz="800" dirty="0"/>
          </a:p>
        </p:txBody>
      </p:sp>
      <p:sp>
        <p:nvSpPr>
          <p:cNvPr id="37" name="TextBox 5"/>
          <p:cNvSpPr txBox="1"/>
          <p:nvPr/>
        </p:nvSpPr>
        <p:spPr>
          <a:xfrm>
            <a:off x="785786" y="6363293"/>
            <a:ext cx="1603324" cy="307777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Presenter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Toumi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A.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Malek</a:t>
            </a:r>
            <a:endParaRPr lang="en-US" sz="1400" dirty="0">
              <a:latin typeface="TypoSlabserif-Light" pitchFamily="2" charset="0"/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785786" y="6542453"/>
            <a:ext cx="611065" cy="200055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7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PRESENTER</a:t>
            </a:r>
            <a:endParaRPr lang="en-US" sz="700" b="1" dirty="0"/>
          </a:p>
        </p:txBody>
      </p:sp>
      <p:sp>
        <p:nvSpPr>
          <p:cNvPr id="39" name="TextBox 9"/>
          <p:cNvSpPr txBox="1"/>
          <p:nvPr/>
        </p:nvSpPr>
        <p:spPr>
          <a:xfrm>
            <a:off x="2694634" y="6242442"/>
            <a:ext cx="1515158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Aujourd’hui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en-US" sz="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jeudi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31 mars 2016</a:t>
            </a:r>
            <a:endParaRPr lang="en-US" sz="800" dirty="0"/>
          </a:p>
        </p:txBody>
      </p:sp>
      <p:sp>
        <p:nvSpPr>
          <p:cNvPr id="40" name="TextBox 10"/>
          <p:cNvSpPr txBox="1"/>
          <p:nvPr/>
        </p:nvSpPr>
        <p:spPr>
          <a:xfrm>
            <a:off x="2694634" y="6363293"/>
            <a:ext cx="978153" cy="353943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Python; QT </a:t>
            </a:r>
            <a:endParaRPr lang="en-US" sz="1700" dirty="0">
              <a:latin typeface="TypoSlabserif-Light" pitchFamily="2" charset="0"/>
            </a:endParaRPr>
          </a:p>
        </p:txBody>
      </p:sp>
      <p:sp>
        <p:nvSpPr>
          <p:cNvPr id="41" name="TextBox 11"/>
          <p:cNvSpPr txBox="1"/>
          <p:nvPr/>
        </p:nvSpPr>
        <p:spPr>
          <a:xfrm>
            <a:off x="7447108" y="6242442"/>
            <a:ext cx="1268296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 ARE 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dist="12700" dir="2700000" sx="200000" sy="200000" algn="tl" rotWithShape="0">
                    <a:schemeClr val="bg1">
                      <a:alpha val="0"/>
                    </a:schemeClr>
                  </a:outerShdw>
                </a:effectLst>
              </a:rPr>
              <a:t>CURRENTLY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800" smtClean="0"/>
              <a:t>HERE</a:t>
            </a:r>
            <a:endParaRPr lang="en-US" sz="800"/>
          </a:p>
        </p:txBody>
      </p:sp>
      <p:sp>
        <p:nvSpPr>
          <p:cNvPr id="42" name="TextBox 12"/>
          <p:cNvSpPr txBox="1"/>
          <p:nvPr/>
        </p:nvSpPr>
        <p:spPr>
          <a:xfrm>
            <a:off x="8781044" y="6392361"/>
            <a:ext cx="399468" cy="276999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of 7</a:t>
            </a:r>
            <a:endParaRPr lang="en-US" sz="1200" b="1" dirty="0">
              <a:latin typeface="TypoSlabserif-Light" pitchFamily="2" charset="0"/>
            </a:endParaRPr>
          </a:p>
        </p:txBody>
      </p:sp>
      <p:pic>
        <p:nvPicPr>
          <p:cNvPr id="43" name="Picture 18" descr="PrevArrow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200" y="6447512"/>
            <a:ext cx="213333" cy="213333"/>
          </a:xfrm>
          <a:prstGeom prst="rect">
            <a:avLst/>
          </a:prstGeom>
        </p:spPr>
      </p:pic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Sommaire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Création d’interface graphique (IHM)</a:t>
            </a:r>
          </a:p>
          <a:p>
            <a:pPr marL="914400" lvl="1" indent="-514350"/>
            <a:r>
              <a:rPr lang="fr-FR" dirty="0"/>
              <a:t>Généralités</a:t>
            </a:r>
          </a:p>
          <a:p>
            <a:pPr marL="914400" lvl="1" indent="-514350"/>
            <a:r>
              <a:rPr lang="fr-FR" dirty="0"/>
              <a:t>Composants graphiques de base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Présentation de QT</a:t>
            </a:r>
          </a:p>
          <a:p>
            <a:pPr lvl="1"/>
            <a:r>
              <a:rPr lang="fr-FR" dirty="0" smtClean="0"/>
              <a:t>Introduction</a:t>
            </a:r>
          </a:p>
          <a:p>
            <a:pPr lvl="1"/>
            <a:r>
              <a:rPr lang="fr-FR" dirty="0" smtClean="0"/>
              <a:t>Les principaux modules</a:t>
            </a:r>
          </a:p>
          <a:p>
            <a:pPr lvl="1"/>
            <a:r>
              <a:rPr lang="fr-FR" dirty="0" smtClean="0"/>
              <a:t>Documentation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 smtClean="0"/>
          </a:p>
          <a:p>
            <a:pPr marL="857250" lvl="1" indent="-457200"/>
            <a:r>
              <a:rPr lang="fr-FR" dirty="0" smtClean="0"/>
              <a:t>Les modules de </a:t>
            </a:r>
            <a:r>
              <a:rPr lang="fr-FR" dirty="0" err="1" smtClean="0"/>
              <a:t>PyQt</a:t>
            </a:r>
            <a:endParaRPr lang="fr-FR" dirty="0" smtClean="0"/>
          </a:p>
          <a:p>
            <a:pPr marL="857250" lvl="1" indent="-457200"/>
            <a:r>
              <a:rPr lang="fr-FR" dirty="0" smtClean="0"/>
              <a:t>Les widgets</a:t>
            </a:r>
          </a:p>
          <a:p>
            <a:pPr marL="857250" lvl="1" indent="-457200"/>
            <a:r>
              <a:rPr lang="fr-FR" dirty="0" smtClean="0"/>
              <a:t>Définition de classe graphique</a:t>
            </a:r>
          </a:p>
          <a:p>
            <a:pPr marL="857250" lvl="1" indent="-457200"/>
            <a:r>
              <a:rPr lang="fr-FR" dirty="0" smtClean="0"/>
              <a:t>Les fenêtres </a:t>
            </a:r>
          </a:p>
          <a:p>
            <a:pPr marL="857250" lvl="1" indent="-457200"/>
            <a:r>
              <a:rPr lang="fr-FR" dirty="0" smtClean="0"/>
              <a:t>Signaux et slots en Python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err="1" smtClean="0"/>
              <a:t>QTDesigner</a:t>
            </a:r>
            <a:endParaRPr lang="fr-FR" dirty="0" smtClean="0"/>
          </a:p>
          <a:p>
            <a:pPr marL="457200" lvl="1" indent="0">
              <a:buNone/>
            </a:pP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78697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2251711" y="2036375"/>
            <a:ext cx="669202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spc="-400" dirty="0" smtClean="0">
                <a:solidFill>
                  <a:schemeClr val="bg1"/>
                </a:solidFill>
              </a:rPr>
              <a:t>A </a:t>
            </a:r>
            <a:r>
              <a:rPr lang="en-US" sz="8800" b="1" spc="-400" dirty="0" err="1" smtClean="0">
                <a:solidFill>
                  <a:schemeClr val="bg1"/>
                </a:solidFill>
              </a:rPr>
              <a:t>vous</a:t>
            </a:r>
            <a:r>
              <a:rPr lang="en-US" sz="8800" b="1" spc="-400" dirty="0" smtClean="0">
                <a:solidFill>
                  <a:schemeClr val="bg1"/>
                </a:solidFill>
              </a:rPr>
              <a:t> de </a:t>
            </a:r>
            <a:r>
              <a:rPr lang="en-US" sz="8800" b="1" spc="-400" dirty="0" err="1" smtClean="0">
                <a:solidFill>
                  <a:schemeClr val="bg1"/>
                </a:solidFill>
              </a:rPr>
              <a:t>jouer</a:t>
            </a:r>
            <a:endParaRPr lang="en-US" sz="8800" b="1" spc="-400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65980" y="3150871"/>
            <a:ext cx="216116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 err="1" smtClean="0">
                <a:solidFill>
                  <a:schemeClr val="bg1">
                    <a:lumMod val="75000"/>
                  </a:schemeClr>
                </a:solidFill>
                <a:latin typeface="TypoSlabserif-Light" pitchFamily="2" charset="0"/>
              </a:rPr>
              <a:t>Projet</a:t>
            </a:r>
            <a:r>
              <a:rPr lang="en-US" sz="2500" dirty="0" smtClean="0">
                <a:solidFill>
                  <a:schemeClr val="bg1">
                    <a:lumMod val="75000"/>
                  </a:schemeClr>
                </a:solidFill>
                <a:latin typeface="TypoSlabserif-Light" pitchFamily="2" charset="0"/>
              </a:rPr>
              <a:t> </a:t>
            </a:r>
            <a:r>
              <a:rPr lang="en-US" sz="2500" dirty="0" err="1" smtClean="0">
                <a:solidFill>
                  <a:schemeClr val="bg1">
                    <a:lumMod val="75000"/>
                  </a:schemeClr>
                </a:solidFill>
                <a:latin typeface="TypoSlabserif-Light" pitchFamily="2" charset="0"/>
              </a:rPr>
              <a:t>informatique</a:t>
            </a:r>
            <a:endParaRPr lang="en-US" sz="2500" dirty="0">
              <a:solidFill>
                <a:schemeClr val="bg1">
                  <a:lumMod val="75000"/>
                </a:schemeClr>
              </a:solidFill>
              <a:latin typeface="TypoSlabserif-Light" pitchFamily="2" charset="0"/>
            </a:endParaRPr>
          </a:p>
        </p:txBody>
      </p:sp>
      <p:pic>
        <p:nvPicPr>
          <p:cNvPr id="22" name="Picture 21" descr="MainTitle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06" y="1857364"/>
            <a:ext cx="1631405" cy="1804572"/>
          </a:xfrm>
          <a:prstGeom prst="rect">
            <a:avLst/>
          </a:prstGeom>
        </p:spPr>
      </p:pic>
      <p:pic>
        <p:nvPicPr>
          <p:cNvPr id="23" name="Picture 22" descr="MainTitleImageSha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76" y="3714752"/>
            <a:ext cx="1902349" cy="243428"/>
          </a:xfrm>
          <a:prstGeom prst="rect">
            <a:avLst/>
          </a:prstGeom>
        </p:spPr>
      </p:pic>
      <p:pic>
        <p:nvPicPr>
          <p:cNvPr id="24" name="Picture 23" descr="MainTitleShad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5006" y="3661936"/>
            <a:ext cx="6345466" cy="270476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709732" y="6330523"/>
            <a:ext cx="2133600" cy="365125"/>
          </a:xfrm>
        </p:spPr>
        <p:txBody>
          <a:bodyPr/>
          <a:lstStyle/>
          <a:p>
            <a:fld id="{BECFFF0D-0199-40F6-98A2-0B4E765CD128}" type="slidenum">
              <a:rPr lang="en-US" smtClean="0"/>
              <a:pPr/>
              <a:t>40</a:t>
            </a:fld>
            <a:endParaRPr 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theme/theme1.xml><?xml version="1.0" encoding="utf-8"?>
<a:theme xmlns:a="http://schemas.openxmlformats.org/drawingml/2006/main" name="DarkPowerpoint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2454</TotalTime>
  <Words>3138</Words>
  <Application>Microsoft Office PowerPoint</Application>
  <PresentationFormat>Affichage à l'écran (4:3)</PresentationFormat>
  <Paragraphs>739</Paragraphs>
  <Slides>40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40</vt:i4>
      </vt:variant>
    </vt:vector>
  </HeadingPairs>
  <TitlesOfParts>
    <vt:vector size="41" baseType="lpstr">
      <vt:lpstr>DarkPowerpointTemplate</vt:lpstr>
      <vt:lpstr>Présentation PowerPoint</vt:lpstr>
      <vt:lpstr>Sommaire</vt:lpstr>
      <vt:lpstr>Généralités</vt:lpstr>
      <vt:lpstr>Généralités</vt:lpstr>
      <vt:lpstr>Composants graphiques de base</vt:lpstr>
      <vt:lpstr>Composants graphiques de base</vt:lpstr>
      <vt:lpstr>Composants graphiques de base</vt:lpstr>
      <vt:lpstr>Composants graphiques de base</vt:lpstr>
      <vt:lpstr>Composants graphiques de base</vt:lpstr>
      <vt:lpstr>Sommaire</vt:lpstr>
      <vt:lpstr>Introduction</vt:lpstr>
      <vt:lpstr>Les principaux modules</vt:lpstr>
      <vt:lpstr>La documentation</vt:lpstr>
      <vt:lpstr>Sommaire</vt:lpstr>
      <vt:lpstr>Modules de PyQt</vt:lpstr>
      <vt:lpstr>Les widgets </vt:lpstr>
      <vt:lpstr>Exemple 1 : widget simple</vt:lpstr>
      <vt:lpstr>Exemple 2 : création d’un bouton</vt:lpstr>
      <vt:lpstr> Agencement des widgets (layout)</vt:lpstr>
      <vt:lpstr>Définition d’une classe</vt:lpstr>
      <vt:lpstr>Remarques</vt:lpstr>
      <vt:lpstr>Sommaire</vt:lpstr>
      <vt:lpstr>Les fenêtres  </vt:lpstr>
      <vt:lpstr>Les fenêtres  </vt:lpstr>
      <vt:lpstr>Les fenêtres </vt:lpstr>
      <vt:lpstr>Sommaire</vt:lpstr>
      <vt:lpstr> Rappel :Structure d’un programme QT</vt:lpstr>
      <vt:lpstr>Signaux et slots en Python</vt:lpstr>
      <vt:lpstr>Signaux et slots en Python</vt:lpstr>
      <vt:lpstr>Signaux et slots en Python</vt:lpstr>
      <vt:lpstr>Signaux et slots en Python</vt:lpstr>
      <vt:lpstr>Signaux et slots en Python</vt:lpstr>
      <vt:lpstr>Signaux et slots en Python</vt:lpstr>
      <vt:lpstr>Signaux et slots en Python</vt:lpstr>
      <vt:lpstr>Signaux et slots en Python</vt:lpstr>
      <vt:lpstr>Signaux et slots en Python</vt:lpstr>
      <vt:lpstr>Définition signal/slot</vt:lpstr>
      <vt:lpstr>Exemple</vt:lpstr>
      <vt:lpstr>Sommaire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ensta</dc:creator>
  <cp:lastModifiedBy>ensta</cp:lastModifiedBy>
  <cp:revision>167</cp:revision>
  <dcterms:created xsi:type="dcterms:W3CDTF">2016-03-15T18:06:02Z</dcterms:created>
  <dcterms:modified xsi:type="dcterms:W3CDTF">2016-03-29T22:17:45Z</dcterms:modified>
</cp:coreProperties>
</file>