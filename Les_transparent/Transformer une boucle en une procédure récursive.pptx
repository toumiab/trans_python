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22FCC-C983-4606-9D49-6EAB9D49DB9B}" type="datetimeFigureOut">
              <a:rPr lang="fr-FR" smtClean="0"/>
              <a:t>16/10/2011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2F922-50CB-4C6A-B379-1A17828E1B52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B2B6CC-3B44-4010-A4DE-14033F045A06}" type="slidenum">
              <a:rPr lang="fr-FR"/>
              <a:pPr/>
              <a:t>1</a:t>
            </a:fld>
            <a:endParaRPr lang="fr-FR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8305800" cy="1295400"/>
          </a:xfrm>
        </p:spPr>
        <p:txBody>
          <a:bodyPr>
            <a:normAutofit fontScale="90000"/>
          </a:bodyPr>
          <a:lstStyle/>
          <a:p>
            <a:r>
              <a:rPr lang="en-US" b="1"/>
              <a:t>Transformer une boucle en une procédure récursive</a:t>
            </a:r>
            <a:endParaRPr lang="fr-FR" b="1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00808"/>
            <a:ext cx="8458200" cy="1828800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Procedure</a:t>
            </a:r>
            <a:r>
              <a:rPr lang="fr-FR" dirty="0"/>
              <a:t> itérative :</a:t>
            </a:r>
            <a:br>
              <a:rPr lang="fr-FR" dirty="0"/>
            </a:br>
            <a:r>
              <a:rPr lang="fr-FR" dirty="0" err="1">
                <a:latin typeface="Courier New" pitchFamily="49" charset="0"/>
              </a:rPr>
              <a:t>static</a:t>
            </a:r>
            <a:r>
              <a:rPr lang="fr-FR" dirty="0">
                <a:latin typeface="Courier New" pitchFamily="49" charset="0"/>
              </a:rPr>
              <a:t> </a:t>
            </a:r>
            <a:r>
              <a:rPr lang="fr-FR" dirty="0" err="1">
                <a:latin typeface="Courier New" pitchFamily="49" charset="0"/>
              </a:rPr>
              <a:t>void</a:t>
            </a:r>
            <a:r>
              <a:rPr lang="fr-FR" dirty="0">
                <a:latin typeface="Courier New" pitchFamily="49" charset="0"/>
              </a:rPr>
              <a:t> compter() {</a:t>
            </a:r>
            <a:br>
              <a:rPr lang="fr-FR" dirty="0">
                <a:latin typeface="Courier New" pitchFamily="49" charset="0"/>
              </a:rPr>
            </a:br>
            <a:r>
              <a:rPr lang="fr-FR" dirty="0">
                <a:latin typeface="Courier New" pitchFamily="49" charset="0"/>
              </a:rPr>
              <a:t>for (i=1;i&lt;10;i++) System.out.println(i);}</a:t>
            </a:r>
            <a:endParaRPr lang="fr-FR" dirty="0"/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auto">
          <a:xfrm>
            <a:off x="539552" y="3904456"/>
            <a:ext cx="8458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Monotype Sorts" pitchFamily="2" charset="2"/>
              <a:buChar char="n"/>
            </a:pPr>
            <a:r>
              <a:rPr lang="fr-FR" sz="2400" dirty="0" err="1">
                <a:latin typeface="Times New Roman" pitchFamily="18" charset="0"/>
              </a:rPr>
              <a:t>Procedure</a:t>
            </a:r>
            <a:r>
              <a:rPr lang="fr-FR" sz="2400" dirty="0">
                <a:latin typeface="Times New Roman" pitchFamily="18" charset="0"/>
              </a:rPr>
              <a:t> récursive équivalente</a:t>
            </a:r>
            <a:br>
              <a:rPr lang="fr-FR" sz="2400" dirty="0">
                <a:latin typeface="Times New Roman" pitchFamily="18" charset="0"/>
              </a:rPr>
            </a:br>
            <a:r>
              <a:rPr lang="fr-FR" sz="2400" dirty="0" err="1">
                <a:latin typeface="Courier New" pitchFamily="49" charset="0"/>
              </a:rPr>
              <a:t>static</a:t>
            </a:r>
            <a:r>
              <a:rPr lang="fr-FR" sz="2400" dirty="0">
                <a:latin typeface="Courier New" pitchFamily="49" charset="0"/>
              </a:rPr>
              <a:t> </a:t>
            </a:r>
            <a:r>
              <a:rPr lang="fr-FR" sz="2400" dirty="0" err="1">
                <a:latin typeface="Courier New" pitchFamily="49" charset="0"/>
              </a:rPr>
              <a:t>void</a:t>
            </a:r>
            <a:r>
              <a:rPr lang="fr-FR" sz="2400" dirty="0">
                <a:latin typeface="Courier New" pitchFamily="49" charset="0"/>
              </a:rPr>
              <a:t> </a:t>
            </a:r>
            <a:r>
              <a:rPr lang="fr-FR" sz="2400" dirty="0" err="1">
                <a:latin typeface="Courier New" pitchFamily="49" charset="0"/>
              </a:rPr>
              <a:t>compter_rec</a:t>
            </a:r>
            <a:r>
              <a:rPr lang="fr-FR" sz="2400" dirty="0">
                <a:latin typeface="Courier New" pitchFamily="49" charset="0"/>
              </a:rPr>
              <a:t>(</a:t>
            </a:r>
            <a:r>
              <a:rPr lang="fr-FR" sz="2400" dirty="0" err="1">
                <a:latin typeface="Courier New" pitchFamily="49" charset="0"/>
              </a:rPr>
              <a:t>int</a:t>
            </a:r>
            <a:r>
              <a:rPr lang="fr-FR" sz="2400" dirty="0">
                <a:latin typeface="Courier New" pitchFamily="49" charset="0"/>
              </a:rPr>
              <a:t> i) {	</a:t>
            </a:r>
            <a:br>
              <a:rPr lang="fr-FR" sz="2400" dirty="0">
                <a:latin typeface="Courier New" pitchFamily="49" charset="0"/>
              </a:rPr>
            </a:br>
            <a:r>
              <a:rPr lang="fr-FR" sz="2400" dirty="0">
                <a:latin typeface="Courier New" pitchFamily="49" charset="0"/>
              </a:rPr>
              <a:t>	System.out.println(i)</a:t>
            </a:r>
            <a:br>
              <a:rPr lang="fr-FR" sz="2400" dirty="0">
                <a:latin typeface="Courier New" pitchFamily="49" charset="0"/>
              </a:rPr>
            </a:br>
            <a:r>
              <a:rPr lang="fr-FR" sz="2400" dirty="0">
                <a:latin typeface="Courier New" pitchFamily="49" charset="0"/>
              </a:rPr>
              <a:t>	</a:t>
            </a:r>
            <a:r>
              <a:rPr lang="fr-FR" sz="2400" dirty="0" smtClean="0">
                <a:latin typeface="Courier New" pitchFamily="49" charset="0"/>
              </a:rPr>
              <a:t>if(i&lt;9) </a:t>
            </a:r>
            <a:r>
              <a:rPr lang="fr-FR" sz="2400" dirty="0" err="1">
                <a:latin typeface="Courier New" pitchFamily="49" charset="0"/>
              </a:rPr>
              <a:t>compter_rec</a:t>
            </a:r>
            <a:r>
              <a:rPr lang="fr-FR" sz="2400" dirty="0">
                <a:latin typeface="Courier New" pitchFamily="49" charset="0"/>
              </a:rPr>
              <a:t>(i+1);}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81418-EEDC-4708-9B7B-4EB22A0694DB}" type="slidenum">
              <a:rPr lang="fr-FR"/>
              <a:pPr/>
              <a:t>2</a:t>
            </a:fld>
            <a:endParaRPr lang="fr-FR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7772400" cy="1104900"/>
          </a:xfrm>
        </p:spPr>
        <p:txBody>
          <a:bodyPr/>
          <a:lstStyle/>
          <a:p>
            <a:r>
              <a:rPr lang="en-US" sz="3200" b="1"/>
              <a:t>Transformer deux boucles imbriquées en une procédure récursive</a:t>
            </a:r>
            <a:endParaRPr lang="fr-FR" b="1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80728"/>
            <a:ext cx="7772400" cy="1905000"/>
          </a:xfrm>
        </p:spPr>
        <p:txBody>
          <a:bodyPr/>
          <a:lstStyle/>
          <a:p>
            <a:r>
              <a:rPr lang="fr-FR" dirty="0" err="1"/>
              <a:t>Procedure</a:t>
            </a:r>
            <a:r>
              <a:rPr lang="fr-FR" dirty="0"/>
              <a:t> itérative :</a:t>
            </a:r>
            <a:br>
              <a:rPr lang="fr-FR" dirty="0"/>
            </a:br>
            <a:r>
              <a:rPr lang="fr-FR" sz="2000" dirty="0" err="1">
                <a:latin typeface="Courier New" pitchFamily="49" charset="0"/>
              </a:rPr>
              <a:t>static</a:t>
            </a:r>
            <a:r>
              <a:rPr lang="fr-FR" sz="2000" dirty="0">
                <a:latin typeface="Courier New" pitchFamily="49" charset="0"/>
              </a:rPr>
              <a:t> </a:t>
            </a:r>
            <a:r>
              <a:rPr lang="fr-FR" sz="2000" dirty="0" err="1">
                <a:latin typeface="Courier New" pitchFamily="49" charset="0"/>
              </a:rPr>
              <a:t>void</a:t>
            </a:r>
            <a:r>
              <a:rPr lang="fr-FR" sz="2000" dirty="0">
                <a:latin typeface="Courier New" pitchFamily="49" charset="0"/>
              </a:rPr>
              <a:t> compter() {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for (a=1;a&lt;10;a++)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	for (b=1;b&lt;5;b++)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		System.out.println(a*b);}</a:t>
            </a: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323528" y="2748136"/>
            <a:ext cx="7772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Monotype Sorts" pitchFamily="2" charset="2"/>
              <a:buChar char="n"/>
            </a:pPr>
            <a:r>
              <a:rPr lang="fr-FR" sz="2400" dirty="0">
                <a:latin typeface="Times New Roman" pitchFamily="18" charset="0"/>
              </a:rPr>
              <a:t>1ère procédure récursive:</a:t>
            </a:r>
            <a:br>
              <a:rPr lang="fr-FR" sz="2400" dirty="0">
                <a:latin typeface="Times New Roman" pitchFamily="18" charset="0"/>
              </a:rPr>
            </a:br>
            <a:r>
              <a:rPr lang="fr-FR" sz="2000" dirty="0" err="1">
                <a:latin typeface="Courier New" pitchFamily="49" charset="0"/>
              </a:rPr>
              <a:t>static</a:t>
            </a:r>
            <a:r>
              <a:rPr lang="fr-FR" sz="2000" dirty="0">
                <a:latin typeface="Courier New" pitchFamily="49" charset="0"/>
              </a:rPr>
              <a:t> </a:t>
            </a:r>
            <a:r>
              <a:rPr lang="fr-FR" sz="2000" dirty="0" err="1">
                <a:latin typeface="Courier New" pitchFamily="49" charset="0"/>
              </a:rPr>
              <a:t>void</a:t>
            </a:r>
            <a:r>
              <a:rPr lang="fr-FR" sz="2000" dirty="0">
                <a:latin typeface="Courier New" pitchFamily="49" charset="0"/>
              </a:rPr>
              <a:t> </a:t>
            </a:r>
            <a:r>
              <a:rPr lang="fr-FR" sz="2000" dirty="0" err="1">
                <a:latin typeface="Courier New" pitchFamily="49" charset="0"/>
              </a:rPr>
              <a:t>compter_rec</a:t>
            </a:r>
            <a:r>
              <a:rPr lang="fr-FR" sz="2000" dirty="0">
                <a:latin typeface="Courier New" pitchFamily="49" charset="0"/>
              </a:rPr>
              <a:t>(</a:t>
            </a:r>
            <a:r>
              <a:rPr lang="fr-FR" sz="2000" dirty="0" err="1">
                <a:latin typeface="Courier New" pitchFamily="49" charset="0"/>
              </a:rPr>
              <a:t>int</a:t>
            </a:r>
            <a:r>
              <a:rPr lang="fr-FR" sz="2000" dirty="0">
                <a:latin typeface="Courier New" pitchFamily="49" charset="0"/>
              </a:rPr>
              <a:t> a) {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if(a&lt;10) {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	for (b=1;b&lt;5;b++)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		System.out.println(a*b);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		</a:t>
            </a:r>
            <a:r>
              <a:rPr lang="fr-FR" sz="2000" dirty="0" err="1">
                <a:latin typeface="Courier New" pitchFamily="49" charset="0"/>
              </a:rPr>
              <a:t>compter_rec</a:t>
            </a:r>
            <a:r>
              <a:rPr lang="fr-FR" sz="2000" dirty="0">
                <a:latin typeface="Courier New" pitchFamily="49" charset="0"/>
              </a:rPr>
              <a:t>(a+1);}	}</a:t>
            </a:r>
            <a:endParaRPr lang="fr-FR" sz="2400" dirty="0">
              <a:latin typeface="Courier New" pitchFamily="49" charset="0"/>
            </a:endParaRPr>
          </a:p>
        </p:txBody>
      </p:sp>
      <p:sp>
        <p:nvSpPr>
          <p:cNvPr id="214021" name="Rectangle 5"/>
          <p:cNvSpPr>
            <a:spLocks noChangeArrowheads="1"/>
          </p:cNvSpPr>
          <p:nvPr/>
        </p:nvSpPr>
        <p:spPr bwMode="auto">
          <a:xfrm>
            <a:off x="539552" y="4692352"/>
            <a:ext cx="7772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Monotype Sorts" pitchFamily="2" charset="2"/>
              <a:buChar char="n"/>
            </a:pPr>
            <a:r>
              <a:rPr lang="fr-FR" sz="2400" dirty="0">
                <a:latin typeface="Times New Roman" pitchFamily="18" charset="0"/>
              </a:rPr>
              <a:t>2ème procédure récursive:</a:t>
            </a:r>
            <a:br>
              <a:rPr lang="fr-FR" sz="2400" dirty="0">
                <a:latin typeface="Times New Roman" pitchFamily="18" charset="0"/>
              </a:rPr>
            </a:br>
            <a:r>
              <a:rPr lang="fr-FR" sz="2000" dirty="0" err="1">
                <a:latin typeface="Courier New" pitchFamily="49" charset="0"/>
              </a:rPr>
              <a:t>static</a:t>
            </a:r>
            <a:r>
              <a:rPr lang="fr-FR" sz="2000" dirty="0">
                <a:latin typeface="Courier New" pitchFamily="49" charset="0"/>
              </a:rPr>
              <a:t> </a:t>
            </a:r>
            <a:r>
              <a:rPr lang="fr-FR" sz="2000" dirty="0" err="1">
                <a:latin typeface="Courier New" pitchFamily="49" charset="0"/>
              </a:rPr>
              <a:t>void</a:t>
            </a:r>
            <a:r>
              <a:rPr lang="fr-FR" sz="2000" dirty="0">
                <a:latin typeface="Courier New" pitchFamily="49" charset="0"/>
              </a:rPr>
              <a:t> </a:t>
            </a:r>
            <a:r>
              <a:rPr lang="fr-FR" sz="2000" dirty="0" err="1">
                <a:latin typeface="Courier New" pitchFamily="49" charset="0"/>
              </a:rPr>
              <a:t>compter_rec</a:t>
            </a:r>
            <a:r>
              <a:rPr lang="fr-FR" sz="2000" dirty="0">
                <a:latin typeface="Courier New" pitchFamily="49" charset="0"/>
              </a:rPr>
              <a:t>(</a:t>
            </a:r>
            <a:r>
              <a:rPr lang="fr-FR" sz="2000" dirty="0" err="1">
                <a:latin typeface="Courier New" pitchFamily="49" charset="0"/>
              </a:rPr>
              <a:t>int</a:t>
            </a:r>
            <a:r>
              <a:rPr lang="fr-FR" sz="2000" dirty="0">
                <a:latin typeface="Courier New" pitchFamily="49" charset="0"/>
              </a:rPr>
              <a:t> </a:t>
            </a:r>
            <a:r>
              <a:rPr lang="fr-FR" sz="2000" dirty="0" err="1">
                <a:latin typeface="Courier New" pitchFamily="49" charset="0"/>
              </a:rPr>
              <a:t>a,int</a:t>
            </a:r>
            <a:r>
              <a:rPr lang="fr-FR" sz="2000" dirty="0">
                <a:latin typeface="Courier New" pitchFamily="49" charset="0"/>
              </a:rPr>
              <a:t> b) {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if(a&lt;10) if (b&lt;5){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		System.out.println(a*b);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		</a:t>
            </a:r>
            <a:r>
              <a:rPr lang="fr-FR" sz="2000" dirty="0" err="1">
                <a:latin typeface="Courier New" pitchFamily="49" charset="0"/>
              </a:rPr>
              <a:t>compter_rec</a:t>
            </a:r>
            <a:r>
              <a:rPr lang="fr-FR" sz="2000" dirty="0">
                <a:latin typeface="Courier New" pitchFamily="49" charset="0"/>
              </a:rPr>
              <a:t>(</a:t>
            </a:r>
            <a:r>
              <a:rPr lang="fr-FR" sz="2000" dirty="0" err="1">
                <a:latin typeface="Courier New" pitchFamily="49" charset="0"/>
              </a:rPr>
              <a:t>a,b</a:t>
            </a:r>
            <a:r>
              <a:rPr lang="fr-FR" sz="2000" dirty="0">
                <a:latin typeface="Courier New" pitchFamily="49" charset="0"/>
              </a:rPr>
              <a:t>+1);}</a:t>
            </a:r>
            <a:br>
              <a:rPr lang="fr-FR" sz="2000" dirty="0">
                <a:latin typeface="Courier New" pitchFamily="49" charset="0"/>
              </a:rPr>
            </a:br>
            <a:r>
              <a:rPr lang="fr-FR" sz="2000" dirty="0">
                <a:latin typeface="Courier New" pitchFamily="49" charset="0"/>
              </a:rPr>
              <a:t>		   </a:t>
            </a:r>
            <a:r>
              <a:rPr lang="fr-FR" sz="2000" dirty="0" err="1">
                <a:latin typeface="Courier New" pitchFamily="49" charset="0"/>
              </a:rPr>
              <a:t>else</a:t>
            </a:r>
            <a:r>
              <a:rPr lang="fr-FR" sz="2000" dirty="0">
                <a:latin typeface="Courier New" pitchFamily="49" charset="0"/>
              </a:rPr>
              <a:t> </a:t>
            </a:r>
            <a:r>
              <a:rPr lang="fr-FR" sz="2000" dirty="0" err="1">
                <a:latin typeface="Courier New" pitchFamily="49" charset="0"/>
              </a:rPr>
              <a:t>compter_rec</a:t>
            </a:r>
            <a:r>
              <a:rPr lang="fr-FR" sz="2000" dirty="0">
                <a:latin typeface="Courier New" pitchFamily="49" charset="0"/>
              </a:rPr>
              <a:t>(a+1,1);}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D376F6-A13F-4614-BDEC-D620C9652423}" type="slidenum">
              <a:rPr lang="fr-FR"/>
              <a:pPr/>
              <a:t>3</a:t>
            </a:fld>
            <a:endParaRPr lang="fr-FR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04900"/>
          </a:xfrm>
        </p:spPr>
        <p:txBody>
          <a:bodyPr>
            <a:normAutofit fontScale="90000"/>
          </a:bodyPr>
          <a:lstStyle/>
          <a:p>
            <a:r>
              <a:rPr lang="fr-FR"/>
              <a:t>Exemple d ’algorithme récursif (1)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8534400" cy="4114800"/>
          </a:xfrm>
        </p:spPr>
        <p:txBody>
          <a:bodyPr>
            <a:normAutofit fontScale="92500" lnSpcReduction="20000"/>
          </a:bodyPr>
          <a:lstStyle/>
          <a:p>
            <a:r>
              <a:rPr lang="fr-FR"/>
              <a:t>Inverser une chaîne de caractères</a:t>
            </a:r>
            <a:br>
              <a:rPr lang="fr-FR"/>
            </a:br>
            <a:r>
              <a:rPr lang="en-US" sz="2000">
                <a:latin typeface="Courier New" pitchFamily="49" charset="0"/>
              </a:rPr>
              <a:t>public static String inverse(String s) {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>int l= s.length();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>if (l&lt;=1) return s;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>else return inverse(s.substring(1,l))+ s.charAt(0);}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/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/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/>
            </a:r>
            <a:br>
              <a:rPr lang="en-US" sz="2000">
                <a:latin typeface="Courier New" pitchFamily="49" charset="0"/>
              </a:rPr>
            </a:br>
            <a:endParaRPr lang="en-US" sz="2000">
              <a:latin typeface="Courier New" pitchFamily="49" charset="0"/>
            </a:endParaRPr>
          </a:p>
          <a:p>
            <a:r>
              <a:rPr lang="en-US" sz="2000">
                <a:latin typeface="Courier New" pitchFamily="49" charset="0"/>
              </a:rPr>
              <a:t>inverse(“abcd”)-&gt; inverse(“bcd”)+”a”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>	inverse(“bcd”)-&gt; inverse(“cd”)+”b”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>		inverse(“cd”)-&gt; inverse(“d”)+”c”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>			dc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>		dcb</a:t>
            </a:r>
            <a:br>
              <a:rPr lang="en-US" sz="2000">
                <a:latin typeface="Courier New" pitchFamily="49" charset="0"/>
              </a:rPr>
            </a:br>
            <a:r>
              <a:rPr lang="en-US" sz="2000">
                <a:latin typeface="Courier New" pitchFamily="49" charset="0"/>
              </a:rPr>
              <a:t>	dcba</a:t>
            </a:r>
            <a:endParaRPr lang="fr-FR" sz="2000">
              <a:latin typeface="Courier New" pitchFamily="49" charset="0"/>
            </a:endParaRPr>
          </a:p>
        </p:txBody>
      </p:sp>
      <p:sp>
        <p:nvSpPr>
          <p:cNvPr id="215044" name="AutoShape 4"/>
          <p:cNvSpPr>
            <a:spLocks noChangeArrowheads="1"/>
          </p:cNvSpPr>
          <p:nvPr/>
        </p:nvSpPr>
        <p:spPr bwMode="auto">
          <a:xfrm>
            <a:off x="5410200" y="1828800"/>
            <a:ext cx="3200400" cy="381000"/>
          </a:xfrm>
          <a:prstGeom prst="wedgeRoundRectCallout">
            <a:avLst>
              <a:gd name="adj1" fmla="val -89782"/>
              <a:gd name="adj2" fmla="val 50833"/>
              <a:gd name="adj3" fmla="val 16667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n-US" sz="2000"/>
              <a:t>CONDITION D’ARRET</a:t>
            </a:r>
            <a:endParaRPr lang="en-US" sz="1600"/>
          </a:p>
        </p:txBody>
      </p:sp>
      <p:sp>
        <p:nvSpPr>
          <p:cNvPr id="215045" name="AutoShape 5"/>
          <p:cNvSpPr>
            <a:spLocks noChangeArrowheads="1"/>
          </p:cNvSpPr>
          <p:nvPr/>
        </p:nvSpPr>
        <p:spPr bwMode="auto">
          <a:xfrm>
            <a:off x="685800" y="3048000"/>
            <a:ext cx="2971800" cy="457200"/>
          </a:xfrm>
          <a:prstGeom prst="wedgeRoundRectCallout">
            <a:avLst>
              <a:gd name="adj1" fmla="val 47435"/>
              <a:gd name="adj2" fmla="val -137153"/>
              <a:gd name="adj3" fmla="val 16667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n-US" sz="2000"/>
              <a:t>APPEL RECURSIF</a:t>
            </a: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4" grpId="0" animBg="1" autoUpdateAnimBg="0"/>
      <p:bldP spid="215045" grpId="0" animBg="1" autoUpdateAnimBg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</Words>
  <Application>Microsoft Office PowerPoint</Application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Transformer une boucle en une procédure récursive</vt:lpstr>
      <vt:lpstr>Transformer deux boucles imbriquées en une procédure récursive</vt:lpstr>
      <vt:lpstr>Exemple d ’algorithme récursif (1)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une boucle en une procédure récursive</dc:title>
  <dc:creator>toumiab</dc:creator>
  <cp:lastModifiedBy>toumiab</cp:lastModifiedBy>
  <cp:revision>1</cp:revision>
  <dcterms:created xsi:type="dcterms:W3CDTF">2011-10-16T19:34:09Z</dcterms:created>
  <dcterms:modified xsi:type="dcterms:W3CDTF">2011-10-16T19:35:19Z</dcterms:modified>
</cp:coreProperties>
</file>