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8" autoAdjust="0"/>
    <p:restoredTop sz="94660"/>
  </p:normalViewPr>
  <p:slideViewPr>
    <p:cSldViewPr snapToGrid="0">
      <p:cViewPr varScale="1">
        <p:scale>
          <a:sx n="81" d="100"/>
          <a:sy n="81" d="100"/>
        </p:scale>
        <p:origin x="78" y="7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smtClean="0"/>
              <a:t>Modifiez le style des sous-titres du masque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079E28-5EF0-47BA-B06A-41CB89A3291E}" type="datetimeFigureOut">
              <a:rPr lang="en-US" smtClean="0"/>
              <a:t>9/29/2015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2FCA87-F1E2-424D-A9E5-AA13FF0009DE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96755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079E28-5EF0-47BA-B06A-41CB89A3291E}" type="datetimeFigureOut">
              <a:rPr lang="en-US" smtClean="0"/>
              <a:t>9/29/2015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2FCA87-F1E2-424D-A9E5-AA13FF0009DE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7867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079E28-5EF0-47BA-B06A-41CB89A3291E}" type="datetimeFigureOut">
              <a:rPr lang="en-US" smtClean="0"/>
              <a:t>9/29/2015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2FCA87-F1E2-424D-A9E5-AA13FF0009DE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63935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079E28-5EF0-47BA-B06A-41CB89A3291E}" type="datetimeFigureOut">
              <a:rPr lang="en-US" smtClean="0"/>
              <a:t>9/29/2015</a:t>
            </a:fld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2FCA87-F1E2-424D-A9E5-AA13FF0009DE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20213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079E28-5EF0-47BA-B06A-41CB89A3291E}" type="datetimeFigureOut">
              <a:rPr lang="en-US" smtClean="0"/>
              <a:t>9/29/2015</a:t>
            </a:fld>
            <a:endParaRPr lang="en-US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2FCA87-F1E2-424D-A9E5-AA13FF0009DE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47594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079E28-5EF0-47BA-B06A-41CB89A3291E}" type="datetimeFigureOut">
              <a:rPr lang="en-US" smtClean="0"/>
              <a:t>9/29/2015</a:t>
            </a:fld>
            <a:endParaRPr lang="en-US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2FCA87-F1E2-424D-A9E5-AA13FF0009DE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36185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079E28-5EF0-47BA-B06A-41CB89A3291E}" type="datetimeFigureOut">
              <a:rPr lang="en-US" smtClean="0"/>
              <a:t>9/29/2015</a:t>
            </a:fld>
            <a:endParaRPr lang="en-US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2FCA87-F1E2-424D-A9E5-AA13FF0009DE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42980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079E28-5EF0-47BA-B06A-41CB89A3291E}" type="datetimeFigureOut">
              <a:rPr lang="en-US" smtClean="0"/>
              <a:t>9/29/2015</a:t>
            </a:fld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2FCA87-F1E2-424D-A9E5-AA13FF0009DE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74310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079E28-5EF0-47BA-B06A-41CB89A3291E}" type="datetimeFigureOut">
              <a:rPr lang="en-US" smtClean="0"/>
              <a:t>9/29/2015</a:t>
            </a:fld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2FCA87-F1E2-424D-A9E5-AA13FF0009DE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65867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079E28-5EF0-47BA-B06A-41CB89A3291E}" type="datetimeFigureOut">
              <a:rPr lang="en-US" smtClean="0"/>
              <a:t>9/29/2015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2FCA87-F1E2-424D-A9E5-AA13FF0009DE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84552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079E28-5EF0-47BA-B06A-41CB89A3291E}" type="datetimeFigureOut">
              <a:rPr lang="en-US" smtClean="0"/>
              <a:t>9/29/2015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2FCA87-F1E2-424D-A9E5-AA13FF0009DE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14426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079E28-5EF0-47BA-B06A-41CB89A3291E}" type="datetimeFigureOut">
              <a:rPr lang="en-US" smtClean="0"/>
              <a:t>9/29/2015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2FCA87-F1E2-424D-A9E5-AA13FF0009DE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57981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/>
          <p:cNvSpPr txBox="1"/>
          <p:nvPr/>
        </p:nvSpPr>
        <p:spPr>
          <a:xfrm>
            <a:off x="728797" y="880845"/>
            <a:ext cx="2516340" cy="2123658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sz="1100" dirty="0" smtClean="0">
                <a:solidFill>
                  <a:srgbClr val="FFFF00"/>
                </a:solidFill>
              </a:rPr>
              <a:t>&gt;&gt;&gt; mat = [[1, 2, 3], 5] </a:t>
            </a:r>
          </a:p>
          <a:p>
            <a:r>
              <a:rPr lang="en-US" sz="1100" dirty="0" smtClean="0">
                <a:solidFill>
                  <a:srgbClr val="FFFF00"/>
                </a:solidFill>
              </a:rPr>
              <a:t>&gt;&gt;&gt; m1 =mat[:]</a:t>
            </a:r>
          </a:p>
          <a:p>
            <a:r>
              <a:rPr lang="en-US" sz="1100" dirty="0" smtClean="0">
                <a:solidFill>
                  <a:srgbClr val="FFFF00"/>
                </a:solidFill>
              </a:rPr>
              <a:t>&gt;&gt;&gt; mat[1] = 100</a:t>
            </a:r>
          </a:p>
          <a:p>
            <a:r>
              <a:rPr lang="en-US" sz="1100" dirty="0" smtClean="0">
                <a:solidFill>
                  <a:srgbClr val="FFFF00"/>
                </a:solidFill>
              </a:rPr>
              <a:t>&gt;&gt;&gt; mat[0][1] = 20</a:t>
            </a:r>
            <a:endParaRPr lang="en-US" sz="1100" dirty="0">
              <a:solidFill>
                <a:srgbClr val="FFFF00"/>
              </a:solidFill>
            </a:endParaRPr>
          </a:p>
          <a:p>
            <a:r>
              <a:rPr lang="en-US" sz="1100" dirty="0" smtClean="0">
                <a:solidFill>
                  <a:srgbClr val="FFFF00"/>
                </a:solidFill>
              </a:rPr>
              <a:t>&gt;&gt;&gt; mat</a:t>
            </a:r>
          </a:p>
          <a:p>
            <a:r>
              <a:rPr lang="en-US" sz="1100" dirty="0" smtClean="0">
                <a:solidFill>
                  <a:srgbClr val="FFFF00"/>
                </a:solidFill>
              </a:rPr>
              <a:t>[[1, 20, 3], 100]</a:t>
            </a:r>
            <a:endParaRPr lang="en-US" sz="1100" dirty="0">
              <a:solidFill>
                <a:srgbClr val="FFFF00"/>
              </a:solidFill>
            </a:endParaRPr>
          </a:p>
          <a:p>
            <a:r>
              <a:rPr lang="en-US" sz="1100" dirty="0" smtClean="0">
                <a:solidFill>
                  <a:srgbClr val="FFFF00"/>
                </a:solidFill>
              </a:rPr>
              <a:t>&gt;&gt;&gt; m1 </a:t>
            </a:r>
          </a:p>
          <a:p>
            <a:r>
              <a:rPr lang="en-US" sz="1100" dirty="0" smtClean="0">
                <a:solidFill>
                  <a:srgbClr val="FFFF00"/>
                </a:solidFill>
              </a:rPr>
              <a:t>[[1, 20, 3], 5]</a:t>
            </a:r>
          </a:p>
          <a:p>
            <a:r>
              <a:rPr lang="en-US" sz="1100" dirty="0" smtClean="0">
                <a:solidFill>
                  <a:srgbClr val="FFFF00"/>
                </a:solidFill>
              </a:rPr>
              <a:t>&gt;&gt;&gt; m2 = </a:t>
            </a:r>
            <a:r>
              <a:rPr lang="en-US" sz="1100" dirty="0" err="1" smtClean="0">
                <a:solidFill>
                  <a:srgbClr val="FFFF00"/>
                </a:solidFill>
              </a:rPr>
              <a:t>copy.deepcopy</a:t>
            </a:r>
            <a:r>
              <a:rPr lang="en-US" sz="1100" dirty="0" smtClean="0">
                <a:solidFill>
                  <a:srgbClr val="FFFF00"/>
                </a:solidFill>
              </a:rPr>
              <a:t>(mat)</a:t>
            </a:r>
            <a:endParaRPr lang="en-US" sz="1100" dirty="0">
              <a:solidFill>
                <a:srgbClr val="FFFF00"/>
              </a:solidFill>
            </a:endParaRPr>
          </a:p>
          <a:p>
            <a:endParaRPr lang="en-US" sz="1100" dirty="0" smtClean="0">
              <a:solidFill>
                <a:srgbClr val="FFFF00"/>
              </a:solidFill>
            </a:endParaRPr>
          </a:p>
          <a:p>
            <a:endParaRPr lang="en-US" sz="1100" dirty="0">
              <a:solidFill>
                <a:srgbClr val="FFFF00"/>
              </a:solidFill>
            </a:endParaRPr>
          </a:p>
          <a:p>
            <a:endParaRPr lang="en-US" sz="1100" dirty="0">
              <a:solidFill>
                <a:srgbClr val="FFFF00"/>
              </a:solidFill>
            </a:endParaRPr>
          </a:p>
        </p:txBody>
      </p:sp>
      <p:grpSp>
        <p:nvGrpSpPr>
          <p:cNvPr id="35" name="Groupe 34"/>
          <p:cNvGrpSpPr/>
          <p:nvPr/>
        </p:nvGrpSpPr>
        <p:grpSpPr>
          <a:xfrm>
            <a:off x="3283452" y="611497"/>
            <a:ext cx="2369065" cy="2023556"/>
            <a:chOff x="1804524" y="1652462"/>
            <a:chExt cx="2369065" cy="2023556"/>
          </a:xfrm>
        </p:grpSpPr>
        <p:sp>
          <p:nvSpPr>
            <p:cNvPr id="21" name="Rectangle 20"/>
            <p:cNvSpPr/>
            <p:nvPr/>
          </p:nvSpPr>
          <p:spPr>
            <a:xfrm>
              <a:off x="3278776" y="1762247"/>
              <a:ext cx="347472" cy="75082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" name="Connecteur droit 5"/>
            <p:cNvCxnSpPr/>
            <p:nvPr/>
          </p:nvCxnSpPr>
          <p:spPr>
            <a:xfrm>
              <a:off x="2548991" y="1652462"/>
              <a:ext cx="0" cy="149702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ZoneTexte 6"/>
            <p:cNvSpPr txBox="1"/>
            <p:nvPr/>
          </p:nvSpPr>
          <p:spPr>
            <a:xfrm>
              <a:off x="1804524" y="2063469"/>
              <a:ext cx="453154" cy="215444"/>
            </a:xfrm>
            <a:prstGeom prst="rect">
              <a:avLst/>
            </a:prstGeom>
            <a:noFill/>
          </p:spPr>
          <p:txBody>
            <a:bodyPr wrap="square" lIns="0" tIns="0" rIns="0" rtlCol="0">
              <a:spAutoFit/>
            </a:bodyPr>
            <a:lstStyle/>
            <a:p>
              <a:pPr algn="ctr"/>
              <a:r>
                <a:rPr lang="en-US" sz="1100" dirty="0" smtClean="0"/>
                <a:t>mat</a:t>
              </a:r>
              <a:endParaRPr lang="en-US" sz="1100" dirty="0"/>
            </a:p>
          </p:txBody>
        </p:sp>
        <p:sp>
          <p:nvSpPr>
            <p:cNvPr id="8" name="Rectangle 7"/>
            <p:cNvSpPr/>
            <p:nvPr/>
          </p:nvSpPr>
          <p:spPr>
            <a:xfrm>
              <a:off x="2666569" y="2028950"/>
              <a:ext cx="347472" cy="75082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ZoneTexte 8"/>
            <p:cNvSpPr txBox="1"/>
            <p:nvPr/>
          </p:nvSpPr>
          <p:spPr>
            <a:xfrm>
              <a:off x="2704884" y="2164104"/>
              <a:ext cx="270841" cy="215444"/>
            </a:xfrm>
            <a:prstGeom prst="rect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wrap="square" lIns="0" tIns="0" rIns="0" rtlCol="0">
              <a:spAutoFit/>
            </a:bodyPr>
            <a:lstStyle/>
            <a:p>
              <a:pPr algn="ctr"/>
              <a:r>
                <a:rPr lang="en-US" sz="1100" dirty="0" smtClean="0">
                  <a:solidFill>
                    <a:srgbClr val="C00000"/>
                  </a:solidFill>
                </a:rPr>
                <a:t>X</a:t>
              </a:r>
              <a:endParaRPr lang="en-US" sz="1100" dirty="0">
                <a:solidFill>
                  <a:srgbClr val="C00000"/>
                </a:solidFill>
              </a:endParaRPr>
            </a:p>
          </p:txBody>
        </p:sp>
        <p:sp>
          <p:nvSpPr>
            <p:cNvPr id="10" name="ZoneTexte 9"/>
            <p:cNvSpPr txBox="1"/>
            <p:nvPr/>
          </p:nvSpPr>
          <p:spPr>
            <a:xfrm>
              <a:off x="2704884" y="2441273"/>
              <a:ext cx="270841" cy="215444"/>
            </a:xfrm>
            <a:prstGeom prst="rect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wrap="square" lIns="0" tIns="0" rIns="0" rtlCol="0">
              <a:spAutoFit/>
            </a:bodyPr>
            <a:lstStyle/>
            <a:p>
              <a:pPr algn="ctr"/>
              <a:r>
                <a:rPr lang="en-US" sz="1100" dirty="0">
                  <a:solidFill>
                    <a:srgbClr val="C00000"/>
                  </a:solidFill>
                </a:rPr>
                <a:t>x</a:t>
              </a:r>
            </a:p>
          </p:txBody>
        </p:sp>
        <p:sp>
          <p:nvSpPr>
            <p:cNvPr id="11" name="ZoneTexte 10"/>
            <p:cNvSpPr txBox="1"/>
            <p:nvPr/>
          </p:nvSpPr>
          <p:spPr>
            <a:xfrm>
              <a:off x="3326678" y="1802326"/>
              <a:ext cx="270841" cy="215444"/>
            </a:xfrm>
            <a:prstGeom prst="rect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wrap="square" lIns="0" tIns="0" rIns="0" rtlCol="0">
              <a:spAutoFit/>
            </a:bodyPr>
            <a:lstStyle/>
            <a:p>
              <a:pPr algn="ctr"/>
              <a:r>
                <a:rPr lang="en-US" sz="1100" dirty="0"/>
                <a:t>X</a:t>
              </a:r>
            </a:p>
          </p:txBody>
        </p:sp>
        <p:sp>
          <p:nvSpPr>
            <p:cNvPr id="13" name="ZoneTexte 12"/>
            <p:cNvSpPr txBox="1"/>
            <p:nvPr/>
          </p:nvSpPr>
          <p:spPr>
            <a:xfrm>
              <a:off x="3326678" y="2011198"/>
              <a:ext cx="270841" cy="215444"/>
            </a:xfrm>
            <a:prstGeom prst="rect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wrap="square" lIns="0" tIns="0" rIns="0" rtlCol="0">
              <a:spAutoFit/>
            </a:bodyPr>
            <a:lstStyle/>
            <a:p>
              <a:pPr algn="ctr"/>
              <a:r>
                <a:rPr lang="en-US" sz="1100" dirty="0" smtClean="0"/>
                <a:t>X</a:t>
              </a:r>
              <a:endParaRPr lang="en-US" sz="1100" dirty="0"/>
            </a:p>
          </p:txBody>
        </p:sp>
        <p:sp>
          <p:nvSpPr>
            <p:cNvPr id="14" name="ZoneTexte 13"/>
            <p:cNvSpPr txBox="1"/>
            <p:nvPr/>
          </p:nvSpPr>
          <p:spPr>
            <a:xfrm>
              <a:off x="3326678" y="2228648"/>
              <a:ext cx="270841" cy="215444"/>
            </a:xfrm>
            <a:prstGeom prst="rect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wrap="square" lIns="0" tIns="0" rIns="0" rtlCol="0">
              <a:spAutoFit/>
            </a:bodyPr>
            <a:lstStyle/>
            <a:p>
              <a:pPr algn="ctr"/>
              <a:r>
                <a:rPr lang="en-US" sz="1100" dirty="0" smtClean="0"/>
                <a:t>X</a:t>
              </a:r>
              <a:endParaRPr lang="en-US" sz="1100" dirty="0"/>
            </a:p>
          </p:txBody>
        </p:sp>
        <p:sp>
          <p:nvSpPr>
            <p:cNvPr id="15" name="ZoneTexte 14"/>
            <p:cNvSpPr txBox="1"/>
            <p:nvPr/>
          </p:nvSpPr>
          <p:spPr>
            <a:xfrm>
              <a:off x="3902748" y="1721891"/>
              <a:ext cx="270841" cy="215444"/>
            </a:xfrm>
            <a:prstGeom prst="rect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wrap="square" lIns="0" tIns="0" rIns="0" rtlCol="0">
              <a:spAutoFit/>
            </a:bodyPr>
            <a:lstStyle/>
            <a:p>
              <a:pPr algn="ctr"/>
              <a:r>
                <a:rPr lang="en-US" sz="1100" dirty="0" smtClean="0"/>
                <a:t>1</a:t>
              </a:r>
              <a:endParaRPr lang="en-US" sz="1100" dirty="0"/>
            </a:p>
          </p:txBody>
        </p:sp>
        <p:sp>
          <p:nvSpPr>
            <p:cNvPr id="17" name="ZoneTexte 16"/>
            <p:cNvSpPr txBox="1"/>
            <p:nvPr/>
          </p:nvSpPr>
          <p:spPr>
            <a:xfrm>
              <a:off x="3902747" y="2333551"/>
              <a:ext cx="270841" cy="215444"/>
            </a:xfrm>
            <a:prstGeom prst="rect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wrap="square" lIns="0" tIns="0" rIns="0" rtlCol="0">
              <a:spAutoFit/>
            </a:bodyPr>
            <a:lstStyle/>
            <a:p>
              <a:pPr algn="ctr"/>
              <a:r>
                <a:rPr lang="en-US" sz="1100" dirty="0" smtClean="0"/>
                <a:t>3</a:t>
              </a:r>
              <a:endParaRPr lang="en-US" sz="1100" dirty="0"/>
            </a:p>
          </p:txBody>
        </p:sp>
        <p:cxnSp>
          <p:nvCxnSpPr>
            <p:cNvPr id="19" name="Connecteur droit avec flèche 18"/>
            <p:cNvCxnSpPr>
              <a:stCxn id="9" idx="0"/>
            </p:cNvCxnSpPr>
            <p:nvPr/>
          </p:nvCxnSpPr>
          <p:spPr>
            <a:xfrm flipV="1">
              <a:off x="2840305" y="1872210"/>
              <a:ext cx="426733" cy="29189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Connecteur droit avec flèche 23"/>
            <p:cNvCxnSpPr>
              <a:stCxn id="11" idx="3"/>
              <a:endCxn id="15" idx="1"/>
            </p:cNvCxnSpPr>
            <p:nvPr/>
          </p:nvCxnSpPr>
          <p:spPr>
            <a:xfrm flipV="1">
              <a:off x="3597519" y="1829613"/>
              <a:ext cx="305229" cy="8043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7" name="Connecteur droit avec flèche 26"/>
            <p:cNvCxnSpPr>
              <a:stCxn id="21" idx="3"/>
              <a:endCxn id="91" idx="1"/>
            </p:cNvCxnSpPr>
            <p:nvPr/>
          </p:nvCxnSpPr>
          <p:spPr>
            <a:xfrm flipV="1">
              <a:off x="3626248" y="2136672"/>
              <a:ext cx="276784" cy="98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" name="Connecteur droit avec flèche 27"/>
            <p:cNvCxnSpPr>
              <a:endCxn id="17" idx="1"/>
            </p:cNvCxnSpPr>
            <p:nvPr/>
          </p:nvCxnSpPr>
          <p:spPr>
            <a:xfrm>
              <a:off x="3585754" y="2376922"/>
              <a:ext cx="316993" cy="6435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3" name="Connecteur droit avec flèche 32"/>
            <p:cNvCxnSpPr/>
            <p:nvPr/>
          </p:nvCxnSpPr>
          <p:spPr>
            <a:xfrm flipV="1">
              <a:off x="2147092" y="2063469"/>
              <a:ext cx="537321" cy="6869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6" name="ZoneTexte 35"/>
            <p:cNvSpPr txBox="1"/>
            <p:nvPr/>
          </p:nvSpPr>
          <p:spPr>
            <a:xfrm>
              <a:off x="1817029" y="2902711"/>
              <a:ext cx="453154" cy="215444"/>
            </a:xfrm>
            <a:prstGeom prst="rect">
              <a:avLst/>
            </a:prstGeom>
            <a:noFill/>
          </p:spPr>
          <p:txBody>
            <a:bodyPr wrap="square" lIns="0" tIns="0" rIns="0" rtlCol="0">
              <a:spAutoFit/>
            </a:bodyPr>
            <a:lstStyle/>
            <a:p>
              <a:pPr algn="ctr"/>
              <a:r>
                <a:rPr lang="en-US" sz="1100" dirty="0" smtClean="0"/>
                <a:t>m2</a:t>
              </a:r>
              <a:endParaRPr lang="en-US" sz="1100" dirty="0"/>
            </a:p>
          </p:txBody>
        </p:sp>
        <p:sp>
          <p:nvSpPr>
            <p:cNvPr id="37" name="Rectangle 36"/>
            <p:cNvSpPr/>
            <p:nvPr/>
          </p:nvSpPr>
          <p:spPr>
            <a:xfrm>
              <a:off x="2666569" y="2887498"/>
              <a:ext cx="347472" cy="75082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ZoneTexte 37"/>
            <p:cNvSpPr txBox="1"/>
            <p:nvPr/>
          </p:nvSpPr>
          <p:spPr>
            <a:xfrm>
              <a:off x="2704884" y="3022652"/>
              <a:ext cx="270841" cy="215444"/>
            </a:xfrm>
            <a:prstGeom prst="rect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wrap="square" lIns="0" tIns="0" rIns="0" rtlCol="0">
              <a:spAutoFit/>
            </a:bodyPr>
            <a:lstStyle/>
            <a:p>
              <a:pPr algn="ctr"/>
              <a:r>
                <a:rPr lang="en-US" sz="1100" dirty="0" smtClean="0">
                  <a:solidFill>
                    <a:srgbClr val="C00000"/>
                  </a:solidFill>
                </a:rPr>
                <a:t>X</a:t>
              </a:r>
              <a:endParaRPr lang="en-US" sz="1100" dirty="0">
                <a:solidFill>
                  <a:srgbClr val="C00000"/>
                </a:solidFill>
              </a:endParaRPr>
            </a:p>
          </p:txBody>
        </p:sp>
        <p:sp>
          <p:nvSpPr>
            <p:cNvPr id="39" name="ZoneTexte 38"/>
            <p:cNvSpPr txBox="1"/>
            <p:nvPr/>
          </p:nvSpPr>
          <p:spPr>
            <a:xfrm>
              <a:off x="2704884" y="3299821"/>
              <a:ext cx="270841" cy="215444"/>
            </a:xfrm>
            <a:prstGeom prst="rect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wrap="square" lIns="0" tIns="0" rIns="0" rtlCol="0">
              <a:spAutoFit/>
            </a:bodyPr>
            <a:lstStyle/>
            <a:p>
              <a:pPr algn="ctr"/>
              <a:r>
                <a:rPr lang="en-US" sz="1100" dirty="0">
                  <a:solidFill>
                    <a:srgbClr val="C00000"/>
                  </a:solidFill>
                </a:rPr>
                <a:t>x</a:t>
              </a:r>
            </a:p>
          </p:txBody>
        </p:sp>
        <p:cxnSp>
          <p:nvCxnSpPr>
            <p:cNvPr id="40" name="Connecteur droit avec flèche 39"/>
            <p:cNvCxnSpPr/>
            <p:nvPr/>
          </p:nvCxnSpPr>
          <p:spPr>
            <a:xfrm flipV="1">
              <a:off x="2137807" y="2913961"/>
              <a:ext cx="537321" cy="6869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1" name="Connecteur droit avec flèche 50"/>
            <p:cNvCxnSpPr>
              <a:stCxn id="10" idx="3"/>
            </p:cNvCxnSpPr>
            <p:nvPr/>
          </p:nvCxnSpPr>
          <p:spPr>
            <a:xfrm>
              <a:off x="2975725" y="2548995"/>
              <a:ext cx="900079" cy="13859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5" name="ZoneTexte 54"/>
            <p:cNvSpPr txBox="1"/>
            <p:nvPr/>
          </p:nvSpPr>
          <p:spPr>
            <a:xfrm>
              <a:off x="3884363" y="2672054"/>
              <a:ext cx="270841" cy="215444"/>
            </a:xfrm>
            <a:prstGeom prst="rect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wrap="square" lIns="0" tIns="0" rIns="0" rtlCol="0">
              <a:spAutoFit/>
            </a:bodyPr>
            <a:lstStyle/>
            <a:p>
              <a:pPr algn="ctr"/>
              <a:r>
                <a:rPr lang="en-US" sz="1100" dirty="0" smtClean="0"/>
                <a:t>100</a:t>
              </a:r>
              <a:endParaRPr lang="en-US" sz="1100" dirty="0"/>
            </a:p>
          </p:txBody>
        </p:sp>
        <p:sp>
          <p:nvSpPr>
            <p:cNvPr id="91" name="ZoneTexte 90"/>
            <p:cNvSpPr txBox="1"/>
            <p:nvPr/>
          </p:nvSpPr>
          <p:spPr>
            <a:xfrm>
              <a:off x="3903032" y="2028950"/>
              <a:ext cx="252172" cy="215444"/>
            </a:xfrm>
            <a:prstGeom prst="rect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wrap="square" lIns="0" tIns="0" rIns="0" rtlCol="0">
              <a:spAutoFit/>
            </a:bodyPr>
            <a:lstStyle/>
            <a:p>
              <a:pPr algn="ctr"/>
              <a:r>
                <a:rPr lang="en-US" sz="1100" dirty="0" smtClean="0"/>
                <a:t>20</a:t>
              </a:r>
              <a:endParaRPr lang="en-US" sz="1100" dirty="0"/>
            </a:p>
          </p:txBody>
        </p:sp>
        <p:sp>
          <p:nvSpPr>
            <p:cNvPr id="128" name="ZoneTexte 127"/>
            <p:cNvSpPr txBox="1"/>
            <p:nvPr/>
          </p:nvSpPr>
          <p:spPr>
            <a:xfrm>
              <a:off x="1828765" y="1705868"/>
              <a:ext cx="453154" cy="215444"/>
            </a:xfrm>
            <a:prstGeom prst="rect">
              <a:avLst/>
            </a:prstGeom>
            <a:noFill/>
          </p:spPr>
          <p:txBody>
            <a:bodyPr wrap="square" lIns="0" tIns="0" rIns="0" rtlCol="0">
              <a:spAutoFit/>
            </a:bodyPr>
            <a:lstStyle/>
            <a:p>
              <a:pPr algn="ctr"/>
              <a:r>
                <a:rPr lang="en-US" sz="1100" dirty="0" smtClean="0"/>
                <a:t>m1</a:t>
              </a:r>
              <a:endParaRPr lang="en-US" sz="1100" dirty="0"/>
            </a:p>
          </p:txBody>
        </p:sp>
        <p:cxnSp>
          <p:nvCxnSpPr>
            <p:cNvPr id="129" name="Connecteur droit avec flèche 128"/>
            <p:cNvCxnSpPr/>
            <p:nvPr/>
          </p:nvCxnSpPr>
          <p:spPr>
            <a:xfrm flipV="1">
              <a:off x="2169400" y="1710135"/>
              <a:ext cx="537321" cy="6869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41" name="Rectangle 140"/>
            <p:cNvSpPr/>
            <p:nvPr/>
          </p:nvSpPr>
          <p:spPr>
            <a:xfrm>
              <a:off x="3223682" y="2925192"/>
              <a:ext cx="347472" cy="75082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2" name="ZoneTexte 141"/>
            <p:cNvSpPr txBox="1"/>
            <p:nvPr/>
          </p:nvSpPr>
          <p:spPr>
            <a:xfrm>
              <a:off x="3271584" y="2965271"/>
              <a:ext cx="270841" cy="215444"/>
            </a:xfrm>
            <a:prstGeom prst="rect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wrap="square" lIns="0" tIns="0" rIns="0" rtlCol="0">
              <a:spAutoFit/>
            </a:bodyPr>
            <a:lstStyle/>
            <a:p>
              <a:pPr algn="ctr"/>
              <a:r>
                <a:rPr lang="en-US" sz="1100" dirty="0"/>
                <a:t>X</a:t>
              </a:r>
            </a:p>
          </p:txBody>
        </p:sp>
        <p:sp>
          <p:nvSpPr>
            <p:cNvPr id="143" name="ZoneTexte 142"/>
            <p:cNvSpPr txBox="1"/>
            <p:nvPr/>
          </p:nvSpPr>
          <p:spPr>
            <a:xfrm>
              <a:off x="3271584" y="3174143"/>
              <a:ext cx="270841" cy="215444"/>
            </a:xfrm>
            <a:prstGeom prst="rect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wrap="square" lIns="0" tIns="0" rIns="0" rtlCol="0">
              <a:spAutoFit/>
            </a:bodyPr>
            <a:lstStyle/>
            <a:p>
              <a:pPr algn="ctr"/>
              <a:r>
                <a:rPr lang="en-US" sz="1100" dirty="0" smtClean="0"/>
                <a:t>X</a:t>
              </a:r>
              <a:endParaRPr lang="en-US" sz="1100" dirty="0"/>
            </a:p>
          </p:txBody>
        </p:sp>
        <p:sp>
          <p:nvSpPr>
            <p:cNvPr id="144" name="ZoneTexte 143"/>
            <p:cNvSpPr txBox="1"/>
            <p:nvPr/>
          </p:nvSpPr>
          <p:spPr>
            <a:xfrm>
              <a:off x="3271584" y="3391593"/>
              <a:ext cx="270841" cy="215444"/>
            </a:xfrm>
            <a:prstGeom prst="rect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wrap="square" lIns="0" tIns="0" rIns="0" rtlCol="0">
              <a:spAutoFit/>
            </a:bodyPr>
            <a:lstStyle/>
            <a:p>
              <a:pPr algn="ctr"/>
              <a:r>
                <a:rPr lang="en-US" sz="1100" dirty="0" smtClean="0"/>
                <a:t>X</a:t>
              </a:r>
              <a:endParaRPr lang="en-US" sz="1100" dirty="0"/>
            </a:p>
          </p:txBody>
        </p:sp>
        <p:cxnSp>
          <p:nvCxnSpPr>
            <p:cNvPr id="145" name="Connecteur droit avec flèche 144"/>
            <p:cNvCxnSpPr/>
            <p:nvPr/>
          </p:nvCxnSpPr>
          <p:spPr>
            <a:xfrm flipV="1">
              <a:off x="2986267" y="3008157"/>
              <a:ext cx="260793" cy="6989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56" name="ZoneTexte 55"/>
          <p:cNvSpPr txBox="1"/>
          <p:nvPr/>
        </p:nvSpPr>
        <p:spPr>
          <a:xfrm>
            <a:off x="6552877" y="739186"/>
            <a:ext cx="2516340" cy="2123658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sz="1100" dirty="0" smtClean="0">
                <a:solidFill>
                  <a:srgbClr val="FFFF00"/>
                </a:solidFill>
              </a:rPr>
              <a:t>&gt;&gt;&gt; mat = [[1, 2, 3], 5] </a:t>
            </a:r>
          </a:p>
          <a:p>
            <a:r>
              <a:rPr lang="en-US" sz="1100" dirty="0" smtClean="0">
                <a:solidFill>
                  <a:srgbClr val="FFFF00"/>
                </a:solidFill>
              </a:rPr>
              <a:t>&gt;&gt;&gt; m1 =mat[:]</a:t>
            </a:r>
          </a:p>
          <a:p>
            <a:r>
              <a:rPr lang="en-US" sz="1100" dirty="0" smtClean="0">
                <a:solidFill>
                  <a:srgbClr val="FFFF00"/>
                </a:solidFill>
              </a:rPr>
              <a:t>&gt;&gt;&gt; mat[1] = 100</a:t>
            </a:r>
          </a:p>
          <a:p>
            <a:r>
              <a:rPr lang="en-US" sz="1100" dirty="0" smtClean="0">
                <a:solidFill>
                  <a:srgbClr val="FFFF00"/>
                </a:solidFill>
              </a:rPr>
              <a:t>&gt;&gt;&gt; mat[0][1] = 20</a:t>
            </a:r>
            <a:endParaRPr lang="en-US" sz="1100" dirty="0">
              <a:solidFill>
                <a:srgbClr val="FFFF00"/>
              </a:solidFill>
            </a:endParaRPr>
          </a:p>
          <a:p>
            <a:r>
              <a:rPr lang="en-US" sz="1100" dirty="0" smtClean="0">
                <a:solidFill>
                  <a:srgbClr val="FFFF00"/>
                </a:solidFill>
              </a:rPr>
              <a:t>&gt;&gt;&gt;</a:t>
            </a:r>
          </a:p>
          <a:p>
            <a:endParaRPr lang="en-US" sz="1100" dirty="0">
              <a:solidFill>
                <a:srgbClr val="FFFF00"/>
              </a:solidFill>
            </a:endParaRPr>
          </a:p>
          <a:p>
            <a:endParaRPr lang="en-US" sz="1100" dirty="0" smtClean="0">
              <a:solidFill>
                <a:srgbClr val="FFFF00"/>
              </a:solidFill>
            </a:endParaRPr>
          </a:p>
          <a:p>
            <a:endParaRPr lang="en-US" sz="1100" dirty="0" smtClean="0">
              <a:solidFill>
                <a:srgbClr val="FFFF00"/>
              </a:solidFill>
            </a:endParaRPr>
          </a:p>
          <a:p>
            <a:endParaRPr lang="en-US" sz="1100" dirty="0">
              <a:solidFill>
                <a:srgbClr val="FFFF00"/>
              </a:solidFill>
            </a:endParaRPr>
          </a:p>
          <a:p>
            <a:endParaRPr lang="en-US" sz="1100" dirty="0" smtClean="0">
              <a:solidFill>
                <a:srgbClr val="FFFF00"/>
              </a:solidFill>
            </a:endParaRPr>
          </a:p>
          <a:p>
            <a:endParaRPr lang="en-US" sz="1100" dirty="0">
              <a:solidFill>
                <a:srgbClr val="FFFF00"/>
              </a:solidFill>
            </a:endParaRPr>
          </a:p>
          <a:p>
            <a:endParaRPr lang="en-US" sz="1100" dirty="0">
              <a:solidFill>
                <a:srgbClr val="FFFF00"/>
              </a:solidFill>
            </a:endParaRPr>
          </a:p>
        </p:txBody>
      </p:sp>
      <p:grpSp>
        <p:nvGrpSpPr>
          <p:cNvPr id="57" name="Groupe 56"/>
          <p:cNvGrpSpPr/>
          <p:nvPr/>
        </p:nvGrpSpPr>
        <p:grpSpPr>
          <a:xfrm>
            <a:off x="9107532" y="469838"/>
            <a:ext cx="2369065" cy="1985862"/>
            <a:chOff x="1804524" y="1652462"/>
            <a:chExt cx="2369065" cy="1985862"/>
          </a:xfrm>
        </p:grpSpPr>
        <p:sp>
          <p:nvSpPr>
            <p:cNvPr id="58" name="Rectangle 57"/>
            <p:cNvSpPr/>
            <p:nvPr/>
          </p:nvSpPr>
          <p:spPr>
            <a:xfrm>
              <a:off x="3278776" y="1762247"/>
              <a:ext cx="347472" cy="75082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9" name="Connecteur droit 58"/>
            <p:cNvCxnSpPr/>
            <p:nvPr/>
          </p:nvCxnSpPr>
          <p:spPr>
            <a:xfrm>
              <a:off x="2548991" y="1652462"/>
              <a:ext cx="0" cy="149702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ZoneTexte 59"/>
            <p:cNvSpPr txBox="1"/>
            <p:nvPr/>
          </p:nvSpPr>
          <p:spPr>
            <a:xfrm>
              <a:off x="1804524" y="2063469"/>
              <a:ext cx="453154" cy="215444"/>
            </a:xfrm>
            <a:prstGeom prst="rect">
              <a:avLst/>
            </a:prstGeom>
            <a:noFill/>
          </p:spPr>
          <p:txBody>
            <a:bodyPr wrap="square" lIns="0" tIns="0" rIns="0" rtlCol="0">
              <a:spAutoFit/>
            </a:bodyPr>
            <a:lstStyle/>
            <a:p>
              <a:pPr algn="ctr"/>
              <a:r>
                <a:rPr lang="en-US" sz="1100" dirty="0" smtClean="0"/>
                <a:t>mat</a:t>
              </a:r>
              <a:endParaRPr lang="en-US" sz="1100" dirty="0"/>
            </a:p>
          </p:txBody>
        </p:sp>
        <p:sp>
          <p:nvSpPr>
            <p:cNvPr id="61" name="Rectangle 60"/>
            <p:cNvSpPr/>
            <p:nvPr/>
          </p:nvSpPr>
          <p:spPr>
            <a:xfrm>
              <a:off x="2666569" y="2028950"/>
              <a:ext cx="347472" cy="75082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ZoneTexte 61"/>
            <p:cNvSpPr txBox="1"/>
            <p:nvPr/>
          </p:nvSpPr>
          <p:spPr>
            <a:xfrm>
              <a:off x="2704884" y="2164104"/>
              <a:ext cx="270841" cy="215444"/>
            </a:xfrm>
            <a:prstGeom prst="rect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wrap="square" lIns="0" tIns="0" rIns="0" rtlCol="0">
              <a:spAutoFit/>
            </a:bodyPr>
            <a:lstStyle/>
            <a:p>
              <a:pPr algn="ctr"/>
              <a:r>
                <a:rPr lang="en-US" sz="1100" dirty="0" smtClean="0">
                  <a:solidFill>
                    <a:srgbClr val="C00000"/>
                  </a:solidFill>
                </a:rPr>
                <a:t>X</a:t>
              </a:r>
              <a:endParaRPr lang="en-US" sz="1100" dirty="0">
                <a:solidFill>
                  <a:srgbClr val="C00000"/>
                </a:solidFill>
              </a:endParaRPr>
            </a:p>
          </p:txBody>
        </p:sp>
        <p:sp>
          <p:nvSpPr>
            <p:cNvPr id="63" name="ZoneTexte 62"/>
            <p:cNvSpPr txBox="1"/>
            <p:nvPr/>
          </p:nvSpPr>
          <p:spPr>
            <a:xfrm>
              <a:off x="2704884" y="2441273"/>
              <a:ext cx="270841" cy="215444"/>
            </a:xfrm>
            <a:prstGeom prst="rect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wrap="square" lIns="0" tIns="0" rIns="0" rtlCol="0">
              <a:spAutoFit/>
            </a:bodyPr>
            <a:lstStyle/>
            <a:p>
              <a:pPr algn="ctr"/>
              <a:r>
                <a:rPr lang="en-US" sz="1100" dirty="0">
                  <a:solidFill>
                    <a:srgbClr val="C00000"/>
                  </a:solidFill>
                </a:rPr>
                <a:t>x</a:t>
              </a:r>
            </a:p>
          </p:txBody>
        </p:sp>
        <p:sp>
          <p:nvSpPr>
            <p:cNvPr id="64" name="ZoneTexte 63"/>
            <p:cNvSpPr txBox="1"/>
            <p:nvPr/>
          </p:nvSpPr>
          <p:spPr>
            <a:xfrm>
              <a:off x="3326678" y="1802326"/>
              <a:ext cx="270841" cy="215444"/>
            </a:xfrm>
            <a:prstGeom prst="rect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wrap="square" lIns="0" tIns="0" rIns="0" rtlCol="0">
              <a:spAutoFit/>
            </a:bodyPr>
            <a:lstStyle/>
            <a:p>
              <a:pPr algn="ctr"/>
              <a:r>
                <a:rPr lang="en-US" sz="1100" dirty="0"/>
                <a:t>X</a:t>
              </a:r>
            </a:p>
          </p:txBody>
        </p:sp>
        <p:sp>
          <p:nvSpPr>
            <p:cNvPr id="65" name="ZoneTexte 64"/>
            <p:cNvSpPr txBox="1"/>
            <p:nvPr/>
          </p:nvSpPr>
          <p:spPr>
            <a:xfrm>
              <a:off x="3280954" y="2672054"/>
              <a:ext cx="270841" cy="215444"/>
            </a:xfrm>
            <a:prstGeom prst="rect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wrap="square" lIns="0" tIns="0" rIns="0" rtlCol="0">
              <a:spAutoFit/>
            </a:bodyPr>
            <a:lstStyle/>
            <a:p>
              <a:pPr algn="ctr"/>
              <a:r>
                <a:rPr lang="en-US" sz="1100" dirty="0"/>
                <a:t>5</a:t>
              </a:r>
            </a:p>
          </p:txBody>
        </p:sp>
        <p:sp>
          <p:nvSpPr>
            <p:cNvPr id="66" name="ZoneTexte 65"/>
            <p:cNvSpPr txBox="1"/>
            <p:nvPr/>
          </p:nvSpPr>
          <p:spPr>
            <a:xfrm>
              <a:off x="3326678" y="2011198"/>
              <a:ext cx="270841" cy="215444"/>
            </a:xfrm>
            <a:prstGeom prst="rect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wrap="square" lIns="0" tIns="0" rIns="0" rtlCol="0">
              <a:spAutoFit/>
            </a:bodyPr>
            <a:lstStyle/>
            <a:p>
              <a:pPr algn="ctr"/>
              <a:r>
                <a:rPr lang="en-US" sz="1100" dirty="0" smtClean="0"/>
                <a:t>X</a:t>
              </a:r>
              <a:endParaRPr lang="en-US" sz="1100" dirty="0"/>
            </a:p>
          </p:txBody>
        </p:sp>
        <p:sp>
          <p:nvSpPr>
            <p:cNvPr id="67" name="ZoneTexte 66"/>
            <p:cNvSpPr txBox="1"/>
            <p:nvPr/>
          </p:nvSpPr>
          <p:spPr>
            <a:xfrm>
              <a:off x="3326678" y="2228648"/>
              <a:ext cx="270841" cy="215444"/>
            </a:xfrm>
            <a:prstGeom prst="rect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wrap="square" lIns="0" tIns="0" rIns="0" rtlCol="0">
              <a:spAutoFit/>
            </a:bodyPr>
            <a:lstStyle/>
            <a:p>
              <a:pPr algn="ctr"/>
              <a:r>
                <a:rPr lang="en-US" sz="1100" dirty="0" smtClean="0"/>
                <a:t>X</a:t>
              </a:r>
              <a:endParaRPr lang="en-US" sz="1100" dirty="0"/>
            </a:p>
          </p:txBody>
        </p:sp>
        <p:sp>
          <p:nvSpPr>
            <p:cNvPr id="68" name="ZoneTexte 67"/>
            <p:cNvSpPr txBox="1"/>
            <p:nvPr/>
          </p:nvSpPr>
          <p:spPr>
            <a:xfrm>
              <a:off x="3902748" y="1721891"/>
              <a:ext cx="270841" cy="215444"/>
            </a:xfrm>
            <a:prstGeom prst="rect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wrap="square" lIns="0" tIns="0" rIns="0" rtlCol="0">
              <a:spAutoFit/>
            </a:bodyPr>
            <a:lstStyle/>
            <a:p>
              <a:pPr algn="ctr"/>
              <a:r>
                <a:rPr lang="en-US" sz="1100" dirty="0" smtClean="0"/>
                <a:t>1</a:t>
              </a:r>
              <a:endParaRPr lang="en-US" sz="1100" dirty="0"/>
            </a:p>
          </p:txBody>
        </p:sp>
        <p:sp>
          <p:nvSpPr>
            <p:cNvPr id="69" name="ZoneTexte 68"/>
            <p:cNvSpPr txBox="1"/>
            <p:nvPr/>
          </p:nvSpPr>
          <p:spPr>
            <a:xfrm>
              <a:off x="3902748" y="2029938"/>
              <a:ext cx="270841" cy="215444"/>
            </a:xfrm>
            <a:prstGeom prst="rect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wrap="square" lIns="0" tIns="0" rIns="0" rtlCol="0">
              <a:spAutoFit/>
            </a:bodyPr>
            <a:lstStyle/>
            <a:p>
              <a:pPr algn="ctr"/>
              <a:r>
                <a:rPr lang="en-US" sz="1100" dirty="0" smtClean="0"/>
                <a:t>2</a:t>
              </a:r>
              <a:endParaRPr lang="en-US" sz="1100" dirty="0"/>
            </a:p>
          </p:txBody>
        </p:sp>
        <p:sp>
          <p:nvSpPr>
            <p:cNvPr id="70" name="ZoneTexte 69"/>
            <p:cNvSpPr txBox="1"/>
            <p:nvPr/>
          </p:nvSpPr>
          <p:spPr>
            <a:xfrm>
              <a:off x="3902747" y="2333551"/>
              <a:ext cx="270841" cy="215444"/>
            </a:xfrm>
            <a:prstGeom prst="rect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wrap="square" lIns="0" tIns="0" rIns="0" rtlCol="0">
              <a:spAutoFit/>
            </a:bodyPr>
            <a:lstStyle/>
            <a:p>
              <a:pPr algn="ctr"/>
              <a:r>
                <a:rPr lang="en-US" sz="1100" dirty="0" smtClean="0"/>
                <a:t>3</a:t>
              </a:r>
              <a:endParaRPr lang="en-US" sz="1100" dirty="0"/>
            </a:p>
          </p:txBody>
        </p:sp>
        <p:cxnSp>
          <p:nvCxnSpPr>
            <p:cNvPr id="71" name="Connecteur droit avec flèche 70"/>
            <p:cNvCxnSpPr>
              <a:stCxn id="62" idx="0"/>
            </p:cNvCxnSpPr>
            <p:nvPr/>
          </p:nvCxnSpPr>
          <p:spPr>
            <a:xfrm flipV="1">
              <a:off x="2840305" y="1872210"/>
              <a:ext cx="426733" cy="29189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2" name="Connecteur droit avec flèche 71"/>
            <p:cNvCxnSpPr>
              <a:stCxn id="64" idx="3"/>
              <a:endCxn id="68" idx="1"/>
            </p:cNvCxnSpPr>
            <p:nvPr/>
          </p:nvCxnSpPr>
          <p:spPr>
            <a:xfrm flipV="1">
              <a:off x="3597519" y="1829613"/>
              <a:ext cx="305229" cy="8043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3" name="Connecteur droit avec flèche 72"/>
            <p:cNvCxnSpPr>
              <a:endCxn id="69" idx="1"/>
            </p:cNvCxnSpPr>
            <p:nvPr/>
          </p:nvCxnSpPr>
          <p:spPr>
            <a:xfrm>
              <a:off x="3585754" y="2137479"/>
              <a:ext cx="316994" cy="18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4" name="Connecteur droit avec flèche 73"/>
            <p:cNvCxnSpPr>
              <a:endCxn id="70" idx="1"/>
            </p:cNvCxnSpPr>
            <p:nvPr/>
          </p:nvCxnSpPr>
          <p:spPr>
            <a:xfrm>
              <a:off x="3585754" y="2376922"/>
              <a:ext cx="316993" cy="6435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5" name="Connecteur droit avec flèche 74"/>
            <p:cNvCxnSpPr>
              <a:endCxn id="65" idx="1"/>
            </p:cNvCxnSpPr>
            <p:nvPr/>
          </p:nvCxnSpPr>
          <p:spPr>
            <a:xfrm>
              <a:off x="2971784" y="2556358"/>
              <a:ext cx="309170" cy="223418"/>
            </a:xfrm>
            <a:prstGeom prst="straightConnector1">
              <a:avLst/>
            </a:prstGeom>
            <a:ln>
              <a:solidFill>
                <a:srgbClr val="FF0000"/>
              </a:solidFill>
              <a:prstDash val="lgDash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6" name="Connecteur droit avec flèche 75"/>
            <p:cNvCxnSpPr/>
            <p:nvPr/>
          </p:nvCxnSpPr>
          <p:spPr>
            <a:xfrm flipV="1">
              <a:off x="2147092" y="2063469"/>
              <a:ext cx="537321" cy="6869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7" name="ZoneTexte 76"/>
            <p:cNvSpPr txBox="1"/>
            <p:nvPr/>
          </p:nvSpPr>
          <p:spPr>
            <a:xfrm>
              <a:off x="1817029" y="2902711"/>
              <a:ext cx="453154" cy="215444"/>
            </a:xfrm>
            <a:prstGeom prst="rect">
              <a:avLst/>
            </a:prstGeom>
            <a:noFill/>
          </p:spPr>
          <p:txBody>
            <a:bodyPr wrap="square" lIns="0" tIns="0" rIns="0" rtlCol="0">
              <a:spAutoFit/>
            </a:bodyPr>
            <a:lstStyle/>
            <a:p>
              <a:pPr algn="ctr"/>
              <a:r>
                <a:rPr lang="en-US" sz="1100" dirty="0" smtClean="0"/>
                <a:t>m1</a:t>
              </a:r>
              <a:endParaRPr lang="en-US" sz="1100" dirty="0"/>
            </a:p>
          </p:txBody>
        </p:sp>
        <p:sp>
          <p:nvSpPr>
            <p:cNvPr id="78" name="Rectangle 77"/>
            <p:cNvSpPr/>
            <p:nvPr/>
          </p:nvSpPr>
          <p:spPr>
            <a:xfrm>
              <a:off x="2666569" y="2887498"/>
              <a:ext cx="347472" cy="75082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" name="ZoneTexte 78"/>
            <p:cNvSpPr txBox="1"/>
            <p:nvPr/>
          </p:nvSpPr>
          <p:spPr>
            <a:xfrm>
              <a:off x="2704884" y="3022652"/>
              <a:ext cx="270841" cy="215444"/>
            </a:xfrm>
            <a:prstGeom prst="rect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wrap="square" lIns="0" tIns="0" rIns="0" rtlCol="0">
              <a:spAutoFit/>
            </a:bodyPr>
            <a:lstStyle/>
            <a:p>
              <a:pPr algn="ctr"/>
              <a:r>
                <a:rPr lang="en-US" sz="1100" dirty="0" smtClean="0">
                  <a:solidFill>
                    <a:srgbClr val="C00000"/>
                  </a:solidFill>
                </a:rPr>
                <a:t>X</a:t>
              </a:r>
              <a:endParaRPr lang="en-US" sz="1100" dirty="0">
                <a:solidFill>
                  <a:srgbClr val="C00000"/>
                </a:solidFill>
              </a:endParaRPr>
            </a:p>
          </p:txBody>
        </p:sp>
        <p:sp>
          <p:nvSpPr>
            <p:cNvPr id="80" name="ZoneTexte 79"/>
            <p:cNvSpPr txBox="1"/>
            <p:nvPr/>
          </p:nvSpPr>
          <p:spPr>
            <a:xfrm>
              <a:off x="2704884" y="3299821"/>
              <a:ext cx="270841" cy="215444"/>
            </a:xfrm>
            <a:prstGeom prst="rect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wrap="square" lIns="0" tIns="0" rIns="0" rtlCol="0">
              <a:spAutoFit/>
            </a:bodyPr>
            <a:lstStyle/>
            <a:p>
              <a:pPr algn="ctr"/>
              <a:r>
                <a:rPr lang="en-US" sz="1100" dirty="0">
                  <a:solidFill>
                    <a:srgbClr val="C00000"/>
                  </a:solidFill>
                </a:rPr>
                <a:t>x</a:t>
              </a:r>
            </a:p>
          </p:txBody>
        </p:sp>
        <p:cxnSp>
          <p:nvCxnSpPr>
            <p:cNvPr id="81" name="Connecteur droit avec flèche 80"/>
            <p:cNvCxnSpPr/>
            <p:nvPr/>
          </p:nvCxnSpPr>
          <p:spPr>
            <a:xfrm flipV="1">
              <a:off x="2137807" y="2913961"/>
              <a:ext cx="537321" cy="6869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2" name="Connecteur droit avec flèche 81"/>
            <p:cNvCxnSpPr>
              <a:endCxn id="65" idx="2"/>
            </p:cNvCxnSpPr>
            <p:nvPr/>
          </p:nvCxnSpPr>
          <p:spPr>
            <a:xfrm flipV="1">
              <a:off x="2969409" y="2887498"/>
              <a:ext cx="446966" cy="51144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3" name="Connecteur droit avec flèche 82"/>
            <p:cNvCxnSpPr>
              <a:stCxn id="63" idx="3"/>
            </p:cNvCxnSpPr>
            <p:nvPr/>
          </p:nvCxnSpPr>
          <p:spPr>
            <a:xfrm>
              <a:off x="2975725" y="2548995"/>
              <a:ext cx="900079" cy="13859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84" name="ZoneTexte 83"/>
            <p:cNvSpPr txBox="1"/>
            <p:nvPr/>
          </p:nvSpPr>
          <p:spPr>
            <a:xfrm>
              <a:off x="2935224" y="2615208"/>
              <a:ext cx="453154" cy="215444"/>
            </a:xfrm>
            <a:prstGeom prst="rect">
              <a:avLst/>
            </a:prstGeom>
            <a:noFill/>
          </p:spPr>
          <p:txBody>
            <a:bodyPr wrap="square" lIns="0" tIns="0" rIns="0" rtlCol="0">
              <a:spAutoFit/>
            </a:bodyPr>
            <a:lstStyle/>
            <a:p>
              <a:pPr algn="ctr"/>
              <a:r>
                <a:rPr lang="en-US" sz="1100" dirty="0" smtClean="0">
                  <a:solidFill>
                    <a:srgbClr val="FF0000"/>
                  </a:solidFill>
                </a:rPr>
                <a:t>X</a:t>
              </a:r>
              <a:endParaRPr lang="en-US" sz="1100" dirty="0">
                <a:solidFill>
                  <a:srgbClr val="FF0000"/>
                </a:solidFill>
              </a:endParaRPr>
            </a:p>
          </p:txBody>
        </p:sp>
        <p:sp>
          <p:nvSpPr>
            <p:cNvPr id="85" name="ZoneTexte 84"/>
            <p:cNvSpPr txBox="1"/>
            <p:nvPr/>
          </p:nvSpPr>
          <p:spPr>
            <a:xfrm>
              <a:off x="3884363" y="2672054"/>
              <a:ext cx="270841" cy="215444"/>
            </a:xfrm>
            <a:prstGeom prst="rect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wrap="square" lIns="0" tIns="0" rIns="0" rtlCol="0">
              <a:spAutoFit/>
            </a:bodyPr>
            <a:lstStyle/>
            <a:p>
              <a:pPr algn="ctr"/>
              <a:r>
                <a:rPr lang="en-US" sz="1100" dirty="0" smtClean="0"/>
                <a:t>100</a:t>
              </a:r>
              <a:endParaRPr lang="en-US" sz="1100" dirty="0"/>
            </a:p>
          </p:txBody>
        </p:sp>
      </p:grpSp>
      <p:sp>
        <p:nvSpPr>
          <p:cNvPr id="86" name="Forme libre 85"/>
          <p:cNvSpPr/>
          <p:nvPr/>
        </p:nvSpPr>
        <p:spPr>
          <a:xfrm>
            <a:off x="10265664" y="984504"/>
            <a:ext cx="301752" cy="896112"/>
          </a:xfrm>
          <a:custGeom>
            <a:avLst/>
            <a:gdLst>
              <a:gd name="connsiteX0" fmla="*/ 0 w 301752"/>
              <a:gd name="connsiteY0" fmla="*/ 896112 h 896112"/>
              <a:gd name="connsiteX1" fmla="*/ 164592 w 301752"/>
              <a:gd name="connsiteY1" fmla="*/ 256032 h 896112"/>
              <a:gd name="connsiteX2" fmla="*/ 301752 w 301752"/>
              <a:gd name="connsiteY2" fmla="*/ 0 h 896112"/>
              <a:gd name="connsiteX3" fmla="*/ 301752 w 301752"/>
              <a:gd name="connsiteY3" fmla="*/ 0 h 8961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1752" h="896112">
                <a:moveTo>
                  <a:pt x="0" y="896112"/>
                </a:moveTo>
                <a:cubicBezTo>
                  <a:pt x="57150" y="650748"/>
                  <a:pt x="114300" y="405384"/>
                  <a:pt x="164592" y="256032"/>
                </a:cubicBezTo>
                <a:cubicBezTo>
                  <a:pt x="214884" y="106680"/>
                  <a:pt x="301752" y="0"/>
                  <a:pt x="301752" y="0"/>
                </a:cubicBezTo>
                <a:lnTo>
                  <a:pt x="301752" y="0"/>
                </a:lnTo>
              </a:path>
            </a:pathLst>
          </a:custGeom>
          <a:ln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Arc 86"/>
          <p:cNvSpPr/>
          <p:nvPr/>
        </p:nvSpPr>
        <p:spPr>
          <a:xfrm rot="13518480">
            <a:off x="9841612" y="896118"/>
            <a:ext cx="793553" cy="1052548"/>
          </a:xfrm>
          <a:prstGeom prst="arc">
            <a:avLst>
              <a:gd name="adj1" fmla="val 15011672"/>
              <a:gd name="adj2" fmla="val 599324"/>
            </a:avLst>
          </a:prstGeom>
          <a:ln>
            <a:solidFill>
              <a:schemeClr val="tx1"/>
            </a:solidFill>
            <a:prstDash val="dash"/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Arc 87"/>
          <p:cNvSpPr/>
          <p:nvPr/>
        </p:nvSpPr>
        <p:spPr>
          <a:xfrm rot="13518480">
            <a:off x="9841329" y="1188678"/>
            <a:ext cx="793553" cy="1052548"/>
          </a:xfrm>
          <a:prstGeom prst="arc">
            <a:avLst>
              <a:gd name="adj1" fmla="val 15011672"/>
              <a:gd name="adj2" fmla="val 599324"/>
            </a:avLst>
          </a:prstGeom>
          <a:ln>
            <a:solidFill>
              <a:schemeClr val="tx1"/>
            </a:solidFill>
            <a:prstDash val="dash"/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ZoneTexte 93"/>
          <p:cNvSpPr txBox="1"/>
          <p:nvPr/>
        </p:nvSpPr>
        <p:spPr>
          <a:xfrm>
            <a:off x="6970486" y="3923515"/>
            <a:ext cx="2516340" cy="2123658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sz="1100" dirty="0" smtClean="0">
                <a:solidFill>
                  <a:srgbClr val="FFFF00"/>
                </a:solidFill>
              </a:rPr>
              <a:t>&gt;&gt;&gt; mat = [[1, 2, 3], 5] </a:t>
            </a:r>
          </a:p>
          <a:p>
            <a:r>
              <a:rPr lang="en-US" sz="1100" dirty="0" smtClean="0">
                <a:solidFill>
                  <a:srgbClr val="FFFF00"/>
                </a:solidFill>
              </a:rPr>
              <a:t>&gt;&gt;&gt; m1 =mat[:]</a:t>
            </a:r>
          </a:p>
          <a:p>
            <a:r>
              <a:rPr lang="en-US" sz="1100" dirty="0" smtClean="0">
                <a:solidFill>
                  <a:srgbClr val="FFFF00"/>
                </a:solidFill>
              </a:rPr>
              <a:t>&gt;&gt;&gt; mat[1] = 100</a:t>
            </a:r>
          </a:p>
          <a:p>
            <a:r>
              <a:rPr lang="en-US" sz="1100" dirty="0" smtClean="0">
                <a:solidFill>
                  <a:srgbClr val="FFFF00"/>
                </a:solidFill>
              </a:rPr>
              <a:t>&gt;&gt;&gt; mat[0][1] = 20</a:t>
            </a:r>
            <a:endParaRPr lang="en-US" sz="1100" dirty="0">
              <a:solidFill>
                <a:srgbClr val="FFFF00"/>
              </a:solidFill>
            </a:endParaRPr>
          </a:p>
          <a:p>
            <a:r>
              <a:rPr lang="en-US" sz="1100" dirty="0" smtClean="0">
                <a:solidFill>
                  <a:srgbClr val="FFFF00"/>
                </a:solidFill>
              </a:rPr>
              <a:t>&gt;&gt;&gt; mat</a:t>
            </a:r>
          </a:p>
          <a:p>
            <a:r>
              <a:rPr lang="en-US" sz="1100" dirty="0" smtClean="0">
                <a:solidFill>
                  <a:srgbClr val="FFFF00"/>
                </a:solidFill>
              </a:rPr>
              <a:t>[[1, 20, 3], 100]</a:t>
            </a:r>
            <a:endParaRPr lang="en-US" sz="1100" dirty="0">
              <a:solidFill>
                <a:srgbClr val="FFFF00"/>
              </a:solidFill>
            </a:endParaRPr>
          </a:p>
          <a:p>
            <a:r>
              <a:rPr lang="en-US" sz="1100" dirty="0" smtClean="0">
                <a:solidFill>
                  <a:srgbClr val="FFFF00"/>
                </a:solidFill>
              </a:rPr>
              <a:t>&gt;&gt;&gt; m1 </a:t>
            </a:r>
          </a:p>
          <a:p>
            <a:r>
              <a:rPr lang="en-US" sz="1100" dirty="0" smtClean="0">
                <a:solidFill>
                  <a:srgbClr val="FFFF00"/>
                </a:solidFill>
              </a:rPr>
              <a:t>[[1, 20, 3], 5]</a:t>
            </a:r>
          </a:p>
          <a:p>
            <a:r>
              <a:rPr lang="en-US" sz="1100" dirty="0" smtClean="0">
                <a:solidFill>
                  <a:srgbClr val="FFFF00"/>
                </a:solidFill>
              </a:rPr>
              <a:t>&gt;&gt;&gt;</a:t>
            </a:r>
          </a:p>
          <a:p>
            <a:endParaRPr lang="en-US" sz="1100" dirty="0" smtClean="0">
              <a:solidFill>
                <a:srgbClr val="FFFF00"/>
              </a:solidFill>
            </a:endParaRPr>
          </a:p>
          <a:p>
            <a:endParaRPr lang="en-US" sz="1100" dirty="0">
              <a:solidFill>
                <a:srgbClr val="FFFF00"/>
              </a:solidFill>
            </a:endParaRPr>
          </a:p>
          <a:p>
            <a:endParaRPr lang="en-US" sz="1100" dirty="0">
              <a:solidFill>
                <a:srgbClr val="FFFF00"/>
              </a:solidFill>
            </a:endParaRPr>
          </a:p>
        </p:txBody>
      </p:sp>
      <p:grpSp>
        <p:nvGrpSpPr>
          <p:cNvPr id="95" name="Groupe 94"/>
          <p:cNvGrpSpPr/>
          <p:nvPr/>
        </p:nvGrpSpPr>
        <p:grpSpPr>
          <a:xfrm>
            <a:off x="9525141" y="3654167"/>
            <a:ext cx="2369065" cy="1985862"/>
            <a:chOff x="1804524" y="1652462"/>
            <a:chExt cx="2369065" cy="1985862"/>
          </a:xfrm>
        </p:grpSpPr>
        <p:sp>
          <p:nvSpPr>
            <p:cNvPr id="96" name="Rectangle 95"/>
            <p:cNvSpPr/>
            <p:nvPr/>
          </p:nvSpPr>
          <p:spPr>
            <a:xfrm>
              <a:off x="3278776" y="1762247"/>
              <a:ext cx="347472" cy="75082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7" name="Connecteur droit 96"/>
            <p:cNvCxnSpPr/>
            <p:nvPr/>
          </p:nvCxnSpPr>
          <p:spPr>
            <a:xfrm>
              <a:off x="2548991" y="1652462"/>
              <a:ext cx="0" cy="149702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8" name="ZoneTexte 97"/>
            <p:cNvSpPr txBox="1"/>
            <p:nvPr/>
          </p:nvSpPr>
          <p:spPr>
            <a:xfrm>
              <a:off x="1804524" y="2063469"/>
              <a:ext cx="453154" cy="215444"/>
            </a:xfrm>
            <a:prstGeom prst="rect">
              <a:avLst/>
            </a:prstGeom>
            <a:noFill/>
          </p:spPr>
          <p:txBody>
            <a:bodyPr wrap="square" lIns="0" tIns="0" rIns="0" rtlCol="0">
              <a:spAutoFit/>
            </a:bodyPr>
            <a:lstStyle/>
            <a:p>
              <a:pPr algn="ctr"/>
              <a:r>
                <a:rPr lang="en-US" sz="1100" dirty="0" smtClean="0"/>
                <a:t>mat</a:t>
              </a:r>
              <a:endParaRPr lang="en-US" sz="1100" dirty="0"/>
            </a:p>
          </p:txBody>
        </p:sp>
        <p:sp>
          <p:nvSpPr>
            <p:cNvPr id="99" name="Rectangle 98"/>
            <p:cNvSpPr/>
            <p:nvPr/>
          </p:nvSpPr>
          <p:spPr>
            <a:xfrm>
              <a:off x="2666569" y="2028950"/>
              <a:ext cx="347472" cy="75082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ZoneTexte 99"/>
            <p:cNvSpPr txBox="1"/>
            <p:nvPr/>
          </p:nvSpPr>
          <p:spPr>
            <a:xfrm>
              <a:off x="2704884" y="2164104"/>
              <a:ext cx="270841" cy="215444"/>
            </a:xfrm>
            <a:prstGeom prst="rect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wrap="square" lIns="0" tIns="0" rIns="0" rtlCol="0">
              <a:spAutoFit/>
            </a:bodyPr>
            <a:lstStyle/>
            <a:p>
              <a:pPr algn="ctr"/>
              <a:r>
                <a:rPr lang="en-US" sz="1100" dirty="0" smtClean="0">
                  <a:solidFill>
                    <a:srgbClr val="C00000"/>
                  </a:solidFill>
                </a:rPr>
                <a:t>X</a:t>
              </a:r>
              <a:endParaRPr lang="en-US" sz="1100" dirty="0">
                <a:solidFill>
                  <a:srgbClr val="C00000"/>
                </a:solidFill>
              </a:endParaRPr>
            </a:p>
          </p:txBody>
        </p:sp>
        <p:sp>
          <p:nvSpPr>
            <p:cNvPr id="101" name="ZoneTexte 100"/>
            <p:cNvSpPr txBox="1"/>
            <p:nvPr/>
          </p:nvSpPr>
          <p:spPr>
            <a:xfrm>
              <a:off x="2704884" y="2441273"/>
              <a:ext cx="270841" cy="215444"/>
            </a:xfrm>
            <a:prstGeom prst="rect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wrap="square" lIns="0" tIns="0" rIns="0" rtlCol="0">
              <a:spAutoFit/>
            </a:bodyPr>
            <a:lstStyle/>
            <a:p>
              <a:pPr algn="ctr"/>
              <a:r>
                <a:rPr lang="en-US" sz="1100" dirty="0">
                  <a:solidFill>
                    <a:srgbClr val="C00000"/>
                  </a:solidFill>
                </a:rPr>
                <a:t>x</a:t>
              </a:r>
            </a:p>
          </p:txBody>
        </p:sp>
        <p:sp>
          <p:nvSpPr>
            <p:cNvPr id="102" name="ZoneTexte 101"/>
            <p:cNvSpPr txBox="1"/>
            <p:nvPr/>
          </p:nvSpPr>
          <p:spPr>
            <a:xfrm>
              <a:off x="3326678" y="1802326"/>
              <a:ext cx="270841" cy="215444"/>
            </a:xfrm>
            <a:prstGeom prst="rect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wrap="square" lIns="0" tIns="0" rIns="0" rtlCol="0">
              <a:spAutoFit/>
            </a:bodyPr>
            <a:lstStyle/>
            <a:p>
              <a:pPr algn="ctr"/>
              <a:r>
                <a:rPr lang="en-US" sz="1100" dirty="0"/>
                <a:t>X</a:t>
              </a:r>
            </a:p>
          </p:txBody>
        </p:sp>
        <p:sp>
          <p:nvSpPr>
            <p:cNvPr id="103" name="ZoneTexte 102"/>
            <p:cNvSpPr txBox="1"/>
            <p:nvPr/>
          </p:nvSpPr>
          <p:spPr>
            <a:xfrm>
              <a:off x="3280954" y="2672054"/>
              <a:ext cx="270841" cy="215444"/>
            </a:xfrm>
            <a:prstGeom prst="rect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wrap="square" lIns="0" tIns="0" rIns="0" rtlCol="0">
              <a:spAutoFit/>
            </a:bodyPr>
            <a:lstStyle/>
            <a:p>
              <a:pPr algn="ctr"/>
              <a:r>
                <a:rPr lang="en-US" sz="1100" dirty="0"/>
                <a:t>5</a:t>
              </a:r>
            </a:p>
          </p:txBody>
        </p:sp>
        <p:sp>
          <p:nvSpPr>
            <p:cNvPr id="104" name="ZoneTexte 103"/>
            <p:cNvSpPr txBox="1"/>
            <p:nvPr/>
          </p:nvSpPr>
          <p:spPr>
            <a:xfrm>
              <a:off x="3326678" y="2011198"/>
              <a:ext cx="270841" cy="215444"/>
            </a:xfrm>
            <a:prstGeom prst="rect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wrap="square" lIns="0" tIns="0" rIns="0" rtlCol="0">
              <a:spAutoFit/>
            </a:bodyPr>
            <a:lstStyle/>
            <a:p>
              <a:pPr algn="ctr"/>
              <a:r>
                <a:rPr lang="en-US" sz="1100" dirty="0" smtClean="0"/>
                <a:t>X</a:t>
              </a:r>
              <a:endParaRPr lang="en-US" sz="1100" dirty="0"/>
            </a:p>
          </p:txBody>
        </p:sp>
        <p:sp>
          <p:nvSpPr>
            <p:cNvPr id="105" name="ZoneTexte 104"/>
            <p:cNvSpPr txBox="1"/>
            <p:nvPr/>
          </p:nvSpPr>
          <p:spPr>
            <a:xfrm>
              <a:off x="3326678" y="2228648"/>
              <a:ext cx="270841" cy="215444"/>
            </a:xfrm>
            <a:prstGeom prst="rect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wrap="square" lIns="0" tIns="0" rIns="0" rtlCol="0">
              <a:spAutoFit/>
            </a:bodyPr>
            <a:lstStyle/>
            <a:p>
              <a:pPr algn="ctr"/>
              <a:r>
                <a:rPr lang="en-US" sz="1100" dirty="0" smtClean="0"/>
                <a:t>X</a:t>
              </a:r>
              <a:endParaRPr lang="en-US" sz="1100" dirty="0"/>
            </a:p>
          </p:txBody>
        </p:sp>
        <p:sp>
          <p:nvSpPr>
            <p:cNvPr id="106" name="ZoneTexte 105"/>
            <p:cNvSpPr txBox="1"/>
            <p:nvPr/>
          </p:nvSpPr>
          <p:spPr>
            <a:xfrm>
              <a:off x="3902748" y="1721891"/>
              <a:ext cx="270841" cy="215444"/>
            </a:xfrm>
            <a:prstGeom prst="rect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wrap="square" lIns="0" tIns="0" rIns="0" rtlCol="0">
              <a:spAutoFit/>
            </a:bodyPr>
            <a:lstStyle/>
            <a:p>
              <a:pPr algn="ctr"/>
              <a:r>
                <a:rPr lang="en-US" sz="1100" dirty="0" smtClean="0"/>
                <a:t>1</a:t>
              </a:r>
              <a:endParaRPr lang="en-US" sz="1100" dirty="0"/>
            </a:p>
          </p:txBody>
        </p:sp>
        <p:sp>
          <p:nvSpPr>
            <p:cNvPr id="107" name="ZoneTexte 106"/>
            <p:cNvSpPr txBox="1"/>
            <p:nvPr/>
          </p:nvSpPr>
          <p:spPr>
            <a:xfrm>
              <a:off x="3941220" y="2017770"/>
              <a:ext cx="201804" cy="215444"/>
            </a:xfrm>
            <a:prstGeom prst="rect">
              <a:avLst/>
            </a:prstGeom>
            <a:ln>
              <a:solidFill>
                <a:srgbClr val="FF0000"/>
              </a:solidFill>
              <a:prstDash val="dash"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wrap="square" lIns="0" tIns="0" rIns="0" rtlCol="0">
              <a:spAutoFit/>
            </a:bodyPr>
            <a:lstStyle/>
            <a:p>
              <a:pPr algn="ctr"/>
              <a:r>
                <a:rPr lang="en-US" sz="1100" dirty="0" smtClean="0">
                  <a:solidFill>
                    <a:srgbClr val="FF0000"/>
                  </a:solidFill>
                </a:rPr>
                <a:t>2</a:t>
              </a:r>
              <a:endParaRPr lang="en-US" sz="1100" dirty="0">
                <a:solidFill>
                  <a:srgbClr val="FF0000"/>
                </a:solidFill>
              </a:endParaRPr>
            </a:p>
          </p:txBody>
        </p:sp>
        <p:sp>
          <p:nvSpPr>
            <p:cNvPr id="108" name="ZoneTexte 107"/>
            <p:cNvSpPr txBox="1"/>
            <p:nvPr/>
          </p:nvSpPr>
          <p:spPr>
            <a:xfrm>
              <a:off x="3902747" y="2333551"/>
              <a:ext cx="270841" cy="215444"/>
            </a:xfrm>
            <a:prstGeom prst="rect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wrap="square" lIns="0" tIns="0" rIns="0" rtlCol="0">
              <a:spAutoFit/>
            </a:bodyPr>
            <a:lstStyle/>
            <a:p>
              <a:pPr algn="ctr"/>
              <a:r>
                <a:rPr lang="en-US" sz="1100" dirty="0" smtClean="0"/>
                <a:t>3</a:t>
              </a:r>
              <a:endParaRPr lang="en-US" sz="1100" dirty="0"/>
            </a:p>
          </p:txBody>
        </p:sp>
        <p:cxnSp>
          <p:nvCxnSpPr>
            <p:cNvPr id="109" name="Connecteur droit avec flèche 108"/>
            <p:cNvCxnSpPr>
              <a:stCxn id="100" idx="0"/>
            </p:cNvCxnSpPr>
            <p:nvPr/>
          </p:nvCxnSpPr>
          <p:spPr>
            <a:xfrm flipV="1">
              <a:off x="2840305" y="1872210"/>
              <a:ext cx="426733" cy="29189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0" name="Connecteur droit avec flèche 109"/>
            <p:cNvCxnSpPr>
              <a:stCxn id="102" idx="3"/>
              <a:endCxn id="106" idx="1"/>
            </p:cNvCxnSpPr>
            <p:nvPr/>
          </p:nvCxnSpPr>
          <p:spPr>
            <a:xfrm flipV="1">
              <a:off x="3597519" y="1829613"/>
              <a:ext cx="305229" cy="8043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1" name="Connecteur droit avec flèche 110"/>
            <p:cNvCxnSpPr>
              <a:endCxn id="122" idx="1"/>
            </p:cNvCxnSpPr>
            <p:nvPr/>
          </p:nvCxnSpPr>
          <p:spPr>
            <a:xfrm>
              <a:off x="3585754" y="2091761"/>
              <a:ext cx="82299" cy="17274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2" name="Connecteur droit avec flèche 111"/>
            <p:cNvCxnSpPr>
              <a:endCxn id="108" idx="1"/>
            </p:cNvCxnSpPr>
            <p:nvPr/>
          </p:nvCxnSpPr>
          <p:spPr>
            <a:xfrm>
              <a:off x="3585754" y="2376922"/>
              <a:ext cx="316993" cy="6435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3" name="Connecteur droit avec flèche 112"/>
            <p:cNvCxnSpPr/>
            <p:nvPr/>
          </p:nvCxnSpPr>
          <p:spPr>
            <a:xfrm flipV="1">
              <a:off x="2147092" y="2063469"/>
              <a:ext cx="537321" cy="6869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14" name="ZoneTexte 113"/>
            <p:cNvSpPr txBox="1"/>
            <p:nvPr/>
          </p:nvSpPr>
          <p:spPr>
            <a:xfrm>
              <a:off x="1817029" y="2902711"/>
              <a:ext cx="453154" cy="215444"/>
            </a:xfrm>
            <a:prstGeom prst="rect">
              <a:avLst/>
            </a:prstGeom>
            <a:noFill/>
          </p:spPr>
          <p:txBody>
            <a:bodyPr wrap="square" lIns="0" tIns="0" rIns="0" rtlCol="0">
              <a:spAutoFit/>
            </a:bodyPr>
            <a:lstStyle/>
            <a:p>
              <a:pPr algn="ctr"/>
              <a:r>
                <a:rPr lang="en-US" sz="1100" dirty="0" smtClean="0"/>
                <a:t>m1</a:t>
              </a:r>
              <a:endParaRPr lang="en-US" sz="1100" dirty="0"/>
            </a:p>
          </p:txBody>
        </p:sp>
        <p:sp>
          <p:nvSpPr>
            <p:cNvPr id="115" name="Rectangle 114"/>
            <p:cNvSpPr/>
            <p:nvPr/>
          </p:nvSpPr>
          <p:spPr>
            <a:xfrm>
              <a:off x="2666569" y="2887498"/>
              <a:ext cx="347472" cy="75082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6" name="ZoneTexte 115"/>
            <p:cNvSpPr txBox="1"/>
            <p:nvPr/>
          </p:nvSpPr>
          <p:spPr>
            <a:xfrm>
              <a:off x="2704884" y="3022652"/>
              <a:ext cx="270841" cy="215444"/>
            </a:xfrm>
            <a:prstGeom prst="rect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wrap="square" lIns="0" tIns="0" rIns="0" rtlCol="0">
              <a:spAutoFit/>
            </a:bodyPr>
            <a:lstStyle/>
            <a:p>
              <a:pPr algn="ctr"/>
              <a:r>
                <a:rPr lang="en-US" sz="1100" dirty="0" smtClean="0">
                  <a:solidFill>
                    <a:srgbClr val="C00000"/>
                  </a:solidFill>
                </a:rPr>
                <a:t>X</a:t>
              </a:r>
              <a:endParaRPr lang="en-US" sz="1100" dirty="0">
                <a:solidFill>
                  <a:srgbClr val="C00000"/>
                </a:solidFill>
              </a:endParaRPr>
            </a:p>
          </p:txBody>
        </p:sp>
        <p:sp>
          <p:nvSpPr>
            <p:cNvPr id="117" name="ZoneTexte 116"/>
            <p:cNvSpPr txBox="1"/>
            <p:nvPr/>
          </p:nvSpPr>
          <p:spPr>
            <a:xfrm>
              <a:off x="2704884" y="3299821"/>
              <a:ext cx="270841" cy="215444"/>
            </a:xfrm>
            <a:prstGeom prst="rect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wrap="square" lIns="0" tIns="0" rIns="0" rtlCol="0">
              <a:spAutoFit/>
            </a:bodyPr>
            <a:lstStyle/>
            <a:p>
              <a:pPr algn="ctr"/>
              <a:r>
                <a:rPr lang="en-US" sz="1100" dirty="0">
                  <a:solidFill>
                    <a:srgbClr val="C00000"/>
                  </a:solidFill>
                </a:rPr>
                <a:t>x</a:t>
              </a:r>
            </a:p>
          </p:txBody>
        </p:sp>
        <p:cxnSp>
          <p:nvCxnSpPr>
            <p:cNvPr id="118" name="Connecteur droit avec flèche 117"/>
            <p:cNvCxnSpPr/>
            <p:nvPr/>
          </p:nvCxnSpPr>
          <p:spPr>
            <a:xfrm flipV="1">
              <a:off x="2137807" y="2913961"/>
              <a:ext cx="537321" cy="6869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9" name="Connecteur droit avec flèche 118"/>
            <p:cNvCxnSpPr>
              <a:endCxn id="103" idx="2"/>
            </p:cNvCxnSpPr>
            <p:nvPr/>
          </p:nvCxnSpPr>
          <p:spPr>
            <a:xfrm flipV="1">
              <a:off x="2969409" y="2887498"/>
              <a:ext cx="446966" cy="51144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0" name="Connecteur droit avec flèche 119"/>
            <p:cNvCxnSpPr>
              <a:stCxn id="101" idx="3"/>
            </p:cNvCxnSpPr>
            <p:nvPr/>
          </p:nvCxnSpPr>
          <p:spPr>
            <a:xfrm>
              <a:off x="2975725" y="2548995"/>
              <a:ext cx="900079" cy="13859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21" name="ZoneTexte 120"/>
            <p:cNvSpPr txBox="1"/>
            <p:nvPr/>
          </p:nvSpPr>
          <p:spPr>
            <a:xfrm>
              <a:off x="3884363" y="2672054"/>
              <a:ext cx="270841" cy="215444"/>
            </a:xfrm>
            <a:prstGeom prst="rect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wrap="square" lIns="0" tIns="0" rIns="0" rtlCol="0">
              <a:spAutoFit/>
            </a:bodyPr>
            <a:lstStyle/>
            <a:p>
              <a:pPr algn="ctr"/>
              <a:r>
                <a:rPr lang="en-US" sz="1100" dirty="0" smtClean="0"/>
                <a:t>100</a:t>
              </a:r>
              <a:endParaRPr lang="en-US" sz="1100" dirty="0"/>
            </a:p>
          </p:txBody>
        </p:sp>
        <p:sp>
          <p:nvSpPr>
            <p:cNvPr id="122" name="ZoneTexte 121"/>
            <p:cNvSpPr txBox="1"/>
            <p:nvPr/>
          </p:nvSpPr>
          <p:spPr>
            <a:xfrm>
              <a:off x="3668053" y="2156779"/>
              <a:ext cx="208375" cy="215444"/>
            </a:xfrm>
            <a:prstGeom prst="rect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wrap="square" lIns="0" tIns="0" rIns="0" rtlCol="0">
              <a:spAutoFit/>
            </a:bodyPr>
            <a:lstStyle/>
            <a:p>
              <a:pPr algn="ctr"/>
              <a:r>
                <a:rPr lang="en-US" sz="1100" dirty="0" smtClean="0"/>
                <a:t>20</a:t>
              </a:r>
              <a:endParaRPr lang="en-US" sz="1100" dirty="0"/>
            </a:p>
          </p:txBody>
        </p:sp>
      </p:grpSp>
      <p:sp>
        <p:nvSpPr>
          <p:cNvPr id="123" name="Forme libre 122"/>
          <p:cNvSpPr/>
          <p:nvPr/>
        </p:nvSpPr>
        <p:spPr>
          <a:xfrm>
            <a:off x="10683273" y="4168833"/>
            <a:ext cx="301752" cy="896112"/>
          </a:xfrm>
          <a:custGeom>
            <a:avLst/>
            <a:gdLst>
              <a:gd name="connsiteX0" fmla="*/ 0 w 301752"/>
              <a:gd name="connsiteY0" fmla="*/ 896112 h 896112"/>
              <a:gd name="connsiteX1" fmla="*/ 164592 w 301752"/>
              <a:gd name="connsiteY1" fmla="*/ 256032 h 896112"/>
              <a:gd name="connsiteX2" fmla="*/ 301752 w 301752"/>
              <a:gd name="connsiteY2" fmla="*/ 0 h 896112"/>
              <a:gd name="connsiteX3" fmla="*/ 301752 w 301752"/>
              <a:gd name="connsiteY3" fmla="*/ 0 h 8961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1752" h="896112">
                <a:moveTo>
                  <a:pt x="0" y="896112"/>
                </a:moveTo>
                <a:cubicBezTo>
                  <a:pt x="57150" y="650748"/>
                  <a:pt x="114300" y="405384"/>
                  <a:pt x="164592" y="256032"/>
                </a:cubicBezTo>
                <a:cubicBezTo>
                  <a:pt x="214884" y="106680"/>
                  <a:pt x="301752" y="0"/>
                  <a:pt x="301752" y="0"/>
                </a:cubicBezTo>
                <a:lnTo>
                  <a:pt x="301752" y="0"/>
                </a:lnTo>
              </a:path>
            </a:pathLst>
          </a:custGeom>
          <a:ln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4" name="Arc 123"/>
          <p:cNvSpPr/>
          <p:nvPr/>
        </p:nvSpPr>
        <p:spPr>
          <a:xfrm rot="13518480">
            <a:off x="10259221" y="4080447"/>
            <a:ext cx="793553" cy="1052548"/>
          </a:xfrm>
          <a:prstGeom prst="arc">
            <a:avLst>
              <a:gd name="adj1" fmla="val 15011672"/>
              <a:gd name="adj2" fmla="val 599324"/>
            </a:avLst>
          </a:prstGeom>
          <a:ln>
            <a:solidFill>
              <a:schemeClr val="tx1"/>
            </a:solidFill>
            <a:prstDash val="dash"/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5" name="Arc 124"/>
          <p:cNvSpPr/>
          <p:nvPr/>
        </p:nvSpPr>
        <p:spPr>
          <a:xfrm rot="13518480">
            <a:off x="10258938" y="4373007"/>
            <a:ext cx="793553" cy="1052548"/>
          </a:xfrm>
          <a:prstGeom prst="arc">
            <a:avLst>
              <a:gd name="adj1" fmla="val 15011672"/>
              <a:gd name="adj2" fmla="val 599324"/>
            </a:avLst>
          </a:prstGeom>
          <a:ln>
            <a:solidFill>
              <a:schemeClr val="tx1"/>
            </a:solidFill>
            <a:prstDash val="dash"/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9" name="Forme libre 148"/>
          <p:cNvSpPr/>
          <p:nvPr/>
        </p:nvSpPr>
        <p:spPr>
          <a:xfrm>
            <a:off x="4340999" y="1873965"/>
            <a:ext cx="1295931" cy="826677"/>
          </a:xfrm>
          <a:custGeom>
            <a:avLst/>
            <a:gdLst>
              <a:gd name="connsiteX0" fmla="*/ 0 w 1106424"/>
              <a:gd name="connsiteY0" fmla="*/ 612648 h 952385"/>
              <a:gd name="connsiteX1" fmla="*/ 210312 w 1106424"/>
              <a:gd name="connsiteY1" fmla="*/ 832104 h 952385"/>
              <a:gd name="connsiteX2" fmla="*/ 758952 w 1106424"/>
              <a:gd name="connsiteY2" fmla="*/ 896112 h 952385"/>
              <a:gd name="connsiteX3" fmla="*/ 1106424 w 1106424"/>
              <a:gd name="connsiteY3" fmla="*/ 0 h 952385"/>
              <a:gd name="connsiteX0" fmla="*/ 0 w 1106424"/>
              <a:gd name="connsiteY0" fmla="*/ 612648 h 919698"/>
              <a:gd name="connsiteX1" fmla="*/ 210312 w 1106424"/>
              <a:gd name="connsiteY1" fmla="*/ 832104 h 919698"/>
              <a:gd name="connsiteX2" fmla="*/ 1025677 w 1106424"/>
              <a:gd name="connsiteY2" fmla="*/ 854955 h 919698"/>
              <a:gd name="connsiteX3" fmla="*/ 1106424 w 1106424"/>
              <a:gd name="connsiteY3" fmla="*/ 0 h 919698"/>
              <a:gd name="connsiteX0" fmla="*/ 0 w 1149444"/>
              <a:gd name="connsiteY0" fmla="*/ 612648 h 919698"/>
              <a:gd name="connsiteX1" fmla="*/ 210312 w 1149444"/>
              <a:gd name="connsiteY1" fmla="*/ 832104 h 919698"/>
              <a:gd name="connsiteX2" fmla="*/ 1025677 w 1149444"/>
              <a:gd name="connsiteY2" fmla="*/ 854955 h 919698"/>
              <a:gd name="connsiteX3" fmla="*/ 1149444 w 1149444"/>
              <a:gd name="connsiteY3" fmla="*/ 0 h 919698"/>
              <a:gd name="connsiteX0" fmla="*/ 0 w 1154139"/>
              <a:gd name="connsiteY0" fmla="*/ 612648 h 919698"/>
              <a:gd name="connsiteX1" fmla="*/ 210312 w 1154139"/>
              <a:gd name="connsiteY1" fmla="*/ 832104 h 919698"/>
              <a:gd name="connsiteX2" fmla="*/ 1025677 w 1154139"/>
              <a:gd name="connsiteY2" fmla="*/ 854955 h 919698"/>
              <a:gd name="connsiteX3" fmla="*/ 1149444 w 1154139"/>
              <a:gd name="connsiteY3" fmla="*/ 0 h 919698"/>
              <a:gd name="connsiteX0" fmla="*/ 0 w 1223865"/>
              <a:gd name="connsiteY0" fmla="*/ 612648 h 889863"/>
              <a:gd name="connsiteX1" fmla="*/ 210312 w 1223865"/>
              <a:gd name="connsiteY1" fmla="*/ 832104 h 889863"/>
              <a:gd name="connsiteX2" fmla="*/ 1154737 w 1223865"/>
              <a:gd name="connsiteY2" fmla="*/ 813798 h 889863"/>
              <a:gd name="connsiteX3" fmla="*/ 1149444 w 1223865"/>
              <a:gd name="connsiteY3" fmla="*/ 0 h 889863"/>
              <a:gd name="connsiteX0" fmla="*/ 0 w 1219404"/>
              <a:gd name="connsiteY0" fmla="*/ 612648 h 930220"/>
              <a:gd name="connsiteX1" fmla="*/ 270540 w 1219404"/>
              <a:gd name="connsiteY1" fmla="*/ 904129 h 930220"/>
              <a:gd name="connsiteX2" fmla="*/ 1154737 w 1219404"/>
              <a:gd name="connsiteY2" fmla="*/ 813798 h 930220"/>
              <a:gd name="connsiteX3" fmla="*/ 1149444 w 1219404"/>
              <a:gd name="connsiteY3" fmla="*/ 0 h 9302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404" h="930220">
                <a:moveTo>
                  <a:pt x="0" y="612648"/>
                </a:moveTo>
                <a:cubicBezTo>
                  <a:pt x="41910" y="698754"/>
                  <a:pt x="78084" y="870604"/>
                  <a:pt x="270540" y="904129"/>
                </a:cubicBezTo>
                <a:cubicBezTo>
                  <a:pt x="462996" y="937654"/>
                  <a:pt x="1008253" y="964486"/>
                  <a:pt x="1154737" y="813798"/>
                </a:cubicBezTo>
                <a:cubicBezTo>
                  <a:pt x="1301221" y="663110"/>
                  <a:pt x="1153632" y="378714"/>
                  <a:pt x="1149444" y="0"/>
                </a:cubicBezTo>
              </a:path>
            </a:pathLst>
          </a:custGeom>
          <a:noFill/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1" name="Arc 150"/>
          <p:cNvSpPr/>
          <p:nvPr/>
        </p:nvSpPr>
        <p:spPr>
          <a:xfrm>
            <a:off x="4858973" y="1895973"/>
            <a:ext cx="45719" cy="45719"/>
          </a:xfrm>
          <a:prstGeom prst="arc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3" name="Forme libre 152"/>
          <p:cNvSpPr/>
          <p:nvPr/>
        </p:nvSpPr>
        <p:spPr>
          <a:xfrm>
            <a:off x="4825632" y="897563"/>
            <a:ext cx="557784" cy="1033272"/>
          </a:xfrm>
          <a:custGeom>
            <a:avLst/>
            <a:gdLst>
              <a:gd name="connsiteX0" fmla="*/ 0 w 557784"/>
              <a:gd name="connsiteY0" fmla="*/ 1033272 h 1033272"/>
              <a:gd name="connsiteX1" fmla="*/ 338328 w 557784"/>
              <a:gd name="connsiteY1" fmla="*/ 566928 h 1033272"/>
              <a:gd name="connsiteX2" fmla="*/ 374904 w 557784"/>
              <a:gd name="connsiteY2" fmla="*/ 100584 h 1033272"/>
              <a:gd name="connsiteX3" fmla="*/ 557784 w 557784"/>
              <a:gd name="connsiteY3" fmla="*/ 0 h 10332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7784" h="1033272">
                <a:moveTo>
                  <a:pt x="0" y="1033272"/>
                </a:moveTo>
                <a:cubicBezTo>
                  <a:pt x="137922" y="877824"/>
                  <a:pt x="275844" y="722376"/>
                  <a:pt x="338328" y="566928"/>
                </a:cubicBezTo>
                <a:cubicBezTo>
                  <a:pt x="400812" y="411480"/>
                  <a:pt x="338328" y="195072"/>
                  <a:pt x="374904" y="100584"/>
                </a:cubicBezTo>
                <a:cubicBezTo>
                  <a:pt x="411480" y="6096"/>
                  <a:pt x="484632" y="3048"/>
                  <a:pt x="557784" y="0"/>
                </a:cubicBezTo>
              </a:path>
            </a:pathLst>
          </a:custGeom>
          <a:noFill/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4" name="Forme libre 153"/>
          <p:cNvSpPr/>
          <p:nvPr/>
        </p:nvSpPr>
        <p:spPr>
          <a:xfrm>
            <a:off x="5008512" y="1187956"/>
            <a:ext cx="384048" cy="1062919"/>
          </a:xfrm>
          <a:custGeom>
            <a:avLst/>
            <a:gdLst>
              <a:gd name="connsiteX0" fmla="*/ 0 w 384048"/>
              <a:gd name="connsiteY0" fmla="*/ 1062919 h 1062919"/>
              <a:gd name="connsiteX1" fmla="*/ 137160 w 384048"/>
              <a:gd name="connsiteY1" fmla="*/ 578287 h 1062919"/>
              <a:gd name="connsiteX2" fmla="*/ 265176 w 384048"/>
              <a:gd name="connsiteY2" fmla="*/ 75367 h 1062919"/>
              <a:gd name="connsiteX3" fmla="*/ 384048 w 384048"/>
              <a:gd name="connsiteY3" fmla="*/ 11359 h 10629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4048" h="1062919">
                <a:moveTo>
                  <a:pt x="0" y="1062919"/>
                </a:moveTo>
                <a:cubicBezTo>
                  <a:pt x="46482" y="902899"/>
                  <a:pt x="92964" y="742879"/>
                  <a:pt x="137160" y="578287"/>
                </a:cubicBezTo>
                <a:cubicBezTo>
                  <a:pt x="181356" y="413695"/>
                  <a:pt x="224028" y="169855"/>
                  <a:pt x="265176" y="75367"/>
                </a:cubicBezTo>
                <a:cubicBezTo>
                  <a:pt x="306324" y="-19121"/>
                  <a:pt x="345186" y="-3881"/>
                  <a:pt x="384048" y="11359"/>
                </a:cubicBezTo>
              </a:path>
            </a:pathLst>
          </a:custGeom>
          <a:noFill/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5" name="Forme libre 154"/>
          <p:cNvSpPr/>
          <p:nvPr/>
        </p:nvSpPr>
        <p:spPr>
          <a:xfrm>
            <a:off x="4999368" y="1468299"/>
            <a:ext cx="393192" cy="992888"/>
          </a:xfrm>
          <a:custGeom>
            <a:avLst/>
            <a:gdLst>
              <a:gd name="connsiteX0" fmla="*/ 0 w 393192"/>
              <a:gd name="connsiteY0" fmla="*/ 992888 h 992888"/>
              <a:gd name="connsiteX1" fmla="*/ 201168 w 393192"/>
              <a:gd name="connsiteY1" fmla="*/ 535688 h 992888"/>
              <a:gd name="connsiteX2" fmla="*/ 246888 w 393192"/>
              <a:gd name="connsiteY2" fmla="*/ 51056 h 992888"/>
              <a:gd name="connsiteX3" fmla="*/ 393192 w 393192"/>
              <a:gd name="connsiteY3" fmla="*/ 14480 h 992888"/>
              <a:gd name="connsiteX4" fmla="*/ 393192 w 393192"/>
              <a:gd name="connsiteY4" fmla="*/ 14480 h 9928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93192" h="992888">
                <a:moveTo>
                  <a:pt x="0" y="992888"/>
                </a:moveTo>
                <a:cubicBezTo>
                  <a:pt x="80010" y="842774"/>
                  <a:pt x="160020" y="692660"/>
                  <a:pt x="201168" y="535688"/>
                </a:cubicBezTo>
                <a:cubicBezTo>
                  <a:pt x="242316" y="378716"/>
                  <a:pt x="214884" y="137924"/>
                  <a:pt x="246888" y="51056"/>
                </a:cubicBezTo>
                <a:cubicBezTo>
                  <a:pt x="278892" y="-35812"/>
                  <a:pt x="393192" y="14480"/>
                  <a:pt x="393192" y="14480"/>
                </a:cubicBezTo>
                <a:lnTo>
                  <a:pt x="393192" y="14480"/>
                </a:lnTo>
              </a:path>
            </a:pathLst>
          </a:custGeom>
          <a:noFill/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6" name="ZoneTexte 155"/>
          <p:cNvSpPr txBox="1"/>
          <p:nvPr/>
        </p:nvSpPr>
        <p:spPr>
          <a:xfrm>
            <a:off x="693010" y="3804031"/>
            <a:ext cx="2516340" cy="2123658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sz="1100" dirty="0" smtClean="0">
                <a:solidFill>
                  <a:srgbClr val="FFFF00"/>
                </a:solidFill>
              </a:rPr>
              <a:t>&gt;&gt;&gt; mat = [[1, 2, 3], 5] </a:t>
            </a:r>
          </a:p>
          <a:p>
            <a:r>
              <a:rPr lang="en-US" sz="1100" dirty="0" smtClean="0">
                <a:solidFill>
                  <a:srgbClr val="FFFF00"/>
                </a:solidFill>
              </a:rPr>
              <a:t>&gt;&gt;&gt; m1 =mat[:]</a:t>
            </a:r>
          </a:p>
          <a:p>
            <a:r>
              <a:rPr lang="en-US" sz="1100" dirty="0" smtClean="0">
                <a:solidFill>
                  <a:srgbClr val="FFFF00"/>
                </a:solidFill>
              </a:rPr>
              <a:t>&gt;&gt;&gt; mat[1] = 100</a:t>
            </a:r>
          </a:p>
          <a:p>
            <a:r>
              <a:rPr lang="en-US" sz="1100" dirty="0" smtClean="0">
                <a:solidFill>
                  <a:srgbClr val="FFFF00"/>
                </a:solidFill>
              </a:rPr>
              <a:t>&gt;&gt;&gt; mat[0][1] = 20</a:t>
            </a:r>
            <a:endParaRPr lang="en-US" sz="1100" dirty="0">
              <a:solidFill>
                <a:srgbClr val="FFFF00"/>
              </a:solidFill>
            </a:endParaRPr>
          </a:p>
          <a:p>
            <a:r>
              <a:rPr lang="en-US" sz="1100" dirty="0" smtClean="0">
                <a:solidFill>
                  <a:srgbClr val="FFFF00"/>
                </a:solidFill>
              </a:rPr>
              <a:t>&gt;&gt;&gt; mat</a:t>
            </a:r>
          </a:p>
          <a:p>
            <a:r>
              <a:rPr lang="en-US" sz="1100" dirty="0" smtClean="0">
                <a:solidFill>
                  <a:srgbClr val="FFFF00"/>
                </a:solidFill>
              </a:rPr>
              <a:t>[[1, 20, 3], 100]</a:t>
            </a:r>
            <a:endParaRPr lang="en-US" sz="1100" dirty="0">
              <a:solidFill>
                <a:srgbClr val="FFFF00"/>
              </a:solidFill>
            </a:endParaRPr>
          </a:p>
          <a:p>
            <a:r>
              <a:rPr lang="en-US" sz="1100" dirty="0" smtClean="0">
                <a:solidFill>
                  <a:srgbClr val="FFFF00"/>
                </a:solidFill>
              </a:rPr>
              <a:t>&gt;&gt;&gt; m1 </a:t>
            </a:r>
          </a:p>
          <a:p>
            <a:r>
              <a:rPr lang="en-US" sz="1100" dirty="0" smtClean="0">
                <a:solidFill>
                  <a:srgbClr val="FFFF00"/>
                </a:solidFill>
              </a:rPr>
              <a:t>[[1, 20, 3], 5]</a:t>
            </a:r>
          </a:p>
          <a:p>
            <a:r>
              <a:rPr lang="en-US" sz="1100" dirty="0" smtClean="0">
                <a:solidFill>
                  <a:srgbClr val="FFFF00"/>
                </a:solidFill>
              </a:rPr>
              <a:t>&gt;&gt;&gt; m2 = </a:t>
            </a:r>
            <a:r>
              <a:rPr lang="en-US" sz="1100" dirty="0" err="1" smtClean="0">
                <a:solidFill>
                  <a:srgbClr val="FFFF00"/>
                </a:solidFill>
              </a:rPr>
              <a:t>copy.deepcopy</a:t>
            </a:r>
            <a:r>
              <a:rPr lang="en-US" sz="1100" dirty="0" smtClean="0">
                <a:solidFill>
                  <a:srgbClr val="FFFF00"/>
                </a:solidFill>
              </a:rPr>
              <a:t>(mat)</a:t>
            </a:r>
            <a:endParaRPr lang="en-US" sz="1100" dirty="0">
              <a:solidFill>
                <a:srgbClr val="FFFF00"/>
              </a:solidFill>
            </a:endParaRPr>
          </a:p>
          <a:p>
            <a:endParaRPr lang="en-US" sz="1100" dirty="0" smtClean="0">
              <a:solidFill>
                <a:srgbClr val="FFFF00"/>
              </a:solidFill>
            </a:endParaRPr>
          </a:p>
          <a:p>
            <a:endParaRPr lang="en-US" sz="1100" dirty="0">
              <a:solidFill>
                <a:srgbClr val="FFFF00"/>
              </a:solidFill>
            </a:endParaRPr>
          </a:p>
          <a:p>
            <a:endParaRPr lang="en-US" sz="1100" dirty="0">
              <a:solidFill>
                <a:srgbClr val="FFFF00"/>
              </a:solidFill>
            </a:endParaRPr>
          </a:p>
        </p:txBody>
      </p:sp>
      <p:grpSp>
        <p:nvGrpSpPr>
          <p:cNvPr id="157" name="Groupe 156"/>
          <p:cNvGrpSpPr/>
          <p:nvPr/>
        </p:nvGrpSpPr>
        <p:grpSpPr>
          <a:xfrm>
            <a:off x="3247665" y="3534683"/>
            <a:ext cx="2369065" cy="2309204"/>
            <a:chOff x="1804524" y="1652462"/>
            <a:chExt cx="2369065" cy="2309204"/>
          </a:xfrm>
        </p:grpSpPr>
        <p:sp>
          <p:nvSpPr>
            <p:cNvPr id="158" name="Rectangle 157"/>
            <p:cNvSpPr/>
            <p:nvPr/>
          </p:nvSpPr>
          <p:spPr>
            <a:xfrm>
              <a:off x="3278776" y="1762247"/>
              <a:ext cx="347472" cy="75082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59" name="Connecteur droit 158"/>
            <p:cNvCxnSpPr/>
            <p:nvPr/>
          </p:nvCxnSpPr>
          <p:spPr>
            <a:xfrm>
              <a:off x="2548991" y="1652462"/>
              <a:ext cx="0" cy="149702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0" name="ZoneTexte 159"/>
            <p:cNvSpPr txBox="1"/>
            <p:nvPr/>
          </p:nvSpPr>
          <p:spPr>
            <a:xfrm>
              <a:off x="1804524" y="2063469"/>
              <a:ext cx="453154" cy="215444"/>
            </a:xfrm>
            <a:prstGeom prst="rect">
              <a:avLst/>
            </a:prstGeom>
            <a:noFill/>
          </p:spPr>
          <p:txBody>
            <a:bodyPr wrap="square" lIns="0" tIns="0" rIns="0" rtlCol="0">
              <a:spAutoFit/>
            </a:bodyPr>
            <a:lstStyle/>
            <a:p>
              <a:pPr algn="ctr"/>
              <a:r>
                <a:rPr lang="en-US" sz="1100" dirty="0" smtClean="0"/>
                <a:t>mat</a:t>
              </a:r>
              <a:endParaRPr lang="en-US" sz="1100" dirty="0"/>
            </a:p>
          </p:txBody>
        </p:sp>
        <p:sp>
          <p:nvSpPr>
            <p:cNvPr id="161" name="Rectangle 160"/>
            <p:cNvSpPr/>
            <p:nvPr/>
          </p:nvSpPr>
          <p:spPr>
            <a:xfrm>
              <a:off x="2666569" y="2028950"/>
              <a:ext cx="347472" cy="75082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2" name="ZoneTexte 161"/>
            <p:cNvSpPr txBox="1"/>
            <p:nvPr/>
          </p:nvSpPr>
          <p:spPr>
            <a:xfrm>
              <a:off x="2704884" y="2164104"/>
              <a:ext cx="270841" cy="215444"/>
            </a:xfrm>
            <a:prstGeom prst="rect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wrap="square" lIns="0" tIns="0" rIns="0" rtlCol="0">
              <a:spAutoFit/>
            </a:bodyPr>
            <a:lstStyle/>
            <a:p>
              <a:pPr algn="ctr"/>
              <a:r>
                <a:rPr lang="en-US" sz="1100" dirty="0" smtClean="0">
                  <a:solidFill>
                    <a:srgbClr val="C00000"/>
                  </a:solidFill>
                </a:rPr>
                <a:t>X</a:t>
              </a:r>
              <a:endParaRPr lang="en-US" sz="1100" dirty="0">
                <a:solidFill>
                  <a:srgbClr val="C00000"/>
                </a:solidFill>
              </a:endParaRPr>
            </a:p>
          </p:txBody>
        </p:sp>
        <p:sp>
          <p:nvSpPr>
            <p:cNvPr id="163" name="ZoneTexte 162"/>
            <p:cNvSpPr txBox="1"/>
            <p:nvPr/>
          </p:nvSpPr>
          <p:spPr>
            <a:xfrm>
              <a:off x="2704884" y="2441273"/>
              <a:ext cx="270841" cy="215444"/>
            </a:xfrm>
            <a:prstGeom prst="rect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wrap="square" lIns="0" tIns="0" rIns="0" rtlCol="0">
              <a:spAutoFit/>
            </a:bodyPr>
            <a:lstStyle/>
            <a:p>
              <a:pPr algn="ctr"/>
              <a:r>
                <a:rPr lang="en-US" sz="1100" dirty="0">
                  <a:solidFill>
                    <a:srgbClr val="C00000"/>
                  </a:solidFill>
                </a:rPr>
                <a:t>x</a:t>
              </a:r>
            </a:p>
          </p:txBody>
        </p:sp>
        <p:sp>
          <p:nvSpPr>
            <p:cNvPr id="164" name="ZoneTexte 163"/>
            <p:cNvSpPr txBox="1"/>
            <p:nvPr/>
          </p:nvSpPr>
          <p:spPr>
            <a:xfrm>
              <a:off x="3326678" y="1802326"/>
              <a:ext cx="270841" cy="215444"/>
            </a:xfrm>
            <a:prstGeom prst="rect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wrap="square" lIns="0" tIns="0" rIns="0" rtlCol="0">
              <a:spAutoFit/>
            </a:bodyPr>
            <a:lstStyle/>
            <a:p>
              <a:pPr algn="ctr"/>
              <a:r>
                <a:rPr lang="en-US" sz="1100" dirty="0"/>
                <a:t>X</a:t>
              </a:r>
            </a:p>
          </p:txBody>
        </p:sp>
        <p:sp>
          <p:nvSpPr>
            <p:cNvPr id="165" name="ZoneTexte 164"/>
            <p:cNvSpPr txBox="1"/>
            <p:nvPr/>
          </p:nvSpPr>
          <p:spPr>
            <a:xfrm>
              <a:off x="3326678" y="2011198"/>
              <a:ext cx="270841" cy="215444"/>
            </a:xfrm>
            <a:prstGeom prst="rect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wrap="square" lIns="0" tIns="0" rIns="0" rtlCol="0">
              <a:spAutoFit/>
            </a:bodyPr>
            <a:lstStyle/>
            <a:p>
              <a:pPr algn="ctr"/>
              <a:r>
                <a:rPr lang="en-US" sz="1100" dirty="0" smtClean="0"/>
                <a:t>X</a:t>
              </a:r>
              <a:endParaRPr lang="en-US" sz="1100" dirty="0"/>
            </a:p>
          </p:txBody>
        </p:sp>
        <p:sp>
          <p:nvSpPr>
            <p:cNvPr id="166" name="ZoneTexte 165"/>
            <p:cNvSpPr txBox="1"/>
            <p:nvPr/>
          </p:nvSpPr>
          <p:spPr>
            <a:xfrm>
              <a:off x="3326678" y="2228648"/>
              <a:ext cx="270841" cy="215444"/>
            </a:xfrm>
            <a:prstGeom prst="rect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wrap="square" lIns="0" tIns="0" rIns="0" rtlCol="0">
              <a:spAutoFit/>
            </a:bodyPr>
            <a:lstStyle/>
            <a:p>
              <a:pPr algn="ctr"/>
              <a:r>
                <a:rPr lang="en-US" sz="1100" dirty="0" smtClean="0"/>
                <a:t>X</a:t>
              </a:r>
              <a:endParaRPr lang="en-US" sz="1100" dirty="0"/>
            </a:p>
          </p:txBody>
        </p:sp>
        <p:sp>
          <p:nvSpPr>
            <p:cNvPr id="167" name="ZoneTexte 166"/>
            <p:cNvSpPr txBox="1"/>
            <p:nvPr/>
          </p:nvSpPr>
          <p:spPr>
            <a:xfrm>
              <a:off x="3902748" y="1721891"/>
              <a:ext cx="270841" cy="215444"/>
            </a:xfrm>
            <a:prstGeom prst="rect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wrap="square" lIns="0" tIns="0" rIns="0" rtlCol="0">
              <a:spAutoFit/>
            </a:bodyPr>
            <a:lstStyle/>
            <a:p>
              <a:pPr algn="ctr"/>
              <a:r>
                <a:rPr lang="en-US" sz="1100" dirty="0" smtClean="0"/>
                <a:t>1</a:t>
              </a:r>
              <a:endParaRPr lang="en-US" sz="1100" dirty="0"/>
            </a:p>
          </p:txBody>
        </p:sp>
        <p:sp>
          <p:nvSpPr>
            <p:cNvPr id="168" name="ZoneTexte 167"/>
            <p:cNvSpPr txBox="1"/>
            <p:nvPr/>
          </p:nvSpPr>
          <p:spPr>
            <a:xfrm>
              <a:off x="3902747" y="2333551"/>
              <a:ext cx="270841" cy="215444"/>
            </a:xfrm>
            <a:prstGeom prst="rect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wrap="square" lIns="0" tIns="0" rIns="0" rtlCol="0">
              <a:spAutoFit/>
            </a:bodyPr>
            <a:lstStyle/>
            <a:p>
              <a:pPr algn="ctr"/>
              <a:r>
                <a:rPr lang="en-US" sz="1100" dirty="0" smtClean="0"/>
                <a:t>3</a:t>
              </a:r>
              <a:endParaRPr lang="en-US" sz="1100" dirty="0"/>
            </a:p>
          </p:txBody>
        </p:sp>
        <p:cxnSp>
          <p:nvCxnSpPr>
            <p:cNvPr id="169" name="Connecteur droit avec flèche 168"/>
            <p:cNvCxnSpPr>
              <a:stCxn id="162" idx="0"/>
            </p:cNvCxnSpPr>
            <p:nvPr/>
          </p:nvCxnSpPr>
          <p:spPr>
            <a:xfrm flipV="1">
              <a:off x="2840305" y="1872210"/>
              <a:ext cx="426733" cy="29189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0" name="Connecteur droit avec flèche 169"/>
            <p:cNvCxnSpPr>
              <a:stCxn id="164" idx="3"/>
              <a:endCxn id="167" idx="1"/>
            </p:cNvCxnSpPr>
            <p:nvPr/>
          </p:nvCxnSpPr>
          <p:spPr>
            <a:xfrm flipV="1">
              <a:off x="3597519" y="1829613"/>
              <a:ext cx="305229" cy="8043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1" name="Connecteur droit avec flèche 170"/>
            <p:cNvCxnSpPr>
              <a:stCxn id="158" idx="3"/>
              <a:endCxn id="181" idx="1"/>
            </p:cNvCxnSpPr>
            <p:nvPr/>
          </p:nvCxnSpPr>
          <p:spPr>
            <a:xfrm flipV="1">
              <a:off x="3626248" y="2136672"/>
              <a:ext cx="276784" cy="98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2" name="Connecteur droit avec flèche 171"/>
            <p:cNvCxnSpPr>
              <a:endCxn id="168" idx="1"/>
            </p:cNvCxnSpPr>
            <p:nvPr/>
          </p:nvCxnSpPr>
          <p:spPr>
            <a:xfrm>
              <a:off x="3585754" y="2376922"/>
              <a:ext cx="316993" cy="6435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3" name="Connecteur droit avec flèche 172"/>
            <p:cNvCxnSpPr/>
            <p:nvPr/>
          </p:nvCxnSpPr>
          <p:spPr>
            <a:xfrm flipV="1">
              <a:off x="2147092" y="2063469"/>
              <a:ext cx="537321" cy="6869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74" name="ZoneTexte 173"/>
            <p:cNvSpPr txBox="1"/>
            <p:nvPr/>
          </p:nvSpPr>
          <p:spPr>
            <a:xfrm>
              <a:off x="1817029" y="2902711"/>
              <a:ext cx="453154" cy="215444"/>
            </a:xfrm>
            <a:prstGeom prst="rect">
              <a:avLst/>
            </a:prstGeom>
            <a:noFill/>
          </p:spPr>
          <p:txBody>
            <a:bodyPr wrap="square" lIns="0" tIns="0" rIns="0" rtlCol="0">
              <a:spAutoFit/>
            </a:bodyPr>
            <a:lstStyle/>
            <a:p>
              <a:pPr algn="ctr"/>
              <a:r>
                <a:rPr lang="en-US" sz="1100" dirty="0" smtClean="0"/>
                <a:t>m2</a:t>
              </a:r>
              <a:endParaRPr lang="en-US" sz="1100" dirty="0"/>
            </a:p>
          </p:txBody>
        </p:sp>
        <p:sp>
          <p:nvSpPr>
            <p:cNvPr id="175" name="Rectangle 174"/>
            <p:cNvSpPr/>
            <p:nvPr/>
          </p:nvSpPr>
          <p:spPr>
            <a:xfrm>
              <a:off x="2666569" y="2887498"/>
              <a:ext cx="347472" cy="75082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6" name="ZoneTexte 175"/>
            <p:cNvSpPr txBox="1"/>
            <p:nvPr/>
          </p:nvSpPr>
          <p:spPr>
            <a:xfrm>
              <a:off x="2704884" y="3022652"/>
              <a:ext cx="270841" cy="215444"/>
            </a:xfrm>
            <a:prstGeom prst="rect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wrap="square" lIns="0" tIns="0" rIns="0" rtlCol="0">
              <a:spAutoFit/>
            </a:bodyPr>
            <a:lstStyle/>
            <a:p>
              <a:pPr algn="ctr"/>
              <a:r>
                <a:rPr lang="en-US" sz="1100" dirty="0" smtClean="0">
                  <a:solidFill>
                    <a:srgbClr val="C00000"/>
                  </a:solidFill>
                </a:rPr>
                <a:t>X</a:t>
              </a:r>
              <a:endParaRPr lang="en-US" sz="1100" dirty="0">
                <a:solidFill>
                  <a:srgbClr val="C00000"/>
                </a:solidFill>
              </a:endParaRPr>
            </a:p>
          </p:txBody>
        </p:sp>
        <p:sp>
          <p:nvSpPr>
            <p:cNvPr id="177" name="ZoneTexte 176"/>
            <p:cNvSpPr txBox="1"/>
            <p:nvPr/>
          </p:nvSpPr>
          <p:spPr>
            <a:xfrm>
              <a:off x="2704884" y="3299821"/>
              <a:ext cx="270841" cy="215444"/>
            </a:xfrm>
            <a:prstGeom prst="rect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wrap="square" lIns="0" tIns="0" rIns="0" rtlCol="0">
              <a:spAutoFit/>
            </a:bodyPr>
            <a:lstStyle/>
            <a:p>
              <a:pPr algn="ctr"/>
              <a:r>
                <a:rPr lang="en-US" sz="1100" dirty="0">
                  <a:solidFill>
                    <a:srgbClr val="C00000"/>
                  </a:solidFill>
                </a:rPr>
                <a:t>x</a:t>
              </a:r>
            </a:p>
          </p:txBody>
        </p:sp>
        <p:cxnSp>
          <p:nvCxnSpPr>
            <p:cNvPr id="178" name="Connecteur droit avec flèche 177"/>
            <p:cNvCxnSpPr/>
            <p:nvPr/>
          </p:nvCxnSpPr>
          <p:spPr>
            <a:xfrm flipV="1">
              <a:off x="2137807" y="2913961"/>
              <a:ext cx="537321" cy="6869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9" name="Connecteur droit avec flèche 178"/>
            <p:cNvCxnSpPr>
              <a:stCxn id="163" idx="3"/>
            </p:cNvCxnSpPr>
            <p:nvPr/>
          </p:nvCxnSpPr>
          <p:spPr>
            <a:xfrm>
              <a:off x="2975725" y="2548995"/>
              <a:ext cx="900079" cy="13859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80" name="ZoneTexte 179"/>
            <p:cNvSpPr txBox="1"/>
            <p:nvPr/>
          </p:nvSpPr>
          <p:spPr>
            <a:xfrm>
              <a:off x="3884363" y="2672054"/>
              <a:ext cx="270841" cy="215444"/>
            </a:xfrm>
            <a:prstGeom prst="rect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wrap="square" lIns="0" tIns="0" rIns="0" rtlCol="0">
              <a:spAutoFit/>
            </a:bodyPr>
            <a:lstStyle/>
            <a:p>
              <a:pPr algn="ctr"/>
              <a:r>
                <a:rPr lang="en-US" sz="1100" dirty="0" smtClean="0"/>
                <a:t>100</a:t>
              </a:r>
              <a:endParaRPr lang="en-US" sz="1100" dirty="0"/>
            </a:p>
          </p:txBody>
        </p:sp>
        <p:sp>
          <p:nvSpPr>
            <p:cNvPr id="181" name="ZoneTexte 180"/>
            <p:cNvSpPr txBox="1"/>
            <p:nvPr/>
          </p:nvSpPr>
          <p:spPr>
            <a:xfrm>
              <a:off x="3903032" y="2028950"/>
              <a:ext cx="252172" cy="215444"/>
            </a:xfrm>
            <a:prstGeom prst="rect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wrap="square" lIns="0" tIns="0" rIns="0" rtlCol="0">
              <a:spAutoFit/>
            </a:bodyPr>
            <a:lstStyle/>
            <a:p>
              <a:pPr algn="ctr"/>
              <a:r>
                <a:rPr lang="en-US" sz="1100" dirty="0" smtClean="0"/>
                <a:t>20</a:t>
              </a:r>
              <a:endParaRPr lang="en-US" sz="1100" dirty="0"/>
            </a:p>
          </p:txBody>
        </p:sp>
        <p:sp>
          <p:nvSpPr>
            <p:cNvPr id="182" name="ZoneTexte 181"/>
            <p:cNvSpPr txBox="1"/>
            <p:nvPr/>
          </p:nvSpPr>
          <p:spPr>
            <a:xfrm>
              <a:off x="1828765" y="1705868"/>
              <a:ext cx="453154" cy="215444"/>
            </a:xfrm>
            <a:prstGeom prst="rect">
              <a:avLst/>
            </a:prstGeom>
            <a:noFill/>
          </p:spPr>
          <p:txBody>
            <a:bodyPr wrap="square" lIns="0" tIns="0" rIns="0" rtlCol="0">
              <a:spAutoFit/>
            </a:bodyPr>
            <a:lstStyle/>
            <a:p>
              <a:pPr algn="ctr"/>
              <a:r>
                <a:rPr lang="en-US" sz="1100" dirty="0" smtClean="0"/>
                <a:t>m1</a:t>
              </a:r>
              <a:endParaRPr lang="en-US" sz="1100" dirty="0"/>
            </a:p>
          </p:txBody>
        </p:sp>
        <p:cxnSp>
          <p:nvCxnSpPr>
            <p:cNvPr id="183" name="Connecteur droit avec flèche 182"/>
            <p:cNvCxnSpPr/>
            <p:nvPr/>
          </p:nvCxnSpPr>
          <p:spPr>
            <a:xfrm flipV="1">
              <a:off x="2169400" y="1710135"/>
              <a:ext cx="537321" cy="6869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84" name="Rectangle 183"/>
            <p:cNvSpPr/>
            <p:nvPr/>
          </p:nvSpPr>
          <p:spPr>
            <a:xfrm>
              <a:off x="3223682" y="2925192"/>
              <a:ext cx="347472" cy="75082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5" name="ZoneTexte 184"/>
            <p:cNvSpPr txBox="1"/>
            <p:nvPr/>
          </p:nvSpPr>
          <p:spPr>
            <a:xfrm>
              <a:off x="3271584" y="2965271"/>
              <a:ext cx="270841" cy="215444"/>
            </a:xfrm>
            <a:prstGeom prst="rect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wrap="square" lIns="0" tIns="0" rIns="0" rtlCol="0">
              <a:spAutoFit/>
            </a:bodyPr>
            <a:lstStyle/>
            <a:p>
              <a:pPr algn="ctr"/>
              <a:r>
                <a:rPr lang="en-US" sz="1100" dirty="0"/>
                <a:t>X</a:t>
              </a:r>
            </a:p>
          </p:txBody>
        </p:sp>
        <p:sp>
          <p:nvSpPr>
            <p:cNvPr id="186" name="ZoneTexte 185"/>
            <p:cNvSpPr txBox="1"/>
            <p:nvPr/>
          </p:nvSpPr>
          <p:spPr>
            <a:xfrm>
              <a:off x="3271584" y="3174143"/>
              <a:ext cx="270841" cy="215444"/>
            </a:xfrm>
            <a:prstGeom prst="rect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wrap="square" lIns="0" tIns="0" rIns="0" rtlCol="0">
              <a:spAutoFit/>
            </a:bodyPr>
            <a:lstStyle/>
            <a:p>
              <a:pPr algn="ctr"/>
              <a:r>
                <a:rPr lang="en-US" sz="1100" dirty="0" smtClean="0"/>
                <a:t>X</a:t>
              </a:r>
              <a:endParaRPr lang="en-US" sz="1100" dirty="0"/>
            </a:p>
          </p:txBody>
        </p:sp>
        <p:sp>
          <p:nvSpPr>
            <p:cNvPr id="187" name="ZoneTexte 186"/>
            <p:cNvSpPr txBox="1"/>
            <p:nvPr/>
          </p:nvSpPr>
          <p:spPr>
            <a:xfrm>
              <a:off x="3271584" y="3391593"/>
              <a:ext cx="270841" cy="215444"/>
            </a:xfrm>
            <a:prstGeom prst="rect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wrap="square" lIns="0" tIns="0" rIns="0" rtlCol="0">
              <a:spAutoFit/>
            </a:bodyPr>
            <a:lstStyle/>
            <a:p>
              <a:pPr algn="ctr"/>
              <a:r>
                <a:rPr lang="en-US" sz="1100" dirty="0" smtClean="0"/>
                <a:t>X</a:t>
              </a:r>
              <a:endParaRPr lang="en-US" sz="1100" dirty="0"/>
            </a:p>
          </p:txBody>
        </p:sp>
        <p:cxnSp>
          <p:nvCxnSpPr>
            <p:cNvPr id="188" name="Connecteur droit avec flèche 187"/>
            <p:cNvCxnSpPr/>
            <p:nvPr/>
          </p:nvCxnSpPr>
          <p:spPr>
            <a:xfrm flipV="1">
              <a:off x="2986267" y="3008157"/>
              <a:ext cx="260793" cy="6989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96" name="ZoneTexte 195"/>
            <p:cNvSpPr txBox="1"/>
            <p:nvPr/>
          </p:nvSpPr>
          <p:spPr>
            <a:xfrm>
              <a:off x="3875509" y="2936375"/>
              <a:ext cx="270841" cy="215444"/>
            </a:xfrm>
            <a:prstGeom prst="rect">
              <a:avLst/>
            </a:prstGeom>
            <a:ln>
              <a:solidFill>
                <a:srgbClr val="FF0000"/>
              </a:solidFill>
              <a:prstDash val="dashDot"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wrap="square" lIns="0" tIns="0" rIns="0" rtlCol="0">
              <a:spAutoFit/>
            </a:bodyPr>
            <a:lstStyle/>
            <a:p>
              <a:pPr algn="ctr"/>
              <a:r>
                <a:rPr lang="en-US" sz="1100" dirty="0" smtClean="0"/>
                <a:t>1</a:t>
              </a:r>
              <a:endParaRPr lang="en-US" sz="1100" dirty="0"/>
            </a:p>
          </p:txBody>
        </p:sp>
        <p:sp>
          <p:nvSpPr>
            <p:cNvPr id="197" name="ZoneTexte 196"/>
            <p:cNvSpPr txBox="1"/>
            <p:nvPr/>
          </p:nvSpPr>
          <p:spPr>
            <a:xfrm>
              <a:off x="3875508" y="3493171"/>
              <a:ext cx="270841" cy="215444"/>
            </a:xfrm>
            <a:prstGeom prst="rect">
              <a:avLst/>
            </a:prstGeom>
            <a:ln>
              <a:solidFill>
                <a:srgbClr val="FF0000"/>
              </a:solidFill>
              <a:prstDash val="dashDot"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wrap="square" lIns="0" tIns="0" rIns="0" rtlCol="0">
              <a:spAutoFit/>
            </a:bodyPr>
            <a:lstStyle/>
            <a:p>
              <a:pPr algn="ctr"/>
              <a:r>
                <a:rPr lang="en-US" sz="1100" dirty="0" smtClean="0"/>
                <a:t>3</a:t>
              </a:r>
              <a:endParaRPr lang="en-US" sz="1100" dirty="0"/>
            </a:p>
          </p:txBody>
        </p:sp>
        <p:sp>
          <p:nvSpPr>
            <p:cNvPr id="198" name="ZoneTexte 197"/>
            <p:cNvSpPr txBox="1"/>
            <p:nvPr/>
          </p:nvSpPr>
          <p:spPr>
            <a:xfrm>
              <a:off x="3866268" y="3746222"/>
              <a:ext cx="270841" cy="215444"/>
            </a:xfrm>
            <a:prstGeom prst="rect">
              <a:avLst/>
            </a:prstGeom>
            <a:ln>
              <a:solidFill>
                <a:srgbClr val="FF0000"/>
              </a:solidFill>
              <a:prstDash val="dashDot"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wrap="square" lIns="0" tIns="0" rIns="0" rtlCol="0">
              <a:spAutoFit/>
            </a:bodyPr>
            <a:lstStyle/>
            <a:p>
              <a:pPr algn="ctr"/>
              <a:r>
                <a:rPr lang="en-US" sz="1100" dirty="0" smtClean="0"/>
                <a:t>100</a:t>
              </a:r>
              <a:endParaRPr lang="en-US" sz="1100" dirty="0"/>
            </a:p>
          </p:txBody>
        </p:sp>
        <p:sp>
          <p:nvSpPr>
            <p:cNvPr id="199" name="ZoneTexte 198"/>
            <p:cNvSpPr txBox="1"/>
            <p:nvPr/>
          </p:nvSpPr>
          <p:spPr>
            <a:xfrm>
              <a:off x="3875793" y="3216002"/>
              <a:ext cx="252172" cy="215444"/>
            </a:xfrm>
            <a:prstGeom prst="rect">
              <a:avLst/>
            </a:prstGeom>
            <a:ln>
              <a:solidFill>
                <a:srgbClr val="FF0000"/>
              </a:solidFill>
              <a:prstDash val="dashDot"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wrap="square" lIns="0" tIns="0" rIns="0" rtlCol="0">
              <a:spAutoFit/>
            </a:bodyPr>
            <a:lstStyle/>
            <a:p>
              <a:pPr algn="ctr"/>
              <a:r>
                <a:rPr lang="en-US" sz="1100" dirty="0" smtClean="0"/>
                <a:t>20</a:t>
              </a:r>
              <a:endParaRPr lang="en-US" sz="1100" dirty="0"/>
            </a:p>
          </p:txBody>
        </p:sp>
        <p:cxnSp>
          <p:nvCxnSpPr>
            <p:cNvPr id="202" name="Connecteur droit avec flèche 201"/>
            <p:cNvCxnSpPr/>
            <p:nvPr/>
          </p:nvCxnSpPr>
          <p:spPr>
            <a:xfrm flipV="1">
              <a:off x="3551992" y="3006982"/>
              <a:ext cx="305229" cy="8043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03" name="Connecteur droit avec flèche 202"/>
            <p:cNvCxnSpPr/>
            <p:nvPr/>
          </p:nvCxnSpPr>
          <p:spPr>
            <a:xfrm flipV="1">
              <a:off x="3580721" y="3314041"/>
              <a:ext cx="276784" cy="98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04" name="Connecteur droit avec flèche 203"/>
            <p:cNvCxnSpPr/>
            <p:nvPr/>
          </p:nvCxnSpPr>
          <p:spPr>
            <a:xfrm>
              <a:off x="3540227" y="3554291"/>
              <a:ext cx="316993" cy="6435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90" name="Arc 189"/>
          <p:cNvSpPr/>
          <p:nvPr/>
        </p:nvSpPr>
        <p:spPr>
          <a:xfrm>
            <a:off x="4823186" y="4819159"/>
            <a:ext cx="45719" cy="45719"/>
          </a:xfrm>
          <a:prstGeom prst="arc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5" name="Forme libre 204"/>
          <p:cNvSpPr/>
          <p:nvPr/>
        </p:nvSpPr>
        <p:spPr>
          <a:xfrm>
            <a:off x="4284237" y="5358093"/>
            <a:ext cx="996096" cy="351013"/>
          </a:xfrm>
          <a:custGeom>
            <a:avLst/>
            <a:gdLst>
              <a:gd name="connsiteX0" fmla="*/ 0 w 923544"/>
              <a:gd name="connsiteY0" fmla="*/ 0 h 441129"/>
              <a:gd name="connsiteX1" fmla="*/ 182880 w 923544"/>
              <a:gd name="connsiteY1" fmla="*/ 374904 h 441129"/>
              <a:gd name="connsiteX2" fmla="*/ 923544 w 923544"/>
              <a:gd name="connsiteY2" fmla="*/ 438912 h 4411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23544" h="441129">
                <a:moveTo>
                  <a:pt x="0" y="0"/>
                </a:moveTo>
                <a:cubicBezTo>
                  <a:pt x="14478" y="150876"/>
                  <a:pt x="28956" y="301752"/>
                  <a:pt x="182880" y="374904"/>
                </a:cubicBezTo>
                <a:cubicBezTo>
                  <a:pt x="336804" y="448056"/>
                  <a:pt x="630174" y="443484"/>
                  <a:pt x="923544" y="438912"/>
                </a:cubicBezTo>
              </a:path>
            </a:pathLst>
          </a:custGeom>
          <a:noFill/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8723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ZoneTexte 3"/>
          <p:cNvSpPr txBox="1"/>
          <p:nvPr/>
        </p:nvSpPr>
        <p:spPr>
          <a:xfrm>
            <a:off x="6296381" y="2184571"/>
            <a:ext cx="2516340" cy="1954381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sz="1100" dirty="0" smtClean="0">
                <a:solidFill>
                  <a:srgbClr val="FFFF00"/>
                </a:solidFill>
              </a:rPr>
              <a:t>&gt;&gt;&gt; </a:t>
            </a:r>
            <a:r>
              <a:rPr lang="en-US" sz="1100" dirty="0" err="1" smtClean="0">
                <a:solidFill>
                  <a:srgbClr val="FFFF00"/>
                </a:solidFill>
              </a:rPr>
              <a:t>tpl</a:t>
            </a:r>
            <a:r>
              <a:rPr lang="en-US" sz="1100" dirty="0" smtClean="0">
                <a:solidFill>
                  <a:srgbClr val="FFFF00"/>
                </a:solidFill>
              </a:rPr>
              <a:t> = 1, ’</a:t>
            </a:r>
            <a:r>
              <a:rPr lang="en-US" sz="1100" dirty="0" err="1" smtClean="0">
                <a:solidFill>
                  <a:srgbClr val="FFFF00"/>
                </a:solidFill>
              </a:rPr>
              <a:t>janvier</a:t>
            </a:r>
            <a:r>
              <a:rPr lang="en-US" sz="1100" dirty="0" smtClean="0">
                <a:solidFill>
                  <a:srgbClr val="FFFF00"/>
                </a:solidFill>
              </a:rPr>
              <a:t>’, 2 </a:t>
            </a:r>
          </a:p>
          <a:p>
            <a:r>
              <a:rPr lang="en-US" sz="1100" dirty="0" smtClean="0">
                <a:solidFill>
                  <a:srgbClr val="FFFF00"/>
                </a:solidFill>
              </a:rPr>
              <a:t>&gt;&gt;&gt; </a:t>
            </a:r>
            <a:r>
              <a:rPr lang="en-US" sz="1100" dirty="0" err="1" smtClean="0">
                <a:solidFill>
                  <a:srgbClr val="FFFF00"/>
                </a:solidFill>
              </a:rPr>
              <a:t>lst</a:t>
            </a:r>
            <a:r>
              <a:rPr lang="en-US" sz="1100" dirty="0" smtClean="0">
                <a:solidFill>
                  <a:srgbClr val="FFFF00"/>
                </a:solidFill>
              </a:rPr>
              <a:t> = list(</a:t>
            </a:r>
            <a:r>
              <a:rPr lang="en-US" sz="1100" dirty="0" err="1" smtClean="0">
                <a:solidFill>
                  <a:srgbClr val="FFFF00"/>
                </a:solidFill>
              </a:rPr>
              <a:t>tpl</a:t>
            </a:r>
            <a:r>
              <a:rPr lang="en-US" sz="1100" dirty="0" smtClean="0">
                <a:solidFill>
                  <a:srgbClr val="FFFF00"/>
                </a:solidFill>
              </a:rPr>
              <a:t>)</a:t>
            </a:r>
          </a:p>
          <a:p>
            <a:r>
              <a:rPr lang="en-US" sz="1100" dirty="0" smtClean="0">
                <a:solidFill>
                  <a:srgbClr val="FFFF00"/>
                </a:solidFill>
              </a:rPr>
              <a:t>&gt;&gt;&gt;</a:t>
            </a:r>
          </a:p>
          <a:p>
            <a:endParaRPr lang="en-US" sz="1100" dirty="0" smtClean="0">
              <a:solidFill>
                <a:srgbClr val="FFFF00"/>
              </a:solidFill>
            </a:endParaRPr>
          </a:p>
          <a:p>
            <a:endParaRPr lang="en-US" sz="1100" dirty="0">
              <a:solidFill>
                <a:srgbClr val="FFFF00"/>
              </a:solidFill>
            </a:endParaRPr>
          </a:p>
          <a:p>
            <a:endParaRPr lang="en-US" sz="1100" dirty="0" smtClean="0">
              <a:solidFill>
                <a:srgbClr val="FFFF00"/>
              </a:solidFill>
            </a:endParaRPr>
          </a:p>
          <a:p>
            <a:endParaRPr lang="en-US" sz="1100" dirty="0" smtClean="0">
              <a:solidFill>
                <a:srgbClr val="FFFF00"/>
              </a:solidFill>
            </a:endParaRPr>
          </a:p>
          <a:p>
            <a:endParaRPr lang="en-US" sz="1100" dirty="0">
              <a:solidFill>
                <a:srgbClr val="FFFF00"/>
              </a:solidFill>
            </a:endParaRPr>
          </a:p>
          <a:p>
            <a:endParaRPr lang="en-US" sz="1100" dirty="0" smtClean="0">
              <a:solidFill>
                <a:srgbClr val="FFFF00"/>
              </a:solidFill>
            </a:endParaRPr>
          </a:p>
          <a:p>
            <a:endParaRPr lang="en-US" sz="1100" dirty="0">
              <a:solidFill>
                <a:srgbClr val="FFFF00"/>
              </a:solidFill>
            </a:endParaRPr>
          </a:p>
          <a:p>
            <a:endParaRPr lang="en-US" sz="1100" dirty="0">
              <a:solidFill>
                <a:srgbClr val="FFFF00"/>
              </a:solidFill>
            </a:endParaRPr>
          </a:p>
        </p:txBody>
      </p:sp>
      <p:grpSp>
        <p:nvGrpSpPr>
          <p:cNvPr id="5" name="Groupe 4"/>
          <p:cNvGrpSpPr/>
          <p:nvPr/>
        </p:nvGrpSpPr>
        <p:grpSpPr>
          <a:xfrm>
            <a:off x="8851036" y="1915223"/>
            <a:ext cx="2369065" cy="2321914"/>
            <a:chOff x="1804524" y="1652462"/>
            <a:chExt cx="2369065" cy="2321914"/>
          </a:xfrm>
        </p:grpSpPr>
        <p:sp>
          <p:nvSpPr>
            <p:cNvPr id="45" name="Rectangle 44"/>
            <p:cNvSpPr/>
            <p:nvPr/>
          </p:nvSpPr>
          <p:spPr>
            <a:xfrm>
              <a:off x="2681849" y="3153814"/>
              <a:ext cx="332192" cy="820562"/>
            </a:xfrm>
            <a:prstGeom prst="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" name="Connecteur droit 6"/>
            <p:cNvCxnSpPr/>
            <p:nvPr/>
          </p:nvCxnSpPr>
          <p:spPr>
            <a:xfrm>
              <a:off x="2548991" y="1652462"/>
              <a:ext cx="0" cy="149702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ZoneTexte 7"/>
            <p:cNvSpPr txBox="1"/>
            <p:nvPr/>
          </p:nvSpPr>
          <p:spPr>
            <a:xfrm>
              <a:off x="1804524" y="2063469"/>
              <a:ext cx="453154" cy="215444"/>
            </a:xfrm>
            <a:prstGeom prst="rect">
              <a:avLst/>
            </a:prstGeom>
            <a:noFill/>
          </p:spPr>
          <p:txBody>
            <a:bodyPr wrap="square" lIns="0" tIns="0" rIns="0" rtlCol="0">
              <a:spAutoFit/>
            </a:bodyPr>
            <a:lstStyle/>
            <a:p>
              <a:pPr algn="ctr"/>
              <a:r>
                <a:rPr lang="en-US" sz="1100" dirty="0" err="1" smtClean="0"/>
                <a:t>tpl</a:t>
              </a:r>
              <a:endParaRPr lang="en-US" sz="1100" dirty="0"/>
            </a:p>
          </p:txBody>
        </p:sp>
        <p:sp>
          <p:nvSpPr>
            <p:cNvPr id="9" name="Rectangle 8"/>
            <p:cNvSpPr/>
            <p:nvPr/>
          </p:nvSpPr>
          <p:spPr>
            <a:xfrm>
              <a:off x="2666569" y="2028949"/>
              <a:ext cx="347472" cy="873761"/>
            </a:xfrm>
            <a:prstGeom prst="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ZoneTexte 9"/>
            <p:cNvSpPr txBox="1"/>
            <p:nvPr/>
          </p:nvSpPr>
          <p:spPr>
            <a:xfrm>
              <a:off x="2704884" y="2164104"/>
              <a:ext cx="270841" cy="215444"/>
            </a:xfrm>
            <a:prstGeom prst="rect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wrap="square" lIns="0" tIns="0" rIns="0" rtlCol="0">
              <a:spAutoFit/>
            </a:bodyPr>
            <a:lstStyle/>
            <a:p>
              <a:pPr algn="ctr"/>
              <a:r>
                <a:rPr lang="en-US" sz="1100" dirty="0">
                  <a:solidFill>
                    <a:srgbClr val="C00000"/>
                  </a:solidFill>
                </a:rPr>
                <a:t>x</a:t>
              </a:r>
            </a:p>
          </p:txBody>
        </p:sp>
        <p:sp>
          <p:nvSpPr>
            <p:cNvPr id="11" name="ZoneTexte 10"/>
            <p:cNvSpPr txBox="1"/>
            <p:nvPr/>
          </p:nvSpPr>
          <p:spPr>
            <a:xfrm>
              <a:off x="2704884" y="2408905"/>
              <a:ext cx="270841" cy="215444"/>
            </a:xfrm>
            <a:prstGeom prst="rect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wrap="square" lIns="0" tIns="0" rIns="0" rtlCol="0">
              <a:spAutoFit/>
            </a:bodyPr>
            <a:lstStyle/>
            <a:p>
              <a:pPr algn="ctr"/>
              <a:r>
                <a:rPr lang="en-US" sz="1100" dirty="0">
                  <a:solidFill>
                    <a:srgbClr val="C00000"/>
                  </a:solidFill>
                </a:rPr>
                <a:t>x</a:t>
              </a:r>
            </a:p>
          </p:txBody>
        </p:sp>
        <p:sp>
          <p:nvSpPr>
            <p:cNvPr id="16" name="ZoneTexte 15"/>
            <p:cNvSpPr txBox="1"/>
            <p:nvPr/>
          </p:nvSpPr>
          <p:spPr>
            <a:xfrm>
              <a:off x="3425925" y="1707704"/>
              <a:ext cx="270841" cy="215444"/>
            </a:xfrm>
            <a:prstGeom prst="rect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wrap="square" lIns="0" tIns="0" rIns="0" rtlCol="0">
              <a:spAutoFit/>
            </a:bodyPr>
            <a:lstStyle/>
            <a:p>
              <a:pPr algn="ctr"/>
              <a:r>
                <a:rPr lang="en-US" sz="1100" dirty="0" smtClean="0"/>
                <a:t>1</a:t>
              </a:r>
              <a:endParaRPr lang="en-US" sz="1100" dirty="0"/>
            </a:p>
          </p:txBody>
        </p:sp>
        <p:sp>
          <p:nvSpPr>
            <p:cNvPr id="17" name="ZoneTexte 16"/>
            <p:cNvSpPr txBox="1"/>
            <p:nvPr/>
          </p:nvSpPr>
          <p:spPr>
            <a:xfrm>
              <a:off x="3440774" y="2029938"/>
              <a:ext cx="732815" cy="215444"/>
            </a:xfrm>
            <a:prstGeom prst="rect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wrap="square" lIns="0" tIns="0" rIns="0" rtlCol="0">
              <a:spAutoFit/>
            </a:bodyPr>
            <a:lstStyle/>
            <a:p>
              <a:pPr algn="ctr"/>
              <a:r>
                <a:rPr lang="en-US" sz="1100" dirty="0" smtClean="0"/>
                <a:t>‘</a:t>
              </a:r>
              <a:r>
                <a:rPr lang="en-US" sz="1100" dirty="0" err="1" smtClean="0"/>
                <a:t>janvier</a:t>
              </a:r>
              <a:r>
                <a:rPr lang="en-US" sz="1100" dirty="0" smtClean="0"/>
                <a:t>’</a:t>
              </a:r>
              <a:endParaRPr lang="en-US" sz="1100" dirty="0"/>
            </a:p>
          </p:txBody>
        </p:sp>
        <p:sp>
          <p:nvSpPr>
            <p:cNvPr id="18" name="ZoneTexte 17"/>
            <p:cNvSpPr txBox="1"/>
            <p:nvPr/>
          </p:nvSpPr>
          <p:spPr>
            <a:xfrm>
              <a:off x="3440774" y="2356645"/>
              <a:ext cx="270841" cy="215444"/>
            </a:xfrm>
            <a:prstGeom prst="rect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wrap="square" lIns="0" tIns="0" rIns="0" rtlCol="0">
              <a:spAutoFit/>
            </a:bodyPr>
            <a:lstStyle/>
            <a:p>
              <a:pPr algn="ctr"/>
              <a:r>
                <a:rPr lang="en-US" sz="1100" dirty="0" smtClean="0"/>
                <a:t>2</a:t>
              </a:r>
              <a:endParaRPr lang="en-US" sz="1100" dirty="0"/>
            </a:p>
          </p:txBody>
        </p:sp>
        <p:cxnSp>
          <p:nvCxnSpPr>
            <p:cNvPr id="19" name="Connecteur droit avec flèche 18"/>
            <p:cNvCxnSpPr>
              <a:endCxn id="16" idx="1"/>
            </p:cNvCxnSpPr>
            <p:nvPr/>
          </p:nvCxnSpPr>
          <p:spPr>
            <a:xfrm flipV="1">
              <a:off x="2963221" y="1815426"/>
              <a:ext cx="462704" cy="38236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Connecteur droit avec flèche 23"/>
            <p:cNvCxnSpPr/>
            <p:nvPr/>
          </p:nvCxnSpPr>
          <p:spPr>
            <a:xfrm flipV="1">
              <a:off x="2147092" y="2063469"/>
              <a:ext cx="537321" cy="6869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7" name="ZoneTexte 26"/>
            <p:cNvSpPr txBox="1"/>
            <p:nvPr/>
          </p:nvSpPr>
          <p:spPr>
            <a:xfrm>
              <a:off x="2704884" y="3219449"/>
              <a:ext cx="270841" cy="215444"/>
            </a:xfrm>
            <a:prstGeom prst="rect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wrap="square" lIns="0" tIns="0" rIns="0" rtlCol="0">
              <a:spAutoFit/>
            </a:bodyPr>
            <a:lstStyle/>
            <a:p>
              <a:pPr algn="ctr"/>
              <a:r>
                <a:rPr lang="en-US" sz="1100" dirty="0" smtClean="0">
                  <a:solidFill>
                    <a:schemeClr val="accent1">
                      <a:lumMod val="50000"/>
                    </a:schemeClr>
                  </a:solidFill>
                </a:rPr>
                <a:t>X</a:t>
              </a:r>
              <a:endParaRPr lang="en-US" sz="1100" dirty="0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  <p:sp>
          <p:nvSpPr>
            <p:cNvPr id="28" name="ZoneTexte 27"/>
            <p:cNvSpPr txBox="1"/>
            <p:nvPr/>
          </p:nvSpPr>
          <p:spPr>
            <a:xfrm>
              <a:off x="2704884" y="3456158"/>
              <a:ext cx="270841" cy="215444"/>
            </a:xfrm>
            <a:prstGeom prst="rect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wrap="square" lIns="0" tIns="0" rIns="0" rtlCol="0">
              <a:spAutoFit/>
            </a:bodyPr>
            <a:lstStyle/>
            <a:p>
              <a:pPr algn="ctr"/>
              <a:r>
                <a:rPr lang="en-US" sz="1100" dirty="0">
                  <a:solidFill>
                    <a:schemeClr val="accent1">
                      <a:lumMod val="50000"/>
                    </a:schemeClr>
                  </a:solidFill>
                </a:rPr>
                <a:t>X</a:t>
              </a:r>
            </a:p>
          </p:txBody>
        </p:sp>
        <p:sp>
          <p:nvSpPr>
            <p:cNvPr id="38" name="ZoneTexte 37"/>
            <p:cNvSpPr txBox="1"/>
            <p:nvPr/>
          </p:nvSpPr>
          <p:spPr>
            <a:xfrm>
              <a:off x="2704884" y="2639515"/>
              <a:ext cx="270841" cy="215444"/>
            </a:xfrm>
            <a:prstGeom prst="rect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wrap="square" lIns="0" tIns="0" rIns="0" rtlCol="0">
              <a:spAutoFit/>
            </a:bodyPr>
            <a:lstStyle/>
            <a:p>
              <a:pPr algn="ctr"/>
              <a:r>
                <a:rPr lang="en-US" sz="1100" dirty="0">
                  <a:solidFill>
                    <a:srgbClr val="C00000"/>
                  </a:solidFill>
                </a:rPr>
                <a:t>x</a:t>
              </a:r>
            </a:p>
          </p:txBody>
        </p:sp>
        <p:cxnSp>
          <p:nvCxnSpPr>
            <p:cNvPr id="40" name="Connecteur droit avec flèche 39"/>
            <p:cNvCxnSpPr/>
            <p:nvPr/>
          </p:nvCxnSpPr>
          <p:spPr>
            <a:xfrm flipV="1">
              <a:off x="2967213" y="2132165"/>
              <a:ext cx="462704" cy="38236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1" name="Connecteur droit avec flèche 40"/>
            <p:cNvCxnSpPr/>
            <p:nvPr/>
          </p:nvCxnSpPr>
          <p:spPr>
            <a:xfrm flipV="1">
              <a:off x="2965432" y="2383269"/>
              <a:ext cx="462704" cy="38236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2" name="ZoneTexte 41"/>
            <p:cNvSpPr txBox="1"/>
            <p:nvPr/>
          </p:nvSpPr>
          <p:spPr>
            <a:xfrm>
              <a:off x="2580752" y="1822492"/>
              <a:ext cx="453154" cy="215444"/>
            </a:xfrm>
            <a:prstGeom prst="rect">
              <a:avLst/>
            </a:prstGeom>
            <a:noFill/>
          </p:spPr>
          <p:txBody>
            <a:bodyPr wrap="square" lIns="0" tIns="0" rIns="0" rtlCol="0">
              <a:spAutoFit/>
            </a:bodyPr>
            <a:lstStyle/>
            <a:p>
              <a:pPr algn="ctr"/>
              <a:r>
                <a:rPr lang="en-US" sz="1100" dirty="0" smtClean="0"/>
                <a:t>tuple</a:t>
              </a:r>
              <a:endParaRPr lang="en-US" sz="1100" dirty="0"/>
            </a:p>
          </p:txBody>
        </p:sp>
        <p:sp>
          <p:nvSpPr>
            <p:cNvPr id="43" name="ZoneTexte 42"/>
            <p:cNvSpPr txBox="1"/>
            <p:nvPr/>
          </p:nvSpPr>
          <p:spPr>
            <a:xfrm>
              <a:off x="1929358" y="3007754"/>
              <a:ext cx="453154" cy="215444"/>
            </a:xfrm>
            <a:prstGeom prst="rect">
              <a:avLst/>
            </a:prstGeom>
            <a:noFill/>
          </p:spPr>
          <p:txBody>
            <a:bodyPr wrap="square" lIns="0" tIns="0" rIns="0" rtlCol="0">
              <a:spAutoFit/>
            </a:bodyPr>
            <a:lstStyle/>
            <a:p>
              <a:pPr algn="ctr"/>
              <a:r>
                <a:rPr lang="en-US" sz="1100" dirty="0" err="1" smtClean="0"/>
                <a:t>lst</a:t>
              </a:r>
              <a:endParaRPr lang="en-US" sz="1100" dirty="0"/>
            </a:p>
          </p:txBody>
        </p:sp>
        <p:cxnSp>
          <p:nvCxnSpPr>
            <p:cNvPr id="44" name="Connecteur droit avec flèche 43"/>
            <p:cNvCxnSpPr/>
            <p:nvPr/>
          </p:nvCxnSpPr>
          <p:spPr>
            <a:xfrm>
              <a:off x="2253795" y="3112323"/>
              <a:ext cx="451089" cy="3589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1" name="ZoneTexte 50"/>
            <p:cNvSpPr txBox="1"/>
            <p:nvPr/>
          </p:nvSpPr>
          <p:spPr>
            <a:xfrm>
              <a:off x="2704884" y="3700172"/>
              <a:ext cx="270841" cy="215444"/>
            </a:xfrm>
            <a:prstGeom prst="rect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wrap="square" lIns="0" tIns="0" rIns="0" rtlCol="0">
              <a:spAutoFit/>
            </a:bodyPr>
            <a:lstStyle/>
            <a:p>
              <a:pPr algn="ctr"/>
              <a:r>
                <a:rPr lang="en-US" sz="1100" dirty="0">
                  <a:solidFill>
                    <a:schemeClr val="accent1">
                      <a:lumMod val="50000"/>
                    </a:schemeClr>
                  </a:solidFill>
                </a:rPr>
                <a:t>X</a:t>
              </a:r>
            </a:p>
          </p:txBody>
        </p:sp>
        <p:sp>
          <p:nvSpPr>
            <p:cNvPr id="85" name="ZoneTexte 84"/>
            <p:cNvSpPr txBox="1"/>
            <p:nvPr/>
          </p:nvSpPr>
          <p:spPr>
            <a:xfrm>
              <a:off x="2583316" y="2988384"/>
              <a:ext cx="453154" cy="215444"/>
            </a:xfrm>
            <a:prstGeom prst="rect">
              <a:avLst/>
            </a:prstGeom>
            <a:noFill/>
          </p:spPr>
          <p:txBody>
            <a:bodyPr wrap="square" lIns="0" tIns="0" rIns="0" rtlCol="0">
              <a:spAutoFit/>
            </a:bodyPr>
            <a:lstStyle/>
            <a:p>
              <a:pPr algn="ctr"/>
              <a:r>
                <a:rPr lang="en-US" sz="1100" dirty="0" smtClean="0"/>
                <a:t>list</a:t>
              </a:r>
              <a:endParaRPr lang="en-US" sz="1100" dirty="0"/>
            </a:p>
          </p:txBody>
        </p:sp>
      </p:grpSp>
      <p:sp>
        <p:nvSpPr>
          <p:cNvPr id="49" name="Forme libre 48"/>
          <p:cNvSpPr/>
          <p:nvPr/>
        </p:nvSpPr>
        <p:spPr>
          <a:xfrm>
            <a:off x="10012297" y="2206036"/>
            <a:ext cx="477431" cy="1433496"/>
          </a:xfrm>
          <a:custGeom>
            <a:avLst/>
            <a:gdLst>
              <a:gd name="connsiteX0" fmla="*/ 0 w 477431"/>
              <a:gd name="connsiteY0" fmla="*/ 1416106 h 1433496"/>
              <a:gd name="connsiteX1" fmla="*/ 194209 w 477431"/>
              <a:gd name="connsiteY1" fmla="*/ 1270449 h 1433496"/>
              <a:gd name="connsiteX2" fmla="*/ 258946 w 477431"/>
              <a:gd name="connsiteY2" fmla="*/ 234669 h 1433496"/>
              <a:gd name="connsiteX3" fmla="*/ 477431 w 477431"/>
              <a:gd name="connsiteY3" fmla="*/ 0 h 1433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7431" h="1433496">
                <a:moveTo>
                  <a:pt x="0" y="1416106"/>
                </a:moveTo>
                <a:cubicBezTo>
                  <a:pt x="75525" y="1441730"/>
                  <a:pt x="151051" y="1467355"/>
                  <a:pt x="194209" y="1270449"/>
                </a:cubicBezTo>
                <a:cubicBezTo>
                  <a:pt x="237367" y="1073543"/>
                  <a:pt x="211742" y="446410"/>
                  <a:pt x="258946" y="234669"/>
                </a:cubicBezTo>
                <a:cubicBezTo>
                  <a:pt x="306150" y="22928"/>
                  <a:pt x="391790" y="11464"/>
                  <a:pt x="477431" y="0"/>
                </a:cubicBezTo>
              </a:path>
            </a:pathLst>
          </a:custGeom>
          <a:noFill/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Forme libre 51"/>
          <p:cNvSpPr/>
          <p:nvPr/>
        </p:nvSpPr>
        <p:spPr>
          <a:xfrm>
            <a:off x="10004205" y="2490586"/>
            <a:ext cx="477431" cy="1325765"/>
          </a:xfrm>
          <a:custGeom>
            <a:avLst/>
            <a:gdLst>
              <a:gd name="connsiteX0" fmla="*/ 0 w 477431"/>
              <a:gd name="connsiteY0" fmla="*/ 1325765 h 1325765"/>
              <a:gd name="connsiteX1" fmla="*/ 291314 w 477431"/>
              <a:gd name="connsiteY1" fmla="*/ 1034452 h 1325765"/>
              <a:gd name="connsiteX2" fmla="*/ 356050 w 477431"/>
              <a:gd name="connsiteY2" fmla="*/ 128144 h 1325765"/>
              <a:gd name="connsiteX3" fmla="*/ 477431 w 477431"/>
              <a:gd name="connsiteY3" fmla="*/ 6763 h 1325765"/>
              <a:gd name="connsiteX4" fmla="*/ 477431 w 477431"/>
              <a:gd name="connsiteY4" fmla="*/ 6763 h 1325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77431" h="1325765">
                <a:moveTo>
                  <a:pt x="0" y="1325765"/>
                </a:moveTo>
                <a:cubicBezTo>
                  <a:pt x="115986" y="1279910"/>
                  <a:pt x="231972" y="1234055"/>
                  <a:pt x="291314" y="1034452"/>
                </a:cubicBezTo>
                <a:cubicBezTo>
                  <a:pt x="350656" y="834848"/>
                  <a:pt x="325031" y="299425"/>
                  <a:pt x="356050" y="128144"/>
                </a:cubicBezTo>
                <a:cubicBezTo>
                  <a:pt x="387069" y="-43137"/>
                  <a:pt x="477431" y="6763"/>
                  <a:pt x="477431" y="6763"/>
                </a:cubicBezTo>
                <a:lnTo>
                  <a:pt x="477431" y="6763"/>
                </a:lnTo>
              </a:path>
            </a:pathLst>
          </a:custGeom>
          <a:noFill/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Forme libre 52"/>
          <p:cNvSpPr/>
          <p:nvPr/>
        </p:nvSpPr>
        <p:spPr>
          <a:xfrm>
            <a:off x="10012297" y="2837215"/>
            <a:ext cx="558351" cy="1246173"/>
          </a:xfrm>
          <a:custGeom>
            <a:avLst/>
            <a:gdLst>
              <a:gd name="connsiteX0" fmla="*/ 0 w 558351"/>
              <a:gd name="connsiteY0" fmla="*/ 1246173 h 1246173"/>
              <a:gd name="connsiteX1" fmla="*/ 356050 w 558351"/>
              <a:gd name="connsiteY1" fmla="*/ 1003412 h 1246173"/>
              <a:gd name="connsiteX2" fmla="*/ 558351 w 558351"/>
              <a:gd name="connsiteY2" fmla="*/ 0 h 12461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58351" h="1246173">
                <a:moveTo>
                  <a:pt x="0" y="1246173"/>
                </a:moveTo>
                <a:cubicBezTo>
                  <a:pt x="131496" y="1228640"/>
                  <a:pt x="262992" y="1211107"/>
                  <a:pt x="356050" y="1003412"/>
                </a:cubicBezTo>
                <a:cubicBezTo>
                  <a:pt x="449108" y="795717"/>
                  <a:pt x="503729" y="397858"/>
                  <a:pt x="558351" y="0"/>
                </a:cubicBezTo>
              </a:path>
            </a:pathLst>
          </a:custGeom>
          <a:noFill/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Arc 53"/>
          <p:cNvSpPr/>
          <p:nvPr/>
        </p:nvSpPr>
        <p:spPr>
          <a:xfrm rot="13446310">
            <a:off x="9433379" y="2524911"/>
            <a:ext cx="1456489" cy="1257467"/>
          </a:xfrm>
          <a:prstGeom prst="arc">
            <a:avLst>
              <a:gd name="adj1" fmla="val 15939065"/>
              <a:gd name="adj2" fmla="val 865563"/>
            </a:avLst>
          </a:prstGeom>
          <a:ln>
            <a:solidFill>
              <a:schemeClr val="tx1"/>
            </a:solidFill>
            <a:prstDash val="dash"/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Arc 54"/>
          <p:cNvSpPr/>
          <p:nvPr/>
        </p:nvSpPr>
        <p:spPr>
          <a:xfrm rot="13446310">
            <a:off x="9448229" y="2776198"/>
            <a:ext cx="1456489" cy="1257467"/>
          </a:xfrm>
          <a:prstGeom prst="arc">
            <a:avLst>
              <a:gd name="adj1" fmla="val 15939065"/>
              <a:gd name="adj2" fmla="val 865563"/>
            </a:avLst>
          </a:prstGeom>
          <a:ln>
            <a:solidFill>
              <a:schemeClr val="tx1"/>
            </a:solidFill>
            <a:prstDash val="dash"/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Arc 55"/>
          <p:cNvSpPr/>
          <p:nvPr/>
        </p:nvSpPr>
        <p:spPr>
          <a:xfrm rot="13446310">
            <a:off x="9489789" y="3036119"/>
            <a:ext cx="1456489" cy="1257467"/>
          </a:xfrm>
          <a:prstGeom prst="arc">
            <a:avLst>
              <a:gd name="adj1" fmla="val 15939065"/>
              <a:gd name="adj2" fmla="val 865563"/>
            </a:avLst>
          </a:prstGeom>
          <a:ln>
            <a:solidFill>
              <a:schemeClr val="tx1"/>
            </a:solidFill>
            <a:prstDash val="dash"/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ZoneTexte 56"/>
          <p:cNvSpPr txBox="1"/>
          <p:nvPr/>
        </p:nvSpPr>
        <p:spPr>
          <a:xfrm>
            <a:off x="284861" y="2243331"/>
            <a:ext cx="2516340" cy="1954381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sz="1100" dirty="0" smtClean="0">
                <a:solidFill>
                  <a:srgbClr val="FFFF00"/>
                </a:solidFill>
              </a:rPr>
              <a:t>&gt;&gt;&gt; </a:t>
            </a:r>
            <a:r>
              <a:rPr lang="en-US" sz="1100" dirty="0" err="1" smtClean="0">
                <a:solidFill>
                  <a:srgbClr val="FFFF00"/>
                </a:solidFill>
              </a:rPr>
              <a:t>tpl</a:t>
            </a:r>
            <a:r>
              <a:rPr lang="en-US" sz="1100" dirty="0" smtClean="0">
                <a:solidFill>
                  <a:srgbClr val="FFFF00"/>
                </a:solidFill>
              </a:rPr>
              <a:t> = 1, ’</a:t>
            </a:r>
            <a:r>
              <a:rPr lang="en-US" sz="1100" dirty="0" err="1" smtClean="0">
                <a:solidFill>
                  <a:srgbClr val="FFFF00"/>
                </a:solidFill>
              </a:rPr>
              <a:t>janvier</a:t>
            </a:r>
            <a:r>
              <a:rPr lang="en-US" sz="1100" dirty="0" smtClean="0">
                <a:solidFill>
                  <a:srgbClr val="FFFF00"/>
                </a:solidFill>
              </a:rPr>
              <a:t>’, 2 </a:t>
            </a:r>
          </a:p>
          <a:p>
            <a:r>
              <a:rPr lang="en-US" sz="1100" dirty="0" smtClean="0">
                <a:solidFill>
                  <a:srgbClr val="FFFF00"/>
                </a:solidFill>
              </a:rPr>
              <a:t>&gt;&gt;&gt;</a:t>
            </a:r>
          </a:p>
          <a:p>
            <a:endParaRPr lang="en-US" sz="1100" dirty="0" smtClean="0">
              <a:solidFill>
                <a:srgbClr val="FFFF00"/>
              </a:solidFill>
            </a:endParaRPr>
          </a:p>
          <a:p>
            <a:endParaRPr lang="en-US" sz="1100" dirty="0" smtClean="0">
              <a:solidFill>
                <a:srgbClr val="FFFF00"/>
              </a:solidFill>
            </a:endParaRPr>
          </a:p>
          <a:p>
            <a:endParaRPr lang="en-US" sz="1100" dirty="0">
              <a:solidFill>
                <a:srgbClr val="FFFF00"/>
              </a:solidFill>
            </a:endParaRPr>
          </a:p>
          <a:p>
            <a:endParaRPr lang="en-US" sz="1100" dirty="0" smtClean="0">
              <a:solidFill>
                <a:srgbClr val="FFFF00"/>
              </a:solidFill>
            </a:endParaRPr>
          </a:p>
          <a:p>
            <a:endParaRPr lang="en-US" sz="1100" dirty="0" smtClean="0">
              <a:solidFill>
                <a:srgbClr val="FFFF00"/>
              </a:solidFill>
            </a:endParaRPr>
          </a:p>
          <a:p>
            <a:endParaRPr lang="en-US" sz="1100" dirty="0">
              <a:solidFill>
                <a:srgbClr val="FFFF00"/>
              </a:solidFill>
            </a:endParaRPr>
          </a:p>
          <a:p>
            <a:endParaRPr lang="en-US" sz="1100" dirty="0" smtClean="0">
              <a:solidFill>
                <a:srgbClr val="FFFF00"/>
              </a:solidFill>
            </a:endParaRPr>
          </a:p>
          <a:p>
            <a:endParaRPr lang="en-US" sz="1100" dirty="0">
              <a:solidFill>
                <a:srgbClr val="FFFF00"/>
              </a:solidFill>
            </a:endParaRPr>
          </a:p>
          <a:p>
            <a:endParaRPr lang="en-US" sz="1100" dirty="0">
              <a:solidFill>
                <a:srgbClr val="FFFF00"/>
              </a:solidFill>
            </a:endParaRPr>
          </a:p>
        </p:txBody>
      </p:sp>
      <p:grpSp>
        <p:nvGrpSpPr>
          <p:cNvPr id="58" name="Groupe 57"/>
          <p:cNvGrpSpPr/>
          <p:nvPr/>
        </p:nvGrpSpPr>
        <p:grpSpPr>
          <a:xfrm>
            <a:off x="2839516" y="1973983"/>
            <a:ext cx="2369065" cy="1497026"/>
            <a:chOff x="1804524" y="1652462"/>
            <a:chExt cx="2369065" cy="1497026"/>
          </a:xfrm>
        </p:grpSpPr>
        <p:cxnSp>
          <p:nvCxnSpPr>
            <p:cNvPr id="60" name="Connecteur droit 59"/>
            <p:cNvCxnSpPr/>
            <p:nvPr/>
          </p:nvCxnSpPr>
          <p:spPr>
            <a:xfrm>
              <a:off x="2548991" y="1652462"/>
              <a:ext cx="0" cy="149702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1" name="ZoneTexte 60"/>
            <p:cNvSpPr txBox="1"/>
            <p:nvPr/>
          </p:nvSpPr>
          <p:spPr>
            <a:xfrm>
              <a:off x="1804524" y="2063469"/>
              <a:ext cx="453154" cy="215444"/>
            </a:xfrm>
            <a:prstGeom prst="rect">
              <a:avLst/>
            </a:prstGeom>
            <a:noFill/>
          </p:spPr>
          <p:txBody>
            <a:bodyPr wrap="square" lIns="0" tIns="0" rIns="0" rtlCol="0">
              <a:spAutoFit/>
            </a:bodyPr>
            <a:lstStyle/>
            <a:p>
              <a:pPr algn="ctr"/>
              <a:r>
                <a:rPr lang="en-US" sz="1100" dirty="0" err="1" smtClean="0"/>
                <a:t>tpl</a:t>
              </a:r>
              <a:endParaRPr lang="en-US" sz="1100" dirty="0"/>
            </a:p>
          </p:txBody>
        </p:sp>
        <p:sp>
          <p:nvSpPr>
            <p:cNvPr id="62" name="Rectangle 61"/>
            <p:cNvSpPr/>
            <p:nvPr/>
          </p:nvSpPr>
          <p:spPr>
            <a:xfrm>
              <a:off x="2666569" y="2028949"/>
              <a:ext cx="347472" cy="873761"/>
            </a:xfrm>
            <a:prstGeom prst="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ZoneTexte 62"/>
            <p:cNvSpPr txBox="1"/>
            <p:nvPr/>
          </p:nvSpPr>
          <p:spPr>
            <a:xfrm>
              <a:off x="2704884" y="2164104"/>
              <a:ext cx="270841" cy="215444"/>
            </a:xfrm>
            <a:prstGeom prst="rect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wrap="square" lIns="0" tIns="0" rIns="0" rtlCol="0">
              <a:spAutoFit/>
            </a:bodyPr>
            <a:lstStyle/>
            <a:p>
              <a:pPr algn="ctr"/>
              <a:r>
                <a:rPr lang="en-US" sz="1100" dirty="0">
                  <a:solidFill>
                    <a:srgbClr val="C00000"/>
                  </a:solidFill>
                </a:rPr>
                <a:t>x</a:t>
              </a:r>
            </a:p>
          </p:txBody>
        </p:sp>
        <p:sp>
          <p:nvSpPr>
            <p:cNvPr id="64" name="ZoneTexte 63"/>
            <p:cNvSpPr txBox="1"/>
            <p:nvPr/>
          </p:nvSpPr>
          <p:spPr>
            <a:xfrm>
              <a:off x="2704884" y="2408905"/>
              <a:ext cx="270841" cy="215444"/>
            </a:xfrm>
            <a:prstGeom prst="rect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wrap="square" lIns="0" tIns="0" rIns="0" rtlCol="0">
              <a:spAutoFit/>
            </a:bodyPr>
            <a:lstStyle/>
            <a:p>
              <a:pPr algn="ctr"/>
              <a:r>
                <a:rPr lang="en-US" sz="1100" dirty="0">
                  <a:solidFill>
                    <a:srgbClr val="C00000"/>
                  </a:solidFill>
                </a:rPr>
                <a:t>x</a:t>
              </a:r>
            </a:p>
          </p:txBody>
        </p:sp>
        <p:sp>
          <p:nvSpPr>
            <p:cNvPr id="65" name="ZoneTexte 64"/>
            <p:cNvSpPr txBox="1"/>
            <p:nvPr/>
          </p:nvSpPr>
          <p:spPr>
            <a:xfrm>
              <a:off x="3425925" y="1707704"/>
              <a:ext cx="270841" cy="215444"/>
            </a:xfrm>
            <a:prstGeom prst="rect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wrap="square" lIns="0" tIns="0" rIns="0" rtlCol="0">
              <a:spAutoFit/>
            </a:bodyPr>
            <a:lstStyle/>
            <a:p>
              <a:pPr algn="ctr"/>
              <a:r>
                <a:rPr lang="en-US" sz="1100" dirty="0" smtClean="0"/>
                <a:t>1</a:t>
              </a:r>
              <a:endParaRPr lang="en-US" sz="1100" dirty="0"/>
            </a:p>
          </p:txBody>
        </p:sp>
        <p:sp>
          <p:nvSpPr>
            <p:cNvPr id="66" name="ZoneTexte 65"/>
            <p:cNvSpPr txBox="1"/>
            <p:nvPr/>
          </p:nvSpPr>
          <p:spPr>
            <a:xfrm>
              <a:off x="3440774" y="2029938"/>
              <a:ext cx="732815" cy="215444"/>
            </a:xfrm>
            <a:prstGeom prst="rect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wrap="square" lIns="0" tIns="0" rIns="0" rtlCol="0">
              <a:spAutoFit/>
            </a:bodyPr>
            <a:lstStyle/>
            <a:p>
              <a:pPr algn="ctr"/>
              <a:r>
                <a:rPr lang="en-US" sz="1100" dirty="0" smtClean="0"/>
                <a:t>‘</a:t>
              </a:r>
              <a:r>
                <a:rPr lang="en-US" sz="1100" dirty="0" err="1" smtClean="0"/>
                <a:t>janvier</a:t>
              </a:r>
              <a:r>
                <a:rPr lang="en-US" sz="1100" dirty="0" smtClean="0"/>
                <a:t>’</a:t>
              </a:r>
              <a:endParaRPr lang="en-US" sz="1100" dirty="0"/>
            </a:p>
          </p:txBody>
        </p:sp>
        <p:sp>
          <p:nvSpPr>
            <p:cNvPr id="67" name="ZoneTexte 66"/>
            <p:cNvSpPr txBox="1"/>
            <p:nvPr/>
          </p:nvSpPr>
          <p:spPr>
            <a:xfrm>
              <a:off x="3440774" y="2356645"/>
              <a:ext cx="270841" cy="215444"/>
            </a:xfrm>
            <a:prstGeom prst="rect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wrap="square" lIns="0" tIns="0" rIns="0" rtlCol="0">
              <a:spAutoFit/>
            </a:bodyPr>
            <a:lstStyle/>
            <a:p>
              <a:pPr algn="ctr"/>
              <a:r>
                <a:rPr lang="en-US" sz="1100" dirty="0" smtClean="0"/>
                <a:t>2</a:t>
              </a:r>
              <a:endParaRPr lang="en-US" sz="1100" dirty="0"/>
            </a:p>
          </p:txBody>
        </p:sp>
        <p:cxnSp>
          <p:nvCxnSpPr>
            <p:cNvPr id="68" name="Connecteur droit avec flèche 67"/>
            <p:cNvCxnSpPr>
              <a:endCxn id="65" idx="1"/>
            </p:cNvCxnSpPr>
            <p:nvPr/>
          </p:nvCxnSpPr>
          <p:spPr>
            <a:xfrm flipV="1">
              <a:off x="2963221" y="1815426"/>
              <a:ext cx="462704" cy="38236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9" name="Connecteur droit avec flèche 68"/>
            <p:cNvCxnSpPr/>
            <p:nvPr/>
          </p:nvCxnSpPr>
          <p:spPr>
            <a:xfrm flipV="1">
              <a:off x="2147092" y="2063469"/>
              <a:ext cx="537321" cy="6869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2" name="ZoneTexte 71"/>
            <p:cNvSpPr txBox="1"/>
            <p:nvPr/>
          </p:nvSpPr>
          <p:spPr>
            <a:xfrm>
              <a:off x="2704884" y="2639515"/>
              <a:ext cx="270841" cy="215444"/>
            </a:xfrm>
            <a:prstGeom prst="rect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wrap="square" lIns="0" tIns="0" rIns="0" rtlCol="0">
              <a:spAutoFit/>
            </a:bodyPr>
            <a:lstStyle/>
            <a:p>
              <a:pPr algn="ctr"/>
              <a:r>
                <a:rPr lang="en-US" sz="1100" dirty="0">
                  <a:solidFill>
                    <a:srgbClr val="C00000"/>
                  </a:solidFill>
                </a:rPr>
                <a:t>x</a:t>
              </a:r>
            </a:p>
          </p:txBody>
        </p:sp>
        <p:cxnSp>
          <p:nvCxnSpPr>
            <p:cNvPr id="73" name="Connecteur droit avec flèche 72"/>
            <p:cNvCxnSpPr/>
            <p:nvPr/>
          </p:nvCxnSpPr>
          <p:spPr>
            <a:xfrm flipV="1">
              <a:off x="2967213" y="2132165"/>
              <a:ext cx="462704" cy="38236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4" name="Connecteur droit avec flèche 73"/>
            <p:cNvCxnSpPr/>
            <p:nvPr/>
          </p:nvCxnSpPr>
          <p:spPr>
            <a:xfrm flipV="1">
              <a:off x="2965432" y="2383269"/>
              <a:ext cx="462704" cy="38236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5" name="ZoneTexte 74"/>
            <p:cNvSpPr txBox="1"/>
            <p:nvPr/>
          </p:nvSpPr>
          <p:spPr>
            <a:xfrm>
              <a:off x="2580752" y="1822492"/>
              <a:ext cx="453154" cy="215444"/>
            </a:xfrm>
            <a:prstGeom prst="rect">
              <a:avLst/>
            </a:prstGeom>
            <a:noFill/>
          </p:spPr>
          <p:txBody>
            <a:bodyPr wrap="square" lIns="0" tIns="0" rIns="0" rtlCol="0">
              <a:spAutoFit/>
            </a:bodyPr>
            <a:lstStyle/>
            <a:p>
              <a:pPr algn="ctr"/>
              <a:r>
                <a:rPr lang="en-US" sz="1100" dirty="0" smtClean="0"/>
                <a:t>tuple</a:t>
              </a:r>
              <a:endParaRPr lang="en-US" sz="1100" dirty="0"/>
            </a:p>
          </p:txBody>
        </p:sp>
      </p:grpSp>
      <p:grpSp>
        <p:nvGrpSpPr>
          <p:cNvPr id="48" name="Groupe 47"/>
          <p:cNvGrpSpPr/>
          <p:nvPr/>
        </p:nvGrpSpPr>
        <p:grpSpPr>
          <a:xfrm>
            <a:off x="1829185" y="4683725"/>
            <a:ext cx="7315200" cy="2008514"/>
            <a:chOff x="2015367" y="1115704"/>
            <a:chExt cx="7315200" cy="2008514"/>
          </a:xfrm>
        </p:grpSpPr>
        <p:sp>
          <p:nvSpPr>
            <p:cNvPr id="50" name="ZoneTexte 49"/>
            <p:cNvSpPr txBox="1"/>
            <p:nvPr/>
          </p:nvSpPr>
          <p:spPr>
            <a:xfrm>
              <a:off x="2015367" y="1115704"/>
              <a:ext cx="7315200" cy="17543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 smtClean="0"/>
                <a:t>Lst</a:t>
              </a:r>
              <a:r>
                <a:rPr lang="en-US" dirty="0" smtClean="0"/>
                <a:t> = [ 6 , 5+3j,  ‘Python’,  [5, 2],  1]</a:t>
              </a:r>
            </a:p>
            <a:p>
              <a:endParaRPr lang="en-US" dirty="0"/>
            </a:p>
            <a:p>
              <a:endParaRPr lang="en-US" dirty="0" smtClean="0"/>
            </a:p>
            <a:p>
              <a:endParaRPr lang="en-US" dirty="0"/>
            </a:p>
            <a:p>
              <a:endParaRPr lang="en-US" dirty="0" smtClean="0"/>
            </a:p>
            <a:p>
              <a:endParaRPr lang="en-US" dirty="0"/>
            </a:p>
          </p:txBody>
        </p:sp>
        <p:grpSp>
          <p:nvGrpSpPr>
            <p:cNvPr id="59" name="Groupe 58"/>
            <p:cNvGrpSpPr/>
            <p:nvPr/>
          </p:nvGrpSpPr>
          <p:grpSpPr>
            <a:xfrm>
              <a:off x="2016982" y="1625218"/>
              <a:ext cx="5816378" cy="1499000"/>
              <a:chOff x="1696278" y="4256473"/>
              <a:chExt cx="5665968" cy="1361271"/>
            </a:xfrm>
          </p:grpSpPr>
          <p:sp>
            <p:nvSpPr>
              <p:cNvPr id="70" name="ZoneTexte 69"/>
              <p:cNvSpPr txBox="1"/>
              <p:nvPr/>
            </p:nvSpPr>
            <p:spPr>
              <a:xfrm>
                <a:off x="2094664" y="5156079"/>
                <a:ext cx="4900495" cy="461665"/>
              </a:xfrm>
              <a:prstGeom prst="rect">
                <a:avLst/>
              </a:prstGeom>
              <a:noFill/>
              <a:ln w="19050">
                <a:solidFill>
                  <a:schemeClr val="bg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1100" dirty="0" smtClean="0"/>
                  <a:t> </a:t>
                </a:r>
                <a:r>
                  <a:rPr lang="en-US" sz="1200" dirty="0" smtClean="0">
                    <a:solidFill>
                      <a:srgbClr val="FF0000"/>
                    </a:solidFill>
                  </a:rPr>
                  <a:t>0 	1	2	      3	          4</a:t>
                </a:r>
              </a:p>
              <a:p>
                <a:r>
                  <a:rPr lang="en-US" sz="1200" dirty="0" smtClean="0">
                    <a:solidFill>
                      <a:srgbClr val="FF0000"/>
                    </a:solidFill>
                  </a:rPr>
                  <a:t>-5                    - 4                       -3                             -2                           -1</a:t>
                </a:r>
              </a:p>
            </p:txBody>
          </p:sp>
          <p:sp>
            <p:nvSpPr>
              <p:cNvPr id="71" name="ZoneTexte 70"/>
              <p:cNvSpPr txBox="1"/>
              <p:nvPr/>
            </p:nvSpPr>
            <p:spPr>
              <a:xfrm flipV="1">
                <a:off x="1696278" y="4260294"/>
                <a:ext cx="5665968" cy="867348"/>
              </a:xfrm>
              <a:prstGeom prst="rect">
                <a:avLst/>
              </a:prstGeom>
              <a:ln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wrap="square" lIns="72000" tIns="0" rIns="36000" bIns="36000" rtlCol="0">
                <a:spAutoFit/>
              </a:bodyPr>
              <a:lstStyle/>
              <a:p>
                <a:endParaRPr lang="en-US" dirty="0" smtClean="0"/>
              </a:p>
              <a:p>
                <a:endParaRPr lang="en-US" dirty="0"/>
              </a:p>
              <a:p>
                <a:endParaRPr lang="en-US" dirty="0"/>
              </a:p>
            </p:txBody>
          </p:sp>
          <p:sp>
            <p:nvSpPr>
              <p:cNvPr id="76" name="ZoneTexte 75"/>
              <p:cNvSpPr txBox="1"/>
              <p:nvPr/>
            </p:nvSpPr>
            <p:spPr>
              <a:xfrm flipV="1">
                <a:off x="2016982" y="4463821"/>
                <a:ext cx="357147" cy="453183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txBody>
              <a:bodyPr wrap="square" lIns="72000" tIns="72000" rIns="72000" bIns="72000" rtlCol="0">
                <a:spAutoFit/>
              </a:bodyPr>
              <a:lstStyle/>
              <a:p>
                <a:pPr algn="ctr"/>
                <a:r>
                  <a:rPr lang="en-US" sz="2000" dirty="0" smtClean="0"/>
                  <a:t>9</a:t>
                </a:r>
              </a:p>
            </p:txBody>
          </p:sp>
          <p:sp>
            <p:nvSpPr>
              <p:cNvPr id="77" name="ZoneTexte 76"/>
              <p:cNvSpPr txBox="1"/>
              <p:nvPr/>
            </p:nvSpPr>
            <p:spPr>
              <a:xfrm rot="10800000" flipV="1">
                <a:off x="2463245" y="4448092"/>
                <a:ext cx="950515" cy="453183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txBody>
              <a:bodyPr wrap="square" lIns="72000" tIns="72000" rIns="72000" bIns="72000" rtlCol="0">
                <a:spAutoFit/>
              </a:bodyPr>
              <a:lstStyle/>
              <a:p>
                <a:pPr algn="ctr"/>
                <a:r>
                  <a:rPr lang="en-US" sz="2000" dirty="0" smtClean="0"/>
                  <a:t>5+3j</a:t>
                </a:r>
              </a:p>
            </p:txBody>
          </p:sp>
          <p:sp>
            <p:nvSpPr>
              <p:cNvPr id="78" name="ZoneTexte 77"/>
              <p:cNvSpPr txBox="1"/>
              <p:nvPr/>
            </p:nvSpPr>
            <p:spPr>
              <a:xfrm rot="10800000" flipV="1">
                <a:off x="3484324" y="4448092"/>
                <a:ext cx="1102916" cy="453183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txBody>
              <a:bodyPr wrap="square" lIns="72000" tIns="72000" rIns="72000" bIns="72000" rtlCol="0">
                <a:spAutoFit/>
              </a:bodyPr>
              <a:lstStyle/>
              <a:p>
                <a:pPr algn="ctr"/>
                <a:r>
                  <a:rPr lang="en-US" sz="2000" dirty="0" smtClean="0"/>
                  <a:t>‘Python’</a:t>
                </a:r>
              </a:p>
            </p:txBody>
          </p:sp>
          <p:grpSp>
            <p:nvGrpSpPr>
              <p:cNvPr id="79" name="Groupe 78"/>
              <p:cNvGrpSpPr/>
              <p:nvPr/>
            </p:nvGrpSpPr>
            <p:grpSpPr>
              <a:xfrm>
                <a:off x="4676356" y="4452406"/>
                <a:ext cx="1191043" cy="444557"/>
                <a:chOff x="5484076" y="4513366"/>
                <a:chExt cx="1191043" cy="444557"/>
              </a:xfrm>
            </p:grpSpPr>
            <p:sp>
              <p:nvSpPr>
                <p:cNvPr id="82" name="ZoneTexte 81"/>
                <p:cNvSpPr txBox="1"/>
                <p:nvPr/>
              </p:nvSpPr>
              <p:spPr>
                <a:xfrm rot="10800000" flipV="1">
                  <a:off x="5484076" y="4513366"/>
                  <a:ext cx="1191043" cy="444557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</a:ln>
              </p:spPr>
              <p:txBody>
                <a:bodyPr wrap="square" lIns="72000" tIns="108000" rIns="72000" bIns="72000" rtlCol="0">
                  <a:spAutoFit/>
                </a:bodyPr>
                <a:lstStyle/>
                <a:p>
                  <a:pPr algn="ctr"/>
                  <a:endParaRPr lang="en-US" sz="2000" dirty="0" smtClean="0"/>
                </a:p>
              </p:txBody>
            </p:sp>
            <p:sp>
              <p:nvSpPr>
                <p:cNvPr id="83" name="ZoneTexte 82"/>
                <p:cNvSpPr txBox="1"/>
                <p:nvPr/>
              </p:nvSpPr>
              <p:spPr>
                <a:xfrm rot="10800000" flipV="1">
                  <a:off x="5584792" y="4565775"/>
                  <a:ext cx="383323" cy="345523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</a:ln>
              </p:spPr>
              <p:txBody>
                <a:bodyPr wrap="square" lIns="72000" tIns="36000" rIns="36000" bIns="36000" rtlCol="0">
                  <a:spAutoFit/>
                </a:bodyPr>
                <a:lstStyle/>
                <a:p>
                  <a:pPr algn="ctr"/>
                  <a:r>
                    <a:rPr lang="en-US" sz="2000" dirty="0" smtClean="0"/>
                    <a:t>5</a:t>
                  </a:r>
                </a:p>
              </p:txBody>
            </p:sp>
            <p:sp>
              <p:nvSpPr>
                <p:cNvPr id="84" name="ZoneTexte 83"/>
                <p:cNvSpPr txBox="1"/>
                <p:nvPr/>
              </p:nvSpPr>
              <p:spPr>
                <a:xfrm rot="10800000" flipV="1">
                  <a:off x="6147845" y="4565775"/>
                  <a:ext cx="383323" cy="345523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</a:ln>
              </p:spPr>
              <p:txBody>
                <a:bodyPr wrap="square" lIns="72000" tIns="36000" rIns="72000" bIns="36000" rtlCol="0">
                  <a:spAutoFit/>
                </a:bodyPr>
                <a:lstStyle/>
                <a:p>
                  <a:pPr algn="ctr"/>
                  <a:r>
                    <a:rPr lang="en-US" sz="2000" dirty="0"/>
                    <a:t>2</a:t>
                  </a:r>
                  <a:endParaRPr lang="en-US" sz="2000" dirty="0" smtClean="0"/>
                </a:p>
              </p:txBody>
            </p:sp>
          </p:grpSp>
          <p:sp>
            <p:nvSpPr>
              <p:cNvPr id="80" name="ZoneTexte 79"/>
              <p:cNvSpPr txBox="1"/>
              <p:nvPr/>
            </p:nvSpPr>
            <p:spPr>
              <a:xfrm rot="10800000" flipV="1">
                <a:off x="5934151" y="4448092"/>
                <a:ext cx="950515" cy="453183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txBody>
              <a:bodyPr wrap="square" lIns="72000" tIns="72000" rIns="72000" bIns="72000" rtlCol="0">
                <a:spAutoFit/>
              </a:bodyPr>
              <a:lstStyle/>
              <a:p>
                <a:pPr algn="ctr"/>
                <a:r>
                  <a:rPr lang="en-US" sz="2000" dirty="0" smtClean="0"/>
                  <a:t>1</a:t>
                </a:r>
              </a:p>
            </p:txBody>
          </p:sp>
          <p:sp>
            <p:nvSpPr>
              <p:cNvPr id="81" name="ZoneTexte 80"/>
              <p:cNvSpPr txBox="1"/>
              <p:nvPr/>
            </p:nvSpPr>
            <p:spPr>
              <a:xfrm>
                <a:off x="4752743" y="4256473"/>
                <a:ext cx="1216142" cy="276999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1100" dirty="0" smtClean="0"/>
                  <a:t> </a:t>
                </a:r>
                <a:r>
                  <a:rPr lang="en-US" sz="1200" dirty="0" smtClean="0">
                    <a:solidFill>
                      <a:srgbClr val="FF0000"/>
                    </a:solidFill>
                  </a:rPr>
                  <a:t>0                1  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323803206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308</TotalTime>
  <Words>340</Words>
  <Application>Microsoft Office PowerPoint</Application>
  <PresentationFormat>Grand écran</PresentationFormat>
  <Paragraphs>161</Paragraphs>
  <Slides>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Thème Office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Abdelmalek TOUMI</dc:creator>
  <cp:lastModifiedBy>Abdelmalek TOUMI</cp:lastModifiedBy>
  <cp:revision>16</cp:revision>
  <dcterms:created xsi:type="dcterms:W3CDTF">2015-09-22T09:39:07Z</dcterms:created>
  <dcterms:modified xsi:type="dcterms:W3CDTF">2015-09-29T14:52:44Z</dcterms:modified>
</cp:coreProperties>
</file>