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73" autoAdjust="0"/>
  </p:normalViewPr>
  <p:slideViewPr>
    <p:cSldViewPr snapToGrid="0">
      <p:cViewPr varScale="1">
        <p:scale>
          <a:sx n="81" d="100"/>
          <a:sy n="81" d="100"/>
        </p:scale>
        <p:origin x="14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fr-FR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5"/>
          <p:cNvPicPr/>
          <p:nvPr/>
        </p:nvPicPr>
        <p:blipFill>
          <a:blip r:embed="rId5"/>
          <a:stretch/>
        </p:blipFill>
        <p:spPr>
          <a:xfrm>
            <a:off x="0" y="6172200"/>
            <a:ext cx="9143640" cy="669240"/>
          </a:xfrm>
          <a:prstGeom prst="rect">
            <a:avLst/>
          </a:prstGeom>
          <a:ln>
            <a:noFill/>
          </a:ln>
        </p:spPr>
      </p:pic>
      <p:pic>
        <p:nvPicPr>
          <p:cNvPr id="15" name="Picture 16"/>
          <p:cNvPicPr/>
          <p:nvPr userDrawn="1"/>
        </p:nvPicPr>
        <p:blipFill>
          <a:blip r:embed="rId6"/>
          <a:stretch/>
        </p:blipFill>
        <p:spPr>
          <a:xfrm>
            <a:off x="0" y="6822360"/>
            <a:ext cx="9143640" cy="44280"/>
          </a:xfrm>
          <a:prstGeom prst="rect">
            <a:avLst/>
          </a:prstGeom>
          <a:ln>
            <a:noFill/>
          </a:ln>
        </p:spPr>
      </p:pic>
      <p:pic>
        <p:nvPicPr>
          <p:cNvPr id="2" name="Picture 14"/>
          <p:cNvPicPr/>
          <p:nvPr/>
        </p:nvPicPr>
        <p:blipFill>
          <a:blip r:embed="rId7"/>
          <a:stretch/>
        </p:blipFill>
        <p:spPr>
          <a:xfrm>
            <a:off x="407880" y="6298920"/>
            <a:ext cx="377280" cy="386640"/>
          </a:xfrm>
          <a:prstGeom prst="rect">
            <a:avLst/>
          </a:prstGeom>
          <a:ln>
            <a:noFill/>
          </a:ln>
        </p:spPr>
      </p:pic>
      <p:sp>
        <p:nvSpPr>
          <p:cNvPr id="3" name="CustomShape 1"/>
          <p:cNvSpPr/>
          <p:nvPr/>
        </p:nvSpPr>
        <p:spPr>
          <a:xfrm>
            <a:off x="795240" y="6224040"/>
            <a:ext cx="1075680" cy="21204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YOU ARE </a:t>
            </a:r>
            <a:r>
              <a:rPr lang="fr-FR" sz="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LOOKING AT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CustomShape 6"/>
          <p:cNvSpPr/>
          <p:nvPr/>
        </p:nvSpPr>
        <p:spPr>
          <a:xfrm>
            <a:off x="7453080" y="6224040"/>
            <a:ext cx="1255680" cy="21204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WE ARE CURRENTLY </a:t>
            </a:r>
            <a:r>
              <a:rPr lang="fr-FR" sz="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HERE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" name="Picture 18"/>
          <p:cNvPicPr/>
          <p:nvPr/>
        </p:nvPicPr>
        <p:blipFill>
          <a:blip r:embed="rId8"/>
          <a:stretch/>
        </p:blipFill>
        <p:spPr>
          <a:xfrm>
            <a:off x="8190000" y="6444592"/>
            <a:ext cx="213120" cy="213120"/>
          </a:xfrm>
          <a:prstGeom prst="rect">
            <a:avLst/>
          </a:prstGeom>
          <a:ln>
            <a:noFill/>
          </a:ln>
        </p:spPr>
      </p:pic>
      <p:sp>
        <p:nvSpPr>
          <p:cNvPr id="11" name="PlaceHolder 8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Modifiez le style du titre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" name="PlaceHolder 9"/>
          <p:cNvSpPr>
            <a:spLocks noGrp="1"/>
          </p:cNvSpPr>
          <p:nvPr>
            <p:ph type="sldNum"/>
          </p:nvPr>
        </p:nvSpPr>
        <p:spPr>
          <a:xfrm>
            <a:off x="6778080" y="633204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730EAB99-3DFA-4949-B935-3B84750E409D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‹N°›</a:t>
            </a:fld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3" name="PlaceHolder 10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Cliquez pour éditer le format du plan de texte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niveau de plan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Troisième niveau de plan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Quatrième niveau de plan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Cinquième niveau de plan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Sixième niveau de plan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Septième niveau de plan</a:t>
            </a:r>
          </a:p>
        </p:txBody>
      </p:sp>
      <p:pic>
        <p:nvPicPr>
          <p:cNvPr id="16" name="Picture 14"/>
          <p:cNvPicPr/>
          <p:nvPr userDrawn="1"/>
        </p:nvPicPr>
        <p:blipFill>
          <a:blip r:embed="rId7"/>
          <a:stretch/>
        </p:blipFill>
        <p:spPr>
          <a:xfrm>
            <a:off x="407880" y="6298920"/>
            <a:ext cx="376920" cy="386280"/>
          </a:xfrm>
          <a:prstGeom prst="rect">
            <a:avLst/>
          </a:prstGeom>
          <a:ln>
            <a:noFill/>
          </a:ln>
        </p:spPr>
      </p:pic>
      <p:sp>
        <p:nvSpPr>
          <p:cNvPr id="17" name="CustomShape 1"/>
          <p:cNvSpPr/>
          <p:nvPr userDrawn="1"/>
        </p:nvSpPr>
        <p:spPr>
          <a:xfrm>
            <a:off x="795240" y="6224040"/>
            <a:ext cx="107532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YOU ARE </a:t>
            </a:r>
            <a:r>
              <a:rPr lang="fr-FR" sz="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LOOKING AT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3"/>
          <p:cNvSpPr/>
          <p:nvPr userDrawn="1"/>
        </p:nvSpPr>
        <p:spPr>
          <a:xfrm>
            <a:off x="795240" y="6442393"/>
            <a:ext cx="616680" cy="19656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200" b="1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PRESENTER : A. TOUMI</a:t>
            </a:r>
            <a:endParaRPr lang="fr-FR" sz="1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CustomShape 4"/>
          <p:cNvSpPr/>
          <p:nvPr userDrawn="1"/>
        </p:nvSpPr>
        <p:spPr>
          <a:xfrm>
            <a:off x="2702160" y="6224040"/>
            <a:ext cx="1499040" cy="21168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2021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CustomShape 5"/>
          <p:cNvSpPr/>
          <p:nvPr userDrawn="1"/>
        </p:nvSpPr>
        <p:spPr>
          <a:xfrm>
            <a:off x="2461320" y="6345000"/>
            <a:ext cx="1444320" cy="349200"/>
          </a:xfrm>
          <a:prstGeom prst="rect">
            <a:avLst/>
          </a:prstGeom>
          <a:noFill/>
          <a:ln>
            <a:noFill/>
          </a:ln>
          <a:effectLst>
            <a:outerShdw dist="12700" dir="2700000" algn="tl" rotWithShape="0">
              <a:schemeClr val="bg1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700" b="0" strike="noStrike" spc="-1" dirty="0" smtClean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Python. PyQT5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4"/>
          <p:cNvSpPr/>
          <p:nvPr/>
        </p:nvSpPr>
        <p:spPr>
          <a:xfrm>
            <a:off x="2827080" y="1879200"/>
            <a:ext cx="4331160" cy="167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04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Python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1" name="CustomShape 5"/>
          <p:cNvSpPr/>
          <p:nvPr/>
        </p:nvSpPr>
        <p:spPr>
          <a:xfrm>
            <a:off x="2347920" y="3344760"/>
            <a:ext cx="5500080" cy="47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500" b="0" strike="noStrike" spc="-1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</a:rPr>
              <a:t>PyQt avec QtDesigner  pour l’IHM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52" name="Picture 21"/>
          <p:cNvPicPr/>
          <p:nvPr/>
        </p:nvPicPr>
        <p:blipFill>
          <a:blip r:embed="rId2"/>
          <a:stretch/>
        </p:blipFill>
        <p:spPr>
          <a:xfrm>
            <a:off x="1150920" y="1857240"/>
            <a:ext cx="1555200" cy="1804320"/>
          </a:xfrm>
          <a:prstGeom prst="rect">
            <a:avLst/>
          </a:prstGeom>
          <a:ln>
            <a:noFill/>
          </a:ln>
        </p:spPr>
      </p:pic>
      <p:pic>
        <p:nvPicPr>
          <p:cNvPr id="153" name="Picture 22"/>
          <p:cNvPicPr/>
          <p:nvPr/>
        </p:nvPicPr>
        <p:blipFill>
          <a:blip r:embed="rId3"/>
          <a:stretch/>
        </p:blipFill>
        <p:spPr>
          <a:xfrm>
            <a:off x="1000080" y="3714840"/>
            <a:ext cx="1901880" cy="243000"/>
          </a:xfrm>
          <a:prstGeom prst="rect">
            <a:avLst/>
          </a:prstGeom>
          <a:ln>
            <a:noFill/>
          </a:ln>
        </p:spPr>
      </p:pic>
      <p:pic>
        <p:nvPicPr>
          <p:cNvPr id="154" name="Picture 23"/>
          <p:cNvPicPr/>
          <p:nvPr/>
        </p:nvPicPr>
        <p:blipFill>
          <a:blip r:embed="rId4"/>
          <a:stretch/>
        </p:blipFill>
        <p:spPr>
          <a:xfrm>
            <a:off x="3000240" y="3714840"/>
            <a:ext cx="5201640" cy="270000"/>
          </a:xfrm>
          <a:prstGeom prst="rect">
            <a:avLst/>
          </a:prstGeom>
          <a:ln>
            <a:noFill/>
          </a:ln>
        </p:spPr>
      </p:pic>
      <p:sp>
        <p:nvSpPr>
          <p:cNvPr id="17" name="ZoneTexte 16"/>
          <p:cNvSpPr txBox="1"/>
          <p:nvPr/>
        </p:nvSpPr>
        <p:spPr>
          <a:xfrm>
            <a:off x="2525335" y="4653135"/>
            <a:ext cx="445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dirty="0" err="1">
                <a:solidFill>
                  <a:srgbClr val="FFFF00"/>
                </a:solidFill>
              </a:rPr>
              <a:t>Toumi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toumiab@ensta-bretagne,fr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22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32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1"/>
          <p:cNvSpPr txBox="1"/>
          <p:nvPr/>
        </p:nvSpPr>
        <p:spPr>
          <a:xfrm>
            <a:off x="441000" y="1196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Designer est un outil de design pour QT,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de lier le langage Python avec la bibliothèque Qt. 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 est fourni avec WinPython installé sur les machines de l’école.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de réaliser une Interface Homme Machine IHM (ou GUI pour Graphic User Interface) par le biais d'un système de glisser-déposer.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2" name="TextShape 2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4C7FD504-40A9-41C7-810D-561DDAE125D7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fld>
            <a:endParaRPr lang="fr-FR" sz="1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63" name="TextShape 3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4" name="TextShape 4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65" name="Image 8"/>
          <p:cNvPicPr/>
          <p:nvPr/>
        </p:nvPicPr>
        <p:blipFill>
          <a:blip r:embed="rId2"/>
          <a:stretch/>
        </p:blipFill>
        <p:spPr>
          <a:xfrm>
            <a:off x="1584000" y="2769840"/>
            <a:ext cx="5904000" cy="3420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441000" y="1196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Fenêtre principale</a:t>
            </a:r>
          </a:p>
        </p:txBody>
      </p:sp>
      <p:sp>
        <p:nvSpPr>
          <p:cNvPr id="173" name="TextShape 2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22A0C773-55FF-4CCD-AF64-8FAF49187497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3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74" name="TextShape 3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5" name="TextShape 4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 :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176" name="Image 9"/>
          <p:cNvPicPr/>
          <p:nvPr/>
        </p:nvPicPr>
        <p:blipFill>
          <a:blip r:embed="rId2"/>
          <a:stretch/>
        </p:blipFill>
        <p:spPr>
          <a:xfrm>
            <a:off x="576000" y="1728000"/>
            <a:ext cx="7848000" cy="4359600"/>
          </a:xfrm>
          <a:prstGeom prst="rect">
            <a:avLst/>
          </a:prstGeom>
          <a:ln>
            <a:noFill/>
          </a:ln>
        </p:spPr>
      </p:pic>
      <p:sp>
        <p:nvSpPr>
          <p:cNvPr id="177" name="CustomShape 5"/>
          <p:cNvSpPr/>
          <p:nvPr/>
        </p:nvSpPr>
        <p:spPr>
          <a:xfrm>
            <a:off x="5772600" y="1728000"/>
            <a:ext cx="383400" cy="24768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1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8" name="CustomShape 6"/>
          <p:cNvSpPr/>
          <p:nvPr/>
        </p:nvSpPr>
        <p:spPr>
          <a:xfrm>
            <a:off x="5028480" y="3111480"/>
            <a:ext cx="383400" cy="24768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2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9" name="CustomShape 7"/>
          <p:cNvSpPr/>
          <p:nvPr/>
        </p:nvSpPr>
        <p:spPr>
          <a:xfrm>
            <a:off x="1991880" y="3490200"/>
            <a:ext cx="383400" cy="25308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3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0" name="CustomShape 8"/>
          <p:cNvSpPr/>
          <p:nvPr/>
        </p:nvSpPr>
        <p:spPr>
          <a:xfrm>
            <a:off x="7845840" y="3969360"/>
            <a:ext cx="373320" cy="24804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4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1" name="CustomShape 9"/>
          <p:cNvSpPr/>
          <p:nvPr/>
        </p:nvSpPr>
        <p:spPr>
          <a:xfrm>
            <a:off x="8040240" y="2557800"/>
            <a:ext cx="383400" cy="24840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5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10"/>
          <p:cNvSpPr/>
          <p:nvPr/>
        </p:nvSpPr>
        <p:spPr>
          <a:xfrm>
            <a:off x="8040240" y="5206680"/>
            <a:ext cx="383400" cy="248040"/>
          </a:xfrm>
          <a:prstGeom prst="wedgeRoundRectCallout">
            <a:avLst>
              <a:gd name="adj1" fmla="val -160267"/>
              <a:gd name="adj2" fmla="val 83581"/>
              <a:gd name="adj3" fmla="val 16667"/>
            </a:avLst>
          </a:prstGeom>
          <a:ln>
            <a:solidFill>
              <a:srgbClr val="BE4B48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36000" tIns="0" rIns="36000" bIns="0" anchor="ctr"/>
          <a:lstStyle/>
          <a:p>
            <a:pPr algn="ctr">
              <a:lnSpc>
                <a:spcPct val="115000"/>
              </a:lnSpc>
            </a:pPr>
            <a:r>
              <a:rPr lang="fr-FR" sz="11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Times New Roman"/>
              </a:rPr>
              <a:t>6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0" name="TextShape 2"/>
          <p:cNvSpPr txBox="1"/>
          <p:nvPr/>
        </p:nvSpPr>
        <p:spPr>
          <a:xfrm>
            <a:off x="441000" y="1196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Il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réaliser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une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Interface Homme Machine IHM (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ou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GUI pour Graphic User Interface) par le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biais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d'un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système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glisser-déposer</a:t>
            </a: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32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Exemple</a:t>
            </a:r>
            <a:r>
              <a:rPr lang="en-US" sz="32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: </a:t>
            </a: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Qslider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QLabel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QProgressBar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QGridLayout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Spacer (H/V)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Barre </a:t>
            </a: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d’outil</a:t>
            </a: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/barre d’état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Visualiser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l’aperçu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de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votre</a:t>
            </a:r>
            <a:r>
              <a:rPr lang="en-US" sz="24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4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fenêtre</a:t>
            </a: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CTRL+R </a:t>
            </a: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ou</a:t>
            </a: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F3</a:t>
            </a:r>
            <a:endParaRPr lang="en-US" sz="2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1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3035E7BC-11B6-4DDE-97ED-33469ECFD861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4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192" name="Picture 3"/>
          <p:cNvPicPr/>
          <p:nvPr/>
        </p:nvPicPr>
        <p:blipFill>
          <a:blip r:embed="rId2"/>
          <a:stretch/>
        </p:blipFill>
        <p:spPr>
          <a:xfrm>
            <a:off x="4719240" y="2160000"/>
            <a:ext cx="3776760" cy="270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freeze">
                      <p:stCondLst>
                        <p:cond delay="indefinite"/>
                      </p:stCondLst>
                      <p:childTnLst>
                        <p:par>
                          <p:cTn id="4" fill="freeze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0" name="TextShape 2"/>
          <p:cNvSpPr txBox="1"/>
          <p:nvPr/>
        </p:nvSpPr>
        <p:spPr>
          <a:xfrm>
            <a:off x="441000" y="1196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 fournit un fichier .ui (fichier XML)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Utilisation :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appel dynamique du fichier « .ui ». Exemple </a:t>
            </a:r>
            <a:r>
              <a:rPr lang="en-US" sz="2000" b="0" i="1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monAppli.ui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92D050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dérivation de la classe QmainWindow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92D050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92D05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dérivation multiples des classes QmainWindow et Ui_MainWindow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1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B46708F1-4FD6-4F5F-B783-629E77F4F0BE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5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02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2"/>
          <a:stretch/>
        </p:blipFill>
        <p:spPr>
          <a:xfrm>
            <a:off x="1718494" y="2855160"/>
            <a:ext cx="5031720" cy="3011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441000" y="1196640"/>
            <a:ext cx="87026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514440" indent="-514080">
              <a:lnSpc>
                <a:spcPct val="100000"/>
              </a:lnSpc>
              <a:buClr>
                <a:srgbClr val="808080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appel dynamique du fichier « .ui ». Exemple </a:t>
            </a:r>
            <a:r>
              <a:rPr lang="en-US" sz="2000" b="0" i="1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monAppli.ui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dérivation de la classe QmainWindow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dérivation multiples des classes QmainWindow et Ui_MainWindow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Transformation : via la commande </a:t>
            </a:r>
            <a:r>
              <a:rPr lang="en-US" sz="20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pyuic5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&gt;&gt;pyuic5  -x MonAppli.ui -o MonAppli.py   
</a:t>
            </a:r>
            <a:r>
              <a:rPr lang="en-US" sz="16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Syntaxe  générale : 
</a:t>
            </a: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&gt;&gt;pyuic5 [options] LeFichier.ui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2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84A3F272-6EBF-4A71-B302-558A94F944C6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6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3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graphicFrame>
        <p:nvGraphicFramePr>
          <p:cNvPr id="214" name="Table 5"/>
          <p:cNvGraphicFramePr/>
          <p:nvPr>
            <p:extLst>
              <p:ext uri="{D42A27DB-BD31-4B8C-83A1-F6EECF244321}">
                <p14:modId xmlns:p14="http://schemas.microsoft.com/office/powerpoint/2010/main" val="48389313"/>
              </p:ext>
            </p:extLst>
          </p:nvPr>
        </p:nvGraphicFramePr>
        <p:xfrm>
          <a:off x="226980" y="3372060"/>
          <a:ext cx="8690040" cy="2658120"/>
        </p:xfrm>
        <a:graphic>
          <a:graphicData uri="http://schemas.openxmlformats.org/drawingml/2006/table">
            <a:tbl>
              <a:tblPr/>
              <a:tblGrid>
                <a:gridCol w="233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Options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Utilité</a:t>
                      </a:r>
                      <a:endParaRPr lang="fr-FR" sz="1800" b="0" strike="noStrike" spc="-1" dirty="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-h ou --help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Un message d' aide apparaît à la sortie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-version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Le numéro de version est écrit sur la sortie.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i N ou --indent=N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Le code source Python généré sera indenté de n espaces par défaut. Si N=0 des tabulations sont utilisées au lieu des espaces La valeur par défaut est N=4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-o Fichier ou --output=Fichier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Le source est généré dans un fichier dont il faut donner l' extension ".py"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-p ou --preview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L'interface est générée dynamiquement, et aucun source Python n'est créé.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-x ou --execute</a:t>
                      </a:r>
                      <a:endParaRPr lang="fr-FR" sz="1800" b="0" strike="noStrike" spc="-1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strike="noStrike" spc="-1" dirty="0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Le code source généré comportera un petit bout de code supplémentaire pour être exécutable.</a:t>
                      </a:r>
                      <a:endParaRPr lang="fr-FR" sz="1800" b="0" strike="noStrike" spc="-1" dirty="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 marL="86760" marR="86760">
                    <a:lnL w="9360">
                      <a:solidFill>
                        <a:srgbClr val="4A7EBB"/>
                      </a:solidFill>
                    </a:lnL>
                    <a:lnR w="9360">
                      <a:solidFill>
                        <a:srgbClr val="4A7EBB"/>
                      </a:solidFill>
                    </a:lnR>
                    <a:lnT w="9360">
                      <a:solidFill>
                        <a:srgbClr val="4A7EBB"/>
                      </a:solidFill>
                    </a:lnT>
                    <a:lnB w="9360">
                      <a:solidFill>
                        <a:srgbClr val="4A7EBB"/>
                      </a:solidFill>
                    </a:lnB>
                    <a:solidFill>
                      <a:srgbClr val="BFD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2" name="TextShape 2"/>
          <p:cNvSpPr txBox="1"/>
          <p:nvPr/>
        </p:nvSpPr>
        <p:spPr>
          <a:xfrm>
            <a:off x="441000" y="1196640"/>
            <a:ext cx="87026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Transformation : via la commande </a:t>
            </a:r>
            <a:r>
              <a:rPr lang="en-US" sz="2000" b="0" i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pyuic5 -  Exemple de code généré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1800" b="0" i="1" strike="noStrike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&gt;&gt;pyuic5  -x MonAppli.ui -o ui_principal.py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3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84CC84DA-AB7E-406C-8AFC-6F1F926ABF32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7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4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25" name="CustomShape 5"/>
          <p:cNvSpPr/>
          <p:nvPr/>
        </p:nvSpPr>
        <p:spPr>
          <a:xfrm>
            <a:off x="536040" y="1917000"/>
            <a:ext cx="8355960" cy="4104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,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object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1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setupUi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(self,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	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MainWindow.setObjectName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self.centralwidget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		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QtWidgets.QPushButton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self.centralwidget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	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self.pushButton.setGeometry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QtCore.QRect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(80,130,75,23))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	…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QtGui.QMainWindow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ui.setupUi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sys.exit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6" name="CustomShape 6"/>
          <p:cNvSpPr/>
          <p:nvPr/>
        </p:nvSpPr>
        <p:spPr>
          <a:xfrm>
            <a:off x="5076000" y="4725000"/>
            <a:ext cx="3240000" cy="719640"/>
          </a:xfrm>
          <a:prstGeom prst="borderCallout1">
            <a:avLst>
              <a:gd name="adj1" fmla="val 41980"/>
              <a:gd name="adj2" fmla="val -1106"/>
              <a:gd name="adj3" fmla="val 55201"/>
              <a:gd name="adj4" fmla="val -51410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setupUi() : méthode qui crée les composants graphiques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7" name="CustomShape 7"/>
          <p:cNvSpPr/>
          <p:nvPr/>
        </p:nvSpPr>
        <p:spPr>
          <a:xfrm>
            <a:off x="5076000" y="2061000"/>
            <a:ext cx="3384000" cy="575640"/>
          </a:xfrm>
          <a:prstGeom prst="borderCallout1">
            <a:avLst>
              <a:gd name="adj1" fmla="val 49722"/>
              <a:gd name="adj2" fmla="val -96"/>
              <a:gd name="adj3" fmla="val 87335"/>
              <a:gd name="adj4" fmla="val -41298"/>
            </a:avLst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Une classe Ui_NomClasse est générée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/>
          <p:cNvSpPr txBox="1"/>
          <p:nvPr/>
        </p:nvSpPr>
        <p:spPr>
          <a:xfrm>
            <a:off x="441000" y="119664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 Designer est un outil de design pour QT,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de lier le langage Python avec la bibliothèque Qt. 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 est fourni avec WinPython installé sur les machines de l’école.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de réaliser une Interface Homme Machine IHM (ou GUI pour Graphic User Interface) par le biais d'un système de glisser-déposer.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7" name="TextShape 2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26670F08-DAAE-4504-8A81-B88A1922544C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8</a:t>
            </a:fld>
            <a:endParaRPr lang="fr-FR" sz="1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58" name="TextShape 3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IHM avec 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9" name="TextShape 4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260" name="Image 8"/>
          <p:cNvPicPr/>
          <p:nvPr/>
        </p:nvPicPr>
        <p:blipFill>
          <a:blip r:embed="rId2"/>
          <a:stretch/>
        </p:blipFill>
        <p:spPr>
          <a:xfrm>
            <a:off x="1584000" y="2769840"/>
            <a:ext cx="5904000" cy="34200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68" name="TextShape 2"/>
          <p:cNvSpPr txBox="1"/>
          <p:nvPr/>
        </p:nvSpPr>
        <p:spPr>
          <a:xfrm>
            <a:off x="441000" y="1196640"/>
            <a:ext cx="87026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Appel dynamique du fichier .ui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69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7B1105A0-FA2A-4E6D-AF4F-C8500D16A84B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9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70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1" name="CustomShape 5"/>
          <p:cNvSpPr/>
          <p:nvPr/>
        </p:nvSpPr>
        <p:spPr>
          <a:xfrm>
            <a:off x="441000" y="3933000"/>
            <a:ext cx="8355960" cy="2160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…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QtGui.QApplication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 smtClean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</a:t>
            </a: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fr-FR" sz="1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ui.setupUi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sys.exit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2" name="CustomShape 6"/>
          <p:cNvSpPr/>
          <p:nvPr/>
        </p:nvSpPr>
        <p:spPr>
          <a:xfrm>
            <a:off x="394020" y="1953000"/>
            <a:ext cx="8355960" cy="1728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PyQt</a:t>
            </a:r>
            <a:r>
              <a:rPr lang="fr-FR" sz="1400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import </a:t>
            </a:r>
            <a:r>
              <a:rPr lang="fr-FR" sz="1400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uic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QtGui.QApplication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uic.loadUi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("</a:t>
            </a:r>
            <a:r>
              <a:rPr lang="fr-FR" sz="14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monAppli.ui</a:t>
            </a:r>
            <a:r>
              <a:rPr lang="fr-FR" sz="14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")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ui.show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sys.exit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3" name="CustomShape 7"/>
          <p:cNvSpPr/>
          <p:nvPr/>
        </p:nvSpPr>
        <p:spPr>
          <a:xfrm>
            <a:off x="574380" y="2616924"/>
            <a:ext cx="4139640" cy="212856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4" name="CustomShape 8"/>
          <p:cNvSpPr/>
          <p:nvPr/>
        </p:nvSpPr>
        <p:spPr>
          <a:xfrm>
            <a:off x="574380" y="4864433"/>
            <a:ext cx="4139640" cy="408543"/>
          </a:xfrm>
          <a:prstGeom prst="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5" name="CustomShape 9"/>
          <p:cNvSpPr/>
          <p:nvPr/>
        </p:nvSpPr>
        <p:spPr>
          <a:xfrm>
            <a:off x="5220000" y="4437000"/>
            <a:ext cx="3528000" cy="11876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Remarque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Solution assez limitée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Aucune modification n’est possible (ajout des slot, ….)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6" name="CustomShape 10"/>
          <p:cNvSpPr/>
          <p:nvPr/>
        </p:nvSpPr>
        <p:spPr>
          <a:xfrm flipH="1">
            <a:off x="4575718" y="2829780"/>
            <a:ext cx="45719" cy="20535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E4B48"/>
            </a:solidFill>
            <a:round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4" name="TextShape 2"/>
          <p:cNvSpPr txBox="1"/>
          <p:nvPr/>
        </p:nvSpPr>
        <p:spPr>
          <a:xfrm>
            <a:off x="441000" y="1196640"/>
            <a:ext cx="87026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6840">
              <a:lnSpc>
                <a:spcPct val="100000"/>
              </a:lnSpc>
              <a:buClr>
                <a:srgbClr val="808080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Appel dynamique du fichier .ui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200" indent="-45684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dérivation simple 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5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71594EF4-5B2C-47FB-B8A9-64F38B38EED8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86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7" name="CustomShape 5"/>
          <p:cNvSpPr/>
          <p:nvPr/>
        </p:nvSpPr>
        <p:spPr>
          <a:xfrm>
            <a:off x="454320" y="1917000"/>
            <a:ext cx="8355960" cy="4176000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46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6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46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ui_principal</a:t>
            </a:r>
            <a:r>
              <a:rPr lang="fr-FR" sz="146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import </a:t>
            </a:r>
            <a:r>
              <a:rPr lang="fr-FR" sz="146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46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46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46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QtGui</a:t>
            </a:r>
            <a:r>
              <a:rPr lang="fr-FR" sz="146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, </a:t>
            </a:r>
            <a:r>
              <a:rPr lang="fr-FR" sz="146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uic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MonAppli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QtWidgets.QMainWindow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super.__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__() # Configure l'interface utilisateur.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self.ui</a:t>
            </a:r>
            <a:r>
              <a:rPr lang="fr-FR" sz="1600" b="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r>
              <a:rPr lang="fr-FR" sz="1600" b="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self.ui.setupUi</a:t>
            </a:r>
            <a:r>
              <a:rPr lang="fr-FR" sz="1600" b="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# Connecte le bouton.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self.ui.pushButton.clicked.connect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self.message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message(self):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print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(‘traitement à faire le bouton’ 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MonAppli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window.show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sys.exit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8" name="CustomShape 6"/>
          <p:cNvSpPr/>
          <p:nvPr/>
        </p:nvSpPr>
        <p:spPr>
          <a:xfrm>
            <a:off x="779400" y="3125824"/>
            <a:ext cx="6840360" cy="4846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fr-FR" sz="1600" b="0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Verdana"/>
              </a:rPr>
              <a:t>Self.ui = uic.loadUi(« monAppli.ui")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9" name="CustomShape 7"/>
          <p:cNvSpPr/>
          <p:nvPr/>
        </p:nvSpPr>
        <p:spPr>
          <a:xfrm>
            <a:off x="5282280" y="4631040"/>
            <a:ext cx="3528000" cy="14619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Remarque : 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d’ajouter des objets et des méthodes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Accéder aux Widget via une variable d’instance  </a:t>
            </a:r>
            <a:r>
              <a:rPr lang="fr-FR" sz="1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self.ui</a:t>
            </a:r>
            <a:endParaRPr lang="fr-FR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467640" y="404640"/>
            <a:ext cx="8229240" cy="647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QtDesigner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441360" y="1052280"/>
            <a:ext cx="870264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457200" indent="-456840">
              <a:lnSpc>
                <a:spcPct val="100000"/>
              </a:lnSpc>
              <a:buClr>
                <a:srgbClr val="808080"/>
              </a:buClr>
              <a:buFont typeface="Calibri"/>
              <a:buAutoNum type="arabicPeriod"/>
            </a:pPr>
            <a:r>
              <a:rPr lang="en-US" sz="20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Appel </a:t>
            </a:r>
            <a:r>
              <a:rPr lang="en-US" sz="2000" b="0" strike="noStrike" spc="-1" dirty="0" err="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dynamique</a:t>
            </a:r>
            <a:r>
              <a:rPr lang="en-US" sz="20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du </a:t>
            </a:r>
            <a:r>
              <a:rPr lang="en-US" sz="2000" b="0" strike="noStrike" spc="-1" dirty="0" err="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fichier</a:t>
            </a:r>
            <a:r>
              <a:rPr lang="en-US" sz="20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.</a:t>
            </a:r>
            <a:r>
              <a:rPr lang="en-US" sz="2000" b="0" strike="noStrike" spc="-1" dirty="0" err="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ui</a:t>
            </a: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200" indent="-456840">
              <a:lnSpc>
                <a:spcPct val="100000"/>
              </a:lnSpc>
              <a:buClr>
                <a:srgbClr val="808080"/>
              </a:buClr>
              <a:buFont typeface="Calibri"/>
              <a:buAutoNum type="arabicPeriod"/>
            </a:pPr>
            <a:r>
              <a:rPr lang="en-US" sz="20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Par </a:t>
            </a:r>
            <a:r>
              <a:rPr lang="en-US" sz="2000" b="0" strike="noStrike" spc="-1" dirty="0" err="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dérivation</a:t>
            </a:r>
            <a:r>
              <a:rPr lang="en-US" sz="2000" b="0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simple </a:t>
            </a: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457200" indent="-456840">
              <a:lnSpc>
                <a:spcPct val="100000"/>
              </a:lnSpc>
              <a:buClr>
                <a:srgbClr val="FFFFFF"/>
              </a:buClr>
              <a:buFont typeface="Calibri"/>
              <a:buAutoNum type="arabicPeriod"/>
            </a:pPr>
            <a:r>
              <a:rPr lang="en-US" sz="2000" b="0" strike="noStrike" spc="-1" dirty="0" smtClean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Derivation </a:t>
            </a: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multiple (</a:t>
            </a: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QMainWindow</a:t>
            </a: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en-US" sz="2000" b="0" strike="noStrike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Ui_MainWindow</a:t>
            </a:r>
            <a:r>
              <a:rPr lang="en-US" sz="20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</a:t>
            </a: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6553080" y="633816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6B4F6D29-A5A5-43BF-B70B-77333F48FE3E}" type="slidenum">
              <a:rPr lang="fr-F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11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99" name="TextShape 4"/>
          <p:cNvSpPr txBox="1"/>
          <p:nvPr/>
        </p:nvSpPr>
        <p:spPr>
          <a:xfrm>
            <a:off x="467640" y="23760"/>
            <a:ext cx="8208720" cy="575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2000" b="0" strike="noStrike" spc="-1">
                <a:solidFill>
                  <a:srgbClr val="C6D9F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PyQT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530640" y="2082146"/>
            <a:ext cx="8355960" cy="3974494"/>
          </a:xfrm>
          <a:prstGeom prst="rect">
            <a:avLst/>
          </a:prstGeom>
          <a:ln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import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PyQt5 import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,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QtCore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from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ui_principal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import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class </a:t>
            </a:r>
            <a:r>
              <a:rPr lang="fr-FR" sz="1600" b="0" strike="noStrike" spc="-1" dirty="0" err="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MonAppli</a:t>
            </a:r>
            <a:r>
              <a:rPr lang="fr-FR" sz="16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</a:t>
            </a:r>
            <a:r>
              <a:rPr lang="fr-FR" sz="1600" b="1" strike="noStrike" spc="-1" dirty="0" smtClean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QtWidgets.QMainWindow</a:t>
            </a:r>
            <a:r>
              <a:rPr lang="fr-FR" sz="16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, </a:t>
            </a:r>
            <a:r>
              <a:rPr lang="fr-FR" sz="16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Ui_MainWindow</a:t>
            </a:r>
            <a:r>
              <a:rPr lang="fr-FR" sz="16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): 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QtWidgets.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QMainWindow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.__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Ui_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MainWindow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.__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init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__(self)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self.setupUi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(self)      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self.pushButton.clicked.connect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self.message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def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message(self):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print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(« traitement à faire le bouton" 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if __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name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__ == "__main__":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QtWidgets.QApplication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sys.argv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) 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window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=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MonAppli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window.show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    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sys.exit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(</a:t>
            </a:r>
            <a:r>
              <a:rPr lang="fr-FR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app.exec</a:t>
            </a:r>
            <a:r>
              <a:rPr lang="fr-FR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Verdana"/>
              </a:rPr>
              <a:t>_())</a:t>
            </a:r>
            <a:endParaRPr lang="fr-FR" sz="14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5358600" y="4869000"/>
            <a:ext cx="3528000" cy="11876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Remarque :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Permet  de personnaliser la fenêtre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Accéder directement aux Widget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1983600" y="2036520"/>
            <a:ext cx="7228080" cy="143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800" b="1" strike="noStrike" spc="-398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vous de jouer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2634840" y="3150720"/>
            <a:ext cx="3223080" cy="47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2500" b="0" strike="noStrike" spc="-1">
                <a:solidFill>
                  <a:srgbClr val="BFBFBF"/>
                </a:solidFill>
                <a:uFill>
                  <a:solidFill>
                    <a:srgbClr val="FFFFFF"/>
                  </a:solidFill>
                </a:uFill>
                <a:latin typeface="TypoSlabserif-Light"/>
              </a:rPr>
              <a:t>Projet informatique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10" name="Picture 21"/>
          <p:cNvPicPr/>
          <p:nvPr/>
        </p:nvPicPr>
        <p:blipFill>
          <a:blip r:embed="rId2"/>
          <a:stretch/>
        </p:blipFill>
        <p:spPr>
          <a:xfrm>
            <a:off x="620280" y="1857240"/>
            <a:ext cx="1631160" cy="1804320"/>
          </a:xfrm>
          <a:prstGeom prst="rect">
            <a:avLst/>
          </a:prstGeom>
          <a:ln>
            <a:noFill/>
          </a:ln>
        </p:spPr>
      </p:pic>
      <p:pic>
        <p:nvPicPr>
          <p:cNvPr id="311" name="Picture 22"/>
          <p:cNvPicPr/>
          <p:nvPr/>
        </p:nvPicPr>
        <p:blipFill>
          <a:blip r:embed="rId3"/>
          <a:stretch/>
        </p:blipFill>
        <p:spPr>
          <a:xfrm>
            <a:off x="445680" y="3714840"/>
            <a:ext cx="1901880" cy="243000"/>
          </a:xfrm>
          <a:prstGeom prst="rect">
            <a:avLst/>
          </a:prstGeom>
          <a:ln>
            <a:noFill/>
          </a:ln>
        </p:spPr>
      </p:pic>
      <p:pic>
        <p:nvPicPr>
          <p:cNvPr id="312" name="Picture 23"/>
          <p:cNvPicPr/>
          <p:nvPr/>
        </p:nvPicPr>
        <p:blipFill>
          <a:blip r:embed="rId4"/>
          <a:stretch/>
        </p:blipFill>
        <p:spPr>
          <a:xfrm>
            <a:off x="2475000" y="3661920"/>
            <a:ext cx="6345000" cy="270000"/>
          </a:xfrm>
          <a:prstGeom prst="rect">
            <a:avLst/>
          </a:prstGeom>
          <a:ln>
            <a:noFill/>
          </a:ln>
        </p:spPr>
      </p:pic>
      <p:sp>
        <p:nvSpPr>
          <p:cNvPr id="313" name="TextShape 3"/>
          <p:cNvSpPr txBox="1"/>
          <p:nvPr/>
        </p:nvSpPr>
        <p:spPr>
          <a:xfrm>
            <a:off x="6709680" y="633060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B9F6FE09-41A5-4131-801D-AC4F4D34A0B8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12</a:t>
            </a:fld>
            <a:endParaRPr lang="fr-FR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pic>
        <p:nvPicPr>
          <p:cNvPr id="314" name="Picture 15"/>
          <p:cNvPicPr/>
          <p:nvPr/>
        </p:nvPicPr>
        <p:blipFill>
          <a:blip r:embed="rId5"/>
          <a:stretch/>
        </p:blipFill>
        <p:spPr>
          <a:xfrm>
            <a:off x="1440" y="6189840"/>
            <a:ext cx="9142920" cy="668520"/>
          </a:xfrm>
          <a:prstGeom prst="rect">
            <a:avLst/>
          </a:prstGeom>
          <a:ln>
            <a:noFill/>
          </a:ln>
        </p:spPr>
      </p:pic>
      <p:pic>
        <p:nvPicPr>
          <p:cNvPr id="315" name="Picture 14"/>
          <p:cNvPicPr/>
          <p:nvPr/>
        </p:nvPicPr>
        <p:blipFill>
          <a:blip r:embed="rId6"/>
          <a:stretch/>
        </p:blipFill>
        <p:spPr>
          <a:xfrm>
            <a:off x="372960" y="6444720"/>
            <a:ext cx="376560" cy="385920"/>
          </a:xfrm>
          <a:prstGeom prst="rect">
            <a:avLst/>
          </a:prstGeom>
          <a:ln>
            <a:noFill/>
          </a:ln>
        </p:spPr>
      </p:pic>
      <p:sp>
        <p:nvSpPr>
          <p:cNvPr id="316" name="CustomShape 4"/>
          <p:cNvSpPr/>
          <p:nvPr/>
        </p:nvSpPr>
        <p:spPr>
          <a:xfrm>
            <a:off x="760320" y="6369840"/>
            <a:ext cx="1074960" cy="211320"/>
          </a:xfrm>
          <a:prstGeom prst="rect">
            <a:avLst/>
          </a:prstGeom>
          <a:noFill/>
          <a:ln>
            <a:noFill/>
          </a:ln>
          <a:effectLst>
            <a:outerShdw dist="12218" dir="2700000">
              <a:srgbClr val="FFFFFF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8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YOU ARE </a:t>
            </a:r>
            <a:r>
              <a:rPr lang="fr-FR" sz="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LOOKING AT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7" name="CustomShape 5"/>
          <p:cNvSpPr/>
          <p:nvPr/>
        </p:nvSpPr>
        <p:spPr>
          <a:xfrm>
            <a:off x="971640" y="6490800"/>
            <a:ext cx="1162080" cy="302760"/>
          </a:xfrm>
          <a:prstGeom prst="rect">
            <a:avLst/>
          </a:prstGeom>
          <a:noFill/>
          <a:ln>
            <a:noFill/>
          </a:ln>
          <a:effectLst>
            <a:outerShdw dist="12218" dir="2700000">
              <a:srgbClr val="FFFFFF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4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C. Osswald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8" name="CustomShape 6"/>
          <p:cNvSpPr/>
          <p:nvPr/>
        </p:nvSpPr>
        <p:spPr>
          <a:xfrm>
            <a:off x="2426400" y="6490800"/>
            <a:ext cx="1443960" cy="348840"/>
          </a:xfrm>
          <a:prstGeom prst="rect">
            <a:avLst/>
          </a:prstGeom>
          <a:noFill/>
          <a:ln>
            <a:noFill/>
          </a:ln>
          <a:effectLst>
            <a:outerShdw dist="12218" dir="2700000">
              <a:srgbClr val="FFFFFF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fr-FR" sz="17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ypoSlabserif-Light"/>
                <a:ea typeface="DejaVu Sans"/>
              </a:rPr>
              <a:t>Python; QT </a:t>
            </a:r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9" name="CustomShape 7"/>
          <p:cNvSpPr/>
          <p:nvPr/>
        </p:nvSpPr>
        <p:spPr>
          <a:xfrm>
            <a:off x="6743160" y="6459480"/>
            <a:ext cx="21326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692884DD-2514-4D87-9736-8323A91D27E2}" type="slidenum">
              <a:rPr lang="fr-FR" sz="11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12</a:t>
            </a:fld>
            <a:endParaRPr lang="fr-FR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36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22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bool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 additive="repl">
                                        <p:cTn id="32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5629</TotalTime>
  <Words>862</Words>
  <Application>Microsoft Office PowerPoint</Application>
  <PresentationFormat>Affichage à l'écran (4:3)</PresentationFormat>
  <Paragraphs>173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Courier New</vt:lpstr>
      <vt:lpstr>DejaVu Sans</vt:lpstr>
      <vt:lpstr>Symbol</vt:lpstr>
      <vt:lpstr>Times New Roman</vt:lpstr>
      <vt:lpstr>TypoSlabserif-Light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ensta</dc:creator>
  <dc:description/>
  <cp:lastModifiedBy>Abdelmalek TOUMI</cp:lastModifiedBy>
  <cp:revision>214</cp:revision>
  <dcterms:created xsi:type="dcterms:W3CDTF">2016-03-15T18:06:02Z</dcterms:created>
  <dcterms:modified xsi:type="dcterms:W3CDTF">2021-03-29T16:45:15Z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Affichage à l'écran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22</vt:i4>
  </property>
</Properties>
</file>