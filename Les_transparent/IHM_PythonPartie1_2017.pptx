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2"/>
    <p:sldId id="312" r:id="rId3"/>
    <p:sldId id="259" r:id="rId4"/>
    <p:sldId id="263" r:id="rId5"/>
    <p:sldId id="264" r:id="rId6"/>
    <p:sldId id="265" r:id="rId7"/>
    <p:sldId id="269" r:id="rId8"/>
    <p:sldId id="268" r:id="rId9"/>
    <p:sldId id="276" r:id="rId10"/>
    <p:sldId id="317" r:id="rId11"/>
    <p:sldId id="270" r:id="rId12"/>
    <p:sldId id="273" r:id="rId13"/>
    <p:sldId id="274" r:id="rId14"/>
    <p:sldId id="278" r:id="rId15"/>
    <p:sldId id="272" r:id="rId16"/>
    <p:sldId id="292" r:id="rId17"/>
    <p:sldId id="318" r:id="rId18"/>
    <p:sldId id="282" r:id="rId19"/>
    <p:sldId id="281" r:id="rId20"/>
    <p:sldId id="296" r:id="rId21"/>
    <p:sldId id="293" r:id="rId22"/>
    <p:sldId id="298" r:id="rId23"/>
    <p:sldId id="313" r:id="rId24"/>
    <p:sldId id="294" r:id="rId25"/>
    <p:sldId id="301" r:id="rId26"/>
    <p:sldId id="299" r:id="rId27"/>
    <p:sldId id="314" r:id="rId28"/>
    <p:sldId id="297" r:id="rId29"/>
    <p:sldId id="279" r:id="rId30"/>
    <p:sldId id="304" r:id="rId31"/>
    <p:sldId id="306" r:id="rId32"/>
    <p:sldId id="303" r:id="rId33"/>
    <p:sldId id="307" r:id="rId34"/>
    <p:sldId id="308" r:id="rId35"/>
    <p:sldId id="289" r:id="rId36"/>
    <p:sldId id="290" r:id="rId37"/>
    <p:sldId id="316" r:id="rId38"/>
    <p:sldId id="257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C2BB77C0-C172-4496-90B6-A3D8A326893A}">
          <p14:sldIdLst>
            <p14:sldId id="256"/>
            <p14:sldId id="312"/>
            <p14:sldId id="259"/>
            <p14:sldId id="263"/>
            <p14:sldId id="264"/>
            <p14:sldId id="265"/>
            <p14:sldId id="269"/>
            <p14:sldId id="268"/>
            <p14:sldId id="276"/>
            <p14:sldId id="317"/>
            <p14:sldId id="270"/>
            <p14:sldId id="273"/>
            <p14:sldId id="274"/>
            <p14:sldId id="278"/>
            <p14:sldId id="272"/>
            <p14:sldId id="292"/>
            <p14:sldId id="318"/>
            <p14:sldId id="282"/>
            <p14:sldId id="281"/>
            <p14:sldId id="296"/>
            <p14:sldId id="293"/>
            <p14:sldId id="298"/>
            <p14:sldId id="313"/>
            <p14:sldId id="294"/>
            <p14:sldId id="301"/>
            <p14:sldId id="299"/>
            <p14:sldId id="314"/>
            <p14:sldId id="297"/>
            <p14:sldId id="279"/>
            <p14:sldId id="304"/>
            <p14:sldId id="306"/>
            <p14:sldId id="303"/>
            <p14:sldId id="307"/>
            <p14:sldId id="308"/>
            <p14:sldId id="289"/>
            <p14:sldId id="290"/>
            <p14:sldId id="316"/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33"/>
    <a:srgbClr val="99CC00"/>
    <a:srgbClr val="CCFF33"/>
    <a:srgbClr val="383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985" autoAdjust="0"/>
    <p:restoredTop sz="96101" autoAdjust="0"/>
  </p:normalViewPr>
  <p:slideViewPr>
    <p:cSldViewPr>
      <p:cViewPr>
        <p:scale>
          <a:sx n="100" d="100"/>
          <a:sy n="100" d="100"/>
        </p:scale>
        <p:origin x="-725" y="6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 smtClean="0"/>
              <a:t>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B09E36-4607-432C-A5A8-ECF49ED23085}" type="datetimeFigureOut">
              <a:rPr lang="fr-FR" smtClean="0"/>
              <a:t>14/03/2018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1A2791-0049-4703-88B7-A017233F8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7798303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E8E1C-2662-4E6E-A1FD-77715E78031E}" type="datetimeFigureOut">
              <a:rPr lang="en-US" smtClean="0"/>
              <a:pPr/>
              <a:t>3/14/2018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FC9CF-D339-4A1B-9AF2-43BD7CEDA5C9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6311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77960" y="6332180"/>
            <a:ext cx="2133600" cy="365125"/>
          </a:xfrm>
        </p:spPr>
        <p:txBody>
          <a:bodyPr/>
          <a:lstStyle>
            <a:lvl1pPr>
              <a:defRPr sz="1100"/>
            </a:lvl1pPr>
          </a:lstStyle>
          <a:p>
            <a:fld id="{BECFFF0D-0199-40F6-98A2-0B4E765CD128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48072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fr-FR" dirty="0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3" hasCustomPrompt="1"/>
          </p:nvPr>
        </p:nvSpPr>
        <p:spPr>
          <a:xfrm>
            <a:off x="467544" y="23664"/>
            <a:ext cx="8208963" cy="576064"/>
          </a:xfrm>
        </p:spPr>
        <p:txBody>
          <a:bodyPr>
            <a:normAutofit/>
          </a:bodyPr>
          <a:lstStyle>
            <a:lvl1pPr marL="0" indent="0" algn="r">
              <a:buNone/>
              <a:defRPr sz="2000" u="none" baseline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fr-FR" dirty="0" smtClean="0"/>
              <a:t>Titre 2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782" y="44624"/>
            <a:ext cx="8229600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010" y="119675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3801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  <p:pic>
        <p:nvPicPr>
          <p:cNvPr id="7" name="Picture 15" descr="BottomLineLight.png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172049"/>
            <a:ext cx="9144000" cy="669726"/>
          </a:xfrm>
          <a:prstGeom prst="rect">
            <a:avLst/>
          </a:prstGeom>
        </p:spPr>
      </p:pic>
      <p:pic>
        <p:nvPicPr>
          <p:cNvPr id="8" name="Picture 16" descr="BottomLineDarker.png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822401"/>
            <a:ext cx="9144000" cy="44648"/>
          </a:xfrm>
          <a:prstGeom prst="rect">
            <a:avLst/>
          </a:prstGeom>
        </p:spPr>
      </p:pic>
      <p:pic>
        <p:nvPicPr>
          <p:cNvPr id="9" name="Picture 14" descr="Avatar.png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07995" y="6298997"/>
            <a:ext cx="377791" cy="387005"/>
          </a:xfrm>
          <a:prstGeom prst="rect">
            <a:avLst/>
          </a:prstGeom>
        </p:spPr>
      </p:pic>
      <p:sp>
        <p:nvSpPr>
          <p:cNvPr id="10" name="TextBox 4"/>
          <p:cNvSpPr txBox="1"/>
          <p:nvPr userDrawn="1"/>
        </p:nvSpPr>
        <p:spPr>
          <a:xfrm>
            <a:off x="785786" y="6224107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11" name="TextBox 5"/>
          <p:cNvSpPr txBox="1"/>
          <p:nvPr userDrawn="1"/>
        </p:nvSpPr>
        <p:spPr>
          <a:xfrm>
            <a:off x="785786" y="6344958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12" name="TextBox 6"/>
          <p:cNvSpPr txBox="1"/>
          <p:nvPr userDrawn="1"/>
        </p:nvSpPr>
        <p:spPr>
          <a:xfrm>
            <a:off x="785786" y="6524118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13" name="TextBox 9"/>
          <p:cNvSpPr txBox="1"/>
          <p:nvPr userDrawn="1"/>
        </p:nvSpPr>
        <p:spPr>
          <a:xfrm>
            <a:off x="2694634" y="6224107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14" name="TextBox 10"/>
          <p:cNvSpPr txBox="1"/>
          <p:nvPr userDrawn="1"/>
        </p:nvSpPr>
        <p:spPr>
          <a:xfrm>
            <a:off x="2694634" y="6344958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15" name="TextBox 11"/>
          <p:cNvSpPr txBox="1"/>
          <p:nvPr userDrawn="1"/>
        </p:nvSpPr>
        <p:spPr>
          <a:xfrm>
            <a:off x="7447108" y="6224107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16" name="TextBox 12"/>
          <p:cNvSpPr txBox="1"/>
          <p:nvPr userDrawn="1"/>
        </p:nvSpPr>
        <p:spPr>
          <a:xfrm>
            <a:off x="8685382" y="6381328"/>
            <a:ext cx="461986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40</a:t>
            </a:r>
            <a:endParaRPr lang="en-US" sz="1200" b="1" dirty="0">
              <a:latin typeface="TypoSlabserif-Light" pitchFamily="2" charset="0"/>
            </a:endParaRPr>
          </a:p>
        </p:txBody>
      </p:sp>
      <p:pic>
        <p:nvPicPr>
          <p:cNvPr id="17" name="Picture 18" descr="PrevArrow.png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395200" y="6429177"/>
            <a:ext cx="213333" cy="2133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Base_de_donn%C3%A9es" TargetMode="External"/><Relationship Id="rId2" Type="http://schemas.openxmlformats.org/officeDocument/2006/relationships/hyperlink" Target="https://fr.wikipedia.org/wiki/OpenG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r.wikipedia.org/wiki/Extensible_Markup_Language" TargetMode="External"/><Relationship Id="rId4" Type="http://schemas.openxmlformats.org/officeDocument/2006/relationships/hyperlink" Target="https://fr.wikipedia.org/wiki/Structured_Query_Language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doc.qt.io/qt-4.8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ottomLine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0384"/>
            <a:ext cx="9144000" cy="669726"/>
          </a:xfrm>
          <a:prstGeom prst="rect">
            <a:avLst/>
          </a:prstGeom>
        </p:spPr>
      </p:pic>
      <p:pic>
        <p:nvPicPr>
          <p:cNvPr id="17" name="Picture 16" descr="BottomLineD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40736"/>
            <a:ext cx="9144000" cy="44648"/>
          </a:xfrm>
          <a:prstGeom prst="rect">
            <a:avLst/>
          </a:prstGeom>
        </p:spPr>
      </p:pic>
      <p:pic>
        <p:nvPicPr>
          <p:cNvPr id="15" name="Picture 14" descr="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95" y="6317332"/>
            <a:ext cx="377791" cy="3870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5786" y="6242442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6" name="TextBox 5"/>
          <p:cNvSpPr txBox="1"/>
          <p:nvPr/>
        </p:nvSpPr>
        <p:spPr>
          <a:xfrm>
            <a:off x="785786" y="6363293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5786" y="6542453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694634" y="6242442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11" name="TextBox 10"/>
          <p:cNvSpPr txBox="1"/>
          <p:nvPr/>
        </p:nvSpPr>
        <p:spPr>
          <a:xfrm>
            <a:off x="2694634" y="6363293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47108" y="6242442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13" name="TextBox 12"/>
          <p:cNvSpPr txBox="1"/>
          <p:nvPr/>
        </p:nvSpPr>
        <p:spPr>
          <a:xfrm>
            <a:off x="7776000" y="6433112"/>
            <a:ext cx="558166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smtClean="0">
                <a:solidFill>
                  <a:schemeClr val="tx1">
                    <a:lumMod val="85000"/>
                    <a:lumOff val="15000"/>
                  </a:schemeClr>
                </a:solidFill>
                <a:latin typeface="TypoSlabserif-Light" pitchFamily="2" charset="0"/>
              </a:rPr>
              <a:t>1</a:t>
            </a:r>
            <a:r>
              <a:rPr 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7</a:t>
            </a:r>
            <a:endParaRPr lang="en-US" sz="1200" b="1">
              <a:latin typeface="TypoSlabserif-Light" pitchFamily="2" charset="0"/>
            </a:endParaRPr>
          </a:p>
        </p:txBody>
      </p:sp>
      <p:pic>
        <p:nvPicPr>
          <p:cNvPr id="19" name="Picture 18" descr="PrevArrow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200" y="6447512"/>
            <a:ext cx="213333" cy="213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17549" y="1879105"/>
            <a:ext cx="4150752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00" b="1" dirty="0" smtClean="0">
                <a:solidFill>
                  <a:schemeClr val="bg1"/>
                </a:solidFill>
              </a:rPr>
              <a:t>Python</a:t>
            </a:r>
            <a:endParaRPr lang="en-US" sz="10400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47312" y="3389398"/>
            <a:ext cx="189827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 err="1" smtClean="0">
                <a:solidFill>
                  <a:schemeClr val="bg1">
                    <a:lumMod val="75000"/>
                  </a:schemeClr>
                </a:solidFill>
                <a:latin typeface="TypoSlabserif-Light" pitchFamily="2" charset="0"/>
              </a:rPr>
              <a:t>PyQT</a:t>
            </a:r>
            <a:r>
              <a:rPr lang="en-US" sz="2500" dirty="0" smtClean="0">
                <a:solidFill>
                  <a:schemeClr val="bg1">
                    <a:lumMod val="75000"/>
                  </a:schemeClr>
                </a:solidFill>
                <a:latin typeface="TypoSlabserif-Light" pitchFamily="2" charset="0"/>
              </a:rPr>
              <a:t>  pour </a:t>
            </a:r>
            <a:r>
              <a:rPr lang="en-US" sz="2500" dirty="0" err="1" smtClean="0">
                <a:solidFill>
                  <a:schemeClr val="bg1">
                    <a:lumMod val="75000"/>
                  </a:schemeClr>
                </a:solidFill>
                <a:latin typeface="TypoSlabserif-Light" pitchFamily="2" charset="0"/>
              </a:rPr>
              <a:t>l’IHM</a:t>
            </a:r>
            <a:endParaRPr lang="en-US" sz="2500" dirty="0">
              <a:solidFill>
                <a:schemeClr val="bg1">
                  <a:lumMod val="75000"/>
                </a:schemeClr>
              </a:solidFill>
              <a:latin typeface="TypoSlabserif-Light" pitchFamily="2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961" y="1857364"/>
            <a:ext cx="1555665" cy="1804572"/>
          </a:xfrm>
          <a:prstGeom prst="rect">
            <a:avLst/>
          </a:prstGeom>
        </p:spPr>
      </p:pic>
      <p:pic>
        <p:nvPicPr>
          <p:cNvPr id="23" name="Picture 22" descr="MainTitleImageShad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102" y="3714752"/>
            <a:ext cx="1902349" cy="243428"/>
          </a:xfrm>
          <a:prstGeom prst="rect">
            <a:avLst/>
          </a:prstGeom>
        </p:spPr>
      </p:pic>
      <p:pic>
        <p:nvPicPr>
          <p:cNvPr id="24" name="Picture 23" descr="MainTitleShado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0364" y="3714752"/>
            <a:ext cx="5202159" cy="270476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5" descr="BottomLine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0384"/>
            <a:ext cx="9144000" cy="669726"/>
          </a:xfrm>
          <a:prstGeom prst="rect">
            <a:avLst/>
          </a:prstGeom>
        </p:spPr>
      </p:pic>
      <p:pic>
        <p:nvPicPr>
          <p:cNvPr id="34" name="Picture 16" descr="BottomLineD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40736"/>
            <a:ext cx="9144000" cy="44648"/>
          </a:xfrm>
          <a:prstGeom prst="rect">
            <a:avLst/>
          </a:prstGeom>
        </p:spPr>
      </p:pic>
      <p:pic>
        <p:nvPicPr>
          <p:cNvPr id="35" name="Picture 14" descr="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95" y="6317332"/>
            <a:ext cx="377791" cy="387005"/>
          </a:xfrm>
          <a:prstGeom prst="rect">
            <a:avLst/>
          </a:prstGeom>
        </p:spPr>
      </p:pic>
      <p:sp>
        <p:nvSpPr>
          <p:cNvPr id="36" name="TextBox 4"/>
          <p:cNvSpPr txBox="1"/>
          <p:nvPr/>
        </p:nvSpPr>
        <p:spPr>
          <a:xfrm>
            <a:off x="785786" y="6242442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37" name="TextBox 5"/>
          <p:cNvSpPr txBox="1"/>
          <p:nvPr/>
        </p:nvSpPr>
        <p:spPr>
          <a:xfrm>
            <a:off x="785786" y="6363293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785786" y="6542453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39" name="TextBox 9"/>
          <p:cNvSpPr txBox="1"/>
          <p:nvPr/>
        </p:nvSpPr>
        <p:spPr>
          <a:xfrm>
            <a:off x="2694634" y="6242442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40" name="TextBox 10"/>
          <p:cNvSpPr txBox="1"/>
          <p:nvPr/>
        </p:nvSpPr>
        <p:spPr>
          <a:xfrm>
            <a:off x="2694634" y="6363293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41" name="TextBox 11"/>
          <p:cNvSpPr txBox="1"/>
          <p:nvPr/>
        </p:nvSpPr>
        <p:spPr>
          <a:xfrm>
            <a:off x="7447108" y="6242442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42" name="TextBox 12"/>
          <p:cNvSpPr txBox="1"/>
          <p:nvPr/>
        </p:nvSpPr>
        <p:spPr>
          <a:xfrm>
            <a:off x="8781044" y="6392361"/>
            <a:ext cx="399468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7</a:t>
            </a:r>
            <a:endParaRPr lang="en-US" sz="1200" b="1" dirty="0">
              <a:latin typeface="TypoSlabserif-Light" pitchFamily="2" charset="0"/>
            </a:endParaRPr>
          </a:p>
        </p:txBody>
      </p:sp>
      <p:pic>
        <p:nvPicPr>
          <p:cNvPr id="43" name="Picture 18" descr="PrevArrow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200" y="6447512"/>
            <a:ext cx="213333" cy="213333"/>
          </a:xfrm>
          <a:prstGeom prst="rect">
            <a:avLst/>
          </a:prstGeom>
        </p:spPr>
      </p:pic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Création d’interface graphique (IHM)</a:t>
            </a:r>
          </a:p>
          <a:p>
            <a:pPr marL="914400" lvl="1" indent="-514350"/>
            <a:r>
              <a:rPr lang="fr-FR" dirty="0"/>
              <a:t>Généralités</a:t>
            </a:r>
          </a:p>
          <a:p>
            <a:pPr marL="914400" lvl="1" indent="-514350"/>
            <a:r>
              <a:rPr lang="fr-FR" dirty="0"/>
              <a:t>Composants graphiques de base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Présentation de QT</a:t>
            </a:r>
          </a:p>
          <a:p>
            <a:pPr lvl="1"/>
            <a:r>
              <a:rPr lang="fr-FR" dirty="0" smtClean="0"/>
              <a:t>Introduction</a:t>
            </a:r>
          </a:p>
          <a:p>
            <a:pPr lvl="1"/>
            <a:r>
              <a:rPr lang="fr-FR" dirty="0" smtClean="0"/>
              <a:t>Les principaux modules</a:t>
            </a:r>
          </a:p>
          <a:p>
            <a:pPr lvl="1"/>
            <a:r>
              <a:rPr lang="fr-FR" dirty="0" smtClean="0"/>
              <a:t>Documentation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modules de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widgets</a:t>
            </a:r>
          </a:p>
          <a:p>
            <a:pPr marL="857250" lvl="1" indent="-457200"/>
            <a:r>
              <a:rPr lang="fr-FR" dirty="0" smtClean="0"/>
              <a:t>Définition de classe graphique</a:t>
            </a:r>
          </a:p>
          <a:p>
            <a:pPr marL="857250" lvl="1" indent="-457200"/>
            <a:r>
              <a:rPr lang="fr-FR" dirty="0" smtClean="0"/>
              <a:t>Les fenêtres </a:t>
            </a:r>
          </a:p>
          <a:p>
            <a:pPr marL="857250" lvl="1" indent="-457200"/>
            <a:r>
              <a:rPr lang="fr-FR" dirty="0" smtClean="0"/>
              <a:t>Signaux et slots en Python</a:t>
            </a:r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6085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DarkPowerpointTemplate-Slide02-Small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" y="0"/>
            <a:ext cx="9144000" cy="6858000"/>
          </a:xfrm>
          <a:prstGeom prst="rect">
            <a:avLst/>
          </a:prstGeom>
        </p:spPr>
      </p:pic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pc="-400" dirty="0" smtClean="0"/>
              <a:t>Généralités</a:t>
            </a: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Création d’IHM</a:t>
            </a:r>
            <a:endParaRPr lang="fr-FR" dirty="0"/>
          </a:p>
        </p:txBody>
      </p:sp>
      <p:pic>
        <p:nvPicPr>
          <p:cNvPr id="41" name="Picture 15" descr="BottomLine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19924"/>
            <a:ext cx="9144000" cy="669726"/>
          </a:xfrm>
          <a:prstGeom prst="rect">
            <a:avLst/>
          </a:prstGeom>
        </p:spPr>
      </p:pic>
      <p:pic>
        <p:nvPicPr>
          <p:cNvPr id="42" name="Picture 16" descr="BottomLineDar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970276"/>
            <a:ext cx="9144000" cy="44648"/>
          </a:xfrm>
          <a:prstGeom prst="rect">
            <a:avLst/>
          </a:prstGeom>
        </p:spPr>
      </p:pic>
      <p:pic>
        <p:nvPicPr>
          <p:cNvPr id="43" name="Picture 14" descr="Ava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95" y="6446872"/>
            <a:ext cx="377791" cy="387005"/>
          </a:xfrm>
          <a:prstGeom prst="rect">
            <a:avLst/>
          </a:prstGeom>
        </p:spPr>
      </p:pic>
      <p:sp>
        <p:nvSpPr>
          <p:cNvPr id="44" name="TextBox 4"/>
          <p:cNvSpPr txBox="1"/>
          <p:nvPr/>
        </p:nvSpPr>
        <p:spPr>
          <a:xfrm>
            <a:off x="785786" y="6371982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45" name="TextBox 5"/>
          <p:cNvSpPr txBox="1"/>
          <p:nvPr/>
        </p:nvSpPr>
        <p:spPr>
          <a:xfrm>
            <a:off x="785786" y="6492833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46" name="TextBox 6"/>
          <p:cNvSpPr txBox="1"/>
          <p:nvPr/>
        </p:nvSpPr>
        <p:spPr>
          <a:xfrm>
            <a:off x="785786" y="6671993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47" name="TextBox 9"/>
          <p:cNvSpPr txBox="1"/>
          <p:nvPr/>
        </p:nvSpPr>
        <p:spPr>
          <a:xfrm>
            <a:off x="2694634" y="6371982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48" name="TextBox 10"/>
          <p:cNvSpPr txBox="1"/>
          <p:nvPr/>
        </p:nvSpPr>
        <p:spPr>
          <a:xfrm>
            <a:off x="2694634" y="6492833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49" name="TextBox 11"/>
          <p:cNvSpPr txBox="1"/>
          <p:nvPr/>
        </p:nvSpPr>
        <p:spPr>
          <a:xfrm>
            <a:off x="7447108" y="6371982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50" name="TextBox 12"/>
          <p:cNvSpPr txBox="1"/>
          <p:nvPr/>
        </p:nvSpPr>
        <p:spPr>
          <a:xfrm>
            <a:off x="8781044" y="6521901"/>
            <a:ext cx="399468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7</a:t>
            </a:r>
            <a:endParaRPr lang="en-US" sz="1200" b="1" dirty="0">
              <a:latin typeface="TypoSlabserif-Light" pitchFamily="2" charset="0"/>
            </a:endParaRPr>
          </a:p>
        </p:txBody>
      </p:sp>
      <p:pic>
        <p:nvPicPr>
          <p:cNvPr id="51" name="Picture 18" descr="PrevArrow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5200" y="6577052"/>
            <a:ext cx="213333" cy="213333"/>
          </a:xfrm>
          <a:prstGeom prst="rect">
            <a:avLst/>
          </a:prstGeom>
        </p:spPr>
      </p:pic>
      <p:sp>
        <p:nvSpPr>
          <p:cNvPr id="52" name="Espace réservé du numéro de diapositive 1"/>
          <p:cNvSpPr txBox="1">
            <a:spLocks/>
          </p:cNvSpPr>
          <p:nvPr/>
        </p:nvSpPr>
        <p:spPr>
          <a:xfrm>
            <a:off x="6777960" y="646172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CFFF0D-0199-40F6-98A2-0B4E765CD12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ZoneTexte 2"/>
          <p:cNvSpPr txBox="1"/>
          <p:nvPr/>
        </p:nvSpPr>
        <p:spPr>
          <a:xfrm>
            <a:off x="435966" y="1351508"/>
            <a:ext cx="80659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</a:rPr>
              <a:t>Intérêt </a:t>
            </a:r>
            <a:r>
              <a:rPr lang="fr-FR" sz="2800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chemeClr val="bg1"/>
                </a:solidFill>
              </a:rPr>
              <a:t>Présenter </a:t>
            </a:r>
            <a:r>
              <a:rPr lang="fr-FR" sz="2000" dirty="0">
                <a:solidFill>
                  <a:schemeClr val="bg1"/>
                </a:solidFill>
              </a:rPr>
              <a:t>des informations de </a:t>
            </a:r>
            <a:r>
              <a:rPr lang="fr-FR" sz="2000" dirty="0" smtClean="0">
                <a:solidFill>
                  <a:schemeClr val="bg1"/>
                </a:solidFill>
              </a:rPr>
              <a:t>manière synthétique</a:t>
            </a:r>
            <a:endParaRPr lang="fr-FR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bg1"/>
                </a:solidFill>
              </a:rPr>
              <a:t>Permettre d'interagir avec le programme</a:t>
            </a:r>
          </a:p>
          <a:p>
            <a:endParaRPr lang="fr-FR" sz="2800" dirty="0" smtClean="0">
              <a:solidFill>
                <a:schemeClr val="bg1"/>
              </a:solidFill>
            </a:endParaRPr>
          </a:p>
          <a:p>
            <a:r>
              <a:rPr lang="fr-FR" sz="2800" dirty="0" smtClean="0">
                <a:solidFill>
                  <a:schemeClr val="bg1"/>
                </a:solidFill>
              </a:rPr>
              <a:t>Caractéristiques </a:t>
            </a:r>
            <a:r>
              <a:rPr lang="fr-FR" sz="2800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bg1"/>
                </a:solidFill>
              </a:rPr>
              <a:t>Code sans </a:t>
            </a:r>
            <a:r>
              <a:rPr lang="fr-FR" sz="2000" dirty="0" smtClean="0">
                <a:solidFill>
                  <a:schemeClr val="bg1"/>
                </a:solidFill>
              </a:rPr>
              <a:t>difficulté </a:t>
            </a:r>
            <a:r>
              <a:rPr lang="fr-FR" sz="2000" dirty="0">
                <a:solidFill>
                  <a:schemeClr val="bg1"/>
                </a:solidFill>
              </a:rPr>
              <a:t>technique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bg1"/>
                </a:solidFill>
              </a:rPr>
              <a:t>Code souvent long et peu lisible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bg1"/>
                </a:solidFill>
              </a:rPr>
              <a:t>Code pas </a:t>
            </a:r>
            <a:r>
              <a:rPr lang="fr-FR" sz="2000" dirty="0" smtClean="0">
                <a:solidFill>
                  <a:schemeClr val="bg1"/>
                </a:solidFill>
              </a:rPr>
              <a:t>intéressant </a:t>
            </a:r>
            <a:r>
              <a:rPr lang="fr-FR" sz="2000" dirty="0">
                <a:solidFill>
                  <a:schemeClr val="bg1"/>
                </a:solidFill>
              </a:rPr>
              <a:t>a </a:t>
            </a:r>
            <a:r>
              <a:rPr lang="fr-FR" sz="2000" dirty="0" smtClean="0">
                <a:solidFill>
                  <a:schemeClr val="bg1"/>
                </a:solidFill>
              </a:rPr>
              <a:t>écrire</a:t>
            </a:r>
          </a:p>
          <a:p>
            <a:endParaRPr lang="fr-FR" sz="2000" dirty="0">
              <a:solidFill>
                <a:schemeClr val="bg1"/>
              </a:solidFill>
            </a:endParaRPr>
          </a:p>
          <a:p>
            <a:r>
              <a:rPr lang="fr-FR" sz="2000" dirty="0" smtClean="0">
                <a:solidFill>
                  <a:schemeClr val="bg1"/>
                </a:solidFill>
              </a:rPr>
              <a:t>Solution 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bg1"/>
                </a:solidFill>
              </a:rPr>
              <a:t>Utilisation des « boites à outils (</a:t>
            </a:r>
            <a:r>
              <a:rPr lang="fr-FR" sz="2000" dirty="0" err="1">
                <a:solidFill>
                  <a:schemeClr val="bg1"/>
                </a:solidFill>
              </a:rPr>
              <a:t>toollkit</a:t>
            </a:r>
            <a:r>
              <a:rPr lang="fr-FR" sz="2000" dirty="0">
                <a:solidFill>
                  <a:schemeClr val="bg1"/>
                </a:solidFill>
              </a:rPr>
              <a:t> graphique)» </a:t>
            </a:r>
          </a:p>
          <a:p>
            <a:r>
              <a:rPr lang="fr-FR" sz="2000" dirty="0" smtClean="0">
                <a:solidFill>
                  <a:schemeClr val="bg1"/>
                </a:solidFill>
                <a:sym typeface="Wingdings" panose="05000000000000000000" pitchFamily="2" charset="2"/>
              </a:rPr>
              <a:t>   </a:t>
            </a:r>
            <a:r>
              <a:rPr lang="fr-FR" sz="2000" dirty="0">
                <a:solidFill>
                  <a:schemeClr val="bg1"/>
                </a:solidFill>
                <a:sym typeface="Wingdings" panose="05000000000000000000" pitchFamily="2" charset="2"/>
              </a:rPr>
              <a:t>Utilisent la programmation </a:t>
            </a:r>
            <a:r>
              <a:rPr lang="fr-FR" sz="2000" dirty="0" smtClean="0">
                <a:solidFill>
                  <a:schemeClr val="bg1"/>
                </a:solidFill>
                <a:sym typeface="Wingdings" panose="05000000000000000000" pitchFamily="2" charset="2"/>
              </a:rPr>
              <a:t>évènementielle</a:t>
            </a:r>
            <a:endParaRPr lang="fr-FR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 smtClean="0">
                <a:solidFill>
                  <a:schemeClr val="bg1"/>
                </a:solidFill>
              </a:rPr>
              <a:t>Principe : </a:t>
            </a:r>
            <a:r>
              <a:rPr lang="fr-FR" sz="2000" dirty="0" smtClean="0">
                <a:solidFill>
                  <a:schemeClr val="bg1"/>
                </a:solidFill>
              </a:rPr>
              <a:t>La programmation d’IHM se décompose en 4 phases :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 smtClean="0">
                <a:solidFill>
                  <a:schemeClr val="bg1"/>
                </a:solidFill>
              </a:rPr>
              <a:t>Assemblage des composants graphiques (widgets) constituant l’IHM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 smtClean="0">
                <a:solidFill>
                  <a:schemeClr val="bg1"/>
                </a:solidFill>
              </a:rPr>
              <a:t>Ecriture des traitements à déclencher par les actions de l’utilisateur (modules de traitements)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 smtClean="0">
                <a:solidFill>
                  <a:schemeClr val="bg1"/>
                </a:solidFill>
              </a:rPr>
              <a:t>Association des ces traitements aux actions de l’utilisateur (on associer le clique d’un bouton pour lancer un calcul)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 smtClean="0">
                <a:solidFill>
                  <a:schemeClr val="bg1"/>
                </a:solidFill>
              </a:rPr>
              <a:t>Lancement de la boucle principale de la boite à outils</a:t>
            </a: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736432" y="6316940"/>
            <a:ext cx="2133600" cy="365125"/>
          </a:xfrm>
        </p:spPr>
        <p:txBody>
          <a:bodyPr/>
          <a:lstStyle/>
          <a:p>
            <a:fld id="{BECFFF0D-0199-40F6-98A2-0B4E765CD128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8" name="Groupe 7"/>
          <p:cNvGrpSpPr/>
          <p:nvPr/>
        </p:nvGrpSpPr>
        <p:grpSpPr>
          <a:xfrm>
            <a:off x="539984" y="4361512"/>
            <a:ext cx="7920880" cy="732964"/>
            <a:chOff x="539984" y="4361512"/>
            <a:chExt cx="7920880" cy="732964"/>
          </a:xfrm>
        </p:grpSpPr>
        <p:sp>
          <p:nvSpPr>
            <p:cNvPr id="6" name="ZoneTexte 5"/>
            <p:cNvSpPr txBox="1"/>
            <p:nvPr/>
          </p:nvSpPr>
          <p:spPr>
            <a:xfrm>
              <a:off x="539984" y="4725144"/>
              <a:ext cx="7920880" cy="369332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n w="1905"/>
                  <a:gradFill>
                    <a:gsLst>
                      <a:gs pos="0">
                        <a:schemeClr val="accent6">
                          <a:shade val="20000"/>
                          <a:satMod val="200000"/>
                        </a:schemeClr>
                      </a:gs>
                      <a:gs pos="78000">
                        <a:schemeClr val="accent6">
                          <a:tint val="90000"/>
                          <a:shade val="89000"/>
                          <a:satMod val="220000"/>
                        </a:schemeClr>
                      </a:gs>
                      <a:gs pos="100000">
                        <a:schemeClr val="accent6">
                          <a:tint val="12000"/>
                          <a:satMod val="255000"/>
                        </a:schemeClr>
                      </a:gs>
                    </a:gsLst>
                    <a:lin ang="5400000"/>
                  </a:gra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</a:rPr>
                <a:t>Ces phases sont plus au moins indépendantes selon la boite à outils </a:t>
              </a:r>
              <a:r>
                <a:rPr lang="fr-FR" b="1" dirty="0" smtClean="0">
                  <a:ln w="1905"/>
                  <a:gradFill>
                    <a:gsLst>
                      <a:gs pos="0">
                        <a:schemeClr val="accent6">
                          <a:shade val="20000"/>
                          <a:satMod val="200000"/>
                        </a:schemeClr>
                      </a:gs>
                      <a:gs pos="78000">
                        <a:schemeClr val="accent6">
                          <a:tint val="90000"/>
                          <a:shade val="89000"/>
                          <a:satMod val="220000"/>
                        </a:schemeClr>
                      </a:gs>
                      <a:gs pos="100000">
                        <a:schemeClr val="accent6">
                          <a:tint val="12000"/>
                          <a:satMod val="255000"/>
                        </a:schemeClr>
                      </a:gs>
                    </a:gsLst>
                    <a:lin ang="5400000"/>
                  </a:gra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</a:rPr>
                <a:t>utilisée</a:t>
              </a:r>
              <a:endParaRPr lang="fr-FR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endParaRPr>
            </a:p>
          </p:txBody>
        </p:sp>
        <p:sp>
          <p:nvSpPr>
            <p:cNvPr id="7" name="ZoneTexte 6"/>
            <p:cNvSpPr txBox="1"/>
            <p:nvPr/>
          </p:nvSpPr>
          <p:spPr>
            <a:xfrm>
              <a:off x="539984" y="4361512"/>
              <a:ext cx="7920880" cy="369332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fr-FR" dirty="0" smtClean="0"/>
                <a:t>Remarque :</a:t>
              </a:r>
              <a:endParaRPr lang="fr-FR" dirty="0"/>
            </a:p>
          </p:txBody>
        </p:sp>
      </p:grpSp>
      <p:sp>
        <p:nvSpPr>
          <p:cNvPr id="9" name="Titre 3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48072"/>
          </a:xfrm>
        </p:spPr>
        <p:txBody>
          <a:bodyPr/>
          <a:lstStyle/>
          <a:p>
            <a:r>
              <a:rPr lang="fr-FR" spc="-400" dirty="0" smtClean="0"/>
              <a:t>Généralités</a:t>
            </a:r>
            <a:endParaRPr lang="fr-FR" dirty="0"/>
          </a:p>
        </p:txBody>
      </p:sp>
      <p:sp>
        <p:nvSpPr>
          <p:cNvPr id="10" name="Espace réservé du contenu 8"/>
          <p:cNvSpPr>
            <a:spLocks noGrp="1"/>
          </p:cNvSpPr>
          <p:nvPr>
            <p:ph sz="quarter" idx="13"/>
          </p:nvPr>
        </p:nvSpPr>
        <p:spPr>
          <a:xfrm>
            <a:off x="467544" y="23664"/>
            <a:ext cx="8208963" cy="576064"/>
          </a:xfrm>
        </p:spPr>
        <p:txBody>
          <a:bodyPr/>
          <a:lstStyle/>
          <a:p>
            <a:r>
              <a:rPr lang="fr-FR" dirty="0" smtClean="0"/>
              <a:t>Création d’IHM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918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660232" y="6309320"/>
            <a:ext cx="2133600" cy="365125"/>
          </a:xfrm>
        </p:spPr>
        <p:txBody>
          <a:bodyPr/>
          <a:lstStyle/>
          <a:p>
            <a:fld id="{BECFFF0D-0199-40F6-98A2-0B4E765CD12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 smtClean="0">
                <a:solidFill>
                  <a:schemeClr val="bg1"/>
                </a:solidFill>
              </a:rPr>
              <a:t>Type de composants  (widgets)</a:t>
            </a:r>
            <a:r>
              <a:rPr lang="fr-FR" sz="2000" dirty="0" smtClean="0">
                <a:solidFill>
                  <a:schemeClr val="bg1"/>
                </a:solidFill>
              </a:rPr>
              <a:t> : Deux grandes catégories :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400" dirty="0" smtClean="0">
                <a:solidFill>
                  <a:srgbClr val="FFFF00"/>
                </a:solidFill>
              </a:rPr>
              <a:t>Les conteneurs : </a:t>
            </a:r>
            <a:r>
              <a:rPr lang="fr-FR" sz="2400" dirty="0" smtClean="0">
                <a:solidFill>
                  <a:schemeClr val="bg1"/>
                </a:solidFill>
              </a:rPr>
              <a:t>peuvent contenir d’autres composants</a:t>
            </a:r>
          </a:p>
          <a:p>
            <a:pPr marL="715963" indent="-26670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smtClean="0">
                <a:solidFill>
                  <a:srgbClr val="99FF33"/>
                </a:solidFill>
              </a:rPr>
              <a:t>Les conteneurs de haut niveau</a:t>
            </a:r>
            <a:r>
              <a:rPr lang="fr-FR" sz="2000" dirty="0" smtClean="0">
                <a:solidFill>
                  <a:schemeClr val="bg1"/>
                </a:solidFill>
              </a:rPr>
              <a:t> (top </a:t>
            </a:r>
            <a:r>
              <a:rPr lang="fr-FR" sz="2000" dirty="0" err="1" smtClean="0">
                <a:solidFill>
                  <a:schemeClr val="bg1"/>
                </a:solidFill>
              </a:rPr>
              <a:t>level</a:t>
            </a:r>
            <a:r>
              <a:rPr lang="fr-FR" sz="2000" dirty="0" smtClean="0">
                <a:solidFill>
                  <a:schemeClr val="bg1"/>
                </a:solidFill>
              </a:rPr>
              <a:t> containers) : Ne peuvent être contenus dans d’autre conteneurs.</a:t>
            </a:r>
          </a:p>
          <a:p>
            <a:pPr indent="0">
              <a:buNone/>
            </a:pPr>
            <a:r>
              <a:rPr lang="fr-FR" sz="2000" dirty="0" smtClean="0">
                <a:solidFill>
                  <a:schemeClr val="bg1"/>
                </a:solidFill>
              </a:rPr>
              <a:t> Exemple : Fenêtre , boite de dialogue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fr-FR" sz="2000" dirty="0" smtClean="0">
                <a:solidFill>
                  <a:srgbClr val="FFFF00"/>
                </a:solidFill>
              </a:rPr>
              <a:t>Autres </a:t>
            </a:r>
            <a:r>
              <a:rPr lang="fr-FR" sz="2000" dirty="0" smtClean="0">
                <a:solidFill>
                  <a:schemeClr val="bg1"/>
                </a:solidFill>
              </a:rPr>
              <a:t>:  ne peuvent contenir d’autre composants </a:t>
            </a:r>
          </a:p>
          <a:p>
            <a:pPr marL="0" indent="0">
              <a:buNone/>
            </a:pPr>
            <a:r>
              <a:rPr lang="fr-FR" sz="2000" dirty="0" smtClean="0">
                <a:solidFill>
                  <a:schemeClr val="bg1"/>
                </a:solidFill>
              </a:rPr>
              <a:t>         Exemple : Barre de défilement,  Bouton de  bascule (bouton radio)</a:t>
            </a:r>
            <a:endParaRPr lang="fr-FR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Titre 3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48072"/>
          </a:xfrm>
        </p:spPr>
        <p:txBody>
          <a:bodyPr/>
          <a:lstStyle/>
          <a:p>
            <a:r>
              <a:rPr lang="fr-FR" dirty="0"/>
              <a:t>Composants graphiques de </a:t>
            </a:r>
            <a:r>
              <a:rPr lang="fr-FR" dirty="0" smtClean="0"/>
              <a:t>base</a:t>
            </a:r>
            <a:endParaRPr lang="fr-FR" dirty="0"/>
          </a:p>
        </p:txBody>
      </p:sp>
      <p:sp>
        <p:nvSpPr>
          <p:cNvPr id="8" name="Espace réservé du contenu 8"/>
          <p:cNvSpPr>
            <a:spLocks noGrp="1"/>
          </p:cNvSpPr>
          <p:nvPr>
            <p:ph sz="quarter" idx="13"/>
          </p:nvPr>
        </p:nvSpPr>
        <p:spPr>
          <a:xfrm>
            <a:off x="467544" y="23664"/>
            <a:ext cx="8208963" cy="576064"/>
          </a:xfrm>
        </p:spPr>
        <p:txBody>
          <a:bodyPr/>
          <a:lstStyle/>
          <a:p>
            <a:r>
              <a:rPr lang="fr-FR" dirty="0" smtClean="0"/>
              <a:t>Création d’IHM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5116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Espace réservé du contenu 2"/>
          <p:cNvSpPr txBox="1">
            <a:spLocks/>
          </p:cNvSpPr>
          <p:nvPr/>
        </p:nvSpPr>
        <p:spPr>
          <a:xfrm>
            <a:off x="609600" y="119675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chemeClr val="bg1"/>
                </a:solidFill>
              </a:rPr>
              <a:t>Disponibles dans toutes les boites à outils</a:t>
            </a:r>
          </a:p>
          <a:p>
            <a:pPr marL="514350" indent="-514350">
              <a:buFont typeface="+mj-lt"/>
              <a:buAutoNum type="arabicPeriod"/>
            </a:pPr>
            <a:endParaRPr lang="fr-FR" sz="2000" dirty="0" smtClean="0">
              <a:solidFill>
                <a:schemeClr val="bg1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fr-FR" sz="2000" dirty="0">
              <a:solidFill>
                <a:schemeClr val="bg1"/>
              </a:solidFill>
            </a:endParaRPr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572141"/>
              </p:ext>
            </p:extLst>
          </p:nvPr>
        </p:nvGraphicFramePr>
        <p:xfrm>
          <a:off x="213864" y="2200891"/>
          <a:ext cx="5870304" cy="350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3467"/>
                <a:gridCol w="4116837"/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Composants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Remarques </a:t>
                      </a:r>
                      <a:endParaRPr lang="fr-FR" dirty="0"/>
                    </a:p>
                  </a:txBody>
                  <a:tcPr/>
                </a:tc>
              </a:tr>
              <a:tr h="349240">
                <a:tc>
                  <a:txBody>
                    <a:bodyPr/>
                    <a:lstStyle/>
                    <a:p>
                      <a:r>
                        <a:rPr lang="fr-FR" dirty="0" smtClean="0"/>
                        <a:t>Fenêtre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 conteneur</a:t>
                      </a:r>
                      <a:r>
                        <a:rPr lang="fr-FR" baseline="0" dirty="0" smtClean="0"/>
                        <a:t> de base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Bouton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 composant muni d’un libellé -&gt; cliquer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libellé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Texte affiché</a:t>
                      </a:r>
                      <a:r>
                        <a:rPr lang="fr-FR" baseline="0" dirty="0" smtClean="0"/>
                        <a:t> -&gt; sans interaction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Champ</a:t>
                      </a:r>
                      <a:r>
                        <a:rPr lang="fr-FR" baseline="0" dirty="0" smtClean="0"/>
                        <a:t> texte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Zone permettant la saisi</a:t>
                      </a:r>
                      <a:r>
                        <a:rPr lang="fr-FR" baseline="0" dirty="0" smtClean="0"/>
                        <a:t> de texte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Bouton bascule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Composant</a:t>
                      </a:r>
                      <a:r>
                        <a:rPr lang="fr-FR" baseline="0" dirty="0" smtClean="0"/>
                        <a:t> avec un état binaire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Barre de défilement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Echelle</a:t>
                      </a:r>
                      <a:r>
                        <a:rPr lang="fr-FR" baseline="0" dirty="0" smtClean="0"/>
                        <a:t> permettant le défilement du contenu d’un conteneur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Zone de dessin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Conteneur</a:t>
                      </a:r>
                      <a:r>
                        <a:rPr lang="fr-FR" baseline="0" dirty="0" smtClean="0"/>
                        <a:t> (appelé </a:t>
                      </a:r>
                      <a:r>
                        <a:rPr lang="fr-FR" baseline="0" dirty="0" err="1" smtClean="0"/>
                        <a:t>canvas</a:t>
                      </a:r>
                      <a:r>
                        <a:rPr lang="fr-FR" baseline="0" dirty="0" smtClean="0"/>
                        <a:t>) destiné pour dessiner des primitives graphiques,,,</a:t>
                      </a:r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8" name="Picture 4" descr="Afficher l'image d'orig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424" y="2420888"/>
            <a:ext cx="2987824" cy="2474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5" y="3789040"/>
            <a:ext cx="360040" cy="208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4036690"/>
            <a:ext cx="468000" cy="238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re 3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48072"/>
          </a:xfrm>
        </p:spPr>
        <p:txBody>
          <a:bodyPr/>
          <a:lstStyle/>
          <a:p>
            <a:r>
              <a:rPr lang="fr-FR" dirty="0"/>
              <a:t>Composants graphiques de </a:t>
            </a:r>
            <a:r>
              <a:rPr lang="fr-FR" dirty="0" smtClean="0"/>
              <a:t>base</a:t>
            </a:r>
            <a:endParaRPr lang="fr-FR" dirty="0"/>
          </a:p>
        </p:txBody>
      </p:sp>
      <p:sp>
        <p:nvSpPr>
          <p:cNvPr id="10" name="Espace réservé du contenu 8"/>
          <p:cNvSpPr>
            <a:spLocks noGrp="1"/>
          </p:cNvSpPr>
          <p:nvPr>
            <p:ph sz="quarter" idx="13"/>
          </p:nvPr>
        </p:nvSpPr>
        <p:spPr>
          <a:xfrm>
            <a:off x="467544" y="23664"/>
            <a:ext cx="8208963" cy="576064"/>
          </a:xfrm>
        </p:spPr>
        <p:txBody>
          <a:bodyPr/>
          <a:lstStyle/>
          <a:p>
            <a:r>
              <a:rPr lang="fr-FR" dirty="0" smtClean="0"/>
              <a:t>Création d’IHM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8261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660232" y="6309320"/>
            <a:ext cx="2133600" cy="365125"/>
          </a:xfrm>
        </p:spPr>
        <p:txBody>
          <a:bodyPr/>
          <a:lstStyle/>
          <a:p>
            <a:fld id="{BECFFF0D-0199-40F6-98A2-0B4E765CD12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 smtClean="0">
                <a:solidFill>
                  <a:schemeClr val="bg1"/>
                </a:solidFill>
              </a:rPr>
              <a:t>Disposition des composants  (widgets)</a:t>
            </a:r>
            <a:endParaRPr lang="fr-FR" sz="2000" dirty="0" smtClean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chemeClr val="bg1"/>
                </a:solidFill>
              </a:rPr>
              <a:t>Pour un conteneur : on peut spécifier la disposition des composants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chemeClr val="bg1"/>
                </a:solidFill>
              </a:rPr>
              <a:t> Selon la boite à outils utilisée, la disposition peut être 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chemeClr val="bg1"/>
                </a:solidFill>
              </a:rPr>
              <a:t>propre au conteneur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chemeClr val="bg1"/>
                </a:solidFill>
              </a:rPr>
              <a:t>spécifiée par un objet externe associé au conteneur -&gt; </a:t>
            </a:r>
            <a:r>
              <a:rPr lang="fr-FR" sz="2000" dirty="0" err="1" smtClean="0">
                <a:solidFill>
                  <a:srgbClr val="FFFF00"/>
                </a:solidFill>
              </a:rPr>
              <a:t>Layout</a:t>
            </a:r>
            <a:endParaRPr lang="fr-FR" sz="2000" dirty="0" smtClean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fr-FR" sz="2000" dirty="0" smtClean="0">
                <a:solidFill>
                  <a:schemeClr val="bg1"/>
                </a:solidFill>
              </a:rPr>
              <a:t>Exemple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 err="1" smtClean="0">
                <a:solidFill>
                  <a:srgbClr val="FFFF00"/>
                </a:solidFill>
              </a:rPr>
              <a:t>Tkinter</a:t>
            </a:r>
            <a:r>
              <a:rPr lang="fr-FR" sz="2000" dirty="0" smtClean="0">
                <a:solidFill>
                  <a:srgbClr val="FFFF00"/>
                </a:solidFill>
              </a:rPr>
              <a:t> </a:t>
            </a:r>
            <a:r>
              <a:rPr lang="fr-FR" sz="2000" dirty="0" smtClean="0">
                <a:solidFill>
                  <a:schemeClr val="bg1"/>
                </a:solidFill>
              </a:rPr>
              <a:t>: </a:t>
            </a:r>
            <a:r>
              <a:rPr lang="fr-FR" sz="1600" i="1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GridManager</a:t>
            </a:r>
            <a:r>
              <a:rPr lang="fr-FR" sz="2000" dirty="0" smtClean="0">
                <a:solidFill>
                  <a:schemeClr val="bg1"/>
                </a:solidFill>
              </a:rPr>
              <a:t> permet  de disposer les composants graphiques dans une </a:t>
            </a:r>
            <a:r>
              <a:rPr lang="fr-FR" sz="2000" dirty="0" err="1" smtClean="0">
                <a:solidFill>
                  <a:schemeClr val="bg1"/>
                </a:solidFill>
              </a:rPr>
              <a:t>grillebidimentielle</a:t>
            </a:r>
            <a:endParaRPr lang="fr-FR" sz="2000" dirty="0" smtClean="0">
              <a:solidFill>
                <a:schemeClr val="bg1"/>
              </a:solidFill>
            </a:endParaRPr>
          </a:p>
          <a:p>
            <a:r>
              <a:rPr lang="fr-FR" sz="2000" dirty="0" smtClean="0">
                <a:solidFill>
                  <a:srgbClr val="FFFF00"/>
                </a:solidFill>
              </a:rPr>
              <a:t>GTK</a:t>
            </a:r>
            <a:r>
              <a:rPr lang="fr-FR" sz="2000" dirty="0" smtClean="0">
                <a:solidFill>
                  <a:schemeClr val="bg1"/>
                </a:solidFill>
              </a:rPr>
              <a:t> : Le conteneur </a:t>
            </a:r>
            <a:r>
              <a:rPr lang="fr-FR" sz="1800" i="1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Hbox</a:t>
            </a:r>
            <a:r>
              <a:rPr lang="fr-FR" sz="2000" dirty="0" smtClean="0">
                <a:solidFill>
                  <a:schemeClr val="bg1"/>
                </a:solidFill>
              </a:rPr>
              <a:t> dispose son contenu selon une bande horizontale</a:t>
            </a:r>
            <a:endParaRPr lang="fr-FR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Titre 3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48072"/>
          </a:xfrm>
        </p:spPr>
        <p:txBody>
          <a:bodyPr/>
          <a:lstStyle/>
          <a:p>
            <a:r>
              <a:rPr lang="fr-FR" dirty="0"/>
              <a:t>Composants graphiques de </a:t>
            </a:r>
            <a:r>
              <a:rPr lang="fr-FR" dirty="0" smtClean="0"/>
              <a:t>base</a:t>
            </a:r>
            <a:endParaRPr lang="fr-FR" dirty="0"/>
          </a:p>
        </p:txBody>
      </p:sp>
      <p:sp>
        <p:nvSpPr>
          <p:cNvPr id="8" name="Espace réservé du contenu 8"/>
          <p:cNvSpPr>
            <a:spLocks noGrp="1"/>
          </p:cNvSpPr>
          <p:nvPr>
            <p:ph sz="quarter" idx="13"/>
          </p:nvPr>
        </p:nvSpPr>
        <p:spPr>
          <a:xfrm>
            <a:off x="467544" y="23664"/>
            <a:ext cx="8208963" cy="576064"/>
          </a:xfrm>
        </p:spPr>
        <p:txBody>
          <a:bodyPr/>
          <a:lstStyle/>
          <a:p>
            <a:r>
              <a:rPr lang="fr-FR" dirty="0" smtClean="0"/>
              <a:t>Création d’IHM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295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44824"/>
            <a:ext cx="8523396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20"/>
          <p:cNvSpPr txBox="1"/>
          <p:nvPr/>
        </p:nvSpPr>
        <p:spPr>
          <a:xfrm>
            <a:off x="357158" y="1268760"/>
            <a:ext cx="35589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  <a:latin typeface="Street Corner Slab" pitchFamily="2" charset="0"/>
              </a:rPr>
              <a:t>Quelques</a:t>
            </a:r>
            <a:r>
              <a:rPr lang="en-US" sz="2400" dirty="0" smtClean="0">
                <a:solidFill>
                  <a:schemeClr val="bg1"/>
                </a:solidFill>
                <a:latin typeface="Street Corner Slab" pitchFamily="2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Street Corner Slab" pitchFamily="2" charset="0"/>
              </a:rPr>
              <a:t>boites</a:t>
            </a:r>
            <a:r>
              <a:rPr lang="en-US" sz="2400" dirty="0" smtClean="0">
                <a:solidFill>
                  <a:schemeClr val="bg1"/>
                </a:solidFill>
                <a:latin typeface="Street Corner Slab" pitchFamily="2" charset="0"/>
              </a:rPr>
              <a:t> à </a:t>
            </a:r>
            <a:r>
              <a:rPr lang="en-US" sz="2400" dirty="0" err="1" smtClean="0">
                <a:solidFill>
                  <a:schemeClr val="bg1"/>
                </a:solidFill>
                <a:latin typeface="Street Corner Slab" pitchFamily="2" charset="0"/>
              </a:rPr>
              <a:t>outils</a:t>
            </a:r>
            <a:r>
              <a:rPr lang="en-US" sz="2400" dirty="0" smtClean="0">
                <a:solidFill>
                  <a:schemeClr val="bg1"/>
                </a:solidFill>
                <a:latin typeface="Street Corner Slab" pitchFamily="2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Street Corner Slab" pitchFamily="2" charset="0"/>
              </a:rPr>
              <a:t>graphiques</a:t>
            </a:r>
            <a:endParaRPr lang="en-US" sz="2400" dirty="0">
              <a:solidFill>
                <a:schemeClr val="bg1"/>
              </a:solidFill>
              <a:latin typeface="Street Corner Slab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7584" y="3891528"/>
            <a:ext cx="7776864" cy="329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827584" y="1916832"/>
            <a:ext cx="7776864" cy="360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contenu 8"/>
          <p:cNvSpPr>
            <a:spLocks noGrp="1"/>
          </p:cNvSpPr>
          <p:nvPr>
            <p:ph sz="quarter" idx="13"/>
          </p:nvPr>
        </p:nvSpPr>
        <p:spPr>
          <a:xfrm>
            <a:off x="467544" y="23664"/>
            <a:ext cx="8208963" cy="576064"/>
          </a:xfrm>
        </p:spPr>
        <p:txBody>
          <a:bodyPr/>
          <a:lstStyle/>
          <a:p>
            <a:r>
              <a:rPr lang="fr-FR" dirty="0" smtClean="0"/>
              <a:t>Création d’IHM</a:t>
            </a:r>
            <a:endParaRPr lang="fr-FR" dirty="0"/>
          </a:p>
        </p:txBody>
      </p:sp>
      <p:sp>
        <p:nvSpPr>
          <p:cNvPr id="12" name="Titre 3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48072"/>
          </a:xfrm>
        </p:spPr>
        <p:txBody>
          <a:bodyPr/>
          <a:lstStyle/>
          <a:p>
            <a:r>
              <a:rPr lang="fr-FR" dirty="0"/>
              <a:t>Composants graphiques de </a:t>
            </a:r>
            <a:r>
              <a:rPr lang="fr-FR" dirty="0" smtClean="0"/>
              <a:t>base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7049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TextBox 20"/>
          <p:cNvSpPr txBox="1"/>
          <p:nvPr/>
        </p:nvSpPr>
        <p:spPr>
          <a:xfrm>
            <a:off x="357158" y="1268760"/>
            <a:ext cx="35589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  <a:latin typeface="Street Corner Slab" pitchFamily="2" charset="0"/>
              </a:rPr>
              <a:t>Quelques</a:t>
            </a:r>
            <a:r>
              <a:rPr lang="en-US" sz="2400" dirty="0" smtClean="0">
                <a:solidFill>
                  <a:schemeClr val="bg1"/>
                </a:solidFill>
                <a:latin typeface="Street Corner Slab" pitchFamily="2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Street Corner Slab" pitchFamily="2" charset="0"/>
              </a:rPr>
              <a:t>boites</a:t>
            </a:r>
            <a:r>
              <a:rPr lang="en-US" sz="2400" dirty="0" smtClean="0">
                <a:solidFill>
                  <a:schemeClr val="bg1"/>
                </a:solidFill>
                <a:latin typeface="Street Corner Slab" pitchFamily="2" charset="0"/>
              </a:rPr>
              <a:t> à </a:t>
            </a:r>
            <a:r>
              <a:rPr lang="en-US" sz="2400" dirty="0" err="1" smtClean="0">
                <a:solidFill>
                  <a:schemeClr val="bg1"/>
                </a:solidFill>
                <a:latin typeface="Street Corner Slab" pitchFamily="2" charset="0"/>
              </a:rPr>
              <a:t>outils</a:t>
            </a:r>
            <a:r>
              <a:rPr lang="en-US" sz="2400" dirty="0" smtClean="0">
                <a:solidFill>
                  <a:schemeClr val="bg1"/>
                </a:solidFill>
                <a:latin typeface="Street Corner Slab" pitchFamily="2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Street Corner Slab" pitchFamily="2" charset="0"/>
              </a:rPr>
              <a:t>graphiques</a:t>
            </a:r>
            <a:endParaRPr lang="en-US" sz="2400" dirty="0">
              <a:solidFill>
                <a:schemeClr val="bg1"/>
              </a:solidFill>
              <a:latin typeface="Street Corner Slab" pitchFamily="2" charset="0"/>
            </a:endParaRPr>
          </a:p>
        </p:txBody>
      </p:sp>
      <p:graphicFrame>
        <p:nvGraphicFramePr>
          <p:cNvPr id="2" name="Espace réservé du contenu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0458080"/>
              </p:ext>
            </p:extLst>
          </p:nvPr>
        </p:nvGraphicFramePr>
        <p:xfrm>
          <a:off x="384175" y="1730375"/>
          <a:ext cx="8229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521"/>
                <a:gridCol w="1512168"/>
                <a:gridCol w="1872208"/>
                <a:gridCol w="3393703"/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Toolkit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Nom Python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Plate-formes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Licence 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QT</a:t>
                      </a:r>
                      <a:endParaRPr lang="fr-FR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PyQt</a:t>
                      </a:r>
                      <a:endParaRPr lang="fr-FR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Toutes (installée)</a:t>
                      </a:r>
                      <a:endParaRPr lang="fr-FR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LGPL(QT4)+GPL(PyQt4)/</a:t>
                      </a:r>
                      <a:r>
                        <a:rPr lang="fr-FR" dirty="0" err="1" smtClean="0"/>
                        <a:t>cciale</a:t>
                      </a:r>
                      <a:endParaRPr lang="fr-FR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QT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PySide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Toutes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LGPL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wxWidgets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wxPython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smtClean="0"/>
                        <a:t>Toutes (installée)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smtClean="0"/>
                        <a:t>LGPL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Tcl</a:t>
                      </a:r>
                      <a:r>
                        <a:rPr lang="fr-FR" dirty="0" smtClean="0"/>
                        <a:t>/</a:t>
                      </a:r>
                      <a:r>
                        <a:rPr lang="fr-FR" dirty="0" err="1" smtClean="0"/>
                        <a:t>Tk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Tkinter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smtClean="0"/>
                        <a:t>Toutes (installée)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Licence</a:t>
                      </a:r>
                      <a:r>
                        <a:rPr lang="fr-FR" baseline="0" dirty="0" smtClean="0"/>
                        <a:t> Python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Gtk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pyGtk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Toutes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LGPL</a:t>
                      </a:r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Espace réservé du contenu 8"/>
          <p:cNvSpPr>
            <a:spLocks noGrp="1"/>
          </p:cNvSpPr>
          <p:nvPr>
            <p:ph sz="quarter" idx="13"/>
          </p:nvPr>
        </p:nvSpPr>
        <p:spPr>
          <a:xfrm>
            <a:off x="467544" y="23664"/>
            <a:ext cx="8208963" cy="576064"/>
          </a:xfrm>
        </p:spPr>
        <p:txBody>
          <a:bodyPr/>
          <a:lstStyle/>
          <a:p>
            <a:r>
              <a:rPr lang="fr-FR" dirty="0" smtClean="0"/>
              <a:t>Création d’IHM</a:t>
            </a:r>
            <a:endParaRPr lang="fr-FR" dirty="0"/>
          </a:p>
        </p:txBody>
      </p:sp>
      <p:sp>
        <p:nvSpPr>
          <p:cNvPr id="7" name="Titre 3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48072"/>
          </a:xfrm>
        </p:spPr>
        <p:txBody>
          <a:bodyPr/>
          <a:lstStyle/>
          <a:p>
            <a:r>
              <a:rPr lang="fr-FR" dirty="0"/>
              <a:t>Composants graphiques de </a:t>
            </a:r>
            <a:r>
              <a:rPr lang="fr-FR" dirty="0" smtClean="0"/>
              <a:t>base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1745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5" descr="BottomLine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0384"/>
            <a:ext cx="9144000" cy="669726"/>
          </a:xfrm>
          <a:prstGeom prst="rect">
            <a:avLst/>
          </a:prstGeom>
        </p:spPr>
      </p:pic>
      <p:pic>
        <p:nvPicPr>
          <p:cNvPr id="34" name="Picture 16" descr="BottomLineD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40736"/>
            <a:ext cx="9144000" cy="44648"/>
          </a:xfrm>
          <a:prstGeom prst="rect">
            <a:avLst/>
          </a:prstGeom>
        </p:spPr>
      </p:pic>
      <p:pic>
        <p:nvPicPr>
          <p:cNvPr id="35" name="Picture 14" descr="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95" y="6317332"/>
            <a:ext cx="377791" cy="387005"/>
          </a:xfrm>
          <a:prstGeom prst="rect">
            <a:avLst/>
          </a:prstGeom>
        </p:spPr>
      </p:pic>
      <p:sp>
        <p:nvSpPr>
          <p:cNvPr id="36" name="TextBox 4"/>
          <p:cNvSpPr txBox="1"/>
          <p:nvPr/>
        </p:nvSpPr>
        <p:spPr>
          <a:xfrm>
            <a:off x="785786" y="6242442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37" name="TextBox 5"/>
          <p:cNvSpPr txBox="1"/>
          <p:nvPr/>
        </p:nvSpPr>
        <p:spPr>
          <a:xfrm>
            <a:off x="785786" y="6363293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785786" y="6542453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39" name="TextBox 9"/>
          <p:cNvSpPr txBox="1"/>
          <p:nvPr/>
        </p:nvSpPr>
        <p:spPr>
          <a:xfrm>
            <a:off x="2694634" y="6242442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40" name="TextBox 10"/>
          <p:cNvSpPr txBox="1"/>
          <p:nvPr/>
        </p:nvSpPr>
        <p:spPr>
          <a:xfrm>
            <a:off x="2694634" y="6363293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41" name="TextBox 11"/>
          <p:cNvSpPr txBox="1"/>
          <p:nvPr/>
        </p:nvSpPr>
        <p:spPr>
          <a:xfrm>
            <a:off x="7447108" y="6242442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42" name="TextBox 12"/>
          <p:cNvSpPr txBox="1"/>
          <p:nvPr/>
        </p:nvSpPr>
        <p:spPr>
          <a:xfrm>
            <a:off x="8781044" y="6392361"/>
            <a:ext cx="399468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7</a:t>
            </a:r>
            <a:endParaRPr lang="en-US" sz="1200" b="1" dirty="0">
              <a:latin typeface="TypoSlabserif-Light" pitchFamily="2" charset="0"/>
            </a:endParaRPr>
          </a:p>
        </p:txBody>
      </p:sp>
      <p:pic>
        <p:nvPicPr>
          <p:cNvPr id="43" name="Picture 18" descr="PrevArrow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200" y="6447512"/>
            <a:ext cx="213333" cy="213333"/>
          </a:xfrm>
          <a:prstGeom prst="rect">
            <a:avLst/>
          </a:prstGeom>
        </p:spPr>
      </p:pic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Création d’interface graphique (IHM)</a:t>
            </a:r>
          </a:p>
          <a:p>
            <a:pPr marL="914400" lvl="1" indent="-514350"/>
            <a:r>
              <a:rPr lang="fr-FR" dirty="0"/>
              <a:t>Généralités</a:t>
            </a:r>
          </a:p>
          <a:p>
            <a:pPr marL="914400" lvl="1" indent="-514350"/>
            <a:r>
              <a:rPr lang="fr-FR" dirty="0"/>
              <a:t>Composants graphiques de base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Présentation de QT</a:t>
            </a:r>
          </a:p>
          <a:p>
            <a:pPr lvl="1"/>
            <a:r>
              <a:rPr lang="fr-FR" dirty="0" smtClean="0"/>
              <a:t>Introduction</a:t>
            </a:r>
          </a:p>
          <a:p>
            <a:pPr lvl="1"/>
            <a:r>
              <a:rPr lang="fr-FR" dirty="0" smtClean="0"/>
              <a:t>Les principaux modules</a:t>
            </a:r>
          </a:p>
          <a:p>
            <a:pPr lvl="1"/>
            <a:r>
              <a:rPr lang="fr-FR" dirty="0" smtClean="0"/>
              <a:t>Documentation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modules de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widgets</a:t>
            </a:r>
          </a:p>
          <a:p>
            <a:pPr marL="857250" lvl="1" indent="-457200"/>
            <a:r>
              <a:rPr lang="fr-FR" dirty="0" smtClean="0"/>
              <a:t>Définition de classe graphique</a:t>
            </a:r>
          </a:p>
          <a:p>
            <a:pPr marL="857250" lvl="1" indent="-457200"/>
            <a:r>
              <a:rPr lang="fr-FR" dirty="0" smtClean="0"/>
              <a:t>Les fenêtres </a:t>
            </a:r>
          </a:p>
          <a:p>
            <a:pPr marL="857250" lvl="1" indent="-457200"/>
            <a:r>
              <a:rPr lang="fr-FR" dirty="0" smtClean="0"/>
              <a:t>Signaux et slots en Python</a:t>
            </a:r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4412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Introduction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000" dirty="0" err="1" smtClean="0"/>
              <a:t>Qt</a:t>
            </a:r>
            <a:r>
              <a:rPr lang="fr-FR" sz="2000" dirty="0" smtClean="0"/>
              <a:t> est une bibliothèque C++ pour le développement d’application indépendantes des plateformes</a:t>
            </a:r>
          </a:p>
          <a:p>
            <a:r>
              <a:rPr lang="fr-FR" sz="2000" dirty="0" err="1"/>
              <a:t>Qt</a:t>
            </a:r>
            <a:r>
              <a:rPr lang="fr-FR" sz="2000" dirty="0"/>
              <a:t> permet la portabilité des applications qui n'utilisent que ses composants par simple recompilation du code source</a:t>
            </a:r>
            <a:r>
              <a:rPr lang="fr-FR" sz="2000" dirty="0" smtClean="0"/>
              <a:t>.</a:t>
            </a:r>
          </a:p>
          <a:p>
            <a:r>
              <a:rPr lang="fr-FR" sz="2000" dirty="0" err="1"/>
              <a:t>Qt</a:t>
            </a:r>
            <a:r>
              <a:rPr lang="fr-FR" sz="2000" dirty="0"/>
              <a:t> offre des composants d'interface graphique (widgets), d'accès aux données, de connexions réseaux, de gestion des fils d'exécution, d'analyse XML, </a:t>
            </a:r>
            <a:r>
              <a:rPr lang="fr-FR" sz="2000" dirty="0" err="1"/>
              <a:t>etc</a:t>
            </a:r>
            <a:endParaRPr lang="fr-FR" sz="2000" dirty="0" smtClean="0"/>
          </a:p>
          <a:p>
            <a:r>
              <a:rPr lang="fr-FR" sz="2000" dirty="0" err="1" smtClean="0"/>
              <a:t>Qt</a:t>
            </a:r>
            <a:r>
              <a:rPr lang="fr-FR" sz="2000" dirty="0" smtClean="0"/>
              <a:t> </a:t>
            </a:r>
            <a:r>
              <a:rPr lang="fr-FR" sz="2000" dirty="0"/>
              <a:t>supporte des bindings avec plus d'une dizaine de langages autres que le C++, comme Java, Python, Ruby, Ada, C#, Pascal, Perl, Common Lisp, etc.</a:t>
            </a:r>
            <a:endParaRPr lang="fr-FR" sz="2000" dirty="0" smtClean="0"/>
          </a:p>
          <a:p>
            <a:r>
              <a:rPr lang="fr-FR" sz="2000" dirty="0" smtClean="0"/>
              <a:t>QT est disponible en licence commerciale ou libre</a:t>
            </a:r>
            <a:endParaRPr lang="fr-FR" sz="2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Espace réservé du contenu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Présentation de QT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282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principaux modules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2000" i="1" dirty="0" err="1">
                <a:solidFill>
                  <a:srgbClr val="FFFF00"/>
                </a:solidFill>
              </a:rPr>
              <a:t>QtCore</a:t>
            </a:r>
            <a:r>
              <a:rPr lang="fr-FR" sz="2000" dirty="0"/>
              <a:t> : pour les fonctionnalités non graphiques utilisées par les autres modules </a:t>
            </a:r>
            <a:r>
              <a:rPr lang="fr-FR" sz="2000" dirty="0" smtClean="0"/>
              <a:t>: mécanisme de support pour les signaux et les slots, …</a:t>
            </a:r>
            <a:endParaRPr lang="fr-FR" sz="2000" dirty="0"/>
          </a:p>
          <a:p>
            <a:r>
              <a:rPr lang="fr-FR" sz="2000" i="1" dirty="0" err="1">
                <a:solidFill>
                  <a:srgbClr val="FFFF00"/>
                </a:solidFill>
              </a:rPr>
              <a:t>QtGui</a:t>
            </a:r>
            <a:r>
              <a:rPr lang="fr-FR" sz="2000" dirty="0"/>
              <a:t> : pour les composants </a:t>
            </a:r>
            <a:r>
              <a:rPr lang="fr-FR" sz="2000" dirty="0" smtClean="0"/>
              <a:t>graphiques 2D, image, </a:t>
            </a:r>
            <a:r>
              <a:rPr lang="fr-FR" sz="2000" dirty="0" err="1" smtClean="0"/>
              <a:t>text</a:t>
            </a:r>
            <a:r>
              <a:rPr lang="fr-FR" sz="2000" dirty="0" smtClean="0"/>
              <a:t>, et fonts</a:t>
            </a:r>
            <a:r>
              <a:rPr lang="fr-FR" sz="2000" dirty="0"/>
              <a:t> </a:t>
            </a:r>
            <a:r>
              <a:rPr lang="fr-FR" sz="2000" dirty="0" smtClean="0"/>
              <a:t>;</a:t>
            </a:r>
          </a:p>
          <a:p>
            <a:r>
              <a:rPr lang="fr-FR" sz="2000" i="1" dirty="0" err="1">
                <a:solidFill>
                  <a:srgbClr val="FFFF00"/>
                </a:solidFill>
              </a:rPr>
              <a:t>QtWidgets</a:t>
            </a:r>
            <a:r>
              <a:rPr lang="fr-FR" sz="2000" dirty="0"/>
              <a:t> : contient des classes qui fournissent </a:t>
            </a:r>
            <a:r>
              <a:rPr lang="fr-FR" sz="2000" dirty="0" smtClean="0"/>
              <a:t> l’ensemble de composants graphiques dans l’IHM</a:t>
            </a:r>
            <a:endParaRPr lang="fr-FR" sz="2000" dirty="0"/>
          </a:p>
          <a:p>
            <a:r>
              <a:rPr lang="fr-FR" sz="2000" i="1" dirty="0" err="1">
                <a:solidFill>
                  <a:srgbClr val="FFFF00"/>
                </a:solidFill>
              </a:rPr>
              <a:t>QtNetwork</a:t>
            </a:r>
            <a:r>
              <a:rPr lang="fr-FR" sz="2000" dirty="0"/>
              <a:t> : pour la programmation réseau ;</a:t>
            </a:r>
          </a:p>
          <a:p>
            <a:r>
              <a:rPr lang="fr-FR" sz="2000" i="1" dirty="0" err="1">
                <a:solidFill>
                  <a:srgbClr val="FFFF00"/>
                </a:solidFill>
              </a:rPr>
              <a:t>QtOpenGL</a:t>
            </a:r>
            <a:r>
              <a:rPr lang="fr-FR" sz="2000" dirty="0"/>
              <a:t> : </a:t>
            </a:r>
            <a:r>
              <a:rPr lang="fr-FR" sz="2000" dirty="0" smtClean="0"/>
              <a:t>3D basée sur </a:t>
            </a:r>
            <a:r>
              <a:rPr lang="fr-FR" sz="2000" dirty="0" smtClean="0">
                <a:solidFill>
                  <a:srgbClr val="99FF33"/>
                </a:solidFill>
                <a:hlinkClick r:id="rId2" tooltip="OpenGL"/>
              </a:rPr>
              <a:t>OpenGL</a:t>
            </a:r>
            <a:r>
              <a:rPr lang="fr-FR" sz="2000" dirty="0"/>
              <a:t> ;</a:t>
            </a:r>
          </a:p>
          <a:p>
            <a:r>
              <a:rPr lang="fr-FR" sz="2000" i="1" dirty="0" err="1">
                <a:solidFill>
                  <a:srgbClr val="FFFF00"/>
                </a:solidFill>
              </a:rPr>
              <a:t>QtSql</a:t>
            </a:r>
            <a:r>
              <a:rPr lang="fr-FR" sz="2000" dirty="0"/>
              <a:t> : pour l'utilisation de </a:t>
            </a:r>
            <a:r>
              <a:rPr lang="fr-FR" sz="2000" dirty="0">
                <a:hlinkClick r:id="rId3" tooltip="Base de données"/>
              </a:rPr>
              <a:t>base de données</a:t>
            </a:r>
            <a:r>
              <a:rPr lang="fr-FR" sz="2000" dirty="0"/>
              <a:t> </a:t>
            </a:r>
            <a:r>
              <a:rPr lang="fr-FR" sz="2000" dirty="0">
                <a:hlinkClick r:id="rId4" tooltip="Structured Query Language"/>
              </a:rPr>
              <a:t>SQL</a:t>
            </a:r>
            <a:r>
              <a:rPr lang="fr-FR" sz="2000" dirty="0"/>
              <a:t> ;</a:t>
            </a:r>
          </a:p>
          <a:p>
            <a:r>
              <a:rPr lang="fr-FR" sz="2000" i="1" dirty="0" err="1">
                <a:solidFill>
                  <a:srgbClr val="FFFF00"/>
                </a:solidFill>
              </a:rPr>
              <a:t>QtXml</a:t>
            </a:r>
            <a:r>
              <a:rPr lang="fr-FR" sz="2000" dirty="0"/>
              <a:t> : pour la manipulation et la génération de fichiers </a:t>
            </a:r>
            <a:r>
              <a:rPr lang="fr-FR" sz="2000" dirty="0">
                <a:hlinkClick r:id="rId5" tooltip="Extensible Markup Language"/>
              </a:rPr>
              <a:t>XML</a:t>
            </a:r>
            <a:r>
              <a:rPr lang="fr-FR" sz="2000" dirty="0"/>
              <a:t> ;</a:t>
            </a:r>
          </a:p>
          <a:p>
            <a:r>
              <a:rPr lang="fr-FR" sz="2000" i="1" dirty="0" err="1">
                <a:solidFill>
                  <a:srgbClr val="FFFF00"/>
                </a:solidFill>
              </a:rPr>
              <a:t>QtDesigner</a:t>
            </a:r>
            <a:r>
              <a:rPr lang="fr-FR" sz="2000" dirty="0"/>
              <a:t> : pour étendre les fonctionnalités de </a:t>
            </a:r>
            <a:r>
              <a:rPr lang="fr-FR" sz="2000" dirty="0" err="1"/>
              <a:t>Qt</a:t>
            </a:r>
            <a:r>
              <a:rPr lang="fr-FR" sz="2000" dirty="0"/>
              <a:t> Designer, l'assistant de création d'interfaces graphiques ;</a:t>
            </a:r>
          </a:p>
          <a:p>
            <a:r>
              <a:rPr lang="fr-FR" sz="2000" i="1" dirty="0" err="1">
                <a:solidFill>
                  <a:srgbClr val="FFFF00"/>
                </a:solidFill>
              </a:rPr>
              <a:t>QtAssistant</a:t>
            </a:r>
            <a:r>
              <a:rPr lang="fr-FR" sz="2000" dirty="0"/>
              <a:t> : pour l'utilisation de l'aide de </a:t>
            </a:r>
            <a:r>
              <a:rPr lang="fr-FR" sz="2000" dirty="0" err="1"/>
              <a:t>Qt</a:t>
            </a:r>
            <a:r>
              <a:rPr lang="fr-FR" sz="2000" dirty="0"/>
              <a:t> </a:t>
            </a:r>
            <a:r>
              <a:rPr lang="fr-FR" sz="2000" dirty="0" smtClean="0"/>
              <a:t>;</a:t>
            </a:r>
            <a:endParaRPr lang="fr-FR" sz="2000" dirty="0"/>
          </a:p>
          <a:p>
            <a:r>
              <a:rPr lang="fr-FR" sz="2000" dirty="0" err="1" smtClean="0">
                <a:solidFill>
                  <a:srgbClr val="FFFF00"/>
                </a:solidFill>
              </a:rPr>
              <a:t>QtWebKit</a:t>
            </a:r>
            <a:r>
              <a:rPr lang="fr-FR" sz="2000" dirty="0" smtClean="0">
                <a:solidFill>
                  <a:srgbClr val="FFFF00"/>
                </a:solidFill>
              </a:rPr>
              <a:t> </a:t>
            </a:r>
            <a:r>
              <a:rPr lang="fr-FR" sz="2000" dirty="0" smtClean="0"/>
              <a:t>: widget navigateur web (</a:t>
            </a:r>
            <a:r>
              <a:rPr lang="fr-FR" sz="2000" dirty="0" err="1" smtClean="0"/>
              <a:t>webkit</a:t>
            </a:r>
            <a:r>
              <a:rPr lang="fr-FR" sz="2000" dirty="0" smtClean="0"/>
              <a:t>);</a:t>
            </a:r>
          </a:p>
          <a:p>
            <a:r>
              <a:rPr lang="fr-FR" sz="2000" dirty="0" err="1" smtClean="0">
                <a:solidFill>
                  <a:srgbClr val="FFFF00"/>
                </a:solidFill>
              </a:rPr>
              <a:t>QtTest</a:t>
            </a:r>
            <a:r>
              <a:rPr lang="fr-FR" sz="2000" dirty="0" smtClean="0">
                <a:solidFill>
                  <a:srgbClr val="FFFF00"/>
                </a:solidFill>
              </a:rPr>
              <a:t> </a:t>
            </a:r>
            <a:r>
              <a:rPr lang="fr-FR" sz="2000" dirty="0" smtClean="0"/>
              <a:t>: tests unitaires</a:t>
            </a:r>
          </a:p>
          <a:p>
            <a:endParaRPr lang="fr-FR" sz="2000" dirty="0"/>
          </a:p>
          <a:p>
            <a:pPr marL="0" indent="0">
              <a:buNone/>
            </a:pPr>
            <a:r>
              <a:rPr lang="fr-FR" sz="2000" dirty="0" smtClean="0"/>
              <a:t>Consulter </a:t>
            </a:r>
            <a:r>
              <a:rPr lang="fr-FR" sz="2000" dirty="0" smtClean="0">
                <a:solidFill>
                  <a:srgbClr val="99FF33"/>
                </a:solidFill>
              </a:rPr>
              <a:t>https</a:t>
            </a:r>
            <a:r>
              <a:rPr lang="fr-FR" sz="2000" dirty="0">
                <a:solidFill>
                  <a:srgbClr val="99FF33"/>
                </a:solidFill>
              </a:rPr>
              <a:t>://fr.wikipedia.org/wiki/Qt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Espace réservé du contenu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Présentation de QT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710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La documentation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000" dirty="0" smtClean="0"/>
              <a:t>La documentation est accessible </a:t>
            </a:r>
          </a:p>
          <a:p>
            <a:pPr marL="457200" lvl="1" indent="0">
              <a:buNone/>
            </a:pPr>
            <a:r>
              <a:rPr lang="fr-FR" sz="1600" b="1" i="1" dirty="0" smtClean="0"/>
              <a:t>Enligne : </a:t>
            </a:r>
            <a:r>
              <a:rPr lang="fr-FR" sz="1600" b="1" i="1" dirty="0" smtClean="0">
                <a:hlinkClick r:id="rId2"/>
              </a:rPr>
              <a:t>http://doc</a:t>
            </a:r>
            <a:r>
              <a:rPr lang="fr-FR" sz="1600" i="1" dirty="0" smtClean="0">
                <a:hlinkClick r:id="rId2"/>
              </a:rPr>
              <a:t>.</a:t>
            </a:r>
            <a:r>
              <a:rPr lang="fr-FR" sz="1600" b="1" i="1" dirty="0" smtClean="0">
                <a:hlinkClick r:id="rId2"/>
              </a:rPr>
              <a:t>qt</a:t>
            </a:r>
            <a:r>
              <a:rPr lang="fr-FR" sz="1600" i="1" dirty="0" smtClean="0">
                <a:hlinkClick r:id="rId2"/>
              </a:rPr>
              <a:t>.io/qt-4.8/</a:t>
            </a:r>
            <a:endParaRPr lang="fr-FR" sz="1600" i="1" dirty="0" smtClean="0"/>
          </a:p>
          <a:p>
            <a:pPr lvl="1"/>
            <a:r>
              <a:rPr lang="fr-FR" sz="1600" dirty="0" smtClean="0"/>
              <a:t>Documentation </a:t>
            </a:r>
            <a:r>
              <a:rPr lang="fr-FR" sz="1600" dirty="0"/>
              <a:t>de référence</a:t>
            </a:r>
            <a:r>
              <a:rPr lang="fr-FR" sz="1600" i="1" dirty="0">
                <a:solidFill>
                  <a:srgbClr val="92D050"/>
                </a:solidFill>
              </a:rPr>
              <a:t> </a:t>
            </a:r>
            <a:r>
              <a:rPr lang="fr-FR" sz="1600" i="1" dirty="0" smtClean="0">
                <a:solidFill>
                  <a:srgbClr val="92D050"/>
                </a:solidFill>
              </a:rPr>
              <a:t>: http</a:t>
            </a:r>
            <a:r>
              <a:rPr lang="fr-FR" sz="1600" i="1" dirty="0">
                <a:solidFill>
                  <a:srgbClr val="92D050"/>
                </a:solidFill>
              </a:rPr>
              <a:t>://doc.qt.io/qt-4.8/modules.html</a:t>
            </a:r>
          </a:p>
          <a:p>
            <a:pPr lvl="1"/>
            <a:r>
              <a:rPr lang="fr-FR" sz="1600" i="1" dirty="0" smtClean="0"/>
              <a:t>Via le navigateur  d’aide QT Assistant : la commande   </a:t>
            </a:r>
            <a:r>
              <a:rPr lang="fr-FR" sz="1600" i="1" dirty="0" smtClean="0">
                <a:solidFill>
                  <a:srgbClr val="92D050"/>
                </a:solidFill>
              </a:rPr>
              <a:t>&gt;&gt; </a:t>
            </a:r>
            <a:r>
              <a:rPr lang="fr-FR" sz="1600" i="1" dirty="0" err="1" smtClean="0">
                <a:solidFill>
                  <a:srgbClr val="92D050"/>
                </a:solidFill>
              </a:rPr>
              <a:t>assisstant</a:t>
            </a:r>
            <a:r>
              <a:rPr lang="fr-FR" sz="1600" i="1" dirty="0" smtClean="0">
                <a:solidFill>
                  <a:srgbClr val="92D050"/>
                </a:solidFill>
              </a:rPr>
              <a:t> </a:t>
            </a:r>
          </a:p>
          <a:p>
            <a:pPr lvl="1"/>
            <a:r>
              <a:rPr lang="fr-FR" sz="1600" dirty="0"/>
              <a:t>Documentation de la liste des classes  : </a:t>
            </a:r>
            <a:r>
              <a:rPr lang="fr-FR" sz="1600" i="1" dirty="0">
                <a:solidFill>
                  <a:srgbClr val="92D050"/>
                </a:solidFill>
              </a:rPr>
              <a:t>http://pyqt.sourceforge.net/Docs/PyQt4/classes.html</a:t>
            </a:r>
            <a:endParaRPr lang="fr-FR" sz="1600" i="1" dirty="0" smtClean="0">
              <a:solidFill>
                <a:srgbClr val="92D050"/>
              </a:solidFill>
            </a:endParaRPr>
          </a:p>
          <a:p>
            <a:pPr marL="457200" lvl="1" indent="0">
              <a:buNone/>
            </a:pPr>
            <a:endParaRPr lang="fr-FR" sz="1600" i="1" dirty="0">
              <a:solidFill>
                <a:srgbClr val="92D050"/>
              </a:solidFill>
            </a:endParaRPr>
          </a:p>
          <a:p>
            <a:pPr marL="457200" lvl="1" indent="0">
              <a:buNone/>
            </a:pPr>
            <a:r>
              <a:rPr lang="fr-FR" sz="2000" dirty="0"/>
              <a:t>Codes sources des exemples de démos </a:t>
            </a:r>
            <a:endParaRPr lang="fr-FR" sz="2000" dirty="0" smtClean="0"/>
          </a:p>
          <a:p>
            <a:pPr lvl="1"/>
            <a:r>
              <a:rPr lang="fr-FR" sz="2000" dirty="0" smtClean="0"/>
              <a:t>Des centaines d’exemples et leurs codes sont accessibles et fournis</a:t>
            </a:r>
          </a:p>
          <a:p>
            <a:pPr lvl="1"/>
            <a:r>
              <a:rPr lang="fr-FR" sz="1600" i="1" dirty="0">
                <a:solidFill>
                  <a:srgbClr val="92D050"/>
                </a:solidFill>
              </a:rPr>
              <a:t>     &gt;&gt; QT </a:t>
            </a:r>
            <a:r>
              <a:rPr lang="fr-FR" sz="1600" i="1" dirty="0" err="1" smtClean="0">
                <a:solidFill>
                  <a:srgbClr val="92D050"/>
                </a:solidFill>
              </a:rPr>
              <a:t>demos</a:t>
            </a:r>
            <a:endParaRPr lang="fr-FR" sz="1600" i="1" dirty="0" smtClean="0">
              <a:solidFill>
                <a:srgbClr val="92D050"/>
              </a:solidFill>
            </a:endParaRPr>
          </a:p>
          <a:p>
            <a:pPr marL="457200" lvl="1" indent="0">
              <a:buNone/>
            </a:pPr>
            <a:endParaRPr lang="fr-FR" sz="1600" i="1" dirty="0">
              <a:solidFill>
                <a:srgbClr val="92D05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Espace réservé du contenu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Présentation de QT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7015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5" descr="BottomLine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0384"/>
            <a:ext cx="9144000" cy="669726"/>
          </a:xfrm>
          <a:prstGeom prst="rect">
            <a:avLst/>
          </a:prstGeom>
        </p:spPr>
      </p:pic>
      <p:pic>
        <p:nvPicPr>
          <p:cNvPr id="34" name="Picture 16" descr="BottomLineD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40736"/>
            <a:ext cx="9144000" cy="44648"/>
          </a:xfrm>
          <a:prstGeom prst="rect">
            <a:avLst/>
          </a:prstGeom>
        </p:spPr>
      </p:pic>
      <p:pic>
        <p:nvPicPr>
          <p:cNvPr id="35" name="Picture 14" descr="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95" y="6317332"/>
            <a:ext cx="377791" cy="387005"/>
          </a:xfrm>
          <a:prstGeom prst="rect">
            <a:avLst/>
          </a:prstGeom>
        </p:spPr>
      </p:pic>
      <p:sp>
        <p:nvSpPr>
          <p:cNvPr id="36" name="TextBox 4"/>
          <p:cNvSpPr txBox="1"/>
          <p:nvPr/>
        </p:nvSpPr>
        <p:spPr>
          <a:xfrm>
            <a:off x="785786" y="6242442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37" name="TextBox 5"/>
          <p:cNvSpPr txBox="1"/>
          <p:nvPr/>
        </p:nvSpPr>
        <p:spPr>
          <a:xfrm>
            <a:off x="785786" y="6363293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785786" y="6542453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39" name="TextBox 9"/>
          <p:cNvSpPr txBox="1"/>
          <p:nvPr/>
        </p:nvSpPr>
        <p:spPr>
          <a:xfrm>
            <a:off x="2694634" y="6242442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40" name="TextBox 10"/>
          <p:cNvSpPr txBox="1"/>
          <p:nvPr/>
        </p:nvSpPr>
        <p:spPr>
          <a:xfrm>
            <a:off x="2694634" y="6363293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41" name="TextBox 11"/>
          <p:cNvSpPr txBox="1"/>
          <p:nvPr/>
        </p:nvSpPr>
        <p:spPr>
          <a:xfrm>
            <a:off x="7447108" y="6242442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42" name="TextBox 12"/>
          <p:cNvSpPr txBox="1"/>
          <p:nvPr/>
        </p:nvSpPr>
        <p:spPr>
          <a:xfrm>
            <a:off x="8781044" y="6392361"/>
            <a:ext cx="399468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7</a:t>
            </a:r>
            <a:endParaRPr lang="en-US" sz="1200" b="1" dirty="0">
              <a:latin typeface="TypoSlabserif-Light" pitchFamily="2" charset="0"/>
            </a:endParaRPr>
          </a:p>
        </p:txBody>
      </p:sp>
      <p:pic>
        <p:nvPicPr>
          <p:cNvPr id="43" name="Picture 18" descr="PrevArrow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200" y="6447512"/>
            <a:ext cx="213333" cy="213333"/>
          </a:xfrm>
          <a:prstGeom prst="rect">
            <a:avLst/>
          </a:prstGeom>
        </p:spPr>
      </p:pic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Création d’interface graphique (IHM)</a:t>
            </a:r>
          </a:p>
          <a:p>
            <a:pPr marL="914400" lvl="1" indent="-514350"/>
            <a:r>
              <a:rPr lang="fr-FR" dirty="0"/>
              <a:t>Généralités</a:t>
            </a:r>
          </a:p>
          <a:p>
            <a:pPr marL="914400" lvl="1" indent="-514350"/>
            <a:r>
              <a:rPr lang="fr-FR" dirty="0"/>
              <a:t>Composants graphiques de base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Présentation de QT</a:t>
            </a:r>
          </a:p>
          <a:p>
            <a:pPr lvl="1"/>
            <a:r>
              <a:rPr lang="fr-FR" dirty="0" smtClean="0"/>
              <a:t>Introduction</a:t>
            </a:r>
          </a:p>
          <a:p>
            <a:pPr lvl="1"/>
            <a:r>
              <a:rPr lang="fr-FR" dirty="0" smtClean="0"/>
              <a:t>Les principaux modules</a:t>
            </a:r>
          </a:p>
          <a:p>
            <a:pPr lvl="1"/>
            <a:r>
              <a:rPr lang="fr-FR" dirty="0" smtClean="0"/>
              <a:t>Documentation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modules de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widgets</a:t>
            </a:r>
          </a:p>
          <a:p>
            <a:pPr marL="857250" lvl="1" indent="-457200"/>
            <a:r>
              <a:rPr lang="fr-FR" dirty="0" smtClean="0"/>
              <a:t>Définition de classe graphique</a:t>
            </a:r>
          </a:p>
          <a:p>
            <a:pPr marL="857250" lvl="1" indent="-457200"/>
            <a:r>
              <a:rPr lang="fr-FR" dirty="0" smtClean="0"/>
              <a:t>Les fenêtres </a:t>
            </a:r>
          </a:p>
          <a:p>
            <a:pPr marL="857250" lvl="1" indent="-457200"/>
            <a:r>
              <a:rPr lang="fr-FR" dirty="0" smtClean="0"/>
              <a:t>Signaux et slots en Python</a:t>
            </a:r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329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Modules de PyQt5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2000" i="1" dirty="0" err="1" smtClean="0">
                <a:solidFill>
                  <a:srgbClr val="FFFF00"/>
                </a:solidFill>
              </a:rPr>
              <a:t>QtCore</a:t>
            </a:r>
            <a:r>
              <a:rPr lang="fr-FR" sz="2000" dirty="0"/>
              <a:t> : pour les fonctionnalités non graphiques utilisées par les autres modules : mécanisme de support pour les </a:t>
            </a:r>
            <a:r>
              <a:rPr lang="fr-FR" sz="2000" dirty="0">
                <a:solidFill>
                  <a:srgbClr val="FFFF00"/>
                </a:solidFill>
              </a:rPr>
              <a:t>signaux et les slots</a:t>
            </a:r>
            <a:r>
              <a:rPr lang="fr-FR" sz="2000" dirty="0"/>
              <a:t>, </a:t>
            </a:r>
            <a:r>
              <a:rPr lang="fr-FR" sz="2000" dirty="0" smtClean="0"/>
              <a:t>…</a:t>
            </a:r>
          </a:p>
          <a:p>
            <a:r>
              <a:rPr lang="fr-FR" sz="2000" i="1" dirty="0" err="1">
                <a:solidFill>
                  <a:srgbClr val="FFFF00"/>
                </a:solidFill>
              </a:rPr>
              <a:t>QtWidgets</a:t>
            </a:r>
            <a:r>
              <a:rPr lang="fr-FR" sz="2000" dirty="0"/>
              <a:t> : contient des classes </a:t>
            </a:r>
            <a:r>
              <a:rPr lang="fr-FR" sz="2000" dirty="0" smtClean="0"/>
              <a:t>(composants) graphiques : </a:t>
            </a:r>
            <a:r>
              <a:rPr lang="fr-FR" sz="2000" dirty="0" err="1" smtClean="0"/>
              <a:t>QMainWindow</a:t>
            </a:r>
            <a:r>
              <a:rPr lang="fr-FR" sz="2000" dirty="0" smtClean="0"/>
              <a:t>, </a:t>
            </a:r>
            <a:r>
              <a:rPr lang="fr-FR" sz="2000" dirty="0" err="1" smtClean="0"/>
              <a:t>QApplication</a:t>
            </a:r>
            <a:r>
              <a:rPr lang="fr-FR" sz="2000" dirty="0" smtClean="0"/>
              <a:t>, </a:t>
            </a:r>
            <a:r>
              <a:rPr lang="fr-FR" sz="2000" dirty="0" err="1" smtClean="0"/>
              <a:t>QWidget</a:t>
            </a:r>
            <a:r>
              <a:rPr lang="fr-FR" sz="2000" dirty="0" smtClean="0"/>
              <a:t>, </a:t>
            </a:r>
            <a:r>
              <a:rPr lang="fr-FR" sz="2000" dirty="0" err="1" smtClean="0"/>
              <a:t>QPushButton</a:t>
            </a:r>
            <a:endParaRPr lang="fr-FR" sz="2000" dirty="0"/>
          </a:p>
          <a:p>
            <a:r>
              <a:rPr lang="fr-FR" sz="2000" i="1" dirty="0" err="1" smtClean="0">
                <a:solidFill>
                  <a:srgbClr val="FFFF00"/>
                </a:solidFill>
              </a:rPr>
              <a:t>QtGui</a:t>
            </a:r>
            <a:r>
              <a:rPr lang="fr-FR" sz="2000" dirty="0"/>
              <a:t> : pour les composants graphiques ;</a:t>
            </a:r>
          </a:p>
          <a:p>
            <a:r>
              <a:rPr lang="fr-FR" sz="2000" i="1" dirty="0" err="1" smtClean="0"/>
              <a:t>QtNetwork</a:t>
            </a:r>
            <a:r>
              <a:rPr lang="fr-FR" sz="2000" dirty="0"/>
              <a:t> </a:t>
            </a:r>
            <a:r>
              <a:rPr lang="fr-FR" sz="2000" dirty="0" smtClean="0"/>
              <a:t>, </a:t>
            </a:r>
            <a:r>
              <a:rPr lang="fr-FR" sz="2000" dirty="0" err="1" smtClean="0"/>
              <a:t>Qtbluetooth</a:t>
            </a:r>
            <a:endParaRPr lang="fr-FR" sz="2000" dirty="0" smtClean="0"/>
          </a:p>
          <a:p>
            <a:r>
              <a:rPr lang="fr-FR" sz="2000" i="1" dirty="0" err="1" smtClean="0"/>
              <a:t>QtOpenGL</a:t>
            </a:r>
            <a:r>
              <a:rPr lang="fr-FR" sz="2000" dirty="0"/>
              <a:t> </a:t>
            </a:r>
            <a:endParaRPr lang="fr-FR" sz="2000" dirty="0" smtClean="0"/>
          </a:p>
          <a:p>
            <a:r>
              <a:rPr lang="fr-FR" sz="2000" i="1" dirty="0" err="1" smtClean="0"/>
              <a:t>QtSql</a:t>
            </a:r>
            <a:r>
              <a:rPr lang="fr-FR" sz="2000" dirty="0"/>
              <a:t> </a:t>
            </a:r>
          </a:p>
          <a:p>
            <a:r>
              <a:rPr lang="fr-FR" sz="2000" i="1" dirty="0" err="1" smtClean="0"/>
              <a:t>QtXml</a:t>
            </a:r>
            <a:r>
              <a:rPr lang="fr-FR" sz="2000" dirty="0"/>
              <a:t> </a:t>
            </a:r>
            <a:r>
              <a:rPr lang="fr-FR" sz="2000" dirty="0" smtClean="0"/>
              <a:t>/</a:t>
            </a:r>
            <a:r>
              <a:rPr lang="fr-FR" sz="2000" dirty="0" err="1" smtClean="0"/>
              <a:t>QtXmlPatterns</a:t>
            </a:r>
            <a:endParaRPr lang="fr-FR" sz="2000" dirty="0"/>
          </a:p>
          <a:p>
            <a:r>
              <a:rPr lang="fr-FR" sz="2000" i="1" dirty="0" err="1" smtClean="0"/>
              <a:t>QtAssistant</a:t>
            </a:r>
            <a:r>
              <a:rPr lang="fr-FR" sz="2000" dirty="0"/>
              <a:t> </a:t>
            </a:r>
            <a:endParaRPr lang="fr-FR" sz="2000" dirty="0" smtClean="0"/>
          </a:p>
          <a:p>
            <a:r>
              <a:rPr lang="fr-FR" sz="2000" dirty="0" err="1" smtClean="0"/>
              <a:t>QtWebKit</a:t>
            </a:r>
            <a:r>
              <a:rPr lang="fr-FR" sz="2000" dirty="0" smtClean="0"/>
              <a:t> </a:t>
            </a:r>
          </a:p>
          <a:p>
            <a:r>
              <a:rPr lang="fr-FR" sz="2000" dirty="0" err="1" smtClean="0"/>
              <a:t>QtTest</a:t>
            </a:r>
            <a:endParaRPr lang="fr-FR" sz="2000" dirty="0" smtClean="0"/>
          </a:p>
          <a:p>
            <a:r>
              <a:rPr lang="fr-FR" sz="2000" dirty="0" smtClean="0"/>
              <a:t>…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592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520" y="3645024"/>
            <a:ext cx="3635896" cy="20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6856" y="260648"/>
            <a:ext cx="8229600" cy="648072"/>
          </a:xfrm>
        </p:spPr>
        <p:txBody>
          <a:bodyPr/>
          <a:lstStyle/>
          <a:p>
            <a:r>
              <a:rPr lang="fr-FR" dirty="0"/>
              <a:t>Module : </a:t>
            </a:r>
            <a:r>
              <a:rPr lang="fr-FR" dirty="0" err="1" smtClean="0"/>
              <a:t>QtWidgets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732240" y="6309320"/>
            <a:ext cx="2133600" cy="365125"/>
          </a:xfrm>
        </p:spPr>
        <p:txBody>
          <a:bodyPr/>
          <a:lstStyle/>
          <a:p>
            <a:fld id="{BECFFF0D-0199-40F6-98A2-0B4E765CD128}" type="slidenum">
              <a:rPr lang="en-US" sz="1100" smtClean="0"/>
              <a:pPr/>
              <a:t>16</a:t>
            </a:fld>
            <a:endParaRPr lang="en-US" sz="11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179512" y="980728"/>
            <a:ext cx="871296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Les widgets </a:t>
            </a:r>
            <a:endParaRPr lang="fr-FR" sz="2400" dirty="0" smtClean="0"/>
          </a:p>
          <a:p>
            <a:r>
              <a:rPr lang="fr-FR" sz="2400" dirty="0" err="1" smtClean="0"/>
              <a:t>Qwidget</a:t>
            </a:r>
            <a:r>
              <a:rPr lang="fr-FR" sz="2400" dirty="0" smtClean="0"/>
              <a:t> : la classe de base de tous les objets visibles dans l’IHM</a:t>
            </a:r>
          </a:p>
          <a:p>
            <a:r>
              <a:rPr lang="fr-FR" sz="2400" dirty="0" smtClean="0"/>
              <a:t>Les fenêtres : </a:t>
            </a:r>
            <a:r>
              <a:rPr lang="fr-FR" sz="2400" dirty="0" err="1" smtClean="0">
                <a:solidFill>
                  <a:srgbClr val="FFFF00"/>
                </a:solidFill>
              </a:rPr>
              <a:t>QMainWindow</a:t>
            </a:r>
            <a:r>
              <a:rPr lang="fr-FR" sz="2400" dirty="0" smtClean="0">
                <a:solidFill>
                  <a:srgbClr val="FFFF00"/>
                </a:solidFill>
              </a:rPr>
              <a:t>, </a:t>
            </a:r>
            <a:r>
              <a:rPr lang="fr-FR" sz="2400" dirty="0" err="1" smtClean="0">
                <a:solidFill>
                  <a:srgbClr val="FFFF00"/>
                </a:solidFill>
              </a:rPr>
              <a:t>QDialog</a:t>
            </a:r>
            <a:endParaRPr lang="fr-FR" sz="2400" dirty="0" smtClean="0">
              <a:solidFill>
                <a:srgbClr val="FFFF00"/>
              </a:solidFill>
            </a:endParaRPr>
          </a:p>
          <a:p>
            <a:r>
              <a:rPr lang="fr-FR" sz="2400" dirty="0" smtClean="0"/>
              <a:t>Les conteneurs : </a:t>
            </a:r>
            <a:r>
              <a:rPr lang="fr-FR" sz="2400" dirty="0" err="1" smtClean="0">
                <a:solidFill>
                  <a:srgbClr val="FFFF00"/>
                </a:solidFill>
              </a:rPr>
              <a:t>Qframe</a:t>
            </a:r>
            <a:r>
              <a:rPr lang="fr-FR" sz="2400" dirty="0" smtClean="0">
                <a:solidFill>
                  <a:srgbClr val="FFFF00"/>
                </a:solidFill>
              </a:rPr>
              <a:t>, </a:t>
            </a:r>
            <a:r>
              <a:rPr lang="fr-FR" sz="2400" dirty="0" err="1" smtClean="0">
                <a:solidFill>
                  <a:srgbClr val="FFFF00"/>
                </a:solidFill>
              </a:rPr>
              <a:t>QGroupBox</a:t>
            </a:r>
            <a:endParaRPr lang="fr-FR" sz="2400" dirty="0" smtClean="0">
              <a:solidFill>
                <a:srgbClr val="FFFF00"/>
              </a:solidFill>
            </a:endParaRPr>
          </a:p>
          <a:p>
            <a:r>
              <a:rPr lang="fr-FR" sz="2400" dirty="0" smtClean="0"/>
              <a:t>Les objets graphiques</a:t>
            </a:r>
          </a:p>
          <a:p>
            <a:pPr lvl="1"/>
            <a:r>
              <a:rPr lang="fr-FR" sz="2400" dirty="0" smtClean="0"/>
              <a:t>Les boutons : </a:t>
            </a:r>
            <a:r>
              <a:rPr lang="fr-FR" sz="2400" dirty="0" err="1" smtClean="0">
                <a:solidFill>
                  <a:srgbClr val="FFFF00"/>
                </a:solidFill>
              </a:rPr>
              <a:t>QPushButton</a:t>
            </a:r>
            <a:r>
              <a:rPr lang="fr-FR" sz="2400" dirty="0" smtClean="0">
                <a:solidFill>
                  <a:srgbClr val="FFFF00"/>
                </a:solidFill>
              </a:rPr>
              <a:t>, </a:t>
            </a:r>
            <a:r>
              <a:rPr lang="fr-FR" sz="2400" dirty="0" err="1" smtClean="0">
                <a:solidFill>
                  <a:srgbClr val="FFFF00"/>
                </a:solidFill>
              </a:rPr>
              <a:t>QRadioButton</a:t>
            </a:r>
            <a:endParaRPr lang="fr-FR" sz="2400" dirty="0" smtClean="0">
              <a:solidFill>
                <a:srgbClr val="FFFF00"/>
              </a:solidFill>
            </a:endParaRPr>
          </a:p>
          <a:p>
            <a:pPr lvl="1"/>
            <a:r>
              <a:rPr lang="fr-FR" sz="2400" dirty="0" smtClean="0"/>
              <a:t>Les menus  : </a:t>
            </a:r>
            <a:r>
              <a:rPr lang="fr-FR" sz="2400" dirty="0" err="1" smtClean="0">
                <a:solidFill>
                  <a:srgbClr val="FFFF00"/>
                </a:solidFill>
              </a:rPr>
              <a:t>QMenuBar</a:t>
            </a:r>
            <a:r>
              <a:rPr lang="fr-FR" sz="2400" dirty="0" smtClean="0">
                <a:solidFill>
                  <a:srgbClr val="FFFF00"/>
                </a:solidFill>
              </a:rPr>
              <a:t>, </a:t>
            </a:r>
            <a:r>
              <a:rPr lang="fr-FR" sz="2400" dirty="0" err="1" smtClean="0">
                <a:solidFill>
                  <a:srgbClr val="FFFF00"/>
                </a:solidFill>
              </a:rPr>
              <a:t>QPopMenu</a:t>
            </a:r>
            <a:endParaRPr lang="fr-FR" sz="2400" dirty="0" smtClean="0">
              <a:solidFill>
                <a:srgbClr val="FFFF00"/>
              </a:solidFill>
            </a:endParaRPr>
          </a:p>
          <a:p>
            <a:pPr lvl="1"/>
            <a:r>
              <a:rPr lang="fr-FR" sz="2400" dirty="0"/>
              <a:t>Les barres d’outils : </a:t>
            </a:r>
            <a:r>
              <a:rPr lang="fr-FR" sz="2400" dirty="0" err="1" smtClean="0">
                <a:solidFill>
                  <a:srgbClr val="FFFF00"/>
                </a:solidFill>
              </a:rPr>
              <a:t>QToolBarre</a:t>
            </a:r>
            <a:endParaRPr lang="fr-FR" sz="2400" dirty="0" smtClean="0">
              <a:solidFill>
                <a:srgbClr val="FFFF00"/>
              </a:solidFill>
            </a:endParaRPr>
          </a:p>
        </p:txBody>
      </p:sp>
      <p:sp>
        <p:nvSpPr>
          <p:cNvPr id="3" name="Forme libre 2"/>
          <p:cNvSpPr/>
          <p:nvPr/>
        </p:nvSpPr>
        <p:spPr>
          <a:xfrm>
            <a:off x="5577840" y="4015740"/>
            <a:ext cx="3589119" cy="1684020"/>
          </a:xfrm>
          <a:custGeom>
            <a:avLst/>
            <a:gdLst>
              <a:gd name="connsiteX0" fmla="*/ 2590800 w 3589119"/>
              <a:gd name="connsiteY0" fmla="*/ 0 h 1684020"/>
              <a:gd name="connsiteX1" fmla="*/ 2590800 w 3589119"/>
              <a:gd name="connsiteY1" fmla="*/ 0 h 1684020"/>
              <a:gd name="connsiteX2" fmla="*/ 2522220 w 3589119"/>
              <a:gd name="connsiteY2" fmla="*/ 15240 h 1684020"/>
              <a:gd name="connsiteX3" fmla="*/ 2438400 w 3589119"/>
              <a:gd name="connsiteY3" fmla="*/ 22860 h 1684020"/>
              <a:gd name="connsiteX4" fmla="*/ 2392680 w 3589119"/>
              <a:gd name="connsiteY4" fmla="*/ 53340 h 1684020"/>
              <a:gd name="connsiteX5" fmla="*/ 2377440 w 3589119"/>
              <a:gd name="connsiteY5" fmla="*/ 76200 h 1684020"/>
              <a:gd name="connsiteX6" fmla="*/ 2369820 w 3589119"/>
              <a:gd name="connsiteY6" fmla="*/ 99060 h 1684020"/>
              <a:gd name="connsiteX7" fmla="*/ 2346960 w 3589119"/>
              <a:gd name="connsiteY7" fmla="*/ 114300 h 1684020"/>
              <a:gd name="connsiteX8" fmla="*/ 2316480 w 3589119"/>
              <a:gd name="connsiteY8" fmla="*/ 182880 h 1684020"/>
              <a:gd name="connsiteX9" fmla="*/ 2278380 w 3589119"/>
              <a:gd name="connsiteY9" fmla="*/ 251460 h 1684020"/>
              <a:gd name="connsiteX10" fmla="*/ 2217420 w 3589119"/>
              <a:gd name="connsiteY10" fmla="*/ 297180 h 1684020"/>
              <a:gd name="connsiteX11" fmla="*/ 2186940 w 3589119"/>
              <a:gd name="connsiteY11" fmla="*/ 304800 h 1684020"/>
              <a:gd name="connsiteX12" fmla="*/ 2133600 w 3589119"/>
              <a:gd name="connsiteY12" fmla="*/ 335280 h 1684020"/>
              <a:gd name="connsiteX13" fmla="*/ 2080260 w 3589119"/>
              <a:gd name="connsiteY13" fmla="*/ 350520 h 1684020"/>
              <a:gd name="connsiteX14" fmla="*/ 2026920 w 3589119"/>
              <a:gd name="connsiteY14" fmla="*/ 381000 h 1684020"/>
              <a:gd name="connsiteX15" fmla="*/ 1973580 w 3589119"/>
              <a:gd name="connsiteY15" fmla="*/ 396240 h 1684020"/>
              <a:gd name="connsiteX16" fmla="*/ 1889760 w 3589119"/>
              <a:gd name="connsiteY16" fmla="*/ 434340 h 1684020"/>
              <a:gd name="connsiteX17" fmla="*/ 1828800 w 3589119"/>
              <a:gd name="connsiteY17" fmla="*/ 449580 h 1684020"/>
              <a:gd name="connsiteX18" fmla="*/ 1805940 w 3589119"/>
              <a:gd name="connsiteY18" fmla="*/ 464820 h 1684020"/>
              <a:gd name="connsiteX19" fmla="*/ 1722120 w 3589119"/>
              <a:gd name="connsiteY19" fmla="*/ 480060 h 1684020"/>
              <a:gd name="connsiteX20" fmla="*/ 1257300 w 3589119"/>
              <a:gd name="connsiteY20" fmla="*/ 495300 h 1684020"/>
              <a:gd name="connsiteX21" fmla="*/ 1203960 w 3589119"/>
              <a:gd name="connsiteY21" fmla="*/ 510540 h 1684020"/>
              <a:gd name="connsiteX22" fmla="*/ 1097280 w 3589119"/>
              <a:gd name="connsiteY22" fmla="*/ 525780 h 1684020"/>
              <a:gd name="connsiteX23" fmla="*/ 1013460 w 3589119"/>
              <a:gd name="connsiteY23" fmla="*/ 541020 h 1684020"/>
              <a:gd name="connsiteX24" fmla="*/ 952500 w 3589119"/>
              <a:gd name="connsiteY24" fmla="*/ 563880 h 1684020"/>
              <a:gd name="connsiteX25" fmla="*/ 899160 w 3589119"/>
              <a:gd name="connsiteY25" fmla="*/ 579120 h 1684020"/>
              <a:gd name="connsiteX26" fmla="*/ 845820 w 3589119"/>
              <a:gd name="connsiteY26" fmla="*/ 601980 h 1684020"/>
              <a:gd name="connsiteX27" fmla="*/ 800100 w 3589119"/>
              <a:gd name="connsiteY27" fmla="*/ 632460 h 1684020"/>
              <a:gd name="connsiteX28" fmla="*/ 731520 w 3589119"/>
              <a:gd name="connsiteY28" fmla="*/ 678180 h 1684020"/>
              <a:gd name="connsiteX29" fmla="*/ 708660 w 3589119"/>
              <a:gd name="connsiteY29" fmla="*/ 693420 h 1684020"/>
              <a:gd name="connsiteX30" fmla="*/ 685800 w 3589119"/>
              <a:gd name="connsiteY30" fmla="*/ 708660 h 1684020"/>
              <a:gd name="connsiteX31" fmla="*/ 617220 w 3589119"/>
              <a:gd name="connsiteY31" fmla="*/ 739140 h 1684020"/>
              <a:gd name="connsiteX32" fmla="*/ 594360 w 3589119"/>
              <a:gd name="connsiteY32" fmla="*/ 746760 h 1684020"/>
              <a:gd name="connsiteX33" fmla="*/ 571500 w 3589119"/>
              <a:gd name="connsiteY33" fmla="*/ 762000 h 1684020"/>
              <a:gd name="connsiteX34" fmla="*/ 525780 w 3589119"/>
              <a:gd name="connsiteY34" fmla="*/ 777240 h 1684020"/>
              <a:gd name="connsiteX35" fmla="*/ 457200 w 3589119"/>
              <a:gd name="connsiteY35" fmla="*/ 807720 h 1684020"/>
              <a:gd name="connsiteX36" fmla="*/ 434340 w 3589119"/>
              <a:gd name="connsiteY36" fmla="*/ 815340 h 1684020"/>
              <a:gd name="connsiteX37" fmla="*/ 327660 w 3589119"/>
              <a:gd name="connsiteY37" fmla="*/ 830580 h 1684020"/>
              <a:gd name="connsiteX38" fmla="*/ 304800 w 3589119"/>
              <a:gd name="connsiteY38" fmla="*/ 838200 h 1684020"/>
              <a:gd name="connsiteX39" fmla="*/ 236220 w 3589119"/>
              <a:gd name="connsiteY39" fmla="*/ 853440 h 1684020"/>
              <a:gd name="connsiteX40" fmla="*/ 213360 w 3589119"/>
              <a:gd name="connsiteY40" fmla="*/ 876300 h 1684020"/>
              <a:gd name="connsiteX41" fmla="*/ 137160 w 3589119"/>
              <a:gd name="connsiteY41" fmla="*/ 891540 h 1684020"/>
              <a:gd name="connsiteX42" fmla="*/ 114300 w 3589119"/>
              <a:gd name="connsiteY42" fmla="*/ 906780 h 1684020"/>
              <a:gd name="connsiteX43" fmla="*/ 68580 w 3589119"/>
              <a:gd name="connsiteY43" fmla="*/ 922020 h 1684020"/>
              <a:gd name="connsiteX44" fmla="*/ 45720 w 3589119"/>
              <a:gd name="connsiteY44" fmla="*/ 937260 h 1684020"/>
              <a:gd name="connsiteX45" fmla="*/ 7620 w 3589119"/>
              <a:gd name="connsiteY45" fmla="*/ 1005840 h 1684020"/>
              <a:gd name="connsiteX46" fmla="*/ 0 w 3589119"/>
              <a:gd name="connsiteY46" fmla="*/ 1036320 h 1684020"/>
              <a:gd name="connsiteX47" fmla="*/ 7620 w 3589119"/>
              <a:gd name="connsiteY47" fmla="*/ 1150620 h 1684020"/>
              <a:gd name="connsiteX48" fmla="*/ 68580 w 3589119"/>
              <a:gd name="connsiteY48" fmla="*/ 1226820 h 1684020"/>
              <a:gd name="connsiteX49" fmla="*/ 106680 w 3589119"/>
              <a:gd name="connsiteY49" fmla="*/ 1249680 h 1684020"/>
              <a:gd name="connsiteX50" fmla="*/ 182880 w 3589119"/>
              <a:gd name="connsiteY50" fmla="*/ 1280160 h 1684020"/>
              <a:gd name="connsiteX51" fmla="*/ 213360 w 3589119"/>
              <a:gd name="connsiteY51" fmla="*/ 1287780 h 1684020"/>
              <a:gd name="connsiteX52" fmla="*/ 312420 w 3589119"/>
              <a:gd name="connsiteY52" fmla="*/ 1310640 h 1684020"/>
              <a:gd name="connsiteX53" fmla="*/ 563880 w 3589119"/>
              <a:gd name="connsiteY53" fmla="*/ 1325880 h 1684020"/>
              <a:gd name="connsiteX54" fmla="*/ 640080 w 3589119"/>
              <a:gd name="connsiteY54" fmla="*/ 1333500 h 1684020"/>
              <a:gd name="connsiteX55" fmla="*/ 746760 w 3589119"/>
              <a:gd name="connsiteY55" fmla="*/ 1356360 h 1684020"/>
              <a:gd name="connsiteX56" fmla="*/ 899160 w 3589119"/>
              <a:gd name="connsiteY56" fmla="*/ 1379220 h 1684020"/>
              <a:gd name="connsiteX57" fmla="*/ 1074420 w 3589119"/>
              <a:gd name="connsiteY57" fmla="*/ 1440180 h 1684020"/>
              <a:gd name="connsiteX58" fmla="*/ 1127760 w 3589119"/>
              <a:gd name="connsiteY58" fmla="*/ 1463040 h 1684020"/>
              <a:gd name="connsiteX59" fmla="*/ 1234440 w 3589119"/>
              <a:gd name="connsiteY59" fmla="*/ 1485900 h 1684020"/>
              <a:gd name="connsiteX60" fmla="*/ 1287780 w 3589119"/>
              <a:gd name="connsiteY60" fmla="*/ 1508760 h 1684020"/>
              <a:gd name="connsiteX61" fmla="*/ 1386840 w 3589119"/>
              <a:gd name="connsiteY61" fmla="*/ 1524000 h 1684020"/>
              <a:gd name="connsiteX62" fmla="*/ 1478280 w 3589119"/>
              <a:gd name="connsiteY62" fmla="*/ 1554480 h 1684020"/>
              <a:gd name="connsiteX63" fmla="*/ 1524000 w 3589119"/>
              <a:gd name="connsiteY63" fmla="*/ 1569720 h 1684020"/>
              <a:gd name="connsiteX64" fmla="*/ 1607820 w 3589119"/>
              <a:gd name="connsiteY64" fmla="*/ 1584960 h 1684020"/>
              <a:gd name="connsiteX65" fmla="*/ 1638300 w 3589119"/>
              <a:gd name="connsiteY65" fmla="*/ 1592580 h 1684020"/>
              <a:gd name="connsiteX66" fmla="*/ 1729740 w 3589119"/>
              <a:gd name="connsiteY66" fmla="*/ 1607820 h 1684020"/>
              <a:gd name="connsiteX67" fmla="*/ 1752600 w 3589119"/>
              <a:gd name="connsiteY67" fmla="*/ 1615440 h 1684020"/>
              <a:gd name="connsiteX68" fmla="*/ 2171700 w 3589119"/>
              <a:gd name="connsiteY68" fmla="*/ 1623060 h 1684020"/>
              <a:gd name="connsiteX69" fmla="*/ 2537460 w 3589119"/>
              <a:gd name="connsiteY69" fmla="*/ 1623060 h 1684020"/>
              <a:gd name="connsiteX70" fmla="*/ 2590800 w 3589119"/>
              <a:gd name="connsiteY70" fmla="*/ 1607820 h 1684020"/>
              <a:gd name="connsiteX71" fmla="*/ 2644140 w 3589119"/>
              <a:gd name="connsiteY71" fmla="*/ 1600200 h 1684020"/>
              <a:gd name="connsiteX72" fmla="*/ 2697480 w 3589119"/>
              <a:gd name="connsiteY72" fmla="*/ 1584960 h 1684020"/>
              <a:gd name="connsiteX73" fmla="*/ 2796540 w 3589119"/>
              <a:gd name="connsiteY73" fmla="*/ 1569720 h 1684020"/>
              <a:gd name="connsiteX74" fmla="*/ 3139440 w 3589119"/>
              <a:gd name="connsiteY74" fmla="*/ 1584960 h 1684020"/>
              <a:gd name="connsiteX75" fmla="*/ 3208020 w 3589119"/>
              <a:gd name="connsiteY75" fmla="*/ 1623060 h 1684020"/>
              <a:gd name="connsiteX76" fmla="*/ 3284220 w 3589119"/>
              <a:gd name="connsiteY76" fmla="*/ 1661160 h 1684020"/>
              <a:gd name="connsiteX77" fmla="*/ 3337560 w 3589119"/>
              <a:gd name="connsiteY77" fmla="*/ 1684020 h 1684020"/>
              <a:gd name="connsiteX78" fmla="*/ 3421380 w 3589119"/>
              <a:gd name="connsiteY78" fmla="*/ 1676400 h 1684020"/>
              <a:gd name="connsiteX79" fmla="*/ 3444240 w 3589119"/>
              <a:gd name="connsiteY79" fmla="*/ 1653540 h 1684020"/>
              <a:gd name="connsiteX80" fmla="*/ 3474720 w 3589119"/>
              <a:gd name="connsiteY80" fmla="*/ 1607820 h 1684020"/>
              <a:gd name="connsiteX81" fmla="*/ 3489960 w 3589119"/>
              <a:gd name="connsiteY81" fmla="*/ 1584960 h 1684020"/>
              <a:gd name="connsiteX82" fmla="*/ 3497580 w 3589119"/>
              <a:gd name="connsiteY82" fmla="*/ 1562100 h 1684020"/>
              <a:gd name="connsiteX83" fmla="*/ 3512820 w 3589119"/>
              <a:gd name="connsiteY83" fmla="*/ 1539240 h 1684020"/>
              <a:gd name="connsiteX84" fmla="*/ 3528060 w 3589119"/>
              <a:gd name="connsiteY84" fmla="*/ 1508760 h 1684020"/>
              <a:gd name="connsiteX85" fmla="*/ 3543300 w 3589119"/>
              <a:gd name="connsiteY85" fmla="*/ 1463040 h 1684020"/>
              <a:gd name="connsiteX86" fmla="*/ 3573780 w 3589119"/>
              <a:gd name="connsiteY86" fmla="*/ 1417320 h 1684020"/>
              <a:gd name="connsiteX87" fmla="*/ 3589020 w 3589119"/>
              <a:gd name="connsiteY87" fmla="*/ 1310640 h 1684020"/>
              <a:gd name="connsiteX88" fmla="*/ 3581400 w 3589119"/>
              <a:gd name="connsiteY88" fmla="*/ 1097280 h 1684020"/>
              <a:gd name="connsiteX89" fmla="*/ 3566160 w 3589119"/>
              <a:gd name="connsiteY89" fmla="*/ 998220 h 1684020"/>
              <a:gd name="connsiteX90" fmla="*/ 3558540 w 3589119"/>
              <a:gd name="connsiteY90" fmla="*/ 929640 h 1684020"/>
              <a:gd name="connsiteX91" fmla="*/ 3550920 w 3589119"/>
              <a:gd name="connsiteY91" fmla="*/ 655320 h 1684020"/>
              <a:gd name="connsiteX92" fmla="*/ 3497580 w 3589119"/>
              <a:gd name="connsiteY92" fmla="*/ 579120 h 1684020"/>
              <a:gd name="connsiteX93" fmla="*/ 3459480 w 3589119"/>
              <a:gd name="connsiteY93" fmla="*/ 502920 h 1684020"/>
              <a:gd name="connsiteX94" fmla="*/ 3429000 w 3589119"/>
              <a:gd name="connsiteY94" fmla="*/ 457200 h 1684020"/>
              <a:gd name="connsiteX95" fmla="*/ 3406140 w 3589119"/>
              <a:gd name="connsiteY95" fmla="*/ 426720 h 1684020"/>
              <a:gd name="connsiteX96" fmla="*/ 3368040 w 3589119"/>
              <a:gd name="connsiteY96" fmla="*/ 373380 h 1684020"/>
              <a:gd name="connsiteX97" fmla="*/ 3352800 w 3589119"/>
              <a:gd name="connsiteY97" fmla="*/ 350520 h 1684020"/>
              <a:gd name="connsiteX98" fmla="*/ 3307080 w 3589119"/>
              <a:gd name="connsiteY98" fmla="*/ 320040 h 1684020"/>
              <a:gd name="connsiteX99" fmla="*/ 3223260 w 3589119"/>
              <a:gd name="connsiteY99" fmla="*/ 297180 h 1684020"/>
              <a:gd name="connsiteX100" fmla="*/ 3192780 w 3589119"/>
              <a:gd name="connsiteY100" fmla="*/ 289560 h 1684020"/>
              <a:gd name="connsiteX101" fmla="*/ 3154680 w 3589119"/>
              <a:gd name="connsiteY101" fmla="*/ 281940 h 1684020"/>
              <a:gd name="connsiteX102" fmla="*/ 3093720 w 3589119"/>
              <a:gd name="connsiteY102" fmla="*/ 266700 h 1684020"/>
              <a:gd name="connsiteX103" fmla="*/ 3040380 w 3589119"/>
              <a:gd name="connsiteY103" fmla="*/ 251460 h 1684020"/>
              <a:gd name="connsiteX104" fmla="*/ 2987040 w 3589119"/>
              <a:gd name="connsiteY104" fmla="*/ 243840 h 1684020"/>
              <a:gd name="connsiteX105" fmla="*/ 2948940 w 3589119"/>
              <a:gd name="connsiteY105" fmla="*/ 228600 h 1684020"/>
              <a:gd name="connsiteX106" fmla="*/ 2903220 w 3589119"/>
              <a:gd name="connsiteY106" fmla="*/ 205740 h 1684020"/>
              <a:gd name="connsiteX107" fmla="*/ 2849880 w 3589119"/>
              <a:gd name="connsiteY107" fmla="*/ 144780 h 1684020"/>
              <a:gd name="connsiteX108" fmla="*/ 2834640 w 3589119"/>
              <a:gd name="connsiteY108" fmla="*/ 114300 h 1684020"/>
              <a:gd name="connsiteX109" fmla="*/ 2804160 w 3589119"/>
              <a:gd name="connsiteY109" fmla="*/ 68580 h 1684020"/>
              <a:gd name="connsiteX110" fmla="*/ 2766060 w 3589119"/>
              <a:gd name="connsiteY110" fmla="*/ 30480 h 1684020"/>
              <a:gd name="connsiteX111" fmla="*/ 2743200 w 3589119"/>
              <a:gd name="connsiteY111" fmla="*/ 22860 h 1684020"/>
              <a:gd name="connsiteX112" fmla="*/ 2590800 w 3589119"/>
              <a:gd name="connsiteY112" fmla="*/ 0 h 1684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3589119" h="1684020">
                <a:moveTo>
                  <a:pt x="2590800" y="0"/>
                </a:moveTo>
                <a:lnTo>
                  <a:pt x="2590800" y="0"/>
                </a:lnTo>
                <a:cubicBezTo>
                  <a:pt x="2567940" y="5080"/>
                  <a:pt x="2545379" y="11766"/>
                  <a:pt x="2522220" y="15240"/>
                </a:cubicBezTo>
                <a:cubicBezTo>
                  <a:pt x="2494475" y="19402"/>
                  <a:pt x="2465315" y="14944"/>
                  <a:pt x="2438400" y="22860"/>
                </a:cubicBezTo>
                <a:cubicBezTo>
                  <a:pt x="2420828" y="28028"/>
                  <a:pt x="2392680" y="53340"/>
                  <a:pt x="2392680" y="53340"/>
                </a:cubicBezTo>
                <a:cubicBezTo>
                  <a:pt x="2387600" y="60960"/>
                  <a:pt x="2381536" y="68009"/>
                  <a:pt x="2377440" y="76200"/>
                </a:cubicBezTo>
                <a:cubicBezTo>
                  <a:pt x="2373848" y="83384"/>
                  <a:pt x="2374838" y="92788"/>
                  <a:pt x="2369820" y="99060"/>
                </a:cubicBezTo>
                <a:cubicBezTo>
                  <a:pt x="2364099" y="106211"/>
                  <a:pt x="2354580" y="109220"/>
                  <a:pt x="2346960" y="114300"/>
                </a:cubicBezTo>
                <a:cubicBezTo>
                  <a:pt x="2307642" y="232253"/>
                  <a:pt x="2352706" y="110427"/>
                  <a:pt x="2316480" y="182880"/>
                </a:cubicBezTo>
                <a:cubicBezTo>
                  <a:pt x="2301530" y="212779"/>
                  <a:pt x="2316822" y="222629"/>
                  <a:pt x="2278380" y="251460"/>
                </a:cubicBezTo>
                <a:cubicBezTo>
                  <a:pt x="2258060" y="266700"/>
                  <a:pt x="2242062" y="291020"/>
                  <a:pt x="2217420" y="297180"/>
                </a:cubicBezTo>
                <a:cubicBezTo>
                  <a:pt x="2207260" y="299720"/>
                  <a:pt x="2196746" y="301123"/>
                  <a:pt x="2186940" y="304800"/>
                </a:cubicBezTo>
                <a:cubicBezTo>
                  <a:pt x="2133503" y="324839"/>
                  <a:pt x="2177816" y="313172"/>
                  <a:pt x="2133600" y="335280"/>
                </a:cubicBezTo>
                <a:cubicBezTo>
                  <a:pt x="2115178" y="344491"/>
                  <a:pt x="2099792" y="343196"/>
                  <a:pt x="2080260" y="350520"/>
                </a:cubicBezTo>
                <a:cubicBezTo>
                  <a:pt x="2026823" y="370559"/>
                  <a:pt x="2071136" y="358892"/>
                  <a:pt x="2026920" y="381000"/>
                </a:cubicBezTo>
                <a:cubicBezTo>
                  <a:pt x="2001008" y="393956"/>
                  <a:pt x="2002878" y="384033"/>
                  <a:pt x="1973580" y="396240"/>
                </a:cubicBezTo>
                <a:cubicBezTo>
                  <a:pt x="1918876" y="419033"/>
                  <a:pt x="1929421" y="423523"/>
                  <a:pt x="1889760" y="434340"/>
                </a:cubicBezTo>
                <a:cubicBezTo>
                  <a:pt x="1869553" y="439851"/>
                  <a:pt x="1828800" y="449580"/>
                  <a:pt x="1828800" y="449580"/>
                </a:cubicBezTo>
                <a:cubicBezTo>
                  <a:pt x="1821180" y="454660"/>
                  <a:pt x="1814358" y="461212"/>
                  <a:pt x="1805940" y="464820"/>
                </a:cubicBezTo>
                <a:cubicBezTo>
                  <a:pt x="1787976" y="472519"/>
                  <a:pt x="1734480" y="478294"/>
                  <a:pt x="1722120" y="480060"/>
                </a:cubicBezTo>
                <a:cubicBezTo>
                  <a:pt x="1557010" y="535097"/>
                  <a:pt x="1752595" y="472440"/>
                  <a:pt x="1257300" y="495300"/>
                </a:cubicBezTo>
                <a:cubicBezTo>
                  <a:pt x="1238828" y="496153"/>
                  <a:pt x="1222125" y="507080"/>
                  <a:pt x="1203960" y="510540"/>
                </a:cubicBezTo>
                <a:cubicBezTo>
                  <a:pt x="1168673" y="517261"/>
                  <a:pt x="1132712" y="519875"/>
                  <a:pt x="1097280" y="525780"/>
                </a:cubicBezTo>
                <a:cubicBezTo>
                  <a:pt x="1064194" y="531294"/>
                  <a:pt x="1045410" y="533920"/>
                  <a:pt x="1013460" y="541020"/>
                </a:cubicBezTo>
                <a:cubicBezTo>
                  <a:pt x="964830" y="551827"/>
                  <a:pt x="1000081" y="543488"/>
                  <a:pt x="952500" y="563880"/>
                </a:cubicBezTo>
                <a:cubicBezTo>
                  <a:pt x="937196" y="570439"/>
                  <a:pt x="914627" y="575253"/>
                  <a:pt x="899160" y="579120"/>
                </a:cubicBezTo>
                <a:cubicBezTo>
                  <a:pt x="815951" y="634593"/>
                  <a:pt x="944232" y="552774"/>
                  <a:pt x="845820" y="601980"/>
                </a:cubicBezTo>
                <a:cubicBezTo>
                  <a:pt x="829437" y="610171"/>
                  <a:pt x="815340" y="622300"/>
                  <a:pt x="800100" y="632460"/>
                </a:cubicBezTo>
                <a:lnTo>
                  <a:pt x="731520" y="678180"/>
                </a:lnTo>
                <a:lnTo>
                  <a:pt x="708660" y="693420"/>
                </a:lnTo>
                <a:cubicBezTo>
                  <a:pt x="701040" y="698500"/>
                  <a:pt x="694488" y="705764"/>
                  <a:pt x="685800" y="708660"/>
                </a:cubicBezTo>
                <a:cubicBezTo>
                  <a:pt x="567847" y="747978"/>
                  <a:pt x="689673" y="702914"/>
                  <a:pt x="617220" y="739140"/>
                </a:cubicBezTo>
                <a:cubicBezTo>
                  <a:pt x="610036" y="742732"/>
                  <a:pt x="601544" y="743168"/>
                  <a:pt x="594360" y="746760"/>
                </a:cubicBezTo>
                <a:cubicBezTo>
                  <a:pt x="586169" y="750856"/>
                  <a:pt x="579869" y="758281"/>
                  <a:pt x="571500" y="762000"/>
                </a:cubicBezTo>
                <a:cubicBezTo>
                  <a:pt x="556820" y="768524"/>
                  <a:pt x="539146" y="768329"/>
                  <a:pt x="525780" y="777240"/>
                </a:cubicBezTo>
                <a:cubicBezTo>
                  <a:pt x="489554" y="801391"/>
                  <a:pt x="511608" y="789584"/>
                  <a:pt x="457200" y="807720"/>
                </a:cubicBezTo>
                <a:cubicBezTo>
                  <a:pt x="449580" y="810260"/>
                  <a:pt x="442323" y="814453"/>
                  <a:pt x="434340" y="815340"/>
                </a:cubicBezTo>
                <a:cubicBezTo>
                  <a:pt x="391665" y="820082"/>
                  <a:pt x="366479" y="820875"/>
                  <a:pt x="327660" y="830580"/>
                </a:cubicBezTo>
                <a:cubicBezTo>
                  <a:pt x="319868" y="832528"/>
                  <a:pt x="312641" y="836458"/>
                  <a:pt x="304800" y="838200"/>
                </a:cubicBezTo>
                <a:cubicBezTo>
                  <a:pt x="224336" y="856081"/>
                  <a:pt x="287681" y="836286"/>
                  <a:pt x="236220" y="853440"/>
                </a:cubicBezTo>
                <a:cubicBezTo>
                  <a:pt x="228600" y="861060"/>
                  <a:pt x="222326" y="870322"/>
                  <a:pt x="213360" y="876300"/>
                </a:cubicBezTo>
                <a:cubicBezTo>
                  <a:pt x="198851" y="885972"/>
                  <a:pt x="141677" y="890895"/>
                  <a:pt x="137160" y="891540"/>
                </a:cubicBezTo>
                <a:cubicBezTo>
                  <a:pt x="129540" y="896620"/>
                  <a:pt x="122669" y="903061"/>
                  <a:pt x="114300" y="906780"/>
                </a:cubicBezTo>
                <a:cubicBezTo>
                  <a:pt x="99620" y="913304"/>
                  <a:pt x="81946" y="913109"/>
                  <a:pt x="68580" y="922020"/>
                </a:cubicBezTo>
                <a:lnTo>
                  <a:pt x="45720" y="937260"/>
                </a:lnTo>
                <a:cubicBezTo>
                  <a:pt x="18431" y="978194"/>
                  <a:pt x="17679" y="970633"/>
                  <a:pt x="7620" y="1005840"/>
                </a:cubicBezTo>
                <a:cubicBezTo>
                  <a:pt x="4743" y="1015910"/>
                  <a:pt x="2540" y="1026160"/>
                  <a:pt x="0" y="1036320"/>
                </a:cubicBezTo>
                <a:cubicBezTo>
                  <a:pt x="2540" y="1074420"/>
                  <a:pt x="-1224" y="1113474"/>
                  <a:pt x="7620" y="1150620"/>
                </a:cubicBezTo>
                <a:cubicBezTo>
                  <a:pt x="12139" y="1169601"/>
                  <a:pt x="51766" y="1213742"/>
                  <a:pt x="68580" y="1226820"/>
                </a:cubicBezTo>
                <a:cubicBezTo>
                  <a:pt x="80271" y="1235913"/>
                  <a:pt x="93733" y="1242487"/>
                  <a:pt x="106680" y="1249680"/>
                </a:cubicBezTo>
                <a:cubicBezTo>
                  <a:pt x="132479" y="1264013"/>
                  <a:pt x="153324" y="1272771"/>
                  <a:pt x="182880" y="1280160"/>
                </a:cubicBezTo>
                <a:cubicBezTo>
                  <a:pt x="193040" y="1282700"/>
                  <a:pt x="203425" y="1284468"/>
                  <a:pt x="213360" y="1287780"/>
                </a:cubicBezTo>
                <a:cubicBezTo>
                  <a:pt x="275191" y="1308390"/>
                  <a:pt x="230825" y="1304670"/>
                  <a:pt x="312420" y="1310640"/>
                </a:cubicBezTo>
                <a:cubicBezTo>
                  <a:pt x="396170" y="1316768"/>
                  <a:pt x="480110" y="1320036"/>
                  <a:pt x="563880" y="1325880"/>
                </a:cubicBezTo>
                <a:cubicBezTo>
                  <a:pt x="589345" y="1327657"/>
                  <a:pt x="614680" y="1330960"/>
                  <a:pt x="640080" y="1333500"/>
                </a:cubicBezTo>
                <a:cubicBezTo>
                  <a:pt x="675640" y="1341120"/>
                  <a:pt x="710888" y="1350381"/>
                  <a:pt x="746760" y="1356360"/>
                </a:cubicBezTo>
                <a:cubicBezTo>
                  <a:pt x="870458" y="1376976"/>
                  <a:pt x="775885" y="1348401"/>
                  <a:pt x="899160" y="1379220"/>
                </a:cubicBezTo>
                <a:cubicBezTo>
                  <a:pt x="963032" y="1395188"/>
                  <a:pt x="1012263" y="1415317"/>
                  <a:pt x="1074420" y="1440180"/>
                </a:cubicBezTo>
                <a:cubicBezTo>
                  <a:pt x="1092381" y="1447364"/>
                  <a:pt x="1109160" y="1457726"/>
                  <a:pt x="1127760" y="1463040"/>
                </a:cubicBezTo>
                <a:cubicBezTo>
                  <a:pt x="1162728" y="1473031"/>
                  <a:pt x="1234440" y="1485900"/>
                  <a:pt x="1234440" y="1485900"/>
                </a:cubicBezTo>
                <a:cubicBezTo>
                  <a:pt x="1252220" y="1493520"/>
                  <a:pt x="1269291" y="1503071"/>
                  <a:pt x="1287780" y="1508760"/>
                </a:cubicBezTo>
                <a:cubicBezTo>
                  <a:pt x="1296943" y="1511579"/>
                  <a:pt x="1381296" y="1523208"/>
                  <a:pt x="1386840" y="1524000"/>
                </a:cubicBezTo>
                <a:cubicBezTo>
                  <a:pt x="1453820" y="1550792"/>
                  <a:pt x="1395957" y="1529150"/>
                  <a:pt x="1478280" y="1554480"/>
                </a:cubicBezTo>
                <a:cubicBezTo>
                  <a:pt x="1493634" y="1559204"/>
                  <a:pt x="1508502" y="1565493"/>
                  <a:pt x="1524000" y="1569720"/>
                </a:cubicBezTo>
                <a:cubicBezTo>
                  <a:pt x="1546474" y="1575849"/>
                  <a:pt x="1586038" y="1580604"/>
                  <a:pt x="1607820" y="1584960"/>
                </a:cubicBezTo>
                <a:cubicBezTo>
                  <a:pt x="1618089" y="1587014"/>
                  <a:pt x="1628007" y="1590650"/>
                  <a:pt x="1638300" y="1592580"/>
                </a:cubicBezTo>
                <a:cubicBezTo>
                  <a:pt x="1668671" y="1598275"/>
                  <a:pt x="1700425" y="1598048"/>
                  <a:pt x="1729740" y="1607820"/>
                </a:cubicBezTo>
                <a:cubicBezTo>
                  <a:pt x="1737360" y="1610360"/>
                  <a:pt x="1744573" y="1615163"/>
                  <a:pt x="1752600" y="1615440"/>
                </a:cubicBezTo>
                <a:cubicBezTo>
                  <a:pt x="1892240" y="1620255"/>
                  <a:pt x="2032000" y="1620520"/>
                  <a:pt x="2171700" y="1623060"/>
                </a:cubicBezTo>
                <a:cubicBezTo>
                  <a:pt x="2301796" y="1666425"/>
                  <a:pt x="2203970" y="1636672"/>
                  <a:pt x="2537460" y="1623060"/>
                </a:cubicBezTo>
                <a:cubicBezTo>
                  <a:pt x="2561254" y="1622089"/>
                  <a:pt x="2569109" y="1612158"/>
                  <a:pt x="2590800" y="1607820"/>
                </a:cubicBezTo>
                <a:cubicBezTo>
                  <a:pt x="2608412" y="1604298"/>
                  <a:pt x="2626469" y="1603413"/>
                  <a:pt x="2644140" y="1600200"/>
                </a:cubicBezTo>
                <a:cubicBezTo>
                  <a:pt x="2696402" y="1590698"/>
                  <a:pt x="2653955" y="1595841"/>
                  <a:pt x="2697480" y="1584960"/>
                </a:cubicBezTo>
                <a:cubicBezTo>
                  <a:pt x="2732388" y="1576233"/>
                  <a:pt x="2759525" y="1574347"/>
                  <a:pt x="2796540" y="1569720"/>
                </a:cubicBezTo>
                <a:lnTo>
                  <a:pt x="3139440" y="1584960"/>
                </a:lnTo>
                <a:cubicBezTo>
                  <a:pt x="3161900" y="1586364"/>
                  <a:pt x="3196152" y="1615508"/>
                  <a:pt x="3208020" y="1623060"/>
                </a:cubicBezTo>
                <a:cubicBezTo>
                  <a:pt x="3261409" y="1657035"/>
                  <a:pt x="3229081" y="1636654"/>
                  <a:pt x="3284220" y="1661160"/>
                </a:cubicBezTo>
                <a:cubicBezTo>
                  <a:pt x="3340716" y="1686269"/>
                  <a:pt x="3290607" y="1668369"/>
                  <a:pt x="3337560" y="1684020"/>
                </a:cubicBezTo>
                <a:cubicBezTo>
                  <a:pt x="3365500" y="1681480"/>
                  <a:pt x="3394404" y="1684107"/>
                  <a:pt x="3421380" y="1676400"/>
                </a:cubicBezTo>
                <a:cubicBezTo>
                  <a:pt x="3431742" y="1673440"/>
                  <a:pt x="3437624" y="1662046"/>
                  <a:pt x="3444240" y="1653540"/>
                </a:cubicBezTo>
                <a:cubicBezTo>
                  <a:pt x="3455485" y="1639082"/>
                  <a:pt x="3464560" y="1623060"/>
                  <a:pt x="3474720" y="1607820"/>
                </a:cubicBezTo>
                <a:cubicBezTo>
                  <a:pt x="3479800" y="1600200"/>
                  <a:pt x="3487064" y="1593648"/>
                  <a:pt x="3489960" y="1584960"/>
                </a:cubicBezTo>
                <a:cubicBezTo>
                  <a:pt x="3492500" y="1577340"/>
                  <a:pt x="3493988" y="1569284"/>
                  <a:pt x="3497580" y="1562100"/>
                </a:cubicBezTo>
                <a:cubicBezTo>
                  <a:pt x="3501676" y="1553909"/>
                  <a:pt x="3508276" y="1547191"/>
                  <a:pt x="3512820" y="1539240"/>
                </a:cubicBezTo>
                <a:cubicBezTo>
                  <a:pt x="3518456" y="1529377"/>
                  <a:pt x="3523841" y="1519307"/>
                  <a:pt x="3528060" y="1508760"/>
                </a:cubicBezTo>
                <a:cubicBezTo>
                  <a:pt x="3534026" y="1493845"/>
                  <a:pt x="3534389" y="1476406"/>
                  <a:pt x="3543300" y="1463040"/>
                </a:cubicBezTo>
                <a:lnTo>
                  <a:pt x="3573780" y="1417320"/>
                </a:lnTo>
                <a:cubicBezTo>
                  <a:pt x="3578860" y="1381760"/>
                  <a:pt x="3590302" y="1346538"/>
                  <a:pt x="3589020" y="1310640"/>
                </a:cubicBezTo>
                <a:cubicBezTo>
                  <a:pt x="3586480" y="1239520"/>
                  <a:pt x="3585348" y="1168336"/>
                  <a:pt x="3581400" y="1097280"/>
                </a:cubicBezTo>
                <a:cubicBezTo>
                  <a:pt x="3577216" y="1021970"/>
                  <a:pt x="3574607" y="1057348"/>
                  <a:pt x="3566160" y="998220"/>
                </a:cubicBezTo>
                <a:cubicBezTo>
                  <a:pt x="3562907" y="975450"/>
                  <a:pt x="3561080" y="952500"/>
                  <a:pt x="3558540" y="929640"/>
                </a:cubicBezTo>
                <a:cubicBezTo>
                  <a:pt x="3556000" y="838200"/>
                  <a:pt x="3561734" y="746154"/>
                  <a:pt x="3550920" y="655320"/>
                </a:cubicBezTo>
                <a:cubicBezTo>
                  <a:pt x="3549272" y="641476"/>
                  <a:pt x="3506554" y="594824"/>
                  <a:pt x="3497580" y="579120"/>
                </a:cubicBezTo>
                <a:cubicBezTo>
                  <a:pt x="3483491" y="554464"/>
                  <a:pt x="3475232" y="526549"/>
                  <a:pt x="3459480" y="502920"/>
                </a:cubicBezTo>
                <a:cubicBezTo>
                  <a:pt x="3449320" y="487680"/>
                  <a:pt x="3439990" y="471853"/>
                  <a:pt x="3429000" y="457200"/>
                </a:cubicBezTo>
                <a:cubicBezTo>
                  <a:pt x="3421380" y="447040"/>
                  <a:pt x="3412871" y="437490"/>
                  <a:pt x="3406140" y="426720"/>
                </a:cubicBezTo>
                <a:cubicBezTo>
                  <a:pt x="3349740" y="336480"/>
                  <a:pt x="3433408" y="451822"/>
                  <a:pt x="3368040" y="373380"/>
                </a:cubicBezTo>
                <a:cubicBezTo>
                  <a:pt x="3362177" y="366345"/>
                  <a:pt x="3359692" y="356551"/>
                  <a:pt x="3352800" y="350520"/>
                </a:cubicBezTo>
                <a:cubicBezTo>
                  <a:pt x="3339016" y="338459"/>
                  <a:pt x="3324456" y="325832"/>
                  <a:pt x="3307080" y="320040"/>
                </a:cubicBezTo>
                <a:cubicBezTo>
                  <a:pt x="3235714" y="296251"/>
                  <a:pt x="3287883" y="311541"/>
                  <a:pt x="3223260" y="297180"/>
                </a:cubicBezTo>
                <a:cubicBezTo>
                  <a:pt x="3213037" y="294908"/>
                  <a:pt x="3203003" y="291832"/>
                  <a:pt x="3192780" y="289560"/>
                </a:cubicBezTo>
                <a:cubicBezTo>
                  <a:pt x="3180137" y="286750"/>
                  <a:pt x="3167300" y="284852"/>
                  <a:pt x="3154680" y="281940"/>
                </a:cubicBezTo>
                <a:cubicBezTo>
                  <a:pt x="3134271" y="277230"/>
                  <a:pt x="3113591" y="273324"/>
                  <a:pt x="3093720" y="266700"/>
                </a:cubicBezTo>
                <a:cubicBezTo>
                  <a:pt x="3074134" y="260171"/>
                  <a:pt x="3061430" y="255287"/>
                  <a:pt x="3040380" y="251460"/>
                </a:cubicBezTo>
                <a:cubicBezTo>
                  <a:pt x="3022709" y="248247"/>
                  <a:pt x="3004820" y="246380"/>
                  <a:pt x="2987040" y="243840"/>
                </a:cubicBezTo>
                <a:cubicBezTo>
                  <a:pt x="2974340" y="238760"/>
                  <a:pt x="2961174" y="234717"/>
                  <a:pt x="2948940" y="228600"/>
                </a:cubicBezTo>
                <a:cubicBezTo>
                  <a:pt x="2889854" y="199057"/>
                  <a:pt x="2960679" y="224893"/>
                  <a:pt x="2903220" y="205740"/>
                </a:cubicBezTo>
                <a:cubicBezTo>
                  <a:pt x="2832690" y="88190"/>
                  <a:pt x="2927482" y="235316"/>
                  <a:pt x="2849880" y="144780"/>
                </a:cubicBezTo>
                <a:cubicBezTo>
                  <a:pt x="2842488" y="136155"/>
                  <a:pt x="2840484" y="124040"/>
                  <a:pt x="2834640" y="114300"/>
                </a:cubicBezTo>
                <a:cubicBezTo>
                  <a:pt x="2825216" y="98594"/>
                  <a:pt x="2814320" y="83820"/>
                  <a:pt x="2804160" y="68580"/>
                </a:cubicBezTo>
                <a:cubicBezTo>
                  <a:pt x="2788920" y="45720"/>
                  <a:pt x="2791460" y="43180"/>
                  <a:pt x="2766060" y="30480"/>
                </a:cubicBezTo>
                <a:cubicBezTo>
                  <a:pt x="2758876" y="26888"/>
                  <a:pt x="2751225" y="23209"/>
                  <a:pt x="2743200" y="22860"/>
                </a:cubicBezTo>
                <a:cubicBezTo>
                  <a:pt x="2692448" y="20653"/>
                  <a:pt x="2616200" y="3810"/>
                  <a:pt x="2590800" y="0"/>
                </a:cubicBezTo>
                <a:close/>
              </a:path>
            </a:pathLst>
          </a:cu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2111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6856" y="260648"/>
            <a:ext cx="8229600" cy="648072"/>
          </a:xfrm>
        </p:spPr>
        <p:txBody>
          <a:bodyPr/>
          <a:lstStyle/>
          <a:p>
            <a:r>
              <a:rPr lang="fr-FR" dirty="0"/>
              <a:t>Module : </a:t>
            </a:r>
            <a:r>
              <a:rPr lang="fr-FR" dirty="0" err="1"/>
              <a:t>QtWidgets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732240" y="6309320"/>
            <a:ext cx="2133600" cy="365125"/>
          </a:xfrm>
        </p:spPr>
        <p:txBody>
          <a:bodyPr/>
          <a:lstStyle/>
          <a:p>
            <a:fld id="{BECFFF0D-0199-40F6-98A2-0B4E765CD128}" type="slidenum">
              <a:rPr lang="en-US" sz="1100" smtClean="0"/>
              <a:pPr/>
              <a:t>17</a:t>
            </a:fld>
            <a:endParaRPr lang="en-US" sz="11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995" y="1269206"/>
            <a:ext cx="7414260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409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6856" y="260648"/>
            <a:ext cx="8229600" cy="648072"/>
          </a:xfrm>
        </p:spPr>
        <p:txBody>
          <a:bodyPr/>
          <a:lstStyle/>
          <a:p>
            <a:r>
              <a:rPr lang="fr-FR" dirty="0" smtClean="0"/>
              <a:t>Exemple 1 : widget simple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732240" y="6309320"/>
            <a:ext cx="2133600" cy="365125"/>
          </a:xfrm>
        </p:spPr>
        <p:txBody>
          <a:bodyPr/>
          <a:lstStyle/>
          <a:p>
            <a:fld id="{BECFFF0D-0199-40F6-98A2-0B4E765CD128}" type="slidenum">
              <a:rPr lang="en-US" sz="1100" smtClean="0"/>
              <a:pPr/>
              <a:t>18</a:t>
            </a:fld>
            <a:endParaRPr lang="en-US" sz="11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7" name="Espace réservé du contenu 2"/>
          <p:cNvSpPr txBox="1">
            <a:spLocks/>
          </p:cNvSpPr>
          <p:nvPr/>
        </p:nvSpPr>
        <p:spPr>
          <a:xfrm>
            <a:off x="455360" y="2924944"/>
            <a:ext cx="8013104" cy="30963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 err="1">
                <a:solidFill>
                  <a:schemeClr val="tx1"/>
                </a:solidFill>
              </a:rPr>
              <a:t>from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PyQt5 </a:t>
            </a:r>
            <a:r>
              <a:rPr lang="fr-FR" dirty="0">
                <a:solidFill>
                  <a:schemeClr val="tx1"/>
                </a:solidFill>
              </a:rPr>
              <a:t>import 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QtWidgets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import </a:t>
            </a:r>
            <a:r>
              <a:rPr lang="fr-FR" dirty="0" err="1">
                <a:solidFill>
                  <a:schemeClr val="tx1"/>
                </a:solidFill>
              </a:rPr>
              <a:t>sys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 err="1">
                <a:solidFill>
                  <a:schemeClr val="tx1"/>
                </a:solidFill>
              </a:rPr>
              <a:t>def</a:t>
            </a:r>
            <a:r>
              <a:rPr lang="fr-FR" dirty="0">
                <a:solidFill>
                  <a:schemeClr val="tx1"/>
                </a:solidFill>
              </a:rPr>
              <a:t> main(</a:t>
            </a:r>
            <a:r>
              <a:rPr lang="fr-FR" dirty="0" err="1">
                <a:solidFill>
                  <a:schemeClr val="tx1"/>
                </a:solidFill>
              </a:rPr>
              <a:t>args</a:t>
            </a:r>
            <a:r>
              <a:rPr lang="fr-FR" dirty="0">
                <a:solidFill>
                  <a:schemeClr val="tx1"/>
                </a:solidFill>
              </a:rPr>
              <a:t>) :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smtClean="0"/>
              <a:t>#on doit disposer </a:t>
            </a:r>
            <a:r>
              <a:rPr lang="fr-FR" dirty="0"/>
              <a:t>d'une instance de </a:t>
            </a:r>
            <a:r>
              <a:rPr lang="fr-FR" dirty="0" err="1"/>
              <a:t>QApplication</a:t>
            </a:r>
            <a:r>
              <a:rPr lang="fr-FR" dirty="0"/>
              <a:t> gérant l'ensemble des widgets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app</a:t>
            </a:r>
            <a:r>
              <a:rPr lang="fr-FR" dirty="0" smtClean="0">
                <a:solidFill>
                  <a:schemeClr val="tx1"/>
                </a:solidFill>
              </a:rPr>
              <a:t> = </a:t>
            </a:r>
            <a:r>
              <a:rPr lang="fr-FR" dirty="0" err="1" smtClean="0">
                <a:solidFill>
                  <a:schemeClr val="tx1"/>
                </a:solidFill>
              </a:rPr>
              <a:t>QtWidgets.QApplication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args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/>
              <a:t>#</a:t>
            </a:r>
            <a:r>
              <a:rPr lang="fr-FR" dirty="0" smtClean="0"/>
              <a:t>une </a:t>
            </a:r>
            <a:r>
              <a:rPr lang="fr-FR" dirty="0" err="1" smtClean="0"/>
              <a:t>fenetre</a:t>
            </a:r>
            <a:endParaRPr lang="fr-FR" dirty="0"/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fen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= </a:t>
            </a:r>
            <a:r>
              <a:rPr lang="fr-FR" dirty="0" err="1" smtClean="0">
                <a:solidFill>
                  <a:schemeClr val="tx1"/>
                </a:solidFill>
              </a:rPr>
              <a:t>QtWidgets.QWidget</a:t>
            </a:r>
            <a:r>
              <a:rPr lang="fr-FR" dirty="0" smtClean="0">
                <a:solidFill>
                  <a:schemeClr val="tx1"/>
                </a:solidFill>
              </a:rPr>
              <a:t>() </a:t>
            </a:r>
            <a:endParaRPr lang="fr-FR" dirty="0" smtClean="0">
              <a:solidFill>
                <a:srgbClr val="FF0000"/>
              </a:solidFill>
            </a:endParaRPr>
          </a:p>
          <a:p>
            <a:r>
              <a:rPr lang="fr-FR" dirty="0" smtClean="0"/>
              <a:t>   # titre de la </a:t>
            </a:r>
            <a:r>
              <a:rPr lang="fr-FR" dirty="0" err="1" smtClean="0"/>
              <a:t>fenetre</a:t>
            </a:r>
            <a:endParaRPr lang="fr-FR" dirty="0" smtClean="0"/>
          </a:p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fen.setWindowTitle</a:t>
            </a:r>
            <a:r>
              <a:rPr lang="fr-FR" dirty="0">
                <a:solidFill>
                  <a:schemeClr val="tx1"/>
                </a:solidFill>
              </a:rPr>
              <a:t>("</a:t>
            </a:r>
            <a:r>
              <a:rPr lang="fr-FR" dirty="0" err="1">
                <a:solidFill>
                  <a:schemeClr val="tx1"/>
                </a:solidFill>
              </a:rPr>
              <a:t>Demo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QMainWindow</a:t>
            </a:r>
            <a:r>
              <a:rPr lang="fr-FR" dirty="0" smtClean="0">
                <a:solidFill>
                  <a:schemeClr val="tx1"/>
                </a:solidFill>
              </a:rPr>
              <a:t>")</a:t>
            </a:r>
          </a:p>
          <a:p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</a:t>
            </a:r>
            <a:r>
              <a:rPr lang="fr-FR" dirty="0"/>
              <a:t># </a:t>
            </a:r>
            <a:r>
              <a:rPr lang="fr-FR" dirty="0" smtClean="0"/>
              <a:t>taille de </a:t>
            </a:r>
            <a:r>
              <a:rPr lang="fr-FR" dirty="0"/>
              <a:t>la </a:t>
            </a:r>
            <a:r>
              <a:rPr lang="fr-FR" dirty="0" err="1"/>
              <a:t>fenetre</a:t>
            </a:r>
            <a:endParaRPr lang="fr-FR" dirty="0"/>
          </a:p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fen.resize</a:t>
            </a:r>
            <a:r>
              <a:rPr lang="fr-FR" dirty="0" smtClean="0">
                <a:solidFill>
                  <a:schemeClr val="tx1"/>
                </a:solidFill>
              </a:rPr>
              <a:t>(840,480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 smtClean="0"/>
              <a:t>   #</a:t>
            </a:r>
            <a:r>
              <a:rPr lang="fr-FR" dirty="0"/>
              <a:t>qu'on affiche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fen.show</a:t>
            </a:r>
            <a:r>
              <a:rPr lang="fr-FR" dirty="0">
                <a:solidFill>
                  <a:schemeClr val="tx1"/>
                </a:solidFill>
              </a:rPr>
              <a:t>()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err="1">
                <a:solidFill>
                  <a:schemeClr val="tx1"/>
                </a:solidFill>
              </a:rPr>
              <a:t>app.exec</a:t>
            </a:r>
            <a:r>
              <a:rPr lang="fr-FR" dirty="0">
                <a:solidFill>
                  <a:schemeClr val="tx1"/>
                </a:solidFill>
              </a:rPr>
              <a:t>_()</a:t>
            </a:r>
          </a:p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if __</a:t>
            </a:r>
            <a:r>
              <a:rPr lang="fr-FR" dirty="0" err="1">
                <a:solidFill>
                  <a:schemeClr val="tx1"/>
                </a:solidFill>
              </a:rPr>
              <a:t>name</a:t>
            </a:r>
            <a:r>
              <a:rPr lang="fr-FR" dirty="0">
                <a:solidFill>
                  <a:schemeClr val="tx1"/>
                </a:solidFill>
              </a:rPr>
              <a:t>__ == "__main__" :</a:t>
            </a:r>
          </a:p>
          <a:p>
            <a:r>
              <a:rPr lang="fr-FR" dirty="0">
                <a:solidFill>
                  <a:schemeClr val="tx1"/>
                </a:solidFill>
              </a:rPr>
              <a:t>   main(</a:t>
            </a:r>
            <a:r>
              <a:rPr lang="fr-FR" dirty="0" err="1">
                <a:solidFill>
                  <a:schemeClr val="tx1"/>
                </a:solidFill>
              </a:rPr>
              <a:t>sys.argv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439" y="980728"/>
            <a:ext cx="3455561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>
          <a:xfrm>
            <a:off x="539552" y="1124744"/>
            <a:ext cx="5040560" cy="1408802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sz="1400" dirty="0" err="1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from</a:t>
            </a:r>
            <a:r>
              <a:rPr lang="fr-FR" sz="1400" dirty="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fr-FR" sz="1400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PyQt5 </a:t>
            </a:r>
            <a:r>
              <a:rPr lang="fr-FR" sz="1400" dirty="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import </a:t>
            </a:r>
            <a:r>
              <a:rPr lang="fr-FR" sz="14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QtWidgets</a:t>
            </a:r>
            <a:endParaRPr lang="fr-FR" sz="1400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import</a:t>
            </a:r>
            <a:r>
              <a:rPr lang="fr-FR" sz="1400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fr-FR" sz="1400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sys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endParaRPr lang="fr-FR" sz="1400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app</a:t>
            </a:r>
            <a:r>
              <a:rPr lang="fr-FR" sz="1400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 </a:t>
            </a:r>
            <a:r>
              <a:rPr lang="fr-FR" sz="14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QtWidgets.QApplication</a:t>
            </a:r>
            <a:r>
              <a:rPr lang="fr-FR" sz="1400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fr-FR" sz="14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sys.argv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 </a:t>
            </a:r>
            <a:endParaRPr lang="fr-FR" sz="1400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fen</a:t>
            </a:r>
            <a:r>
              <a:rPr lang="fr-FR" sz="1400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fr-FR" sz="14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QtWidgets.QWidget</a:t>
            </a:r>
            <a:r>
              <a:rPr lang="fr-FR" sz="1400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fr-FR" sz="15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fen.setWindowTitle</a:t>
            </a:r>
            <a:r>
              <a:rPr lang="fr-FR" sz="15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("</a:t>
            </a:r>
            <a:r>
              <a:rPr lang="fr-FR" sz="1500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Demo</a:t>
            </a:r>
            <a:r>
              <a:rPr lang="fr-FR" sz="15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fr-FR" sz="1500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QMainWindow</a:t>
            </a:r>
            <a:r>
              <a:rPr lang="fr-FR" sz="15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fr-FR" sz="15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fen.resize</a:t>
            </a:r>
            <a:r>
              <a:rPr lang="fr-FR" sz="1500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(840,480</a:t>
            </a:r>
            <a:r>
              <a:rPr lang="fr-FR" sz="15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fr-FR" sz="15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fen.show</a:t>
            </a:r>
            <a:r>
              <a:rPr lang="fr-FR" sz="15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fr-FR" sz="15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app.exec</a:t>
            </a:r>
            <a:r>
              <a:rPr lang="fr-FR" sz="15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_()</a:t>
            </a:r>
          </a:p>
        </p:txBody>
      </p:sp>
    </p:spTree>
    <p:extLst>
      <p:ext uri="{BB962C8B-B14F-4D97-AF65-F5344CB8AC3E}">
        <p14:creationId xmlns:p14="http://schemas.microsoft.com/office/powerpoint/2010/main" val="337746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6856" y="260648"/>
            <a:ext cx="8229600" cy="648072"/>
          </a:xfrm>
        </p:spPr>
        <p:txBody>
          <a:bodyPr/>
          <a:lstStyle/>
          <a:p>
            <a:r>
              <a:rPr lang="fr-FR" dirty="0" smtClean="0"/>
              <a:t>Exemple 2 : création d’un bouton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96888" y="1228110"/>
            <a:ext cx="5040560" cy="1296144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1400" dirty="0" err="1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from</a:t>
            </a:r>
            <a:r>
              <a:rPr lang="fr-FR" sz="1400" dirty="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PyQt4 </a:t>
            </a:r>
            <a:r>
              <a:rPr lang="fr-FR" sz="1400" dirty="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import </a:t>
            </a:r>
            <a:r>
              <a:rPr lang="fr-FR" sz="14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</a:t>
            </a:r>
            <a:endParaRPr lang="fr-FR" sz="1400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import</a:t>
            </a:r>
            <a:r>
              <a:rPr lang="fr-FR" sz="1400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fr-FR" sz="1400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sys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endParaRPr lang="fr-FR" sz="1400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app</a:t>
            </a:r>
            <a:r>
              <a:rPr lang="fr-FR" sz="1400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 </a:t>
            </a:r>
            <a:r>
              <a:rPr lang="fr-FR" sz="1400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QtGui.QApplication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fr-FR" sz="1400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sys.argv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 </a:t>
            </a:r>
            <a:endParaRPr lang="fr-FR" sz="1400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hello 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 </a:t>
            </a:r>
            <a:r>
              <a:rPr lang="fr-FR" sz="1400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QtGui.QPushButton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("Hello World!", None) </a:t>
            </a:r>
            <a:endParaRPr lang="fr-FR" sz="1400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hello.show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() </a:t>
            </a:r>
            <a:endParaRPr lang="fr-FR" sz="1400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app.exec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_()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732240" y="6309320"/>
            <a:ext cx="2133600" cy="365125"/>
          </a:xfrm>
        </p:spPr>
        <p:txBody>
          <a:bodyPr/>
          <a:lstStyle/>
          <a:p>
            <a:fld id="{BECFFF0D-0199-40F6-98A2-0B4E765CD128}" type="slidenum">
              <a:rPr lang="en-US" sz="1100" smtClean="0"/>
              <a:pPr/>
              <a:t>19</a:t>
            </a:fld>
            <a:endParaRPr lang="en-US" sz="11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403162"/>
            <a:ext cx="16002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Espace réservé du contenu 2"/>
          <p:cNvSpPr txBox="1">
            <a:spLocks/>
          </p:cNvSpPr>
          <p:nvPr/>
        </p:nvSpPr>
        <p:spPr>
          <a:xfrm>
            <a:off x="467544" y="2893586"/>
            <a:ext cx="8424936" cy="31683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 err="1">
                <a:solidFill>
                  <a:schemeClr val="tx1"/>
                </a:solidFill>
              </a:rPr>
              <a:t>from</a:t>
            </a:r>
            <a:r>
              <a:rPr lang="fr-FR" dirty="0">
                <a:solidFill>
                  <a:schemeClr val="tx1"/>
                </a:solidFill>
              </a:rPr>
              <a:t> PyQt4 import </a:t>
            </a:r>
            <a:r>
              <a:rPr lang="fr-FR" dirty="0" smtClean="0">
                <a:solidFill>
                  <a:schemeClr val="tx1"/>
                </a:solidFill>
              </a:rPr>
              <a:t>*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import </a:t>
            </a:r>
            <a:r>
              <a:rPr lang="fr-FR" dirty="0" err="1">
                <a:solidFill>
                  <a:schemeClr val="tx1"/>
                </a:solidFill>
              </a:rPr>
              <a:t>sys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 err="1">
                <a:solidFill>
                  <a:schemeClr val="tx1"/>
                </a:solidFill>
              </a:rPr>
              <a:t>def</a:t>
            </a:r>
            <a:r>
              <a:rPr lang="fr-FR" dirty="0">
                <a:solidFill>
                  <a:schemeClr val="tx1"/>
                </a:solidFill>
              </a:rPr>
              <a:t> main(</a:t>
            </a:r>
            <a:r>
              <a:rPr lang="fr-FR" dirty="0" err="1">
                <a:solidFill>
                  <a:schemeClr val="tx1"/>
                </a:solidFill>
              </a:rPr>
              <a:t>args</a:t>
            </a:r>
            <a:r>
              <a:rPr lang="fr-FR" dirty="0">
                <a:solidFill>
                  <a:schemeClr val="tx1"/>
                </a:solidFill>
              </a:rPr>
              <a:t>) :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smtClean="0"/>
              <a:t>#on doit disposer </a:t>
            </a:r>
            <a:r>
              <a:rPr lang="fr-FR" dirty="0"/>
              <a:t>d'une instance de </a:t>
            </a:r>
            <a:r>
              <a:rPr lang="fr-FR" dirty="0" err="1"/>
              <a:t>QApplication</a:t>
            </a:r>
            <a:r>
              <a:rPr lang="fr-FR" dirty="0"/>
              <a:t> gérant l'ensemble des widgets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app</a:t>
            </a:r>
            <a:r>
              <a:rPr lang="fr-FR" dirty="0" smtClean="0">
                <a:solidFill>
                  <a:schemeClr val="tx1"/>
                </a:solidFill>
              </a:rPr>
              <a:t> = </a:t>
            </a:r>
            <a:r>
              <a:rPr lang="fr-FR" dirty="0" err="1" smtClean="0">
                <a:solidFill>
                  <a:schemeClr val="tx1"/>
                </a:solidFill>
              </a:rPr>
              <a:t>QApplication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args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/>
              <a:t>#un nouveau bouton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button</a:t>
            </a:r>
            <a:r>
              <a:rPr lang="fr-FR" dirty="0" smtClean="0">
                <a:solidFill>
                  <a:schemeClr val="tx1"/>
                </a:solidFill>
              </a:rPr>
              <a:t> = </a:t>
            </a:r>
            <a:r>
              <a:rPr lang="fr-FR" dirty="0" err="1" smtClean="0">
                <a:solidFill>
                  <a:schemeClr val="tx1"/>
                </a:solidFill>
              </a:rPr>
              <a:t>QPushButton</a:t>
            </a:r>
            <a:r>
              <a:rPr lang="fr-FR" dirty="0">
                <a:solidFill>
                  <a:schemeClr val="tx1"/>
                </a:solidFill>
              </a:rPr>
              <a:t>("Hello World !", None)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/>
              <a:t>#qu'on affiche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err="1">
                <a:solidFill>
                  <a:schemeClr val="tx1"/>
                </a:solidFill>
              </a:rPr>
              <a:t>button.show</a:t>
            </a:r>
            <a:r>
              <a:rPr lang="fr-FR" dirty="0">
                <a:solidFill>
                  <a:schemeClr val="tx1"/>
                </a:solidFill>
              </a:rPr>
              <a:t>()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err="1">
                <a:solidFill>
                  <a:schemeClr val="tx1"/>
                </a:solidFill>
              </a:rPr>
              <a:t>app.exec</a:t>
            </a:r>
            <a:r>
              <a:rPr lang="fr-FR" dirty="0">
                <a:solidFill>
                  <a:schemeClr val="tx1"/>
                </a:solidFill>
              </a:rPr>
              <a:t>_()</a:t>
            </a:r>
          </a:p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if __</a:t>
            </a:r>
            <a:r>
              <a:rPr lang="fr-FR" dirty="0" err="1">
                <a:solidFill>
                  <a:schemeClr val="tx1"/>
                </a:solidFill>
              </a:rPr>
              <a:t>name</a:t>
            </a:r>
            <a:r>
              <a:rPr lang="fr-FR" dirty="0">
                <a:solidFill>
                  <a:schemeClr val="tx1"/>
                </a:solidFill>
              </a:rPr>
              <a:t>__ == "__main__" :</a:t>
            </a:r>
          </a:p>
          <a:p>
            <a:r>
              <a:rPr lang="fr-FR" dirty="0">
                <a:solidFill>
                  <a:schemeClr val="tx1"/>
                </a:solidFill>
              </a:rPr>
              <a:t>   main(</a:t>
            </a:r>
            <a:r>
              <a:rPr lang="fr-FR" dirty="0" err="1">
                <a:solidFill>
                  <a:schemeClr val="tx1"/>
                </a:solidFill>
              </a:rPr>
              <a:t>sys.argv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467544" y="836712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Version simple :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67544" y="2524254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Version recommandée : 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16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Agencement des widgets (</a:t>
            </a:r>
            <a:r>
              <a:rPr lang="fr-FR" i="1" dirty="0" err="1" smtClean="0"/>
              <a:t>layout</a:t>
            </a:r>
            <a:r>
              <a:rPr lang="fr-FR" dirty="0" smtClean="0"/>
              <a:t>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196752"/>
            <a:ext cx="8784976" cy="4525963"/>
          </a:xfrm>
        </p:spPr>
        <p:txBody>
          <a:bodyPr>
            <a:normAutofit/>
          </a:bodyPr>
          <a:lstStyle/>
          <a:p>
            <a:r>
              <a:rPr lang="fr-FR" sz="2000" dirty="0" smtClean="0"/>
              <a:t>Plusieurs types d’agencement :</a:t>
            </a:r>
          </a:p>
          <a:p>
            <a:pPr lvl="1"/>
            <a:r>
              <a:rPr lang="fr-FR" sz="1600" dirty="0" err="1" smtClean="0"/>
              <a:t>QHBoxLayout</a:t>
            </a:r>
            <a:r>
              <a:rPr lang="fr-FR" sz="1600" dirty="0" smtClean="0"/>
              <a:t>  et </a:t>
            </a:r>
            <a:r>
              <a:rPr lang="fr-FR" sz="1600" dirty="0" err="1" smtClean="0"/>
              <a:t>QVBoxLayout</a:t>
            </a:r>
            <a:r>
              <a:rPr lang="fr-FR" sz="1600" dirty="0" smtClean="0"/>
              <a:t> : placement des widgets horizontalement et verticalement</a:t>
            </a:r>
          </a:p>
          <a:p>
            <a:pPr lvl="2"/>
            <a:r>
              <a:rPr lang="fr-FR" sz="1200" dirty="0" err="1" smtClean="0">
                <a:solidFill>
                  <a:srgbClr val="FFFF00"/>
                </a:solidFill>
              </a:rPr>
              <a:t>addWidget</a:t>
            </a:r>
            <a:r>
              <a:rPr lang="fr-FR" sz="1200" dirty="0" smtClean="0">
                <a:solidFill>
                  <a:srgbClr val="FFFF00"/>
                </a:solidFill>
              </a:rPr>
              <a:t>(widget)</a:t>
            </a:r>
            <a:r>
              <a:rPr lang="fr-FR" sz="1200" dirty="0">
                <a:solidFill>
                  <a:srgbClr val="FFFF00"/>
                </a:solidFill>
              </a:rPr>
              <a:t> </a:t>
            </a:r>
            <a:r>
              <a:rPr lang="fr-FR" sz="1200" dirty="0" smtClean="0"/>
              <a:t>:  </a:t>
            </a:r>
            <a:r>
              <a:rPr lang="fr-FR" sz="1200" dirty="0"/>
              <a:t>ajouter un widget </a:t>
            </a:r>
            <a:r>
              <a:rPr lang="fr-FR" sz="1200" dirty="0" smtClean="0"/>
              <a:t>:</a:t>
            </a:r>
          </a:p>
          <a:p>
            <a:pPr lvl="2"/>
            <a:r>
              <a:rPr lang="fr-FR" sz="1200" dirty="0" err="1" smtClean="0">
                <a:solidFill>
                  <a:srgbClr val="FFFF00"/>
                </a:solidFill>
              </a:rPr>
              <a:t>addSpacing</a:t>
            </a:r>
            <a:r>
              <a:rPr lang="fr-FR" sz="1200" dirty="0" smtClean="0">
                <a:solidFill>
                  <a:srgbClr val="FFFF00"/>
                </a:solidFill>
              </a:rPr>
              <a:t>(size) </a:t>
            </a:r>
            <a:r>
              <a:rPr lang="fr-FR" sz="1200" dirty="0" smtClean="0"/>
              <a:t>: ajouter d’un espace de taille fixe</a:t>
            </a:r>
          </a:p>
          <a:p>
            <a:pPr lvl="2"/>
            <a:r>
              <a:rPr lang="fr-FR" sz="1200" dirty="0" err="1" smtClean="0">
                <a:solidFill>
                  <a:srgbClr val="FFFF00"/>
                </a:solidFill>
              </a:rPr>
              <a:t>addStretch</a:t>
            </a:r>
            <a:r>
              <a:rPr lang="fr-FR" sz="1200" dirty="0" smtClean="0">
                <a:solidFill>
                  <a:srgbClr val="FFFF00"/>
                </a:solidFill>
              </a:rPr>
              <a:t>(</a:t>
            </a:r>
            <a:r>
              <a:rPr lang="fr-FR" sz="1200" dirty="0" err="1" smtClean="0">
                <a:solidFill>
                  <a:srgbClr val="FFFF00"/>
                </a:solidFill>
              </a:rPr>
              <a:t>stretch_factor</a:t>
            </a:r>
            <a:r>
              <a:rPr lang="fr-FR" sz="1200" dirty="0" smtClean="0">
                <a:solidFill>
                  <a:srgbClr val="FFFF00"/>
                </a:solidFill>
              </a:rPr>
              <a:t>) </a:t>
            </a:r>
            <a:r>
              <a:rPr lang="fr-FR" sz="1200" dirty="0" smtClean="0"/>
              <a:t>: ajout un espace de taille </a:t>
            </a:r>
            <a:r>
              <a:rPr lang="fr-FR" sz="1200" dirty="0" err="1" smtClean="0"/>
              <a:t>extensile</a:t>
            </a:r>
            <a:endParaRPr lang="fr-FR" sz="1200" dirty="0" smtClean="0"/>
          </a:p>
          <a:p>
            <a:pPr lvl="1"/>
            <a:r>
              <a:rPr lang="fr-FR" sz="1600" dirty="0" err="1" smtClean="0"/>
              <a:t>QGridLayout</a:t>
            </a:r>
            <a:r>
              <a:rPr lang="fr-FR" sz="1600" dirty="0" smtClean="0"/>
              <a:t> : placement des widgets en grille</a:t>
            </a:r>
          </a:p>
          <a:p>
            <a:pPr lvl="2"/>
            <a:r>
              <a:rPr lang="fr-FR" sz="1200" dirty="0" err="1" smtClean="0">
                <a:solidFill>
                  <a:srgbClr val="FFFF00"/>
                </a:solidFill>
              </a:rPr>
              <a:t>addWidget</a:t>
            </a:r>
            <a:r>
              <a:rPr lang="fr-FR" sz="1200" dirty="0" smtClean="0">
                <a:solidFill>
                  <a:srgbClr val="FFFF00"/>
                </a:solidFill>
              </a:rPr>
              <a:t>(widget, </a:t>
            </a:r>
            <a:r>
              <a:rPr lang="fr-FR" sz="1200" dirty="0" err="1" smtClean="0">
                <a:solidFill>
                  <a:srgbClr val="FFFF00"/>
                </a:solidFill>
              </a:rPr>
              <a:t>row</a:t>
            </a:r>
            <a:r>
              <a:rPr lang="fr-FR" sz="1200" dirty="0" smtClean="0">
                <a:solidFill>
                  <a:srgbClr val="FFFF00"/>
                </a:solidFill>
              </a:rPr>
              <a:t>, col) </a:t>
            </a:r>
            <a:r>
              <a:rPr lang="fr-FR" sz="1200" dirty="0" smtClean="0"/>
              <a:t>: ajouter un widget à la position (</a:t>
            </a:r>
            <a:r>
              <a:rPr lang="fr-FR" sz="1200" dirty="0" err="1" smtClean="0"/>
              <a:t>row</a:t>
            </a:r>
            <a:r>
              <a:rPr lang="fr-FR" sz="1200" dirty="0" smtClean="0"/>
              <a:t>, col)</a:t>
            </a:r>
          </a:p>
          <a:p>
            <a:pPr lvl="2"/>
            <a:r>
              <a:rPr lang="fr-FR" sz="1200" dirty="0" err="1" smtClean="0">
                <a:solidFill>
                  <a:srgbClr val="FFFF00"/>
                </a:solidFill>
              </a:rPr>
              <a:t>addMultiCellWidget</a:t>
            </a:r>
            <a:r>
              <a:rPr lang="fr-FR" sz="1200" dirty="0" smtClean="0">
                <a:solidFill>
                  <a:srgbClr val="FFFF00"/>
                </a:solidFill>
              </a:rPr>
              <a:t>(widget, </a:t>
            </a:r>
            <a:r>
              <a:rPr lang="fr-FR" sz="1200" dirty="0" err="1" smtClean="0">
                <a:solidFill>
                  <a:srgbClr val="FFFF00"/>
                </a:solidFill>
              </a:rPr>
              <a:t>fromRow</a:t>
            </a:r>
            <a:r>
              <a:rPr lang="fr-FR" sz="1200" dirty="0" smtClean="0">
                <a:solidFill>
                  <a:srgbClr val="FFFF00"/>
                </a:solidFill>
              </a:rPr>
              <a:t>, </a:t>
            </a:r>
            <a:r>
              <a:rPr lang="fr-FR" sz="1200" dirty="0" err="1" smtClean="0">
                <a:solidFill>
                  <a:srgbClr val="FFFF00"/>
                </a:solidFill>
              </a:rPr>
              <a:t>toRow</a:t>
            </a:r>
            <a:r>
              <a:rPr lang="fr-FR" sz="1200" dirty="0" smtClean="0">
                <a:solidFill>
                  <a:srgbClr val="FFFF00"/>
                </a:solidFill>
              </a:rPr>
              <a:t>, </a:t>
            </a:r>
            <a:r>
              <a:rPr lang="fr-FR" sz="1200" dirty="0" err="1" smtClean="0">
                <a:solidFill>
                  <a:srgbClr val="FFFF00"/>
                </a:solidFill>
              </a:rPr>
              <a:t>fromCol</a:t>
            </a:r>
            <a:r>
              <a:rPr lang="fr-FR" sz="1200" dirty="0" smtClean="0">
                <a:solidFill>
                  <a:srgbClr val="FFFF00"/>
                </a:solidFill>
              </a:rPr>
              <a:t>, </a:t>
            </a:r>
            <a:r>
              <a:rPr lang="fr-FR" sz="1200" dirty="0" err="1" smtClean="0">
                <a:solidFill>
                  <a:srgbClr val="FFFF00"/>
                </a:solidFill>
              </a:rPr>
              <a:t>toCol</a:t>
            </a:r>
            <a:r>
              <a:rPr lang="fr-FR" sz="1200" dirty="0" smtClean="0">
                <a:solidFill>
                  <a:srgbClr val="FFFF00"/>
                </a:solidFill>
              </a:rPr>
              <a:t>)</a:t>
            </a:r>
            <a:endParaRPr lang="fr-FR" sz="1200" dirty="0">
              <a:solidFill>
                <a:srgbClr val="FFFF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500708" y="3573016"/>
            <a:ext cx="4071292" cy="25922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 err="1" smtClean="0">
                <a:solidFill>
                  <a:schemeClr val="tx1"/>
                </a:solidFill>
              </a:rPr>
              <a:t>from</a:t>
            </a:r>
            <a:r>
              <a:rPr lang="fr-FR" dirty="0" smtClean="0">
                <a:solidFill>
                  <a:schemeClr val="tx1"/>
                </a:solidFill>
              </a:rPr>
              <a:t> PyQt5 </a:t>
            </a:r>
            <a:r>
              <a:rPr lang="fr-FR" dirty="0">
                <a:solidFill>
                  <a:schemeClr val="tx1"/>
                </a:solidFill>
              </a:rPr>
              <a:t>import </a:t>
            </a:r>
            <a:r>
              <a:rPr lang="fr-FR" dirty="0" err="1" smtClean="0">
                <a:solidFill>
                  <a:schemeClr val="tx1"/>
                </a:solidFill>
              </a:rPr>
              <a:t>QtWidgets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import </a:t>
            </a:r>
            <a:r>
              <a:rPr lang="fr-FR" dirty="0" err="1">
                <a:solidFill>
                  <a:schemeClr val="tx1"/>
                </a:solidFill>
              </a:rPr>
              <a:t>sys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r>
              <a:rPr lang="fr-FR" dirty="0" err="1">
                <a:solidFill>
                  <a:schemeClr val="tx1"/>
                </a:solidFill>
              </a:rPr>
              <a:t>app</a:t>
            </a:r>
            <a:r>
              <a:rPr lang="fr-FR" dirty="0">
                <a:solidFill>
                  <a:schemeClr val="tx1"/>
                </a:solidFill>
              </a:rPr>
              <a:t> = </a:t>
            </a:r>
            <a:r>
              <a:rPr lang="fr-FR" dirty="0" err="1" smtClean="0">
                <a:solidFill>
                  <a:schemeClr val="tx1"/>
                </a:solidFill>
              </a:rPr>
              <a:t>QtWidgets.QApplication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sys.argv</a:t>
            </a:r>
            <a:r>
              <a:rPr lang="fr-FR" dirty="0">
                <a:solidFill>
                  <a:schemeClr val="tx1"/>
                </a:solidFill>
              </a:rPr>
              <a:t>) </a:t>
            </a:r>
          </a:p>
          <a:p>
            <a:r>
              <a:rPr lang="fr-FR" dirty="0" err="1">
                <a:solidFill>
                  <a:schemeClr val="tx1"/>
                </a:solidFill>
              </a:rPr>
              <a:t>fen</a:t>
            </a:r>
            <a:r>
              <a:rPr lang="fr-FR" dirty="0">
                <a:solidFill>
                  <a:schemeClr val="tx1"/>
                </a:solidFill>
              </a:rPr>
              <a:t> = </a:t>
            </a:r>
            <a:r>
              <a:rPr lang="fr-FR" dirty="0" err="1" smtClean="0">
                <a:solidFill>
                  <a:schemeClr val="tx1"/>
                </a:solidFill>
              </a:rPr>
              <a:t>QtWidgets.QWidget</a:t>
            </a:r>
            <a:r>
              <a:rPr lang="fr-FR" dirty="0">
                <a:solidFill>
                  <a:schemeClr val="tx1"/>
                </a:solidFill>
              </a:rPr>
              <a:t>()</a:t>
            </a:r>
          </a:p>
          <a:p>
            <a:r>
              <a:rPr lang="fr-FR" dirty="0" err="1">
                <a:solidFill>
                  <a:schemeClr val="tx1"/>
                </a:solidFill>
              </a:rPr>
              <a:t>fen.setWindowTitle</a:t>
            </a:r>
            <a:r>
              <a:rPr lang="fr-FR" dirty="0">
                <a:solidFill>
                  <a:schemeClr val="tx1"/>
                </a:solidFill>
              </a:rPr>
              <a:t>("</a:t>
            </a:r>
            <a:r>
              <a:rPr lang="fr-FR" dirty="0" err="1">
                <a:solidFill>
                  <a:schemeClr val="tx1"/>
                </a:solidFill>
              </a:rPr>
              <a:t>Demo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QMainWindow</a:t>
            </a:r>
            <a:r>
              <a:rPr lang="fr-FR" dirty="0">
                <a:solidFill>
                  <a:schemeClr val="tx1"/>
                </a:solidFill>
              </a:rPr>
              <a:t>")</a:t>
            </a:r>
          </a:p>
          <a:p>
            <a:r>
              <a:rPr lang="fr-FR" dirty="0" err="1">
                <a:solidFill>
                  <a:schemeClr val="tx1"/>
                </a:solidFill>
              </a:rPr>
              <a:t>fen.resize</a:t>
            </a:r>
            <a:r>
              <a:rPr lang="fr-FR" dirty="0">
                <a:solidFill>
                  <a:schemeClr val="tx1"/>
                </a:solidFill>
              </a:rPr>
              <a:t>(640,480)</a:t>
            </a:r>
          </a:p>
          <a:p>
            <a:r>
              <a:rPr lang="fr-FR" dirty="0" err="1" smtClean="0">
                <a:solidFill>
                  <a:srgbClr val="FF0000"/>
                </a:solidFill>
              </a:rPr>
              <a:t>layout</a:t>
            </a:r>
            <a:r>
              <a:rPr lang="fr-FR" dirty="0" smtClean="0">
                <a:solidFill>
                  <a:srgbClr val="FF0000"/>
                </a:solidFill>
              </a:rPr>
              <a:t>=</a:t>
            </a:r>
            <a:r>
              <a:rPr lang="fr-FR" dirty="0" err="1" smtClean="0">
                <a:solidFill>
                  <a:srgbClr val="FF0000"/>
                </a:solidFill>
              </a:rPr>
              <a:t>QtWidgets.QHBoxLayout</a:t>
            </a:r>
            <a:r>
              <a:rPr lang="fr-FR" dirty="0">
                <a:solidFill>
                  <a:srgbClr val="FF0000"/>
                </a:solidFill>
              </a:rPr>
              <a:t>(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>
                <a:solidFill>
                  <a:schemeClr val="tx1"/>
                </a:solidFill>
              </a:rPr>
              <a:t>bouton1= </a:t>
            </a:r>
            <a:r>
              <a:rPr lang="fr-FR" dirty="0" err="1">
                <a:solidFill>
                  <a:schemeClr val="tx1"/>
                </a:solidFill>
              </a:rPr>
              <a:t>QtWidgets.QPushButton</a:t>
            </a:r>
            <a:r>
              <a:rPr lang="fr-FR" dirty="0">
                <a:solidFill>
                  <a:schemeClr val="tx1"/>
                </a:solidFill>
              </a:rPr>
              <a:t>("bouton 1", </a:t>
            </a:r>
            <a:r>
              <a:rPr lang="fr-FR" dirty="0" err="1">
                <a:solidFill>
                  <a:schemeClr val="tx1"/>
                </a:solidFill>
              </a:rPr>
              <a:t>fen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>
                <a:solidFill>
                  <a:schemeClr val="tx1"/>
                </a:solidFill>
              </a:rPr>
              <a:t>bouton2= </a:t>
            </a:r>
            <a:r>
              <a:rPr lang="fr-FR" dirty="0" err="1">
                <a:solidFill>
                  <a:schemeClr val="tx1"/>
                </a:solidFill>
              </a:rPr>
              <a:t>QtWidgets.QPushButton</a:t>
            </a:r>
            <a:r>
              <a:rPr lang="fr-FR" dirty="0">
                <a:solidFill>
                  <a:schemeClr val="tx1"/>
                </a:solidFill>
              </a:rPr>
              <a:t>("bouton 2",fen)</a:t>
            </a:r>
          </a:p>
          <a:p>
            <a:r>
              <a:rPr lang="fr-FR" dirty="0">
                <a:solidFill>
                  <a:schemeClr val="tx1"/>
                </a:solidFill>
              </a:rPr>
              <a:t>bouton3= </a:t>
            </a:r>
            <a:r>
              <a:rPr lang="fr-FR" dirty="0" err="1">
                <a:solidFill>
                  <a:schemeClr val="tx1"/>
                </a:solidFill>
              </a:rPr>
              <a:t>QtWidgets.QPushButton</a:t>
            </a:r>
            <a:r>
              <a:rPr lang="fr-FR" dirty="0">
                <a:solidFill>
                  <a:schemeClr val="tx1"/>
                </a:solidFill>
              </a:rPr>
              <a:t>("bouton 3",fen)</a:t>
            </a:r>
          </a:p>
          <a:p>
            <a:r>
              <a:rPr lang="fr-FR" dirty="0" err="1" smtClean="0">
                <a:solidFill>
                  <a:schemeClr val="tx1"/>
                </a:solidFill>
              </a:rPr>
              <a:t>layout.addWidget</a:t>
            </a:r>
            <a:r>
              <a:rPr lang="fr-FR" dirty="0" smtClean="0">
                <a:solidFill>
                  <a:schemeClr val="tx1"/>
                </a:solidFill>
              </a:rPr>
              <a:t>(bouton1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 err="1">
                <a:solidFill>
                  <a:schemeClr val="tx1"/>
                </a:solidFill>
              </a:rPr>
              <a:t>layout.addWidget</a:t>
            </a:r>
            <a:r>
              <a:rPr lang="fr-FR" dirty="0">
                <a:solidFill>
                  <a:schemeClr val="tx1"/>
                </a:solidFill>
              </a:rPr>
              <a:t>(bouton2)</a:t>
            </a:r>
          </a:p>
          <a:p>
            <a:r>
              <a:rPr lang="fr-FR" dirty="0" err="1">
                <a:solidFill>
                  <a:schemeClr val="tx1"/>
                </a:solidFill>
              </a:rPr>
              <a:t>layout.addWidget</a:t>
            </a:r>
            <a:r>
              <a:rPr lang="fr-FR" dirty="0">
                <a:solidFill>
                  <a:schemeClr val="tx1"/>
                </a:solidFill>
              </a:rPr>
              <a:t>(bouton3)</a:t>
            </a:r>
          </a:p>
          <a:p>
            <a:r>
              <a:rPr lang="fr-FR" dirty="0" err="1" smtClean="0">
                <a:solidFill>
                  <a:schemeClr val="tx1"/>
                </a:solidFill>
              </a:rPr>
              <a:t>fen.setLayout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layout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 err="1">
                <a:solidFill>
                  <a:schemeClr val="tx1"/>
                </a:solidFill>
              </a:rPr>
              <a:t>fen.show</a:t>
            </a:r>
            <a:r>
              <a:rPr lang="fr-FR" dirty="0">
                <a:solidFill>
                  <a:schemeClr val="tx1"/>
                </a:solidFill>
              </a:rPr>
              <a:t>()</a:t>
            </a:r>
          </a:p>
          <a:p>
            <a:r>
              <a:rPr lang="fr-FR" dirty="0" err="1">
                <a:solidFill>
                  <a:schemeClr val="tx1"/>
                </a:solidFill>
              </a:rPr>
              <a:t>app.exec</a:t>
            </a:r>
            <a:r>
              <a:rPr lang="fr-FR" dirty="0">
                <a:solidFill>
                  <a:schemeClr val="tx1"/>
                </a:solidFill>
              </a:rPr>
              <a:t>_()</a:t>
            </a:r>
          </a:p>
        </p:txBody>
      </p:sp>
      <p:sp>
        <p:nvSpPr>
          <p:cNvPr id="9" name="Espace réservé du contenu 2"/>
          <p:cNvSpPr txBox="1">
            <a:spLocks/>
          </p:cNvSpPr>
          <p:nvPr/>
        </p:nvSpPr>
        <p:spPr>
          <a:xfrm>
            <a:off x="500708" y="3573016"/>
            <a:ext cx="4071292" cy="26128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 err="1" smtClean="0">
                <a:solidFill>
                  <a:schemeClr val="tx1"/>
                </a:solidFill>
              </a:rPr>
              <a:t>from</a:t>
            </a:r>
            <a:r>
              <a:rPr lang="fr-FR" dirty="0" smtClean="0">
                <a:solidFill>
                  <a:schemeClr val="tx1"/>
                </a:solidFill>
              </a:rPr>
              <a:t> PyQt5 </a:t>
            </a:r>
            <a:r>
              <a:rPr lang="fr-FR" dirty="0">
                <a:solidFill>
                  <a:schemeClr val="tx1"/>
                </a:solidFill>
              </a:rPr>
              <a:t>import </a:t>
            </a:r>
            <a:r>
              <a:rPr lang="fr-FR" dirty="0" err="1" smtClean="0">
                <a:solidFill>
                  <a:schemeClr val="tx1"/>
                </a:solidFill>
              </a:rPr>
              <a:t>QtWidgets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import </a:t>
            </a:r>
            <a:r>
              <a:rPr lang="fr-FR" dirty="0" err="1">
                <a:solidFill>
                  <a:schemeClr val="tx1"/>
                </a:solidFill>
              </a:rPr>
              <a:t>sys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r>
              <a:rPr lang="fr-FR" dirty="0" err="1">
                <a:solidFill>
                  <a:schemeClr val="tx1"/>
                </a:solidFill>
              </a:rPr>
              <a:t>app</a:t>
            </a:r>
            <a:r>
              <a:rPr lang="fr-FR" dirty="0">
                <a:solidFill>
                  <a:schemeClr val="tx1"/>
                </a:solidFill>
              </a:rPr>
              <a:t> = </a:t>
            </a:r>
            <a:r>
              <a:rPr lang="fr-FR" dirty="0" err="1" smtClean="0">
                <a:solidFill>
                  <a:schemeClr val="tx1"/>
                </a:solidFill>
              </a:rPr>
              <a:t>QtWidgets.QApplication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sys.argv</a:t>
            </a:r>
            <a:r>
              <a:rPr lang="fr-FR" dirty="0">
                <a:solidFill>
                  <a:schemeClr val="tx1"/>
                </a:solidFill>
              </a:rPr>
              <a:t>) </a:t>
            </a:r>
          </a:p>
          <a:p>
            <a:r>
              <a:rPr lang="fr-FR" dirty="0" err="1">
                <a:solidFill>
                  <a:schemeClr val="tx1"/>
                </a:solidFill>
              </a:rPr>
              <a:t>fen</a:t>
            </a:r>
            <a:r>
              <a:rPr lang="fr-FR" dirty="0">
                <a:solidFill>
                  <a:schemeClr val="tx1"/>
                </a:solidFill>
              </a:rPr>
              <a:t> = </a:t>
            </a:r>
            <a:r>
              <a:rPr lang="fr-FR" dirty="0" err="1">
                <a:solidFill>
                  <a:schemeClr val="tx1"/>
                </a:solidFill>
              </a:rPr>
              <a:t>QtWidgets.QWidget</a:t>
            </a:r>
            <a:r>
              <a:rPr lang="fr-FR" dirty="0">
                <a:solidFill>
                  <a:schemeClr val="tx1"/>
                </a:solidFill>
              </a:rPr>
              <a:t>()</a:t>
            </a:r>
          </a:p>
          <a:p>
            <a:r>
              <a:rPr lang="fr-FR" dirty="0" err="1">
                <a:solidFill>
                  <a:schemeClr val="tx1"/>
                </a:solidFill>
              </a:rPr>
              <a:t>fen.setWindowTitle</a:t>
            </a:r>
            <a:r>
              <a:rPr lang="fr-FR" dirty="0">
                <a:solidFill>
                  <a:schemeClr val="tx1"/>
                </a:solidFill>
              </a:rPr>
              <a:t>("</a:t>
            </a:r>
            <a:r>
              <a:rPr lang="fr-FR" dirty="0" err="1">
                <a:solidFill>
                  <a:schemeClr val="tx1"/>
                </a:solidFill>
              </a:rPr>
              <a:t>Demo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QMainWindow</a:t>
            </a:r>
            <a:r>
              <a:rPr lang="fr-FR" dirty="0">
                <a:solidFill>
                  <a:schemeClr val="tx1"/>
                </a:solidFill>
              </a:rPr>
              <a:t>")</a:t>
            </a:r>
          </a:p>
          <a:p>
            <a:r>
              <a:rPr lang="fr-FR" dirty="0" err="1">
                <a:solidFill>
                  <a:schemeClr val="tx1"/>
                </a:solidFill>
              </a:rPr>
              <a:t>fen.resize</a:t>
            </a:r>
            <a:r>
              <a:rPr lang="fr-FR" dirty="0">
                <a:solidFill>
                  <a:schemeClr val="tx1"/>
                </a:solidFill>
              </a:rPr>
              <a:t>(640,480)</a:t>
            </a:r>
          </a:p>
          <a:p>
            <a:r>
              <a:rPr lang="fr-FR" dirty="0" err="1" smtClean="0">
                <a:solidFill>
                  <a:srgbClr val="FF0000"/>
                </a:solidFill>
              </a:rPr>
              <a:t>layout</a:t>
            </a:r>
            <a:r>
              <a:rPr lang="fr-FR" dirty="0" smtClean="0">
                <a:solidFill>
                  <a:srgbClr val="FF0000"/>
                </a:solidFill>
              </a:rPr>
              <a:t>=</a:t>
            </a:r>
            <a:r>
              <a:rPr lang="fr-FR" dirty="0" err="1" smtClean="0">
                <a:solidFill>
                  <a:srgbClr val="FF0000"/>
                </a:solidFill>
              </a:rPr>
              <a:t>QtWidgets.QVBoxLayout</a:t>
            </a:r>
            <a:r>
              <a:rPr lang="fr-FR" dirty="0">
                <a:solidFill>
                  <a:srgbClr val="FF0000"/>
                </a:solidFill>
              </a:rPr>
              <a:t>()</a:t>
            </a:r>
          </a:p>
          <a:p>
            <a:r>
              <a:rPr lang="fr-FR" dirty="0">
                <a:solidFill>
                  <a:schemeClr val="tx1"/>
                </a:solidFill>
              </a:rPr>
              <a:t>bouton1= </a:t>
            </a:r>
            <a:r>
              <a:rPr lang="fr-FR" dirty="0" err="1">
                <a:solidFill>
                  <a:schemeClr val="tx1"/>
                </a:solidFill>
              </a:rPr>
              <a:t>QtWidgets.QPushButton</a:t>
            </a:r>
            <a:r>
              <a:rPr lang="fr-FR" dirty="0">
                <a:solidFill>
                  <a:schemeClr val="tx1"/>
                </a:solidFill>
              </a:rPr>
              <a:t>("bouton 1", </a:t>
            </a:r>
            <a:r>
              <a:rPr lang="fr-FR" dirty="0" err="1">
                <a:solidFill>
                  <a:srgbClr val="FF0000"/>
                </a:solidFill>
              </a:rPr>
              <a:t>fen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>
                <a:solidFill>
                  <a:schemeClr val="tx1"/>
                </a:solidFill>
              </a:rPr>
              <a:t>bouton2= </a:t>
            </a:r>
            <a:r>
              <a:rPr lang="fr-FR" dirty="0" err="1">
                <a:solidFill>
                  <a:schemeClr val="tx1"/>
                </a:solidFill>
              </a:rPr>
              <a:t>QtWidgets.QPushButton</a:t>
            </a:r>
            <a:r>
              <a:rPr lang="fr-FR" dirty="0">
                <a:solidFill>
                  <a:schemeClr val="tx1"/>
                </a:solidFill>
              </a:rPr>
              <a:t>("bouton 2",</a:t>
            </a:r>
            <a:r>
              <a:rPr lang="fr-FR" dirty="0">
                <a:solidFill>
                  <a:srgbClr val="FF0000"/>
                </a:solidFill>
              </a:rPr>
              <a:t>fen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>
                <a:solidFill>
                  <a:schemeClr val="tx1"/>
                </a:solidFill>
              </a:rPr>
              <a:t>bouton3= </a:t>
            </a:r>
            <a:r>
              <a:rPr lang="fr-FR" dirty="0" err="1">
                <a:solidFill>
                  <a:schemeClr val="tx1"/>
                </a:solidFill>
              </a:rPr>
              <a:t>QtWidgets.QPushButton</a:t>
            </a:r>
            <a:r>
              <a:rPr lang="fr-FR" dirty="0">
                <a:solidFill>
                  <a:schemeClr val="tx1"/>
                </a:solidFill>
              </a:rPr>
              <a:t>("bouton 3",</a:t>
            </a:r>
            <a:r>
              <a:rPr lang="fr-FR" dirty="0">
                <a:solidFill>
                  <a:srgbClr val="FF0000"/>
                </a:solidFill>
              </a:rPr>
              <a:t>fen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 err="1" smtClean="0">
                <a:solidFill>
                  <a:schemeClr val="tx1"/>
                </a:solidFill>
              </a:rPr>
              <a:t>layout.addWidget</a:t>
            </a:r>
            <a:r>
              <a:rPr lang="fr-FR" dirty="0" smtClean="0">
                <a:solidFill>
                  <a:schemeClr val="tx1"/>
                </a:solidFill>
              </a:rPr>
              <a:t>(bouton1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 err="1">
                <a:solidFill>
                  <a:schemeClr val="tx1"/>
                </a:solidFill>
              </a:rPr>
              <a:t>layout.addWidget</a:t>
            </a:r>
            <a:r>
              <a:rPr lang="fr-FR" dirty="0">
                <a:solidFill>
                  <a:schemeClr val="tx1"/>
                </a:solidFill>
              </a:rPr>
              <a:t>(bouton2)</a:t>
            </a:r>
          </a:p>
          <a:p>
            <a:r>
              <a:rPr lang="fr-FR" dirty="0" err="1">
                <a:solidFill>
                  <a:schemeClr val="tx1"/>
                </a:solidFill>
              </a:rPr>
              <a:t>layout.addWidget</a:t>
            </a:r>
            <a:r>
              <a:rPr lang="fr-FR" dirty="0">
                <a:solidFill>
                  <a:schemeClr val="tx1"/>
                </a:solidFill>
              </a:rPr>
              <a:t>(bouton3)</a:t>
            </a:r>
          </a:p>
          <a:p>
            <a:r>
              <a:rPr lang="fr-FR" dirty="0" err="1" smtClean="0">
                <a:solidFill>
                  <a:schemeClr val="tx1"/>
                </a:solidFill>
              </a:rPr>
              <a:t>fen.setLayout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layout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 err="1">
                <a:solidFill>
                  <a:schemeClr val="tx1"/>
                </a:solidFill>
              </a:rPr>
              <a:t>fen.show</a:t>
            </a:r>
            <a:r>
              <a:rPr lang="fr-FR" dirty="0">
                <a:solidFill>
                  <a:schemeClr val="tx1"/>
                </a:solidFill>
              </a:rPr>
              <a:t>()</a:t>
            </a:r>
          </a:p>
          <a:p>
            <a:r>
              <a:rPr lang="fr-FR" dirty="0" err="1">
                <a:solidFill>
                  <a:schemeClr val="tx1"/>
                </a:solidFill>
              </a:rPr>
              <a:t>app.exec</a:t>
            </a:r>
            <a:r>
              <a:rPr lang="fr-FR" dirty="0">
                <a:solidFill>
                  <a:schemeClr val="tx1"/>
                </a:solidFill>
              </a:rPr>
              <a:t>_()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429000"/>
            <a:ext cx="3964974" cy="1717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408432"/>
            <a:ext cx="3964974" cy="200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791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Définition d’une classe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 smtClean="0"/>
              <a:t>Classe héritant d’un </a:t>
            </a:r>
            <a:r>
              <a:rPr lang="fr-FR" sz="2400" dirty="0" err="1" smtClean="0"/>
              <a:t>QWidget</a:t>
            </a:r>
            <a:r>
              <a:rPr lang="fr-FR" sz="2400" dirty="0" smtClean="0"/>
              <a:t> , </a:t>
            </a:r>
            <a:r>
              <a:rPr lang="fr-FR" sz="2400" dirty="0" err="1" smtClean="0"/>
              <a:t>QMainWindow</a:t>
            </a:r>
            <a:r>
              <a:rPr lang="fr-FR" sz="2400" dirty="0" smtClean="0"/>
              <a:t>, </a:t>
            </a:r>
            <a:r>
              <a:rPr lang="fr-FR" sz="2400" dirty="0" err="1" smtClean="0"/>
              <a:t>QDialog</a:t>
            </a:r>
            <a:endParaRPr lang="fr-FR" sz="2400" dirty="0" smtClean="0"/>
          </a:p>
          <a:p>
            <a:r>
              <a:rPr lang="fr-FR" sz="2400" dirty="0" smtClean="0"/>
              <a:t>Variables d’instance : divers composants de l’interface</a:t>
            </a:r>
          </a:p>
          <a:p>
            <a:r>
              <a:rPr lang="fr-FR" sz="2400" dirty="0" smtClean="0"/>
              <a:t>Exemple :</a:t>
            </a:r>
            <a:endParaRPr lang="en-US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471344" y="2780928"/>
            <a:ext cx="8424936" cy="25922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from PyQt4 import </a:t>
            </a:r>
            <a:r>
              <a:rPr lang="en-US" dirty="0" err="1">
                <a:solidFill>
                  <a:schemeClr val="tx1"/>
                </a:solidFill>
              </a:rPr>
              <a:t>QtGui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import sys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class </a:t>
            </a:r>
            <a:r>
              <a:rPr lang="en-US" dirty="0" err="1">
                <a:solidFill>
                  <a:schemeClr val="tx1"/>
                </a:solidFill>
              </a:rPr>
              <a:t>Fenetre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QtGui.QWidget</a:t>
            </a:r>
            <a:r>
              <a:rPr lang="en-US" dirty="0">
                <a:solidFill>
                  <a:schemeClr val="tx1"/>
                </a:solidFill>
              </a:rPr>
              <a:t>): </a:t>
            </a:r>
          </a:p>
          <a:p>
            <a:r>
              <a:rPr lang="en-US" dirty="0">
                <a:solidFill>
                  <a:schemeClr val="tx1"/>
                </a:solidFill>
              </a:rPr>
              <a:t>   </a:t>
            </a:r>
            <a:r>
              <a:rPr lang="en-US" dirty="0" err="1">
                <a:solidFill>
                  <a:schemeClr val="tx1"/>
                </a:solidFill>
              </a:rPr>
              <a:t>def</a:t>
            </a:r>
            <a:r>
              <a:rPr lang="en-US" dirty="0">
                <a:solidFill>
                  <a:schemeClr val="tx1"/>
                </a:solidFill>
              </a:rPr>
              <a:t> 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__(self):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</a:t>
            </a:r>
            <a:r>
              <a:rPr lang="en-US" dirty="0" smtClean="0">
                <a:solidFill>
                  <a:schemeClr val="tx1"/>
                </a:solidFill>
              </a:rPr>
              <a:t>super</a:t>
            </a:r>
            <a:r>
              <a:rPr lang="en-US" dirty="0">
                <a:solidFill>
                  <a:schemeClr val="tx1"/>
                </a:solidFill>
              </a:rPr>
              <a:t>().__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__()</a:t>
            </a:r>
          </a:p>
          <a:p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dirty="0" err="1">
                <a:solidFill>
                  <a:schemeClr val="tx1"/>
                </a:solidFill>
              </a:rPr>
              <a:t>self.setWindowTitle</a:t>
            </a:r>
            <a:r>
              <a:rPr lang="en-US" dirty="0">
                <a:solidFill>
                  <a:schemeClr val="tx1"/>
                </a:solidFill>
              </a:rPr>
              <a:t>("Ma </a:t>
            </a:r>
            <a:r>
              <a:rPr lang="en-US" dirty="0" err="1">
                <a:solidFill>
                  <a:schemeClr val="tx1"/>
                </a:solidFill>
              </a:rPr>
              <a:t>fenetre</a:t>
            </a:r>
            <a:r>
              <a:rPr lang="en-US" dirty="0">
                <a:solidFill>
                  <a:schemeClr val="tx1"/>
                </a:solidFill>
              </a:rPr>
              <a:t>")</a:t>
            </a:r>
          </a:p>
          <a:p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dirty="0" err="1">
                <a:solidFill>
                  <a:schemeClr val="tx1"/>
                </a:solidFill>
              </a:rPr>
              <a:t>self.bouton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QtGui.QPushButton</a:t>
            </a:r>
            <a:r>
              <a:rPr lang="en-US" dirty="0">
                <a:solidFill>
                  <a:schemeClr val="tx1"/>
                </a:solidFill>
              </a:rPr>
              <a:t>('un </a:t>
            </a:r>
            <a:r>
              <a:rPr lang="en-US" dirty="0" err="1">
                <a:solidFill>
                  <a:schemeClr val="tx1"/>
                </a:solidFill>
              </a:rPr>
              <a:t>texte</a:t>
            </a:r>
            <a:r>
              <a:rPr lang="en-US" dirty="0">
                <a:solidFill>
                  <a:schemeClr val="tx1"/>
                </a:solidFill>
              </a:rPr>
              <a:t>', self)</a:t>
            </a:r>
          </a:p>
          <a:p>
            <a:r>
              <a:rPr lang="en-US" dirty="0">
                <a:solidFill>
                  <a:schemeClr val="tx1"/>
                </a:solidFill>
              </a:rPr>
              <a:t>             </a:t>
            </a:r>
          </a:p>
          <a:p>
            <a:r>
              <a:rPr lang="en-US" dirty="0">
                <a:solidFill>
                  <a:schemeClr val="tx1"/>
                </a:solidFill>
              </a:rPr>
              <a:t>if __name__=='__main__' :       </a:t>
            </a:r>
          </a:p>
          <a:p>
            <a:r>
              <a:rPr lang="en-US" dirty="0">
                <a:solidFill>
                  <a:schemeClr val="tx1"/>
                </a:solidFill>
              </a:rPr>
              <a:t>    app = </a:t>
            </a:r>
            <a:r>
              <a:rPr lang="en-US" dirty="0" err="1">
                <a:solidFill>
                  <a:schemeClr val="tx1"/>
                </a:solidFill>
              </a:rPr>
              <a:t>QtGui.QApplication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sys.argv</a:t>
            </a:r>
            <a:r>
              <a:rPr lang="en-US" dirty="0">
                <a:solidFill>
                  <a:schemeClr val="tx1"/>
                </a:solidFill>
              </a:rPr>
              <a:t>) </a:t>
            </a:r>
          </a:p>
          <a:p>
            <a:r>
              <a:rPr lang="en-US" dirty="0">
                <a:solidFill>
                  <a:schemeClr val="tx1"/>
                </a:solidFill>
              </a:rPr>
              <a:t>    fen = </a:t>
            </a:r>
            <a:r>
              <a:rPr lang="en-US" dirty="0" err="1">
                <a:solidFill>
                  <a:schemeClr val="tx1"/>
                </a:solidFill>
              </a:rPr>
              <a:t>Fenetre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fen.show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app.exec</a:t>
            </a:r>
            <a:r>
              <a:rPr lang="en-US" dirty="0">
                <a:solidFill>
                  <a:schemeClr val="tx1"/>
                </a:solidFill>
              </a:rPr>
              <a:t>_() 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Espace réservé du contenu 2"/>
          <p:cNvSpPr txBox="1">
            <a:spLocks/>
          </p:cNvSpPr>
          <p:nvPr/>
        </p:nvSpPr>
        <p:spPr>
          <a:xfrm>
            <a:off x="471344" y="2780928"/>
            <a:ext cx="8424936" cy="25922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from PyQt4 import </a:t>
            </a:r>
            <a:r>
              <a:rPr lang="en-US" dirty="0" err="1">
                <a:solidFill>
                  <a:schemeClr val="tx1"/>
                </a:solidFill>
              </a:rPr>
              <a:t>QtGui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import sys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class </a:t>
            </a:r>
            <a:r>
              <a:rPr lang="en-US" dirty="0" err="1" smtClean="0">
                <a:solidFill>
                  <a:schemeClr val="tx1"/>
                </a:solidFill>
              </a:rPr>
              <a:t>Fenetre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QtGui.QMainWindow</a:t>
            </a:r>
            <a:r>
              <a:rPr lang="en-US" dirty="0" smtClean="0">
                <a:solidFill>
                  <a:schemeClr val="tx1"/>
                </a:solidFill>
              </a:rPr>
              <a:t>):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</a:t>
            </a:r>
            <a:r>
              <a:rPr lang="en-US" dirty="0" err="1">
                <a:solidFill>
                  <a:schemeClr val="tx1"/>
                </a:solidFill>
              </a:rPr>
              <a:t>def</a:t>
            </a:r>
            <a:r>
              <a:rPr lang="en-US" dirty="0">
                <a:solidFill>
                  <a:schemeClr val="tx1"/>
                </a:solidFill>
              </a:rPr>
              <a:t> 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__(self):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</a:t>
            </a:r>
            <a:r>
              <a:rPr lang="en-US" dirty="0" smtClean="0">
                <a:solidFill>
                  <a:schemeClr val="tx1"/>
                </a:solidFill>
              </a:rPr>
              <a:t>super</a:t>
            </a:r>
            <a:r>
              <a:rPr lang="en-US" dirty="0">
                <a:solidFill>
                  <a:schemeClr val="tx1"/>
                </a:solidFill>
              </a:rPr>
              <a:t>().__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__()</a:t>
            </a:r>
          </a:p>
          <a:p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dirty="0" err="1">
                <a:solidFill>
                  <a:schemeClr val="tx1"/>
                </a:solidFill>
              </a:rPr>
              <a:t>self.setWindowTitle</a:t>
            </a:r>
            <a:r>
              <a:rPr lang="en-US" dirty="0">
                <a:solidFill>
                  <a:schemeClr val="tx1"/>
                </a:solidFill>
              </a:rPr>
              <a:t>("Ma </a:t>
            </a:r>
            <a:r>
              <a:rPr lang="en-US" dirty="0" err="1">
                <a:solidFill>
                  <a:schemeClr val="tx1"/>
                </a:solidFill>
              </a:rPr>
              <a:t>fenetre</a:t>
            </a:r>
            <a:r>
              <a:rPr lang="en-US" dirty="0">
                <a:solidFill>
                  <a:schemeClr val="tx1"/>
                </a:solidFill>
              </a:rPr>
              <a:t>")</a:t>
            </a:r>
          </a:p>
          <a:p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dirty="0" err="1">
                <a:solidFill>
                  <a:schemeClr val="tx1"/>
                </a:solidFill>
              </a:rPr>
              <a:t>self.bouton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QtGui.QPushButton</a:t>
            </a:r>
            <a:r>
              <a:rPr lang="en-US" dirty="0">
                <a:solidFill>
                  <a:schemeClr val="tx1"/>
                </a:solidFill>
              </a:rPr>
              <a:t>('un </a:t>
            </a:r>
            <a:r>
              <a:rPr lang="en-US" dirty="0" err="1">
                <a:solidFill>
                  <a:schemeClr val="tx1"/>
                </a:solidFill>
              </a:rPr>
              <a:t>texte</a:t>
            </a:r>
            <a:r>
              <a:rPr lang="en-US" dirty="0">
                <a:solidFill>
                  <a:schemeClr val="tx1"/>
                </a:solidFill>
              </a:rPr>
              <a:t>', self)</a:t>
            </a:r>
          </a:p>
          <a:p>
            <a:r>
              <a:rPr lang="en-US" dirty="0">
                <a:solidFill>
                  <a:schemeClr val="tx1"/>
                </a:solidFill>
              </a:rPr>
              <a:t>             </a:t>
            </a:r>
          </a:p>
          <a:p>
            <a:r>
              <a:rPr lang="en-US" dirty="0">
                <a:solidFill>
                  <a:schemeClr val="tx1"/>
                </a:solidFill>
              </a:rPr>
              <a:t>if __name__=='__main__' :       </a:t>
            </a:r>
          </a:p>
          <a:p>
            <a:r>
              <a:rPr lang="en-US" dirty="0">
                <a:solidFill>
                  <a:schemeClr val="tx1"/>
                </a:solidFill>
              </a:rPr>
              <a:t>    app = </a:t>
            </a:r>
            <a:r>
              <a:rPr lang="en-US" dirty="0" err="1">
                <a:solidFill>
                  <a:schemeClr val="tx1"/>
                </a:solidFill>
              </a:rPr>
              <a:t>QtGui.QApplication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sys.argv</a:t>
            </a:r>
            <a:r>
              <a:rPr lang="en-US" dirty="0">
                <a:solidFill>
                  <a:schemeClr val="tx1"/>
                </a:solidFill>
              </a:rPr>
              <a:t>) </a:t>
            </a:r>
          </a:p>
          <a:p>
            <a:r>
              <a:rPr lang="en-US" dirty="0">
                <a:solidFill>
                  <a:schemeClr val="tx1"/>
                </a:solidFill>
              </a:rPr>
              <a:t>    fen = </a:t>
            </a:r>
            <a:r>
              <a:rPr lang="en-US" dirty="0" err="1">
                <a:solidFill>
                  <a:schemeClr val="tx1"/>
                </a:solidFill>
              </a:rPr>
              <a:t>Fenetre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fen.show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app.exec</a:t>
            </a:r>
            <a:r>
              <a:rPr lang="en-US" dirty="0">
                <a:solidFill>
                  <a:schemeClr val="tx1"/>
                </a:solidFill>
              </a:rPr>
              <a:t>_() 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4693" y="2794288"/>
            <a:ext cx="16668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925" y="2780928"/>
            <a:ext cx="227647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Espace réservé du contenu 2"/>
          <p:cNvSpPr txBox="1">
            <a:spLocks/>
          </p:cNvSpPr>
          <p:nvPr/>
        </p:nvSpPr>
        <p:spPr>
          <a:xfrm>
            <a:off x="467544" y="2780928"/>
            <a:ext cx="8464856" cy="25922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from </a:t>
            </a:r>
            <a:r>
              <a:rPr lang="en-US" dirty="0" smtClean="0">
                <a:solidFill>
                  <a:schemeClr val="tx1"/>
                </a:solidFill>
              </a:rPr>
              <a:t>PyQt5 </a:t>
            </a:r>
            <a:r>
              <a:rPr lang="en-US" dirty="0">
                <a:solidFill>
                  <a:schemeClr val="tx1"/>
                </a:solidFill>
              </a:rPr>
              <a:t>import </a:t>
            </a:r>
            <a:r>
              <a:rPr lang="en-US" dirty="0" err="1" smtClean="0">
                <a:solidFill>
                  <a:schemeClr val="tx1"/>
                </a:solidFill>
              </a:rPr>
              <a:t>QtWidgets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import sys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class </a:t>
            </a:r>
            <a:r>
              <a:rPr lang="en-US" dirty="0" err="1" smtClean="0">
                <a:solidFill>
                  <a:schemeClr val="tx1"/>
                </a:solidFill>
              </a:rPr>
              <a:t>Fenetre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QtWidgets.QDialog</a:t>
            </a:r>
            <a:r>
              <a:rPr lang="en-US" dirty="0" smtClean="0">
                <a:solidFill>
                  <a:schemeClr val="tx1"/>
                </a:solidFill>
              </a:rPr>
              <a:t>):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</a:t>
            </a:r>
            <a:r>
              <a:rPr lang="en-US" dirty="0" err="1">
                <a:solidFill>
                  <a:schemeClr val="tx1"/>
                </a:solidFill>
              </a:rPr>
              <a:t>def</a:t>
            </a:r>
            <a:r>
              <a:rPr lang="en-US" dirty="0">
                <a:solidFill>
                  <a:schemeClr val="tx1"/>
                </a:solidFill>
              </a:rPr>
              <a:t> 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__(self):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</a:t>
            </a:r>
            <a:r>
              <a:rPr lang="en-US" dirty="0" smtClean="0">
                <a:solidFill>
                  <a:schemeClr val="tx1"/>
                </a:solidFill>
              </a:rPr>
              <a:t>super</a:t>
            </a:r>
            <a:r>
              <a:rPr lang="en-US" dirty="0">
                <a:solidFill>
                  <a:schemeClr val="tx1"/>
                </a:solidFill>
              </a:rPr>
              <a:t>().__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__()</a:t>
            </a:r>
          </a:p>
          <a:p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dirty="0" err="1">
                <a:solidFill>
                  <a:schemeClr val="tx1"/>
                </a:solidFill>
              </a:rPr>
              <a:t>self.setWindowTitle</a:t>
            </a:r>
            <a:r>
              <a:rPr lang="en-US" dirty="0">
                <a:solidFill>
                  <a:schemeClr val="tx1"/>
                </a:solidFill>
              </a:rPr>
              <a:t>("Ma </a:t>
            </a:r>
            <a:r>
              <a:rPr lang="en-US" dirty="0" err="1">
                <a:solidFill>
                  <a:schemeClr val="tx1"/>
                </a:solidFill>
              </a:rPr>
              <a:t>fenetre</a:t>
            </a:r>
            <a:r>
              <a:rPr lang="en-US" dirty="0">
                <a:solidFill>
                  <a:schemeClr val="tx1"/>
                </a:solidFill>
              </a:rPr>
              <a:t>")</a:t>
            </a:r>
          </a:p>
          <a:p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dirty="0" err="1" smtClean="0">
                <a:solidFill>
                  <a:schemeClr val="tx1"/>
                </a:solidFill>
              </a:rPr>
              <a:t>self.bouton</a:t>
            </a:r>
            <a:r>
              <a:rPr lang="en-US" dirty="0" smtClean="0">
                <a:solidFill>
                  <a:schemeClr val="tx1"/>
                </a:solidFill>
              </a:rPr>
              <a:t> = </a:t>
            </a:r>
            <a:r>
              <a:rPr lang="en-US" dirty="0" err="1" smtClean="0">
                <a:solidFill>
                  <a:schemeClr val="tx1"/>
                </a:solidFill>
              </a:rPr>
              <a:t>QtWidgets.QPushButton</a:t>
            </a:r>
            <a:r>
              <a:rPr lang="en-US" dirty="0">
                <a:solidFill>
                  <a:schemeClr val="tx1"/>
                </a:solidFill>
              </a:rPr>
              <a:t>('un </a:t>
            </a:r>
            <a:r>
              <a:rPr lang="en-US" dirty="0" err="1">
                <a:solidFill>
                  <a:schemeClr val="tx1"/>
                </a:solidFill>
              </a:rPr>
              <a:t>texte</a:t>
            </a:r>
            <a:r>
              <a:rPr lang="en-US" dirty="0">
                <a:solidFill>
                  <a:schemeClr val="tx1"/>
                </a:solidFill>
              </a:rPr>
              <a:t>',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self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             </a:t>
            </a:r>
          </a:p>
          <a:p>
            <a:r>
              <a:rPr lang="en-US" dirty="0">
                <a:solidFill>
                  <a:schemeClr val="tx1"/>
                </a:solidFill>
              </a:rPr>
              <a:t>if __name__=='__main__' :       </a:t>
            </a:r>
          </a:p>
          <a:p>
            <a:r>
              <a:rPr lang="en-US" dirty="0">
                <a:solidFill>
                  <a:schemeClr val="tx1"/>
                </a:solidFill>
              </a:rPr>
              <a:t>    app = </a:t>
            </a:r>
            <a:r>
              <a:rPr lang="en-US" dirty="0" err="1" smtClean="0">
                <a:solidFill>
                  <a:schemeClr val="tx1"/>
                </a:solidFill>
              </a:rPr>
              <a:t>QtWidgets.QApplication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sys.argv</a:t>
            </a:r>
            <a:r>
              <a:rPr lang="en-US" dirty="0">
                <a:solidFill>
                  <a:schemeClr val="tx1"/>
                </a:solidFill>
              </a:rPr>
              <a:t>) </a:t>
            </a:r>
          </a:p>
          <a:p>
            <a:r>
              <a:rPr lang="en-US" dirty="0">
                <a:solidFill>
                  <a:schemeClr val="tx1"/>
                </a:solidFill>
              </a:rPr>
              <a:t>    fen = </a:t>
            </a:r>
            <a:r>
              <a:rPr lang="en-US" dirty="0" err="1">
                <a:solidFill>
                  <a:schemeClr val="tx1"/>
                </a:solidFill>
              </a:rPr>
              <a:t>Fenetre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fen.show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app.exec</a:t>
            </a:r>
            <a:r>
              <a:rPr lang="en-US" dirty="0">
                <a:solidFill>
                  <a:schemeClr val="tx1"/>
                </a:solidFill>
              </a:rPr>
              <a:t>_() 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5100" y="3629397"/>
            <a:ext cx="16668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6311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Remarques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 smtClean="0"/>
              <a:t>Toutes les instances des classes </a:t>
            </a:r>
            <a:r>
              <a:rPr lang="fr-FR" sz="2400" dirty="0" err="1" smtClean="0"/>
              <a:t>PyQt</a:t>
            </a:r>
            <a:r>
              <a:rPr lang="fr-FR" sz="2400" dirty="0" smtClean="0"/>
              <a:t> héritant de la classe </a:t>
            </a:r>
            <a:r>
              <a:rPr lang="fr-FR" sz="2400" dirty="0" err="1" smtClean="0"/>
              <a:t>QObject</a:t>
            </a:r>
            <a:r>
              <a:rPr lang="fr-FR" sz="2400" dirty="0" smtClean="0"/>
              <a:t> peuvent avoir un « parent »</a:t>
            </a:r>
          </a:p>
          <a:p>
            <a:r>
              <a:rPr lang="fr-FR" sz="2400" dirty="0" smtClean="0"/>
              <a:t>Si un objet parent est supprimé, tous les objets ‘fils’ sont supprimés</a:t>
            </a: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PyQT4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808724"/>
            <a:ext cx="3614523" cy="2590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Espace réservé du contenu 2"/>
          <p:cNvSpPr txBox="1">
            <a:spLocks/>
          </p:cNvSpPr>
          <p:nvPr/>
        </p:nvSpPr>
        <p:spPr>
          <a:xfrm>
            <a:off x="481376" y="2852936"/>
            <a:ext cx="4882712" cy="25922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import sys </a:t>
            </a:r>
          </a:p>
          <a:p>
            <a:r>
              <a:rPr lang="en-US" dirty="0">
                <a:solidFill>
                  <a:schemeClr val="tx1"/>
                </a:solidFill>
              </a:rPr>
              <a:t>from PyQt5 import </a:t>
            </a:r>
            <a:r>
              <a:rPr lang="en-US" dirty="0" err="1">
                <a:solidFill>
                  <a:schemeClr val="tx1"/>
                </a:solidFill>
              </a:rPr>
              <a:t>QtWidgets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class </a:t>
            </a:r>
            <a:r>
              <a:rPr lang="en-US" dirty="0" err="1">
                <a:solidFill>
                  <a:schemeClr val="tx1"/>
                </a:solidFill>
              </a:rPr>
              <a:t>QuitButton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QtWidgets.QWidget</a:t>
            </a:r>
            <a:r>
              <a:rPr lang="en-US" dirty="0">
                <a:solidFill>
                  <a:schemeClr val="tx1"/>
                </a:solidFill>
              </a:rPr>
              <a:t>): 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def</a:t>
            </a:r>
            <a:r>
              <a:rPr lang="en-US" dirty="0">
                <a:solidFill>
                  <a:schemeClr val="tx1"/>
                </a:solidFill>
              </a:rPr>
              <a:t> 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__(self, parent=None): </a:t>
            </a:r>
          </a:p>
          <a:p>
            <a:r>
              <a:rPr lang="en-US" dirty="0">
                <a:solidFill>
                  <a:schemeClr val="tx1"/>
                </a:solidFill>
              </a:rPr>
              <a:t>         super().__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__(parent) </a:t>
            </a:r>
          </a:p>
          <a:p>
            <a:r>
              <a:rPr lang="en-US" dirty="0">
                <a:solidFill>
                  <a:schemeClr val="tx1"/>
                </a:solidFill>
              </a:rPr>
              <a:t>         </a:t>
            </a:r>
            <a:r>
              <a:rPr lang="en-US" dirty="0" err="1">
                <a:solidFill>
                  <a:schemeClr val="tx1"/>
                </a:solidFill>
              </a:rPr>
              <a:t>self.setGeometry</a:t>
            </a:r>
            <a:r>
              <a:rPr lang="en-US" dirty="0">
                <a:solidFill>
                  <a:schemeClr val="tx1"/>
                </a:solidFill>
              </a:rPr>
              <a:t>(300, 300, 250, 150) </a:t>
            </a:r>
          </a:p>
          <a:p>
            <a:r>
              <a:rPr lang="en-US" dirty="0">
                <a:solidFill>
                  <a:schemeClr val="tx1"/>
                </a:solidFill>
              </a:rPr>
              <a:t>         </a:t>
            </a:r>
            <a:r>
              <a:rPr lang="en-US" dirty="0" err="1">
                <a:solidFill>
                  <a:schemeClr val="tx1"/>
                </a:solidFill>
              </a:rPr>
              <a:t>self.setWindowTitle</a:t>
            </a:r>
            <a:r>
              <a:rPr lang="en-US" dirty="0">
                <a:solidFill>
                  <a:schemeClr val="tx1"/>
                </a:solidFill>
              </a:rPr>
              <a:t>('Simple') </a:t>
            </a:r>
          </a:p>
          <a:p>
            <a:r>
              <a:rPr lang="en-US" dirty="0">
                <a:solidFill>
                  <a:schemeClr val="tx1"/>
                </a:solidFill>
              </a:rPr>
              <a:t>         quit = </a:t>
            </a:r>
            <a:r>
              <a:rPr lang="en-US" dirty="0" err="1">
                <a:solidFill>
                  <a:schemeClr val="tx1"/>
                </a:solidFill>
              </a:rPr>
              <a:t>QtWidgets.QPushButton</a:t>
            </a:r>
            <a:r>
              <a:rPr lang="en-US" dirty="0">
                <a:solidFill>
                  <a:schemeClr val="tx1"/>
                </a:solidFill>
              </a:rPr>
              <a:t>('Close', self) </a:t>
            </a:r>
          </a:p>
          <a:p>
            <a:r>
              <a:rPr lang="en-US" dirty="0">
                <a:solidFill>
                  <a:schemeClr val="tx1"/>
                </a:solidFill>
              </a:rPr>
              <a:t>         </a:t>
            </a:r>
            <a:r>
              <a:rPr lang="en-US" dirty="0" err="1">
                <a:solidFill>
                  <a:schemeClr val="tx1"/>
                </a:solidFill>
              </a:rPr>
              <a:t>quit.setGeometry</a:t>
            </a:r>
            <a:r>
              <a:rPr lang="en-US" dirty="0">
                <a:solidFill>
                  <a:schemeClr val="tx1"/>
                </a:solidFill>
              </a:rPr>
              <a:t>(10, 10, 60, 35) </a:t>
            </a:r>
          </a:p>
          <a:p>
            <a:r>
              <a:rPr lang="en-US" dirty="0">
                <a:solidFill>
                  <a:schemeClr val="tx1"/>
                </a:solidFill>
              </a:rPr>
              <a:t>if __name__=='__main__' :       </a:t>
            </a:r>
          </a:p>
          <a:p>
            <a:r>
              <a:rPr lang="en-US" dirty="0">
                <a:solidFill>
                  <a:schemeClr val="tx1"/>
                </a:solidFill>
              </a:rPr>
              <a:t>    app = </a:t>
            </a:r>
            <a:r>
              <a:rPr lang="en-US" dirty="0" err="1">
                <a:solidFill>
                  <a:schemeClr val="tx1"/>
                </a:solidFill>
              </a:rPr>
              <a:t>QtWidgets.QApplication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sys.argv</a:t>
            </a:r>
            <a:r>
              <a:rPr lang="en-US" dirty="0">
                <a:solidFill>
                  <a:schemeClr val="tx1"/>
                </a:solidFill>
              </a:rPr>
              <a:t>) </a:t>
            </a:r>
          </a:p>
          <a:p>
            <a:r>
              <a:rPr lang="en-US" dirty="0">
                <a:solidFill>
                  <a:schemeClr val="tx1"/>
                </a:solidFill>
              </a:rPr>
              <a:t>    fen = </a:t>
            </a:r>
            <a:r>
              <a:rPr lang="en-US" dirty="0" err="1">
                <a:solidFill>
                  <a:schemeClr val="tx1"/>
                </a:solidFill>
              </a:rPr>
              <a:t>QuitButton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fen.show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app.exec</a:t>
            </a:r>
            <a:r>
              <a:rPr lang="en-US" dirty="0">
                <a:solidFill>
                  <a:schemeClr val="tx1"/>
                </a:solidFill>
              </a:rPr>
              <a:t>_() 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4283968" y="4149080"/>
            <a:ext cx="792088" cy="288032"/>
          </a:xfrm>
          <a:prstGeom prst="ellipse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490" y="2805472"/>
            <a:ext cx="257175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937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5" descr="BottomLine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0384"/>
            <a:ext cx="9144000" cy="669726"/>
          </a:xfrm>
          <a:prstGeom prst="rect">
            <a:avLst/>
          </a:prstGeom>
        </p:spPr>
      </p:pic>
      <p:pic>
        <p:nvPicPr>
          <p:cNvPr id="34" name="Picture 16" descr="BottomLineD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40736"/>
            <a:ext cx="9144000" cy="44648"/>
          </a:xfrm>
          <a:prstGeom prst="rect">
            <a:avLst/>
          </a:prstGeom>
        </p:spPr>
      </p:pic>
      <p:pic>
        <p:nvPicPr>
          <p:cNvPr id="35" name="Picture 14" descr="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95" y="6317332"/>
            <a:ext cx="377791" cy="387005"/>
          </a:xfrm>
          <a:prstGeom prst="rect">
            <a:avLst/>
          </a:prstGeom>
        </p:spPr>
      </p:pic>
      <p:sp>
        <p:nvSpPr>
          <p:cNvPr id="36" name="TextBox 4"/>
          <p:cNvSpPr txBox="1"/>
          <p:nvPr/>
        </p:nvSpPr>
        <p:spPr>
          <a:xfrm>
            <a:off x="785786" y="6242442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37" name="TextBox 5"/>
          <p:cNvSpPr txBox="1"/>
          <p:nvPr/>
        </p:nvSpPr>
        <p:spPr>
          <a:xfrm>
            <a:off x="785786" y="6363293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785786" y="6542453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39" name="TextBox 9"/>
          <p:cNvSpPr txBox="1"/>
          <p:nvPr/>
        </p:nvSpPr>
        <p:spPr>
          <a:xfrm>
            <a:off x="2694634" y="6242442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40" name="TextBox 10"/>
          <p:cNvSpPr txBox="1"/>
          <p:nvPr/>
        </p:nvSpPr>
        <p:spPr>
          <a:xfrm>
            <a:off x="2694634" y="6363293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41" name="TextBox 11"/>
          <p:cNvSpPr txBox="1"/>
          <p:nvPr/>
        </p:nvSpPr>
        <p:spPr>
          <a:xfrm>
            <a:off x="7447108" y="6242442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42" name="TextBox 12"/>
          <p:cNvSpPr txBox="1"/>
          <p:nvPr/>
        </p:nvSpPr>
        <p:spPr>
          <a:xfrm>
            <a:off x="8781044" y="6392361"/>
            <a:ext cx="399468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7</a:t>
            </a:r>
            <a:endParaRPr lang="en-US" sz="1200" b="1" dirty="0">
              <a:latin typeface="TypoSlabserif-Light" pitchFamily="2" charset="0"/>
            </a:endParaRPr>
          </a:p>
        </p:txBody>
      </p:sp>
      <p:pic>
        <p:nvPicPr>
          <p:cNvPr id="43" name="Picture 18" descr="PrevArrow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200" y="6447512"/>
            <a:ext cx="213333" cy="213333"/>
          </a:xfrm>
          <a:prstGeom prst="rect">
            <a:avLst/>
          </a:prstGeom>
        </p:spPr>
      </p:pic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Création d’interface graphique (IHM)</a:t>
            </a:r>
          </a:p>
          <a:p>
            <a:pPr marL="914400" lvl="1" indent="-514350"/>
            <a:r>
              <a:rPr lang="fr-FR" dirty="0"/>
              <a:t>Généralités</a:t>
            </a:r>
          </a:p>
          <a:p>
            <a:pPr marL="914400" lvl="1" indent="-514350"/>
            <a:r>
              <a:rPr lang="fr-FR" dirty="0"/>
              <a:t>Composants graphiques de base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Présentation de QT</a:t>
            </a:r>
          </a:p>
          <a:p>
            <a:pPr lvl="1"/>
            <a:r>
              <a:rPr lang="fr-FR" dirty="0" smtClean="0"/>
              <a:t>Introduction</a:t>
            </a:r>
          </a:p>
          <a:p>
            <a:pPr lvl="1"/>
            <a:r>
              <a:rPr lang="fr-FR" dirty="0" smtClean="0"/>
              <a:t>Les principaux modules</a:t>
            </a:r>
          </a:p>
          <a:p>
            <a:pPr lvl="1"/>
            <a:r>
              <a:rPr lang="fr-FR" dirty="0" smtClean="0"/>
              <a:t>Documentation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modules de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widgets</a:t>
            </a:r>
          </a:p>
          <a:p>
            <a:pPr marL="857250" lvl="1" indent="-457200"/>
            <a:r>
              <a:rPr lang="fr-FR" dirty="0" smtClean="0"/>
              <a:t>Définition de classe graphique</a:t>
            </a:r>
          </a:p>
          <a:p>
            <a:pPr marL="857250" lvl="1" indent="-457200"/>
            <a:r>
              <a:rPr lang="fr-FR" dirty="0" smtClean="0">
                <a:solidFill>
                  <a:srgbClr val="FFFF00"/>
                </a:solidFill>
              </a:rPr>
              <a:t>Les fenêtres </a:t>
            </a:r>
          </a:p>
          <a:p>
            <a:pPr marL="857250" lvl="1" indent="-457200"/>
            <a:r>
              <a:rPr lang="fr-FR" dirty="0" smtClean="0"/>
              <a:t>Signaux et slots en Python</a:t>
            </a:r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8697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6856" y="260648"/>
            <a:ext cx="8229600" cy="648072"/>
          </a:xfrm>
        </p:spPr>
        <p:txBody>
          <a:bodyPr/>
          <a:lstStyle/>
          <a:p>
            <a:r>
              <a:rPr lang="fr-FR" dirty="0" smtClean="0"/>
              <a:t>Les fenêtres 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732240" y="6309320"/>
            <a:ext cx="2133600" cy="365125"/>
          </a:xfrm>
        </p:spPr>
        <p:txBody>
          <a:bodyPr/>
          <a:lstStyle/>
          <a:p>
            <a:fld id="{BECFFF0D-0199-40F6-98A2-0B4E765CD128}" type="slidenum">
              <a:rPr lang="en-US" sz="1100" smtClean="0"/>
              <a:pPr/>
              <a:t>24</a:t>
            </a:fld>
            <a:endParaRPr lang="en-US" sz="11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179512" y="980728"/>
            <a:ext cx="8712968" cy="4525963"/>
          </a:xfrm>
        </p:spPr>
        <p:txBody>
          <a:bodyPr>
            <a:normAutofit/>
          </a:bodyPr>
          <a:lstStyle/>
          <a:p>
            <a:r>
              <a:rPr lang="fr-FR" sz="2400" dirty="0" smtClean="0"/>
              <a:t>La fenêtre principale  est de type : </a:t>
            </a:r>
          </a:p>
          <a:p>
            <a:pPr lvl="1"/>
            <a:r>
              <a:rPr lang="fr-FR" sz="2000" dirty="0" err="1" smtClean="0">
                <a:solidFill>
                  <a:srgbClr val="FFFF00"/>
                </a:solidFill>
              </a:rPr>
              <a:t>QMainWindow</a:t>
            </a:r>
            <a:endParaRPr lang="fr-FR" sz="2000" dirty="0" smtClean="0">
              <a:solidFill>
                <a:srgbClr val="FFFF00"/>
              </a:solidFill>
            </a:endParaRPr>
          </a:p>
          <a:p>
            <a:pPr lvl="1"/>
            <a:r>
              <a:rPr lang="fr-FR" sz="2000" dirty="0" err="1" smtClean="0">
                <a:solidFill>
                  <a:srgbClr val="FFFF00"/>
                </a:solidFill>
              </a:rPr>
              <a:t>Qdialog</a:t>
            </a:r>
            <a:endParaRPr lang="fr-FR" sz="2000" dirty="0" smtClean="0">
              <a:solidFill>
                <a:srgbClr val="FFFF00"/>
              </a:solidFill>
            </a:endParaRPr>
          </a:p>
          <a:p>
            <a:r>
              <a:rPr lang="fr-FR" sz="2400" dirty="0" err="1"/>
              <a:t>QMainWindow</a:t>
            </a:r>
            <a:endParaRPr lang="fr-FR" sz="2400" dirty="0"/>
          </a:p>
          <a:p>
            <a:pPr lvl="1"/>
            <a:r>
              <a:rPr lang="fr-FR" sz="2000" dirty="0" smtClean="0"/>
              <a:t>Barre de menus  : </a:t>
            </a:r>
            <a:r>
              <a:rPr lang="fr-FR" sz="2000" dirty="0" err="1" smtClean="0"/>
              <a:t>QMenuBar</a:t>
            </a:r>
            <a:endParaRPr lang="fr-FR" sz="2000" dirty="0" smtClean="0"/>
          </a:p>
          <a:p>
            <a:pPr lvl="1"/>
            <a:r>
              <a:rPr lang="fr-FR" sz="2000" dirty="0" smtClean="0"/>
              <a:t>Le conteneur (widget) central</a:t>
            </a:r>
          </a:p>
          <a:p>
            <a:pPr lvl="2"/>
            <a:r>
              <a:rPr lang="en-US" sz="1600" dirty="0" err="1">
                <a:solidFill>
                  <a:srgbClr val="FFFF00"/>
                </a:solidFill>
              </a:rPr>
              <a:t>setCentralWidget</a:t>
            </a:r>
            <a:r>
              <a:rPr lang="en-US" sz="1600" dirty="0">
                <a:solidFill>
                  <a:srgbClr val="FFFF00"/>
                </a:solidFill>
              </a:rPr>
              <a:t>()</a:t>
            </a:r>
            <a:endParaRPr lang="fr-FR" sz="1600" dirty="0">
              <a:solidFill>
                <a:srgbClr val="FFFF00"/>
              </a:solidFill>
            </a:endParaRPr>
          </a:p>
          <a:p>
            <a:pPr lvl="1"/>
            <a:r>
              <a:rPr lang="fr-FR" sz="2000" dirty="0" smtClean="0"/>
              <a:t>Barre d’outils : </a:t>
            </a:r>
            <a:r>
              <a:rPr lang="fr-FR" sz="2000" dirty="0" err="1" smtClean="0"/>
              <a:t>QToolBarre</a:t>
            </a:r>
            <a:endParaRPr lang="fr-FR" sz="2000" dirty="0" smtClean="0"/>
          </a:p>
          <a:p>
            <a:pPr lvl="1"/>
            <a:r>
              <a:rPr lang="fr-FR" sz="2000" dirty="0" smtClean="0"/>
              <a:t>Une barre d’état : </a:t>
            </a:r>
            <a:r>
              <a:rPr lang="fr-FR" sz="2000" dirty="0" err="1" smtClean="0"/>
              <a:t>QStatusBar</a:t>
            </a:r>
            <a:endParaRPr lang="fr-FR" sz="2000" dirty="0" smtClean="0"/>
          </a:p>
          <a:p>
            <a:pPr lvl="1"/>
            <a:r>
              <a:rPr lang="fr-FR" sz="2000" dirty="0" smtClean="0"/>
              <a:t>Les ancres (docks) </a:t>
            </a:r>
            <a:endParaRPr lang="fr-FR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988840"/>
            <a:ext cx="24765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1691" y="1562376"/>
            <a:ext cx="4782309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39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6856" y="260648"/>
            <a:ext cx="8229600" cy="648072"/>
          </a:xfrm>
        </p:spPr>
        <p:txBody>
          <a:bodyPr/>
          <a:lstStyle/>
          <a:p>
            <a:r>
              <a:rPr lang="fr-FR" dirty="0" smtClean="0"/>
              <a:t>Les fenêtres 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732240" y="6309320"/>
            <a:ext cx="2133600" cy="365125"/>
          </a:xfrm>
        </p:spPr>
        <p:txBody>
          <a:bodyPr/>
          <a:lstStyle/>
          <a:p>
            <a:fld id="{BECFFF0D-0199-40F6-98A2-0B4E765CD128}" type="slidenum">
              <a:rPr lang="en-US" sz="1100" smtClean="0"/>
              <a:pPr/>
              <a:t>25</a:t>
            </a:fld>
            <a:endParaRPr lang="en-US" sz="11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179512" y="980728"/>
            <a:ext cx="8712968" cy="4525963"/>
          </a:xfrm>
        </p:spPr>
        <p:txBody>
          <a:bodyPr>
            <a:normAutofit/>
          </a:bodyPr>
          <a:lstStyle/>
          <a:p>
            <a:r>
              <a:rPr lang="fr-FR" sz="2400" dirty="0" err="1" smtClean="0"/>
              <a:t>QMainWindow</a:t>
            </a:r>
            <a:endParaRPr lang="fr-FR" sz="2400" dirty="0" smtClean="0"/>
          </a:p>
          <a:p>
            <a:pPr marL="0" indent="0">
              <a:buNone/>
            </a:pPr>
            <a:r>
              <a:rPr lang="fr-FR" sz="2400" dirty="0" smtClean="0"/>
              <a:t>Exemple 1: </a:t>
            </a:r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>
          <a:xfrm>
            <a:off x="467544" y="2060848"/>
            <a:ext cx="8424936" cy="35283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from </a:t>
            </a:r>
            <a:r>
              <a:rPr lang="en-US" dirty="0" smtClean="0"/>
              <a:t>PyQt5.QtWidgets </a:t>
            </a:r>
            <a:r>
              <a:rPr lang="en-US" dirty="0"/>
              <a:t>import *</a:t>
            </a:r>
          </a:p>
          <a:p>
            <a:r>
              <a:rPr lang="en-US" dirty="0"/>
              <a:t>import sys</a:t>
            </a:r>
          </a:p>
          <a:p>
            <a:r>
              <a:rPr lang="en-US" dirty="0">
                <a:solidFill>
                  <a:schemeClr val="tx1"/>
                </a:solidFill>
              </a:rPr>
              <a:t>class </a:t>
            </a:r>
            <a:r>
              <a:rPr lang="en-US" dirty="0" err="1">
                <a:solidFill>
                  <a:schemeClr val="tx1"/>
                </a:solidFill>
              </a:rPr>
              <a:t>MyForm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QMainWindow</a:t>
            </a:r>
            <a:r>
              <a:rPr lang="en-US" dirty="0">
                <a:solidFill>
                  <a:schemeClr val="tx1"/>
                </a:solidFill>
              </a:rPr>
              <a:t>):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def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</a:t>
            </a:r>
            <a:r>
              <a:rPr lang="en-US" dirty="0" smtClean="0">
                <a:solidFill>
                  <a:schemeClr val="tx1"/>
                </a:solidFill>
              </a:rPr>
              <a:t>self):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      super().__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 smtClean="0">
                <a:solidFill>
                  <a:schemeClr val="tx1"/>
                </a:solidFill>
              </a:rPr>
              <a:t>__()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      </a:t>
            </a:r>
            <a:r>
              <a:rPr lang="en-US" dirty="0" err="1" smtClean="0">
                <a:solidFill>
                  <a:schemeClr val="tx1"/>
                </a:solidFill>
              </a:rPr>
              <a:t>the_button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 smtClean="0">
                <a:solidFill>
                  <a:schemeClr val="tx1"/>
                </a:solidFill>
              </a:rPr>
              <a:t>QPushButton</a:t>
            </a:r>
            <a:r>
              <a:rPr lang="en-US" dirty="0" smtClean="0">
                <a:solidFill>
                  <a:schemeClr val="tx1"/>
                </a:solidFill>
              </a:rPr>
              <a:t>(‘Close’, self)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      </a:t>
            </a:r>
            <a:r>
              <a:rPr lang="en-US" dirty="0" err="1" smtClean="0">
                <a:solidFill>
                  <a:schemeClr val="tx1"/>
                </a:solidFill>
              </a:rPr>
              <a:t>self.setCentralWidget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the_button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if __name__=='__main__' :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app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QApplication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sys.argv</a:t>
            </a:r>
            <a:r>
              <a:rPr lang="en-US" dirty="0">
                <a:solidFill>
                  <a:schemeClr val="tx1"/>
                </a:solidFill>
              </a:rPr>
              <a:t>)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fen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MyForm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fen.show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app.exec</a:t>
            </a:r>
            <a:r>
              <a:rPr lang="en-US" dirty="0">
                <a:solidFill>
                  <a:schemeClr val="tx1"/>
                </a:solidFill>
              </a:rPr>
              <a:t>_() 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080" y="2132856"/>
            <a:ext cx="20574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llipse 2"/>
          <p:cNvSpPr/>
          <p:nvPr/>
        </p:nvSpPr>
        <p:spPr>
          <a:xfrm>
            <a:off x="1907704" y="2546628"/>
            <a:ext cx="1296144" cy="234702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828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fenêtres 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Exemple 2 :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/>
              <a:t>IHM avec </a:t>
            </a:r>
            <a:r>
              <a:rPr lang="fr-FR" dirty="0" err="1"/>
              <a:t>PyQt</a:t>
            </a:r>
            <a:endParaRPr lang="fr-FR" dirty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2996952"/>
            <a:ext cx="2505075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Espace réservé du contenu 2"/>
          <p:cNvSpPr txBox="1">
            <a:spLocks/>
          </p:cNvSpPr>
          <p:nvPr/>
        </p:nvSpPr>
        <p:spPr>
          <a:xfrm>
            <a:off x="971600" y="1772816"/>
            <a:ext cx="4968552" cy="41764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from </a:t>
            </a:r>
            <a:r>
              <a:rPr lang="en-US" dirty="0" smtClean="0"/>
              <a:t>PyQt5.QtWidgets </a:t>
            </a:r>
            <a:r>
              <a:rPr lang="en-US" dirty="0"/>
              <a:t>import *</a:t>
            </a:r>
          </a:p>
          <a:p>
            <a:r>
              <a:rPr lang="en-US" dirty="0"/>
              <a:t>import sys</a:t>
            </a:r>
          </a:p>
          <a:p>
            <a:r>
              <a:rPr lang="en-US" dirty="0">
                <a:solidFill>
                  <a:schemeClr val="tx1"/>
                </a:solidFill>
              </a:rPr>
              <a:t>from PyQt5.QtWidgets import *</a:t>
            </a:r>
          </a:p>
          <a:p>
            <a:r>
              <a:rPr lang="en-US" dirty="0">
                <a:solidFill>
                  <a:schemeClr val="tx1"/>
                </a:solidFill>
              </a:rPr>
              <a:t>import sys</a:t>
            </a:r>
          </a:p>
          <a:p>
            <a:r>
              <a:rPr lang="en-US" dirty="0">
                <a:solidFill>
                  <a:schemeClr val="tx1"/>
                </a:solidFill>
              </a:rPr>
              <a:t>class </a:t>
            </a:r>
            <a:r>
              <a:rPr lang="en-US" dirty="0" err="1">
                <a:solidFill>
                  <a:schemeClr val="tx1"/>
                </a:solidFill>
              </a:rPr>
              <a:t>MaFenetre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QMainWindow</a:t>
            </a:r>
            <a:r>
              <a:rPr lang="en-US" dirty="0">
                <a:solidFill>
                  <a:schemeClr val="tx1"/>
                </a:solidFill>
              </a:rPr>
              <a:t>):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def</a:t>
            </a:r>
            <a:r>
              <a:rPr lang="en-US" dirty="0">
                <a:solidFill>
                  <a:schemeClr val="tx1"/>
                </a:solidFill>
              </a:rPr>
              <a:t> 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</a:t>
            </a:r>
            <a:r>
              <a:rPr lang="en-US" dirty="0" smtClean="0">
                <a:solidFill>
                  <a:schemeClr val="tx1"/>
                </a:solidFill>
              </a:rPr>
              <a:t>self, </a:t>
            </a:r>
            <a:r>
              <a:rPr lang="en-US" dirty="0">
                <a:solidFill>
                  <a:schemeClr val="tx1"/>
                </a:solidFill>
              </a:rPr>
              <a:t>parent=None</a:t>
            </a:r>
            <a:r>
              <a:rPr lang="en-US" dirty="0" smtClean="0">
                <a:solidFill>
                  <a:schemeClr val="tx1"/>
                </a:solidFill>
              </a:rPr>
              <a:t>):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  super().__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 smtClean="0">
                <a:solidFill>
                  <a:schemeClr val="tx1"/>
                </a:solidFill>
              </a:rPr>
              <a:t>__(parent)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dirty="0" err="1">
                <a:solidFill>
                  <a:schemeClr val="tx1"/>
                </a:solidFill>
              </a:rPr>
              <a:t>zoneCentrale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QWidget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  <a:p>
            <a:r>
              <a:rPr lang="en-US" dirty="0">
                <a:solidFill>
                  <a:schemeClr val="tx1"/>
                </a:solidFill>
              </a:rPr>
              <a:t>       nom = </a:t>
            </a:r>
            <a:r>
              <a:rPr lang="en-US" dirty="0" err="1">
                <a:solidFill>
                  <a:schemeClr val="tx1"/>
                </a:solidFill>
              </a:rPr>
              <a:t>QLineEdit</a:t>
            </a:r>
            <a:r>
              <a:rPr lang="en-US" dirty="0">
                <a:solidFill>
                  <a:schemeClr val="tx1"/>
                </a:solidFill>
              </a:rPr>
              <a:t>(self)</a:t>
            </a:r>
          </a:p>
          <a:p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dirty="0" err="1">
                <a:solidFill>
                  <a:schemeClr val="tx1"/>
                </a:solidFill>
              </a:rPr>
              <a:t>prenom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QLineEdit</a:t>
            </a:r>
            <a:r>
              <a:rPr lang="en-US" dirty="0">
                <a:solidFill>
                  <a:schemeClr val="tx1"/>
                </a:solidFill>
              </a:rPr>
              <a:t>(self)</a:t>
            </a:r>
          </a:p>
          <a:p>
            <a:r>
              <a:rPr lang="en-US" dirty="0">
                <a:solidFill>
                  <a:schemeClr val="tx1"/>
                </a:solidFill>
              </a:rPr>
              <a:t>       age = </a:t>
            </a:r>
            <a:r>
              <a:rPr lang="en-US" dirty="0" err="1">
                <a:solidFill>
                  <a:schemeClr val="tx1"/>
                </a:solidFill>
              </a:rPr>
              <a:t>QLineEdit</a:t>
            </a:r>
            <a:r>
              <a:rPr lang="en-US" dirty="0">
                <a:solidFill>
                  <a:schemeClr val="tx1"/>
                </a:solidFill>
              </a:rPr>
              <a:t>(self)</a:t>
            </a:r>
          </a:p>
          <a:p>
            <a:r>
              <a:rPr lang="en-US" dirty="0">
                <a:solidFill>
                  <a:schemeClr val="tx1"/>
                </a:solidFill>
              </a:rPr>
              <a:t>       layout = </a:t>
            </a:r>
            <a:r>
              <a:rPr lang="en-US" dirty="0" err="1">
                <a:solidFill>
                  <a:schemeClr val="tx1"/>
                </a:solidFill>
              </a:rPr>
              <a:t>QFormLayout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  <a:p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dirty="0" err="1">
                <a:solidFill>
                  <a:schemeClr val="tx1"/>
                </a:solidFill>
              </a:rPr>
              <a:t>layout.addRow</a:t>
            </a:r>
            <a:r>
              <a:rPr lang="en-US" dirty="0">
                <a:solidFill>
                  <a:schemeClr val="tx1"/>
                </a:solidFill>
              </a:rPr>
              <a:t>("</a:t>
            </a:r>
            <a:r>
              <a:rPr lang="en-US" dirty="0" err="1">
                <a:solidFill>
                  <a:schemeClr val="tx1"/>
                </a:solidFill>
              </a:rPr>
              <a:t>Votre</a:t>
            </a:r>
            <a:r>
              <a:rPr lang="en-US" dirty="0">
                <a:solidFill>
                  <a:schemeClr val="tx1"/>
                </a:solidFill>
              </a:rPr>
              <a:t> nom", nom)</a:t>
            </a:r>
          </a:p>
          <a:p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dirty="0" err="1">
                <a:solidFill>
                  <a:schemeClr val="tx1"/>
                </a:solidFill>
              </a:rPr>
              <a:t>layout.addRow</a:t>
            </a:r>
            <a:r>
              <a:rPr lang="en-US" dirty="0">
                <a:solidFill>
                  <a:schemeClr val="tx1"/>
                </a:solidFill>
              </a:rPr>
              <a:t>("</a:t>
            </a:r>
            <a:r>
              <a:rPr lang="en-US" dirty="0" err="1">
                <a:solidFill>
                  <a:schemeClr val="tx1"/>
                </a:solidFill>
              </a:rPr>
              <a:t>Votre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prénom</a:t>
            </a:r>
            <a:r>
              <a:rPr lang="en-US" dirty="0">
                <a:solidFill>
                  <a:schemeClr val="tx1"/>
                </a:solidFill>
              </a:rPr>
              <a:t>", </a:t>
            </a:r>
            <a:r>
              <a:rPr lang="en-US" dirty="0" err="1">
                <a:solidFill>
                  <a:schemeClr val="tx1"/>
                </a:solidFill>
              </a:rPr>
              <a:t>prenom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dirty="0" err="1">
                <a:solidFill>
                  <a:schemeClr val="tx1"/>
                </a:solidFill>
              </a:rPr>
              <a:t>layout.addRow</a:t>
            </a:r>
            <a:r>
              <a:rPr lang="en-US" dirty="0">
                <a:solidFill>
                  <a:schemeClr val="tx1"/>
                </a:solidFill>
              </a:rPr>
              <a:t>("</a:t>
            </a:r>
            <a:r>
              <a:rPr lang="en-US" dirty="0" err="1">
                <a:solidFill>
                  <a:schemeClr val="tx1"/>
                </a:solidFill>
              </a:rPr>
              <a:t>Votre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âge</a:t>
            </a:r>
            <a:r>
              <a:rPr lang="en-US" dirty="0">
                <a:solidFill>
                  <a:schemeClr val="tx1"/>
                </a:solidFill>
              </a:rPr>
              <a:t>", age)</a:t>
            </a:r>
          </a:p>
          <a:p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dirty="0" err="1">
                <a:solidFill>
                  <a:schemeClr val="tx1"/>
                </a:solidFill>
              </a:rPr>
              <a:t>zoneCentrale.setLayout</a:t>
            </a:r>
            <a:r>
              <a:rPr lang="en-US" dirty="0">
                <a:solidFill>
                  <a:schemeClr val="tx1"/>
                </a:solidFill>
              </a:rPr>
              <a:t>(layout)</a:t>
            </a:r>
          </a:p>
          <a:p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dirty="0" err="1">
                <a:solidFill>
                  <a:schemeClr val="tx1"/>
                </a:solidFill>
              </a:rPr>
              <a:t>self.setCentralWidget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zoneCentrale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if __name__=='__main__' : </a:t>
            </a:r>
          </a:p>
          <a:p>
            <a:r>
              <a:rPr lang="en-US" dirty="0">
                <a:solidFill>
                  <a:schemeClr val="tx1"/>
                </a:solidFill>
              </a:rPr>
              <a:t>   app = </a:t>
            </a:r>
            <a:r>
              <a:rPr lang="en-US" dirty="0" err="1">
                <a:solidFill>
                  <a:schemeClr val="tx1"/>
                </a:solidFill>
              </a:rPr>
              <a:t>QApplication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sys.argv</a:t>
            </a:r>
            <a:r>
              <a:rPr lang="en-US" dirty="0">
                <a:solidFill>
                  <a:schemeClr val="tx1"/>
                </a:solidFill>
              </a:rPr>
              <a:t>) </a:t>
            </a:r>
          </a:p>
          <a:p>
            <a:r>
              <a:rPr lang="en-US" dirty="0">
                <a:solidFill>
                  <a:schemeClr val="tx1"/>
                </a:solidFill>
              </a:rPr>
              <a:t>   fen = </a:t>
            </a:r>
            <a:r>
              <a:rPr lang="en-US" dirty="0" err="1">
                <a:solidFill>
                  <a:schemeClr val="tx1"/>
                </a:solidFill>
              </a:rPr>
              <a:t>MaFenetre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>
                <a:solidFill>
                  <a:schemeClr val="tx1"/>
                </a:solidFill>
              </a:rPr>
              <a:t>   </a:t>
            </a:r>
            <a:r>
              <a:rPr lang="en-US" dirty="0" err="1">
                <a:solidFill>
                  <a:schemeClr val="tx1"/>
                </a:solidFill>
              </a:rPr>
              <a:t>fen.show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>
                <a:solidFill>
                  <a:schemeClr val="tx1"/>
                </a:solidFill>
              </a:rPr>
              <a:t>   </a:t>
            </a:r>
            <a:r>
              <a:rPr lang="en-US" dirty="0" err="1">
                <a:solidFill>
                  <a:schemeClr val="tx1"/>
                </a:solidFill>
              </a:rPr>
              <a:t>app.exec</a:t>
            </a:r>
            <a:r>
              <a:rPr lang="en-US" dirty="0" smtClean="0">
                <a:solidFill>
                  <a:schemeClr val="tx1"/>
                </a:solidFill>
              </a:rPr>
              <a:t>_()</a:t>
            </a:r>
          </a:p>
        </p:txBody>
      </p:sp>
    </p:spTree>
    <p:extLst>
      <p:ext uri="{BB962C8B-B14F-4D97-AF65-F5344CB8AC3E}">
        <p14:creationId xmlns:p14="http://schemas.microsoft.com/office/powerpoint/2010/main" val="293091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5" descr="BottomLine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0384"/>
            <a:ext cx="9144000" cy="669726"/>
          </a:xfrm>
          <a:prstGeom prst="rect">
            <a:avLst/>
          </a:prstGeom>
        </p:spPr>
      </p:pic>
      <p:pic>
        <p:nvPicPr>
          <p:cNvPr id="34" name="Picture 16" descr="BottomLineD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40736"/>
            <a:ext cx="9144000" cy="44648"/>
          </a:xfrm>
          <a:prstGeom prst="rect">
            <a:avLst/>
          </a:prstGeom>
        </p:spPr>
      </p:pic>
      <p:pic>
        <p:nvPicPr>
          <p:cNvPr id="35" name="Picture 14" descr="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95" y="6317332"/>
            <a:ext cx="377791" cy="387005"/>
          </a:xfrm>
          <a:prstGeom prst="rect">
            <a:avLst/>
          </a:prstGeom>
        </p:spPr>
      </p:pic>
      <p:sp>
        <p:nvSpPr>
          <p:cNvPr id="36" name="TextBox 4"/>
          <p:cNvSpPr txBox="1"/>
          <p:nvPr/>
        </p:nvSpPr>
        <p:spPr>
          <a:xfrm>
            <a:off x="785786" y="6242442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37" name="TextBox 5"/>
          <p:cNvSpPr txBox="1"/>
          <p:nvPr/>
        </p:nvSpPr>
        <p:spPr>
          <a:xfrm>
            <a:off x="785786" y="6363293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785786" y="6542453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39" name="TextBox 9"/>
          <p:cNvSpPr txBox="1"/>
          <p:nvPr/>
        </p:nvSpPr>
        <p:spPr>
          <a:xfrm>
            <a:off x="2694634" y="6242442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40" name="TextBox 10"/>
          <p:cNvSpPr txBox="1"/>
          <p:nvPr/>
        </p:nvSpPr>
        <p:spPr>
          <a:xfrm>
            <a:off x="2694634" y="6363293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41" name="TextBox 11"/>
          <p:cNvSpPr txBox="1"/>
          <p:nvPr/>
        </p:nvSpPr>
        <p:spPr>
          <a:xfrm>
            <a:off x="7447108" y="6242442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42" name="TextBox 12"/>
          <p:cNvSpPr txBox="1"/>
          <p:nvPr/>
        </p:nvSpPr>
        <p:spPr>
          <a:xfrm>
            <a:off x="8781044" y="6392361"/>
            <a:ext cx="399468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7</a:t>
            </a:r>
            <a:endParaRPr lang="en-US" sz="1200" b="1" dirty="0">
              <a:latin typeface="TypoSlabserif-Light" pitchFamily="2" charset="0"/>
            </a:endParaRPr>
          </a:p>
        </p:txBody>
      </p:sp>
      <p:pic>
        <p:nvPicPr>
          <p:cNvPr id="43" name="Picture 18" descr="PrevArrow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200" y="6447512"/>
            <a:ext cx="213333" cy="213333"/>
          </a:xfrm>
          <a:prstGeom prst="rect">
            <a:avLst/>
          </a:prstGeom>
        </p:spPr>
      </p:pic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Création d’interface graphique (IHM)</a:t>
            </a:r>
          </a:p>
          <a:p>
            <a:pPr marL="914400" lvl="1" indent="-514350"/>
            <a:r>
              <a:rPr lang="fr-FR" dirty="0"/>
              <a:t>Généralités</a:t>
            </a:r>
          </a:p>
          <a:p>
            <a:pPr marL="914400" lvl="1" indent="-514350"/>
            <a:r>
              <a:rPr lang="fr-FR" dirty="0"/>
              <a:t>Composants graphiques de base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Présentation de QT</a:t>
            </a:r>
          </a:p>
          <a:p>
            <a:pPr lvl="1"/>
            <a:r>
              <a:rPr lang="fr-FR" dirty="0" smtClean="0"/>
              <a:t>Introduction</a:t>
            </a:r>
          </a:p>
          <a:p>
            <a:pPr lvl="1"/>
            <a:r>
              <a:rPr lang="fr-FR" dirty="0" smtClean="0"/>
              <a:t>Les principaux modules</a:t>
            </a:r>
          </a:p>
          <a:p>
            <a:pPr lvl="1"/>
            <a:r>
              <a:rPr lang="fr-FR" dirty="0" smtClean="0"/>
              <a:t>Documentation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modules de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widgets</a:t>
            </a:r>
          </a:p>
          <a:p>
            <a:pPr marL="857250" lvl="1" indent="-457200"/>
            <a:r>
              <a:rPr lang="fr-FR" dirty="0" smtClean="0"/>
              <a:t>Définition de classe graphique</a:t>
            </a:r>
          </a:p>
          <a:p>
            <a:pPr marL="857250" lvl="1" indent="-457200"/>
            <a:r>
              <a:rPr lang="fr-FR" dirty="0" smtClean="0"/>
              <a:t>Les fenêtres </a:t>
            </a:r>
          </a:p>
          <a:p>
            <a:pPr marL="857250" lvl="1" indent="-457200"/>
            <a:r>
              <a:rPr lang="fr-FR" dirty="0" smtClean="0">
                <a:solidFill>
                  <a:srgbClr val="FFFF00"/>
                </a:solidFill>
              </a:rPr>
              <a:t>Signaux et slots en Python</a:t>
            </a:r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8697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Rappel :Structure d’un programme QT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196752"/>
            <a:ext cx="8784976" cy="4525963"/>
          </a:xfrm>
        </p:spPr>
        <p:txBody>
          <a:bodyPr>
            <a:normAutofit/>
          </a:bodyPr>
          <a:lstStyle/>
          <a:p>
            <a:r>
              <a:rPr lang="fr-FR" sz="2800" dirty="0" smtClean="0"/>
              <a:t>Un programme </a:t>
            </a:r>
            <a:r>
              <a:rPr lang="fr-FR" sz="2800" dirty="0" err="1" smtClean="0"/>
              <a:t>PyQt</a:t>
            </a:r>
            <a:r>
              <a:rPr lang="fr-FR" sz="2800" dirty="0" smtClean="0"/>
              <a:t> typique contient les étapes suivante </a:t>
            </a:r>
          </a:p>
          <a:p>
            <a:pPr marL="914400" lvl="1" indent="-514350">
              <a:buFont typeface="+mj-lt"/>
              <a:buAutoNum type="arabicPeriod"/>
            </a:pPr>
            <a:r>
              <a:rPr lang="fr-FR" sz="2000" dirty="0" smtClean="0"/>
              <a:t>Création de l’instance de </a:t>
            </a:r>
            <a:r>
              <a:rPr lang="fr-FR" sz="2000" dirty="0" err="1" smtClean="0">
                <a:solidFill>
                  <a:srgbClr val="FFFF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QApplication</a:t>
            </a:r>
            <a:endParaRPr lang="fr-FR" sz="2000" dirty="0">
              <a:solidFill>
                <a:srgbClr val="FFFF00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fr-FR" sz="2000" dirty="0" smtClean="0"/>
              <a:t>Création et affichage de la fenêtre principale et ses composants</a:t>
            </a:r>
          </a:p>
          <a:p>
            <a:pPr lvl="2" indent="-342900">
              <a:buFont typeface="+mj-lt"/>
              <a:buAutoNum type="arabicPeriod" startAt="3"/>
            </a:pPr>
            <a:r>
              <a:rPr lang="fr-FR" sz="1600" dirty="0" smtClean="0">
                <a:solidFill>
                  <a:srgbClr val="FFFF00"/>
                </a:solidFill>
              </a:rPr>
              <a:t>Connexion des signaux aux slots : gestion des évènements (</a:t>
            </a:r>
            <a:r>
              <a:rPr lang="fr-FR" sz="1600" dirty="0" err="1" smtClean="0">
                <a:solidFill>
                  <a:srgbClr val="FFFF00"/>
                </a:solidFill>
              </a:rPr>
              <a:t>QtCore</a:t>
            </a:r>
            <a:r>
              <a:rPr lang="fr-FR" sz="1600" dirty="0" smtClean="0">
                <a:solidFill>
                  <a:srgbClr val="FFFF00"/>
                </a:solidFill>
              </a:rPr>
              <a:t>)</a:t>
            </a:r>
          </a:p>
          <a:p>
            <a:pPr marL="914400" lvl="1" indent="-514350">
              <a:buFont typeface="+mj-lt"/>
              <a:buAutoNum type="arabicPeriod" startAt="4"/>
            </a:pPr>
            <a:r>
              <a:rPr lang="fr-FR" sz="2000" dirty="0" smtClean="0"/>
              <a:t>Appel de la méthode </a:t>
            </a:r>
            <a:r>
              <a:rPr lang="fr-FR" sz="2000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exec</a:t>
            </a:r>
            <a:r>
              <a:rPr lang="fr-FR" sz="20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__() </a:t>
            </a:r>
            <a:r>
              <a:rPr lang="fr-FR" sz="2000" dirty="0" smtClean="0"/>
              <a:t>de l’application</a:t>
            </a:r>
          </a:p>
          <a:p>
            <a:pPr marL="400050" lvl="1" indent="0">
              <a:buNone/>
            </a:pPr>
            <a:r>
              <a:rPr lang="fr-FR" sz="2000" dirty="0" smtClean="0"/>
              <a:t>Exemple :</a:t>
            </a:r>
            <a:endParaRPr lang="fr-FR" sz="2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500708" y="3429000"/>
            <a:ext cx="8424936" cy="25922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en-US" dirty="0"/>
              <a:t>from PyQt5.QtWidgets import *</a:t>
            </a:r>
          </a:p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smtClean="0"/>
              <a:t># 1 - Création d’une instance </a:t>
            </a:r>
            <a:r>
              <a:rPr lang="fr-FR" dirty="0" err="1">
                <a:solidFill>
                  <a:schemeClr val="tx1"/>
                </a:solidFill>
              </a:rPr>
              <a:t>QApplication</a:t>
            </a:r>
            <a:r>
              <a:rPr lang="fr-FR" dirty="0" smtClean="0"/>
              <a:t> </a:t>
            </a:r>
            <a:endParaRPr lang="fr-FR" dirty="0"/>
          </a:p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app</a:t>
            </a:r>
            <a:r>
              <a:rPr lang="fr-FR" dirty="0" smtClean="0">
                <a:solidFill>
                  <a:schemeClr val="tx1"/>
                </a:solidFill>
              </a:rPr>
              <a:t> = </a:t>
            </a:r>
            <a:r>
              <a:rPr lang="fr-FR" dirty="0" err="1" smtClean="0">
                <a:solidFill>
                  <a:schemeClr val="tx1"/>
                </a:solidFill>
              </a:rPr>
              <a:t>QApplication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args</a:t>
            </a:r>
            <a:r>
              <a:rPr lang="fr-FR" dirty="0" smtClean="0">
                <a:solidFill>
                  <a:schemeClr val="tx1"/>
                </a:solidFill>
              </a:rPr>
              <a:t>) </a:t>
            </a:r>
          </a:p>
          <a:p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</a:t>
            </a:r>
            <a:r>
              <a:rPr lang="fr-FR" dirty="0" smtClean="0"/>
              <a:t># 2 - Création de fenêtre</a:t>
            </a:r>
            <a:endParaRPr lang="fr-FR" dirty="0"/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fen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= </a:t>
            </a:r>
            <a:r>
              <a:rPr lang="fr-FR" dirty="0" err="1" smtClean="0">
                <a:solidFill>
                  <a:schemeClr val="tx1"/>
                </a:solidFill>
              </a:rPr>
              <a:t>QMainWindow</a:t>
            </a:r>
            <a:r>
              <a:rPr lang="fr-FR" dirty="0" smtClean="0">
                <a:solidFill>
                  <a:schemeClr val="tx1"/>
                </a:solidFill>
              </a:rPr>
              <a:t>() </a:t>
            </a:r>
          </a:p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fen.setWindowTitle</a:t>
            </a:r>
            <a:r>
              <a:rPr lang="fr-FR" dirty="0">
                <a:solidFill>
                  <a:schemeClr val="tx1"/>
                </a:solidFill>
              </a:rPr>
              <a:t>("</a:t>
            </a:r>
            <a:r>
              <a:rPr lang="fr-FR" dirty="0" err="1">
                <a:solidFill>
                  <a:schemeClr val="tx1"/>
                </a:solidFill>
              </a:rPr>
              <a:t>Demo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QMainWindow</a:t>
            </a:r>
            <a:r>
              <a:rPr lang="fr-FR" dirty="0" smtClean="0">
                <a:solidFill>
                  <a:schemeClr val="tx1"/>
                </a:solidFill>
              </a:rPr>
              <a:t>")</a:t>
            </a:r>
          </a:p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fen.resize</a:t>
            </a:r>
            <a:r>
              <a:rPr lang="fr-FR" dirty="0" smtClean="0">
                <a:solidFill>
                  <a:schemeClr val="tx1"/>
                </a:solidFill>
              </a:rPr>
              <a:t>(40,80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fen.show</a:t>
            </a:r>
            <a:r>
              <a:rPr lang="fr-FR" dirty="0" smtClean="0">
                <a:solidFill>
                  <a:schemeClr val="tx1"/>
                </a:solidFill>
              </a:rPr>
              <a:t>()</a:t>
            </a:r>
          </a:p>
          <a:p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</a:t>
            </a:r>
            <a:r>
              <a:rPr lang="fr-FR" dirty="0"/>
              <a:t># </a:t>
            </a:r>
            <a:r>
              <a:rPr lang="fr-FR" dirty="0" smtClean="0"/>
              <a:t>3 – Connexion des signaux aux slots</a:t>
            </a:r>
            <a:endParaRPr lang="fr-FR" dirty="0"/>
          </a:p>
          <a:p>
            <a:r>
              <a:rPr lang="fr-FR" dirty="0" smtClean="0">
                <a:solidFill>
                  <a:schemeClr val="tx1"/>
                </a:solidFill>
              </a:rPr>
              <a:t>    # TODO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smtClean="0"/>
              <a:t># 4 - Création </a:t>
            </a:r>
            <a:r>
              <a:rPr lang="fr-FR" dirty="0"/>
              <a:t>de fenêtre</a:t>
            </a:r>
          </a:p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app.exec</a:t>
            </a:r>
            <a:r>
              <a:rPr lang="fr-FR" dirty="0">
                <a:solidFill>
                  <a:schemeClr val="tx1"/>
                </a:solidFill>
              </a:rPr>
              <a:t>_()</a:t>
            </a:r>
          </a:p>
          <a:p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25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Signaux et slots en Python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196752"/>
            <a:ext cx="8928992" cy="4525963"/>
          </a:xfrm>
        </p:spPr>
        <p:txBody>
          <a:bodyPr>
            <a:normAutofit/>
          </a:bodyPr>
          <a:lstStyle/>
          <a:p>
            <a:r>
              <a:rPr lang="fr-FR" sz="2000" dirty="0" smtClean="0"/>
              <a:t>Mécanisme utilisé dans QT pour assurer </a:t>
            </a:r>
            <a:r>
              <a:rPr lang="fr-FR" sz="2000" dirty="0"/>
              <a:t>la communication entre les objets</a:t>
            </a:r>
            <a:r>
              <a:rPr lang="fr-FR" sz="2000" dirty="0" smtClean="0"/>
              <a:t>.</a:t>
            </a:r>
          </a:p>
          <a:p>
            <a:pPr marL="457200" lvl="1" indent="0">
              <a:buNone/>
            </a:pPr>
            <a:r>
              <a:rPr lang="fr-FR" sz="1600" dirty="0"/>
              <a:t> </a:t>
            </a:r>
            <a:r>
              <a:rPr lang="fr-FR" sz="1600" dirty="0" smtClean="0">
                <a:sym typeface="Wingdings" panose="05000000000000000000" pitchFamily="2" charset="2"/>
              </a:rPr>
              <a:t> Module </a:t>
            </a:r>
            <a:r>
              <a:rPr lang="fr-FR" sz="2400" dirty="0" err="1" smtClean="0"/>
              <a:t>QTCore</a:t>
            </a:r>
            <a:endParaRPr lang="fr-FR" sz="2400" dirty="0" smtClean="0"/>
          </a:p>
          <a:p>
            <a:r>
              <a:rPr lang="fr-FR" sz="2000" dirty="0">
                <a:solidFill>
                  <a:srgbClr val="FFFF00"/>
                </a:solidFill>
              </a:rPr>
              <a:t>Un </a:t>
            </a:r>
            <a:r>
              <a:rPr lang="fr-FR" sz="2000" dirty="0" smtClean="0">
                <a:solidFill>
                  <a:srgbClr val="FFFF00"/>
                </a:solidFill>
              </a:rPr>
              <a:t>signal </a:t>
            </a:r>
            <a:r>
              <a:rPr lang="fr-FR" sz="2000" dirty="0" smtClean="0"/>
              <a:t>: </a:t>
            </a:r>
            <a:r>
              <a:rPr lang="fr-FR" sz="2000" dirty="0"/>
              <a:t>c'est un message envoyé par un widget lorsqu'un évènement se </a:t>
            </a:r>
            <a:r>
              <a:rPr lang="fr-FR" sz="2000" dirty="0" smtClean="0"/>
              <a:t>produit. Exemple </a:t>
            </a:r>
            <a:r>
              <a:rPr lang="fr-FR" sz="2000" dirty="0"/>
              <a:t>: on a cliqué sur un bouton. </a:t>
            </a:r>
          </a:p>
          <a:p>
            <a:r>
              <a:rPr lang="fr-FR" sz="2000" dirty="0" smtClean="0">
                <a:solidFill>
                  <a:srgbClr val="FFFF00"/>
                </a:solidFill>
              </a:rPr>
              <a:t>Un slot </a:t>
            </a:r>
            <a:r>
              <a:rPr lang="fr-FR" sz="2000" dirty="0" smtClean="0"/>
              <a:t>:  </a:t>
            </a:r>
            <a:r>
              <a:rPr lang="fr-FR" sz="2000" dirty="0"/>
              <a:t>c'est la fonction qui est appelée lorsqu'un évènement s'est produit. On dit que le signal appelle le slot. </a:t>
            </a:r>
            <a:r>
              <a:rPr lang="fr-FR" sz="2000" dirty="0" smtClean="0"/>
              <a:t>Concrètement</a:t>
            </a:r>
            <a:r>
              <a:rPr lang="fr-FR" sz="2000" dirty="0"/>
              <a:t>, un </a:t>
            </a:r>
            <a:r>
              <a:rPr lang="fr-FR" sz="2000" dirty="0" smtClean="0"/>
              <a:t>slot est </a:t>
            </a:r>
            <a:r>
              <a:rPr lang="fr-FR" sz="2000" dirty="0"/>
              <a:t>une méthode d'une </a:t>
            </a:r>
            <a:r>
              <a:rPr lang="fr-FR" sz="2000" dirty="0" smtClean="0"/>
              <a:t>classe.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382628" y="5805264"/>
            <a:ext cx="8280920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 smtClean="0">
                <a:solidFill>
                  <a:schemeClr val="tx1"/>
                </a:solidFill>
              </a:rPr>
              <a:t>PyQt5.QtCore.QObject.connect(</a:t>
            </a:r>
            <a:r>
              <a:rPr lang="fr-FR" dirty="0" err="1" smtClean="0">
                <a:solidFill>
                  <a:schemeClr val="tx1"/>
                </a:solidFill>
              </a:rPr>
              <a:t>emeteur</a:t>
            </a:r>
            <a:r>
              <a:rPr lang="fr-FR" dirty="0">
                <a:solidFill>
                  <a:schemeClr val="tx1"/>
                </a:solidFill>
              </a:rPr>
              <a:t>, SIGNAL(), </a:t>
            </a:r>
            <a:r>
              <a:rPr lang="fr-FR" dirty="0" err="1">
                <a:solidFill>
                  <a:schemeClr val="tx1"/>
                </a:solidFill>
              </a:rPr>
              <a:t>recepteur</a:t>
            </a:r>
            <a:r>
              <a:rPr lang="fr-FR" dirty="0">
                <a:solidFill>
                  <a:schemeClr val="tx1"/>
                </a:solidFill>
              </a:rPr>
              <a:t>, SLOT())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284984"/>
            <a:ext cx="4071508" cy="233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01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Signaux et slots en Python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5008" y="1164586"/>
            <a:ext cx="8928992" cy="4525963"/>
          </a:xfrm>
        </p:spPr>
        <p:txBody>
          <a:bodyPr>
            <a:normAutofit/>
          </a:bodyPr>
          <a:lstStyle/>
          <a:p>
            <a:r>
              <a:rPr lang="fr-FR" sz="2000" dirty="0" smtClean="0"/>
              <a:t>Mécanisme utilisé dans QT pour assurer </a:t>
            </a:r>
            <a:r>
              <a:rPr lang="fr-FR" sz="2000" dirty="0"/>
              <a:t>la communication entre les objets</a:t>
            </a:r>
            <a:r>
              <a:rPr lang="fr-FR" sz="2000" dirty="0" smtClean="0"/>
              <a:t>.</a:t>
            </a:r>
          </a:p>
          <a:p>
            <a:r>
              <a:rPr lang="fr-FR" sz="2000" dirty="0">
                <a:solidFill>
                  <a:srgbClr val="FFFF00"/>
                </a:solidFill>
              </a:rPr>
              <a:t>Un </a:t>
            </a:r>
            <a:r>
              <a:rPr lang="fr-FR" sz="2000" dirty="0" smtClean="0">
                <a:solidFill>
                  <a:srgbClr val="FFFF00"/>
                </a:solidFill>
              </a:rPr>
              <a:t>signal </a:t>
            </a:r>
            <a:r>
              <a:rPr lang="fr-FR" sz="2000" dirty="0" smtClean="0"/>
              <a:t>: </a:t>
            </a:r>
            <a:r>
              <a:rPr lang="fr-FR" sz="2000" dirty="0"/>
              <a:t>c'est un message envoyé par un widget lorsqu'un évènement se </a:t>
            </a:r>
            <a:r>
              <a:rPr lang="fr-FR" sz="2000" dirty="0" smtClean="0"/>
              <a:t>produit. Exemple </a:t>
            </a:r>
            <a:r>
              <a:rPr lang="fr-FR" sz="2000" dirty="0"/>
              <a:t>: on a cliqué sur un bouton. </a:t>
            </a:r>
          </a:p>
          <a:p>
            <a:r>
              <a:rPr lang="fr-FR" sz="2000" dirty="0" smtClean="0">
                <a:solidFill>
                  <a:srgbClr val="FFFF00"/>
                </a:solidFill>
              </a:rPr>
              <a:t>Un slot </a:t>
            </a:r>
            <a:r>
              <a:rPr lang="fr-FR" sz="2000" dirty="0" smtClean="0"/>
              <a:t>:  </a:t>
            </a:r>
            <a:r>
              <a:rPr lang="fr-FR" sz="2000" dirty="0"/>
              <a:t>c'est la fonction qui est appelée lorsqu'un évènement s'est produit. On dit que le signal appelle le slot. </a:t>
            </a:r>
            <a:r>
              <a:rPr lang="fr-FR" sz="2000" dirty="0" smtClean="0"/>
              <a:t>Concrètement</a:t>
            </a:r>
            <a:r>
              <a:rPr lang="fr-FR" sz="2000" dirty="0"/>
              <a:t>, un </a:t>
            </a:r>
            <a:r>
              <a:rPr lang="fr-FR" sz="2000" dirty="0" smtClean="0"/>
              <a:t>slot est </a:t>
            </a:r>
            <a:r>
              <a:rPr lang="fr-FR" sz="2000" dirty="0"/>
              <a:t>une méthode d'une </a:t>
            </a:r>
            <a:r>
              <a:rPr lang="fr-FR" sz="2000" dirty="0" smtClean="0"/>
              <a:t>classe.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3284984"/>
            <a:ext cx="2232248" cy="2366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849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Signaux et slots en Python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323528" y="1196753"/>
            <a:ext cx="8229600" cy="47681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Principe : </a:t>
            </a:r>
          </a:p>
          <a:p>
            <a:r>
              <a:rPr lang="fr-FR" sz="2400" dirty="0" smtClean="0"/>
              <a:t>La connexion : la méthode </a:t>
            </a:r>
            <a:r>
              <a:rPr lang="fr-FR" sz="2400" dirty="0" err="1" smtClean="0">
                <a:solidFill>
                  <a:srgbClr val="FFFF00"/>
                </a:solidFill>
              </a:rPr>
              <a:t>connect</a:t>
            </a:r>
            <a:r>
              <a:rPr lang="fr-FR" sz="2400" dirty="0" smtClean="0"/>
              <a:t>() de l’objet </a:t>
            </a:r>
            <a:r>
              <a:rPr lang="fr-FR" sz="2400" dirty="0" err="1" smtClean="0"/>
              <a:t>QObject</a:t>
            </a:r>
            <a:endParaRPr lang="fr-FR" sz="2400" dirty="0" smtClean="0"/>
          </a:p>
          <a:p>
            <a:pPr marL="0" indent="0">
              <a:buNone/>
            </a:pPr>
            <a:r>
              <a:rPr lang="fr-FR" sz="2400" dirty="0" smtClean="0"/>
              <a:t>Syntaxe :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r>
              <a:rPr lang="fr-FR" sz="2400" dirty="0" smtClean="0"/>
              <a:t>Elle </a:t>
            </a:r>
            <a:r>
              <a:rPr lang="fr-FR" sz="2400" dirty="0"/>
              <a:t>prend  4 arguments :</a:t>
            </a:r>
          </a:p>
          <a:p>
            <a:pPr>
              <a:buFont typeface="+mj-lt"/>
              <a:buAutoNum type="arabicPeriod"/>
            </a:pPr>
            <a:r>
              <a:rPr lang="fr-FR" sz="1800" dirty="0" smtClean="0"/>
              <a:t>l'objet </a:t>
            </a:r>
            <a:r>
              <a:rPr lang="fr-FR" sz="1800" dirty="0"/>
              <a:t>qui émet le signal. </a:t>
            </a:r>
          </a:p>
          <a:p>
            <a:pPr>
              <a:buFont typeface="+mj-lt"/>
              <a:buAutoNum type="arabicPeriod"/>
            </a:pPr>
            <a:r>
              <a:rPr lang="fr-FR" sz="1800" dirty="0" smtClean="0"/>
              <a:t>Le </a:t>
            </a:r>
            <a:r>
              <a:rPr lang="fr-FR" sz="1800" dirty="0"/>
              <a:t>nom du signal que l'on veut "intercepter". </a:t>
            </a:r>
            <a:endParaRPr lang="fr-FR" sz="1800" dirty="0" smtClean="0"/>
          </a:p>
          <a:p>
            <a:pPr>
              <a:buFont typeface="+mj-lt"/>
              <a:buAutoNum type="arabicPeriod"/>
            </a:pPr>
            <a:r>
              <a:rPr lang="fr-FR" sz="1800" dirty="0" smtClean="0"/>
              <a:t>L’objet </a:t>
            </a:r>
            <a:r>
              <a:rPr lang="fr-FR" sz="1800" dirty="0"/>
              <a:t>qui contient le slot récepteur. </a:t>
            </a:r>
          </a:p>
          <a:p>
            <a:pPr>
              <a:buFont typeface="+mj-lt"/>
              <a:buAutoNum type="arabicPeriod"/>
            </a:pPr>
            <a:r>
              <a:rPr lang="fr-FR" sz="1800" dirty="0" smtClean="0"/>
              <a:t>Le </a:t>
            </a:r>
            <a:r>
              <a:rPr lang="fr-FR" sz="1800" dirty="0"/>
              <a:t>nom du slot qui doit s'exécuter lorsque </a:t>
            </a:r>
            <a:endParaRPr lang="fr-FR" sz="1800" dirty="0" smtClean="0"/>
          </a:p>
          <a:p>
            <a:pPr marL="0" indent="0">
              <a:buNone/>
            </a:pPr>
            <a:r>
              <a:rPr lang="fr-FR" sz="1800" dirty="0"/>
              <a:t> </a:t>
            </a:r>
            <a:r>
              <a:rPr lang="fr-FR" sz="1800" dirty="0" smtClean="0"/>
              <a:t>     le </a:t>
            </a:r>
            <a:r>
              <a:rPr lang="fr-FR" sz="1800" dirty="0"/>
              <a:t>signal se </a:t>
            </a:r>
            <a:r>
              <a:rPr lang="fr-FR" sz="1800" dirty="0" smtClean="0"/>
              <a:t>produit</a:t>
            </a:r>
            <a:endParaRPr lang="fr-FR" sz="1800" dirty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 smtClean="0"/>
          </a:p>
        </p:txBody>
      </p:sp>
      <p:sp>
        <p:nvSpPr>
          <p:cNvPr id="8" name="ZoneTexte 7"/>
          <p:cNvSpPr txBox="1"/>
          <p:nvPr/>
        </p:nvSpPr>
        <p:spPr>
          <a:xfrm>
            <a:off x="536164" y="2600908"/>
            <a:ext cx="8280920" cy="4680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sz="2000" dirty="0" err="1" smtClean="0">
                <a:solidFill>
                  <a:schemeClr val="tx1"/>
                </a:solidFill>
              </a:rPr>
              <a:t>sender.signalName.connect</a:t>
            </a:r>
            <a:r>
              <a:rPr lang="en-US" sz="2000" dirty="0" smtClean="0">
                <a:solidFill>
                  <a:schemeClr val="tx1"/>
                </a:solidFill>
              </a:rPr>
              <a:t>(</a:t>
            </a:r>
            <a:r>
              <a:rPr lang="en-US" sz="2000" dirty="0" err="1" smtClean="0">
                <a:solidFill>
                  <a:schemeClr val="tx1"/>
                </a:solidFill>
              </a:rPr>
              <a:t>receiver.slotName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fr-FR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</p:txBody>
      </p:sp>
      <p:grpSp>
        <p:nvGrpSpPr>
          <p:cNvPr id="6" name="Groupe 5"/>
          <p:cNvGrpSpPr/>
          <p:nvPr/>
        </p:nvGrpSpPr>
        <p:grpSpPr>
          <a:xfrm>
            <a:off x="4976976" y="3557364"/>
            <a:ext cx="4131528" cy="2247900"/>
            <a:chOff x="4976976" y="3557364"/>
            <a:chExt cx="4131528" cy="2247900"/>
          </a:xfrm>
        </p:grpSpPr>
        <p:grpSp>
          <p:nvGrpSpPr>
            <p:cNvPr id="12" name="Groupe 11"/>
            <p:cNvGrpSpPr/>
            <p:nvPr/>
          </p:nvGrpSpPr>
          <p:grpSpPr>
            <a:xfrm>
              <a:off x="4976976" y="3557364"/>
              <a:ext cx="4131528" cy="2247900"/>
              <a:chOff x="4860032" y="3356992"/>
              <a:chExt cx="4131528" cy="2247900"/>
            </a:xfrm>
          </p:grpSpPr>
          <p:pic>
            <p:nvPicPr>
              <p:cNvPr id="9" name="Picture 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60032" y="3356992"/>
                <a:ext cx="4104456" cy="2247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91360" y="3356992"/>
                <a:ext cx="1600200" cy="742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" name="Picture 4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60032" y="3356992"/>
                <a:ext cx="1323975" cy="276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" name="ZoneTexte 2"/>
            <p:cNvSpPr txBox="1"/>
            <p:nvPr/>
          </p:nvSpPr>
          <p:spPr>
            <a:xfrm>
              <a:off x="7740352" y="4993431"/>
              <a:ext cx="864096" cy="30777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fr-FR" sz="1400" dirty="0" smtClean="0"/>
                <a:t>Close()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28031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Signaux et slots en Python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Exemples : 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dirty="0" smtClean="0"/>
              <a:t>Fermer la fenêtre en cliquant sur un bouton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dirty="0" smtClean="0"/>
              <a:t>Afficher ‘Hello’ en cliquant sur un bouton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/>
              <a:t>IHM avec </a:t>
            </a:r>
            <a:r>
              <a:rPr lang="fr-FR" dirty="0" err="1"/>
              <a:t>PyQt</a:t>
            </a:r>
            <a:endParaRPr lang="fr-FR" dirty="0"/>
          </a:p>
          <a:p>
            <a:endParaRPr lang="en-US" dirty="0"/>
          </a:p>
        </p:txBody>
      </p:sp>
      <p:sp>
        <p:nvSpPr>
          <p:cNvPr id="7" name="Espace réservé du contenu 2"/>
          <p:cNvSpPr txBox="1">
            <a:spLocks/>
          </p:cNvSpPr>
          <p:nvPr/>
        </p:nvSpPr>
        <p:spPr>
          <a:xfrm>
            <a:off x="323528" y="2463572"/>
            <a:ext cx="8712968" cy="31683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smtClean="0"/>
              <a:t>PyQt5.QtWidgets </a:t>
            </a:r>
            <a:r>
              <a:rPr lang="fr-FR" dirty="0"/>
              <a:t>import * </a:t>
            </a:r>
            <a:endParaRPr lang="fr-FR" dirty="0" smtClean="0"/>
          </a:p>
          <a:p>
            <a:r>
              <a:rPr lang="fr-FR" dirty="0" err="1" smtClean="0">
                <a:solidFill>
                  <a:srgbClr val="FF0000"/>
                </a:solidFill>
              </a:rPr>
              <a:t>from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 smtClean="0">
                <a:solidFill>
                  <a:srgbClr val="FF0000"/>
                </a:solidFill>
              </a:rPr>
              <a:t>PyQt5.QtCore </a:t>
            </a:r>
            <a:r>
              <a:rPr lang="fr-FR" dirty="0">
                <a:solidFill>
                  <a:srgbClr val="FF0000"/>
                </a:solidFill>
              </a:rPr>
              <a:t>import *</a:t>
            </a:r>
          </a:p>
          <a:p>
            <a:r>
              <a:rPr lang="fr-FR" dirty="0">
                <a:solidFill>
                  <a:schemeClr val="tx1"/>
                </a:solidFill>
              </a:rPr>
              <a:t>import </a:t>
            </a:r>
            <a:r>
              <a:rPr lang="fr-FR" dirty="0" err="1">
                <a:solidFill>
                  <a:schemeClr val="tx1"/>
                </a:solidFill>
              </a:rPr>
              <a:t>sys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class </a:t>
            </a:r>
            <a:r>
              <a:rPr lang="en-US" dirty="0" err="1">
                <a:solidFill>
                  <a:schemeClr val="tx1"/>
                </a:solidFill>
              </a:rPr>
              <a:t>MyForm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QMainWindow</a:t>
            </a:r>
            <a:r>
              <a:rPr lang="en-US" dirty="0">
                <a:solidFill>
                  <a:schemeClr val="tx1"/>
                </a:solidFill>
              </a:rPr>
              <a:t>):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def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__(self, parent=None):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QMainWindow</a:t>
            </a:r>
            <a:r>
              <a:rPr lang="en-US" dirty="0">
                <a:solidFill>
                  <a:schemeClr val="tx1"/>
                </a:solidFill>
              </a:rPr>
              <a:t>.__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</a:t>
            </a:r>
            <a:r>
              <a:rPr lang="en-US" dirty="0" err="1">
                <a:solidFill>
                  <a:schemeClr val="tx1"/>
                </a:solidFill>
              </a:rPr>
              <a:t>self,parent</a:t>
            </a:r>
            <a:r>
              <a:rPr lang="en-US" dirty="0">
                <a:solidFill>
                  <a:schemeClr val="tx1"/>
                </a:solidFill>
              </a:rPr>
              <a:t>)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self.the_button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QPushButton</a:t>
            </a:r>
            <a:r>
              <a:rPr lang="en-US" dirty="0">
                <a:solidFill>
                  <a:schemeClr val="tx1"/>
                </a:solidFill>
              </a:rPr>
              <a:t>(‘</a:t>
            </a:r>
            <a:r>
              <a:rPr lang="en-US" dirty="0" smtClean="0">
                <a:solidFill>
                  <a:schemeClr val="tx1"/>
                </a:solidFill>
              </a:rPr>
              <a:t>Close‘, self)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</a:t>
            </a:r>
            <a:r>
              <a:rPr lang="en-US" dirty="0" err="1" smtClean="0">
                <a:solidFill>
                  <a:srgbClr val="FF0000"/>
                </a:solidFill>
              </a:rPr>
              <a:t>self.the_button</a:t>
            </a:r>
            <a:r>
              <a:rPr lang="en-US" dirty="0" err="1" smtClean="0">
                <a:solidFill>
                  <a:srgbClr val="FF0000"/>
                </a:solidFill>
              </a:rPr>
              <a:t>.</a:t>
            </a:r>
            <a:r>
              <a:rPr lang="en-US" dirty="0" err="1" smtClean="0">
                <a:solidFill>
                  <a:srgbClr val="FF0000"/>
                </a:solidFill>
              </a:rPr>
              <a:t>clicked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 err="1" smtClean="0">
                <a:solidFill>
                  <a:srgbClr val="FF0000"/>
                </a:solidFill>
              </a:rPr>
              <a:t>self.close</a:t>
            </a:r>
            <a:r>
              <a:rPr lang="en-US" dirty="0" smtClean="0">
                <a:solidFill>
                  <a:srgbClr val="FF0000"/>
                </a:solidFill>
              </a:rPr>
              <a:t>) 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self.setCentralWidget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the_button</a:t>
            </a:r>
            <a:r>
              <a:rPr lang="en-US" dirty="0">
                <a:solidFill>
                  <a:schemeClr val="tx1"/>
                </a:solidFill>
              </a:rPr>
              <a:t>) 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>
          <a:xfrm>
            <a:off x="321980" y="2462416"/>
            <a:ext cx="8712968" cy="31683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smtClean="0"/>
              <a:t>PyQt5.QtWidgets </a:t>
            </a:r>
            <a:r>
              <a:rPr lang="fr-FR" dirty="0"/>
              <a:t>import * </a:t>
            </a:r>
            <a:endParaRPr lang="fr-FR" dirty="0" smtClean="0"/>
          </a:p>
          <a:p>
            <a:r>
              <a:rPr lang="fr-FR" dirty="0" err="1" smtClean="0">
                <a:solidFill>
                  <a:srgbClr val="FF0000"/>
                </a:solidFill>
              </a:rPr>
              <a:t>from</a:t>
            </a:r>
            <a:r>
              <a:rPr lang="fr-FR" dirty="0" smtClean="0">
                <a:solidFill>
                  <a:srgbClr val="FF0000"/>
                </a:solidFill>
              </a:rPr>
              <a:t> PyQt5.QtCore </a:t>
            </a:r>
            <a:r>
              <a:rPr lang="fr-FR" dirty="0">
                <a:solidFill>
                  <a:srgbClr val="FF0000"/>
                </a:solidFill>
              </a:rPr>
              <a:t>import *</a:t>
            </a:r>
          </a:p>
          <a:p>
            <a:r>
              <a:rPr lang="fr-FR" dirty="0">
                <a:solidFill>
                  <a:schemeClr val="tx1"/>
                </a:solidFill>
              </a:rPr>
              <a:t>import </a:t>
            </a:r>
            <a:r>
              <a:rPr lang="fr-FR" dirty="0" err="1">
                <a:solidFill>
                  <a:schemeClr val="tx1"/>
                </a:solidFill>
              </a:rPr>
              <a:t>sys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class </a:t>
            </a:r>
            <a:r>
              <a:rPr lang="en-US" dirty="0" err="1">
                <a:solidFill>
                  <a:schemeClr val="tx1"/>
                </a:solidFill>
              </a:rPr>
              <a:t>MyForm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QMainWindow</a:t>
            </a:r>
            <a:r>
              <a:rPr lang="en-US" dirty="0">
                <a:solidFill>
                  <a:schemeClr val="tx1"/>
                </a:solidFill>
              </a:rPr>
              <a:t>):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def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__(self, parent=None):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   super().__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 smtClean="0">
                <a:solidFill>
                  <a:schemeClr val="tx1"/>
                </a:solidFill>
              </a:rPr>
              <a:t>__(parent</a:t>
            </a:r>
            <a:r>
              <a:rPr lang="en-US" dirty="0">
                <a:solidFill>
                  <a:schemeClr val="tx1"/>
                </a:solidFill>
              </a:rPr>
              <a:t>)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   </a:t>
            </a:r>
            <a:r>
              <a:rPr lang="en-US" dirty="0" err="1" smtClean="0">
                <a:solidFill>
                  <a:schemeClr val="tx1"/>
                </a:solidFill>
              </a:rPr>
              <a:t>self.the_button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QPushButton</a:t>
            </a:r>
            <a:r>
              <a:rPr lang="en-US" dirty="0" smtClean="0">
                <a:solidFill>
                  <a:schemeClr val="tx1"/>
                </a:solidFill>
              </a:rPr>
              <a:t>(‘Hello‘, self) </a:t>
            </a: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    </a:t>
            </a:r>
            <a:r>
              <a:rPr lang="en-US" dirty="0" err="1" smtClean="0">
                <a:solidFill>
                  <a:srgbClr val="FF0000"/>
                </a:solidFill>
              </a:rPr>
              <a:t>self.the_button.clicked.connect</a:t>
            </a:r>
            <a:r>
              <a:rPr lang="en-US" dirty="0" smtClean="0">
                <a:solidFill>
                  <a:srgbClr val="FF0000"/>
                </a:solidFill>
              </a:rPr>
              <a:t>(self.do</a:t>
            </a:r>
            <a:r>
              <a:rPr lang="en-US" dirty="0">
                <a:solidFill>
                  <a:srgbClr val="FF0000"/>
                </a:solidFill>
              </a:rPr>
              <a:t>)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   </a:t>
            </a:r>
            <a:r>
              <a:rPr lang="en-US" dirty="0" err="1" smtClean="0">
                <a:solidFill>
                  <a:schemeClr val="tx1"/>
                </a:solidFill>
              </a:rPr>
              <a:t>self.setCentralWidget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the_button</a:t>
            </a:r>
            <a:r>
              <a:rPr lang="en-US" dirty="0">
                <a:solidFill>
                  <a:schemeClr val="tx1"/>
                </a:solidFill>
              </a:rPr>
              <a:t>)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</a:t>
            </a:r>
            <a:r>
              <a:rPr lang="fr-FR" dirty="0" err="1" smtClean="0">
                <a:solidFill>
                  <a:schemeClr val="tx1"/>
                </a:solidFill>
              </a:rPr>
              <a:t>def</a:t>
            </a:r>
            <a:r>
              <a:rPr lang="fr-FR" dirty="0" smtClean="0">
                <a:solidFill>
                  <a:schemeClr val="tx1"/>
                </a:solidFill>
              </a:rPr>
              <a:t> do(self):</a:t>
            </a:r>
          </a:p>
          <a:p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    </a:t>
            </a:r>
            <a:r>
              <a:rPr lang="fr-FR" dirty="0" err="1" smtClean="0">
                <a:solidFill>
                  <a:schemeClr val="tx1"/>
                </a:solidFill>
              </a:rPr>
              <a:t>print</a:t>
            </a:r>
            <a:r>
              <a:rPr lang="fr-FR" dirty="0" smtClean="0">
                <a:solidFill>
                  <a:schemeClr val="tx1"/>
                </a:solidFill>
              </a:rPr>
              <a:t>(‘Hello’)</a:t>
            </a: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060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Signaux et slots en Python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323528" y="1196753"/>
            <a:ext cx="8229600" cy="47681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 smtClean="0"/>
              <a:t>Remarques </a:t>
            </a:r>
          </a:p>
          <a:p>
            <a:r>
              <a:rPr lang="fr-FR" sz="2400" dirty="0" smtClean="0"/>
              <a:t>Un signal peut se connecter à plusieurs slots. </a:t>
            </a:r>
          </a:p>
          <a:p>
            <a:pPr marL="0" indent="182563">
              <a:buNone/>
            </a:pPr>
            <a:r>
              <a:rPr lang="fr-FR" sz="2400" dirty="0" smtClean="0"/>
              <a:t> </a:t>
            </a:r>
            <a:r>
              <a:rPr lang="fr-FR" sz="2400" dirty="0" smtClean="0">
                <a:sym typeface="Wingdings" panose="05000000000000000000" pitchFamily="2" charset="2"/>
              </a:rPr>
              <a:t> Les slots connectés sont activés dans un ordre arbitraire</a:t>
            </a:r>
            <a:r>
              <a:rPr lang="fr-FR" sz="2400" dirty="0" smtClean="0"/>
              <a:t>. </a:t>
            </a:r>
          </a:p>
          <a:p>
            <a:r>
              <a:rPr lang="fr-FR" sz="2400" dirty="0" smtClean="0"/>
              <a:t>Un signal/slot peut avoir des arguments.</a:t>
            </a:r>
          </a:p>
          <a:p>
            <a:pPr lvl="1"/>
            <a:r>
              <a:rPr lang="fr-FR" sz="2000" dirty="0" smtClean="0"/>
              <a:t>Pour connecter un signal à un slot, le slot (méthode) doit avoir au moins les même arguments (nombre)</a:t>
            </a:r>
          </a:p>
          <a:p>
            <a:pPr lvl="1"/>
            <a:r>
              <a:rPr lang="fr-FR" sz="2000" dirty="0" smtClean="0"/>
              <a:t>Si le signal connecté à un slot a plus de paramètres que ce slot, les paramètres supplémentaires seront ignorés </a:t>
            </a:r>
          </a:p>
          <a:p>
            <a:r>
              <a:rPr lang="fr-FR" sz="2400" dirty="0" smtClean="0"/>
              <a:t>Les </a:t>
            </a:r>
            <a:r>
              <a:rPr lang="fr-FR" sz="2400" dirty="0"/>
              <a:t>arguments </a:t>
            </a:r>
            <a:r>
              <a:rPr lang="fr-FR" sz="2400" dirty="0" smtClean="0"/>
              <a:t>entre </a:t>
            </a:r>
            <a:r>
              <a:rPr lang="fr-FR" sz="2400" dirty="0"/>
              <a:t>signal et slot </a:t>
            </a:r>
            <a:r>
              <a:rPr lang="fr-FR" sz="2400" dirty="0" smtClean="0"/>
              <a:t>connectés doivent </a:t>
            </a:r>
            <a:r>
              <a:rPr lang="fr-FR" sz="2400" dirty="0"/>
              <a:t>avoir les même types. </a:t>
            </a:r>
            <a:endParaRPr lang="fr-FR" sz="2000" dirty="0" smtClean="0"/>
          </a:p>
          <a:p>
            <a:r>
              <a:rPr lang="fr-FR" sz="2400" dirty="0"/>
              <a:t>Un signal peut se connecter à un autre signal. </a:t>
            </a:r>
          </a:p>
          <a:p>
            <a:pPr marL="0" indent="0">
              <a:buNone/>
            </a:pPr>
            <a:r>
              <a:rPr lang="fr-FR" sz="2400" dirty="0" smtClean="0"/>
              <a:t>Exemple : </a:t>
            </a:r>
          </a:p>
          <a:p>
            <a:pPr marL="0" indent="0">
              <a:buNone/>
            </a:pPr>
            <a:r>
              <a:rPr lang="fr-FR" sz="2000" dirty="0" smtClean="0"/>
              <a:t>On ne peut connecter directement le signal </a:t>
            </a:r>
            <a:r>
              <a:rPr lang="fr-FR" sz="2000" dirty="0" err="1" smtClean="0"/>
              <a:t>valueChanged</a:t>
            </a:r>
            <a:r>
              <a:rPr lang="fr-FR" sz="2000" dirty="0" smtClean="0"/>
              <a:t>(</a:t>
            </a:r>
            <a:r>
              <a:rPr lang="fr-FR" sz="2000" dirty="0" err="1" smtClean="0">
                <a:solidFill>
                  <a:srgbClr val="FF0000"/>
                </a:solidFill>
              </a:rPr>
              <a:t>int</a:t>
            </a:r>
            <a:r>
              <a:rPr lang="fr-FR" sz="2000" dirty="0" smtClean="0"/>
              <a:t>) du widget </a:t>
            </a:r>
            <a:r>
              <a:rPr lang="fr-FR" sz="2000" dirty="0" err="1" smtClean="0"/>
              <a:t>Qdial</a:t>
            </a:r>
            <a:r>
              <a:rPr lang="fr-FR" sz="2000" dirty="0" smtClean="0"/>
              <a:t> au slot </a:t>
            </a:r>
            <a:r>
              <a:rPr lang="fr-FR" sz="2000" dirty="0" err="1" smtClean="0"/>
              <a:t>setText</a:t>
            </a:r>
            <a:r>
              <a:rPr lang="fr-FR" sz="2000" dirty="0" smtClean="0"/>
              <a:t>(</a:t>
            </a:r>
            <a:r>
              <a:rPr lang="fr-FR" sz="2000" dirty="0" err="1" smtClean="0">
                <a:solidFill>
                  <a:srgbClr val="FF0000"/>
                </a:solidFill>
              </a:rPr>
              <a:t>QString</a:t>
            </a:r>
            <a:r>
              <a:rPr lang="fr-FR" sz="2000" dirty="0" smtClean="0"/>
              <a:t>) du widget </a:t>
            </a:r>
            <a:r>
              <a:rPr lang="fr-FR" sz="2000" dirty="0" err="1" smtClean="0"/>
              <a:t>QLineEdit</a:t>
            </a:r>
            <a:r>
              <a:rPr lang="fr-FR" sz="2000" dirty="0" smtClean="0"/>
              <a:t>. </a:t>
            </a:r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</p:txBody>
      </p:sp>
    </p:spTree>
    <p:extLst>
      <p:ext uri="{BB962C8B-B14F-4D97-AF65-F5344CB8AC3E}">
        <p14:creationId xmlns:p14="http://schemas.microsoft.com/office/powerpoint/2010/main" val="377421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Signaux et slots en Python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323528" y="1196753"/>
            <a:ext cx="8229600" cy="47681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Exemple :</a:t>
            </a:r>
            <a:endParaRPr lang="fr-FR" sz="2400" dirty="0" smtClean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 smtClean="0"/>
          </a:p>
        </p:txBody>
      </p:sp>
      <p:sp>
        <p:nvSpPr>
          <p:cNvPr id="13" name="Espace réservé du contenu 2"/>
          <p:cNvSpPr txBox="1">
            <a:spLocks/>
          </p:cNvSpPr>
          <p:nvPr/>
        </p:nvSpPr>
        <p:spPr>
          <a:xfrm>
            <a:off x="536164" y="1916832"/>
            <a:ext cx="6003616" cy="41044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from PyQt5 </a:t>
            </a:r>
            <a:r>
              <a:rPr lang="en-US" dirty="0">
                <a:solidFill>
                  <a:schemeClr val="tx1"/>
                </a:solidFill>
              </a:rPr>
              <a:t>import </a:t>
            </a:r>
            <a:r>
              <a:rPr lang="en-US" dirty="0" err="1" smtClean="0">
                <a:solidFill>
                  <a:schemeClr val="tx1"/>
                </a:solidFill>
              </a:rPr>
              <a:t>QtWidgets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QtCore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fr-FR" dirty="0">
                <a:solidFill>
                  <a:schemeClr val="tx1"/>
                </a:solidFill>
              </a:rPr>
              <a:t>import </a:t>
            </a:r>
            <a:r>
              <a:rPr lang="fr-FR" dirty="0" err="1">
                <a:solidFill>
                  <a:schemeClr val="tx1"/>
                </a:solidFill>
              </a:rPr>
              <a:t>sys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r>
              <a:rPr lang="fr-FR" dirty="0">
                <a:solidFill>
                  <a:schemeClr val="tx1"/>
                </a:solidFill>
              </a:rPr>
              <a:t>class </a:t>
            </a:r>
            <a:r>
              <a:rPr lang="fr-FR" dirty="0" smtClean="0">
                <a:solidFill>
                  <a:schemeClr val="tx1"/>
                </a:solidFill>
              </a:rPr>
              <a:t>Composant(</a:t>
            </a:r>
            <a:r>
              <a:rPr lang="fr-FR" dirty="0" err="1" smtClean="0">
                <a:solidFill>
                  <a:schemeClr val="tx1"/>
                </a:solidFill>
              </a:rPr>
              <a:t>QtWidgets.QWidget</a:t>
            </a:r>
            <a:r>
              <a:rPr lang="fr-FR" dirty="0">
                <a:solidFill>
                  <a:schemeClr val="tx1"/>
                </a:solidFill>
              </a:rPr>
              <a:t>): </a:t>
            </a:r>
          </a:p>
          <a:p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def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__</a:t>
            </a:r>
            <a:r>
              <a:rPr lang="fr-FR" dirty="0" err="1">
                <a:solidFill>
                  <a:schemeClr val="tx1"/>
                </a:solidFill>
              </a:rPr>
              <a:t>init</a:t>
            </a:r>
            <a:r>
              <a:rPr lang="fr-FR" dirty="0">
                <a:solidFill>
                  <a:schemeClr val="tx1"/>
                </a:solidFill>
              </a:rPr>
              <a:t>__(</a:t>
            </a:r>
            <a:r>
              <a:rPr lang="fr-FR" dirty="0" err="1">
                <a:solidFill>
                  <a:schemeClr val="tx1"/>
                </a:solidFill>
              </a:rPr>
              <a:t>self,parent</a:t>
            </a:r>
            <a:r>
              <a:rPr lang="fr-FR" dirty="0">
                <a:solidFill>
                  <a:schemeClr val="tx1"/>
                </a:solidFill>
              </a:rPr>
              <a:t>=None): </a:t>
            </a:r>
          </a:p>
          <a:p>
            <a:pPr marL="857250" lvl="2" indent="0">
              <a:buNone/>
            </a:pPr>
            <a:r>
              <a:rPr lang="fr-FR" sz="1100" dirty="0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Super().__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init</a:t>
            </a:r>
            <a:r>
              <a:rPr lang="fr-FR" sz="1100" dirty="0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__(parent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self.setWindowTitle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('Simple‘)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self.setGeometry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(300,300,250,150)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self.Line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QtGui.QLineEdit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 ',self)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self.ComboBox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QtGui.QComboBox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self.ComboBox.addItem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('Item1')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self.ComboBox.addItem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('Item2')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QtGui.QGridLayout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self.grid.addWidget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(self.Line,0,0)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self.grid.addWidget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(self.ComboBox,0,1)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self.setLayout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 </a:t>
            </a:r>
          </a:p>
          <a:p>
            <a:pPr marL="857250" lvl="2" indent="0">
              <a:buNone/>
            </a:pPr>
            <a:r>
              <a:rPr lang="fr-FR" sz="1100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self.ComboBox.currentIndexChanged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['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QString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'].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connect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self.lineEdit.setText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348880"/>
            <a:ext cx="27051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llipse 2"/>
          <p:cNvSpPr/>
          <p:nvPr/>
        </p:nvSpPr>
        <p:spPr>
          <a:xfrm>
            <a:off x="3203848" y="5392236"/>
            <a:ext cx="3600400" cy="43204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Signal et slot échange un ‘</a:t>
            </a:r>
            <a:r>
              <a:rPr lang="fr-FR" dirty="0" err="1" smtClean="0"/>
              <a:t>Qstring</a:t>
            </a:r>
            <a:r>
              <a:rPr lang="fr-FR" dirty="0" smtClean="0"/>
              <a:t>’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2350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Définition</a:t>
            </a:r>
            <a:r>
              <a:rPr lang="en-US" dirty="0" smtClean="0"/>
              <a:t> </a:t>
            </a:r>
            <a:r>
              <a:rPr lang="en-US" dirty="0" smtClean="0"/>
              <a:t>un nouveau signal/slot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41010" y="1196752"/>
            <a:ext cx="870299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smtClean="0"/>
              <a:t>Signal</a:t>
            </a:r>
          </a:p>
          <a:p>
            <a:r>
              <a:rPr lang="fr-FR" sz="2400" dirty="0" err="1" smtClean="0"/>
              <a:t>Utilisantion</a:t>
            </a:r>
            <a:r>
              <a:rPr lang="fr-FR" sz="2400" dirty="0" smtClean="0"/>
              <a:t> de la méthode </a:t>
            </a:r>
            <a:r>
              <a:rPr lang="fr-FR" sz="2400" dirty="0" err="1" smtClean="0">
                <a:solidFill>
                  <a:srgbClr val="FFFF00"/>
                </a:solidFill>
              </a:rPr>
              <a:t>pyqtsignal</a:t>
            </a:r>
            <a:r>
              <a:rPr lang="fr-FR" sz="2400" dirty="0" smtClean="0">
                <a:solidFill>
                  <a:srgbClr val="FFFF00"/>
                </a:solidFill>
              </a:rPr>
              <a:t>() </a:t>
            </a:r>
            <a:r>
              <a:rPr lang="fr-FR" sz="2400" dirty="0" smtClean="0"/>
              <a:t>avec la liste des types de paramètres</a:t>
            </a:r>
          </a:p>
          <a:p>
            <a:r>
              <a:rPr lang="fr-FR" sz="2400" dirty="0" smtClean="0"/>
              <a:t>Emission manuelle d’un signal est réalisée par la </a:t>
            </a:r>
            <a:r>
              <a:rPr lang="fr-FR" sz="2400" dirty="0" smtClean="0"/>
              <a:t>méthode </a:t>
            </a:r>
            <a:r>
              <a:rPr lang="fr-FR" sz="2400" dirty="0" err="1" smtClean="0">
                <a:solidFill>
                  <a:srgbClr val="FFFF00"/>
                </a:solidFill>
              </a:rPr>
              <a:t>emit</a:t>
            </a:r>
            <a:r>
              <a:rPr lang="fr-FR" sz="2400" dirty="0" smtClean="0">
                <a:solidFill>
                  <a:srgbClr val="FFFF00"/>
                </a:solidFill>
              </a:rPr>
              <a:t>()</a:t>
            </a:r>
          </a:p>
          <a:p>
            <a:pPr marL="0" indent="0">
              <a:buNone/>
            </a:pPr>
            <a:r>
              <a:rPr lang="fr-FR" sz="2400" dirty="0" smtClean="0"/>
              <a:t>Exemple :</a:t>
            </a:r>
          </a:p>
          <a:p>
            <a:endParaRPr lang="fr-FR" dirty="0" smtClean="0"/>
          </a:p>
          <a:p>
            <a:endParaRPr lang="fr-FR" sz="2400" dirty="0" smtClean="0"/>
          </a:p>
          <a:p>
            <a:r>
              <a:rPr lang="fr-FR" sz="2400" dirty="0" smtClean="0"/>
              <a:t>Le </a:t>
            </a:r>
            <a:r>
              <a:rPr lang="fr-FR" sz="2400" dirty="0"/>
              <a:t>signal </a:t>
            </a:r>
            <a:r>
              <a:rPr lang="fr-FR" sz="2400" dirty="0" smtClean="0"/>
              <a:t>créé </a:t>
            </a:r>
            <a:r>
              <a:rPr lang="fr-FR" sz="2400" dirty="0"/>
              <a:t>se connecte à un slot avec </a:t>
            </a:r>
            <a:r>
              <a:rPr lang="fr-FR" sz="2400" dirty="0" smtClean="0"/>
              <a:t>la même </a:t>
            </a:r>
            <a:r>
              <a:rPr lang="fr-FR" sz="2400" dirty="0"/>
              <a:t>liste de </a:t>
            </a:r>
            <a:r>
              <a:rPr lang="fr-FR" sz="2400" dirty="0" smtClean="0"/>
              <a:t>types de paramètres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/>
              <a:t>IHM avec </a:t>
            </a:r>
            <a:r>
              <a:rPr lang="fr-FR" dirty="0" err="1"/>
              <a:t>PyQt</a:t>
            </a:r>
            <a:endParaRPr lang="fr-FR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921416" y="3212976"/>
            <a:ext cx="6003616" cy="11521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from </a:t>
            </a:r>
            <a:r>
              <a:rPr lang="en-US" dirty="0" smtClean="0">
                <a:solidFill>
                  <a:schemeClr val="tx1"/>
                </a:solidFill>
              </a:rPr>
              <a:t>PyQt5 </a:t>
            </a:r>
            <a:r>
              <a:rPr lang="en-US" dirty="0" smtClean="0">
                <a:solidFill>
                  <a:schemeClr val="tx1"/>
                </a:solidFill>
              </a:rPr>
              <a:t>import </a:t>
            </a:r>
            <a:r>
              <a:rPr lang="en-US" dirty="0" err="1" smtClean="0">
                <a:solidFill>
                  <a:schemeClr val="tx1"/>
                </a:solidFill>
              </a:rPr>
              <a:t>QtCore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fr-FR" dirty="0" smtClean="0">
              <a:solidFill>
                <a:schemeClr val="tx1"/>
              </a:solidFill>
            </a:endParaRPr>
          </a:p>
          <a:p>
            <a:r>
              <a:rPr lang="fr-FR" dirty="0" err="1" smtClean="0">
                <a:solidFill>
                  <a:schemeClr val="tx1"/>
                </a:solidFill>
              </a:rPr>
              <a:t>mysignal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= </a:t>
            </a:r>
            <a:r>
              <a:rPr lang="fr-FR" dirty="0" err="1" smtClean="0">
                <a:solidFill>
                  <a:schemeClr val="tx1"/>
                </a:solidFill>
              </a:rPr>
              <a:t>QtCore.pyqtSignal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list</a:t>
            </a:r>
            <a:r>
              <a:rPr lang="fr-FR" dirty="0" smtClean="0">
                <a:solidFill>
                  <a:schemeClr val="tx1"/>
                </a:solidFill>
              </a:rPr>
              <a:t>, </a:t>
            </a:r>
            <a:r>
              <a:rPr lang="fr-FR" dirty="0" err="1" smtClean="0">
                <a:solidFill>
                  <a:schemeClr val="tx1"/>
                </a:solidFill>
              </a:rPr>
              <a:t>int</a:t>
            </a:r>
            <a:r>
              <a:rPr lang="fr-FR" dirty="0" smtClean="0">
                <a:solidFill>
                  <a:schemeClr val="tx1"/>
                </a:solidFill>
              </a:rPr>
              <a:t>)</a:t>
            </a:r>
          </a:p>
          <a:p>
            <a:r>
              <a:rPr lang="fr-FR" dirty="0" err="1" smtClean="0">
                <a:solidFill>
                  <a:schemeClr val="tx1"/>
                </a:solidFill>
              </a:rPr>
              <a:t>mysignal.emit</a:t>
            </a:r>
            <a:r>
              <a:rPr lang="fr-FR" dirty="0" smtClean="0">
                <a:solidFill>
                  <a:schemeClr val="tx1"/>
                </a:solidFill>
              </a:rPr>
              <a:t>([1,2,3,6],3)</a:t>
            </a:r>
          </a:p>
          <a:p>
            <a:r>
              <a:rPr lang="fr-FR" dirty="0" smtClean="0">
                <a:solidFill>
                  <a:srgbClr val="C00000"/>
                </a:solidFill>
              </a:rPr>
              <a:t># </a:t>
            </a:r>
            <a:r>
              <a:rPr lang="fr-FR" dirty="0" err="1" smtClean="0">
                <a:solidFill>
                  <a:srgbClr val="C00000"/>
                </a:solidFill>
              </a:rPr>
              <a:t>mysignal.emit</a:t>
            </a:r>
            <a:r>
              <a:rPr lang="fr-FR" dirty="0">
                <a:solidFill>
                  <a:srgbClr val="C00000"/>
                </a:solidFill>
              </a:rPr>
              <a:t>([1,2,3,6</a:t>
            </a:r>
            <a:r>
              <a:rPr lang="fr-FR" dirty="0" smtClean="0">
                <a:solidFill>
                  <a:srgbClr val="C00000"/>
                </a:solidFill>
              </a:rPr>
              <a:t>], ’3</a:t>
            </a:r>
            <a:r>
              <a:rPr lang="fr-FR" dirty="0" smtClean="0">
                <a:solidFill>
                  <a:srgbClr val="C00000"/>
                </a:solidFill>
              </a:rPr>
              <a:t>’) </a:t>
            </a:r>
            <a:r>
              <a:rPr lang="fr-FR" dirty="0" smtClean="0">
                <a:solidFill>
                  <a:srgbClr val="C00000"/>
                </a:solidFill>
                <a:sym typeface="Wingdings" panose="05000000000000000000" pitchFamily="2" charset="2"/>
              </a:rPr>
              <a:t> </a:t>
            </a:r>
            <a:r>
              <a:rPr lang="fr-FR" dirty="0" err="1">
                <a:solidFill>
                  <a:srgbClr val="C00000"/>
                </a:solidFill>
              </a:rPr>
              <a:t>error</a:t>
            </a:r>
            <a:r>
              <a:rPr lang="fr-FR" dirty="0">
                <a:solidFill>
                  <a:srgbClr val="C00000"/>
                </a:solidFill>
              </a:rPr>
              <a:t>  </a:t>
            </a:r>
            <a:r>
              <a:rPr lang="fr-FR" dirty="0" smtClean="0">
                <a:solidFill>
                  <a:srgbClr val="C00000"/>
                </a:solidFill>
              </a:rPr>
              <a:t>!!</a:t>
            </a:r>
            <a:endParaRPr lang="fr-FR" dirty="0">
              <a:solidFill>
                <a:srgbClr val="C00000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Espace réservé du contenu 2"/>
          <p:cNvSpPr txBox="1">
            <a:spLocks/>
          </p:cNvSpPr>
          <p:nvPr/>
        </p:nvSpPr>
        <p:spPr>
          <a:xfrm>
            <a:off x="2014756" y="5157192"/>
            <a:ext cx="6003616" cy="4320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pPr algn="ctr"/>
            <a:r>
              <a:rPr lang="fr-FR" dirty="0" err="1">
                <a:solidFill>
                  <a:srgbClr val="C00000"/>
                </a:solidFill>
              </a:rPr>
              <a:t>c</a:t>
            </a:r>
            <a:r>
              <a:rPr lang="fr-FR" dirty="0" err="1" smtClean="0">
                <a:solidFill>
                  <a:srgbClr val="C00000"/>
                </a:solidFill>
              </a:rPr>
              <a:t>onnect</a:t>
            </a:r>
            <a:r>
              <a:rPr lang="fr-FR" dirty="0" smtClean="0">
                <a:solidFill>
                  <a:srgbClr val="C00000"/>
                </a:solidFill>
              </a:rPr>
              <a:t>(</a:t>
            </a:r>
            <a:r>
              <a:rPr lang="fr-FR" dirty="0" err="1" smtClean="0">
                <a:solidFill>
                  <a:srgbClr val="C00000"/>
                </a:solidFill>
              </a:rPr>
              <a:t>emetteur</a:t>
            </a:r>
            <a:r>
              <a:rPr lang="fr-FR" dirty="0" smtClean="0">
                <a:solidFill>
                  <a:srgbClr val="C00000"/>
                </a:solidFill>
              </a:rPr>
              <a:t>, SIGNAL(‘</a:t>
            </a:r>
            <a:r>
              <a:rPr lang="fr-FR" dirty="0">
                <a:solidFill>
                  <a:srgbClr val="C00000"/>
                </a:solidFill>
              </a:rPr>
              <a:t>‘</a:t>
            </a:r>
            <a:r>
              <a:rPr lang="fr-FR" dirty="0" err="1" smtClean="0">
                <a:solidFill>
                  <a:srgbClr val="C00000"/>
                </a:solidFill>
              </a:rPr>
              <a:t>mysignal</a:t>
            </a:r>
            <a:r>
              <a:rPr lang="fr-FR" dirty="0" smtClean="0">
                <a:solidFill>
                  <a:srgbClr val="C00000"/>
                </a:solidFill>
              </a:rPr>
              <a:t>(</a:t>
            </a:r>
            <a:r>
              <a:rPr lang="fr-FR" dirty="0" err="1" smtClean="0">
                <a:solidFill>
                  <a:srgbClr val="C00000"/>
                </a:solidFill>
              </a:rPr>
              <a:t>list,int</a:t>
            </a:r>
            <a:r>
              <a:rPr lang="fr-FR" dirty="0" smtClean="0">
                <a:solidFill>
                  <a:srgbClr val="C00000"/>
                </a:solidFill>
              </a:rPr>
              <a:t>)″), </a:t>
            </a:r>
            <a:r>
              <a:rPr lang="fr-FR" dirty="0" err="1" smtClean="0">
                <a:solidFill>
                  <a:srgbClr val="C00000"/>
                </a:solidFill>
              </a:rPr>
              <a:t>methode</a:t>
            </a:r>
            <a:r>
              <a:rPr lang="fr-FR" dirty="0" smtClean="0">
                <a:solidFill>
                  <a:srgbClr val="C00000"/>
                </a:solidFill>
              </a:rPr>
              <a:t>)</a:t>
            </a:r>
            <a:endParaRPr lang="fr-FR" dirty="0">
              <a:solidFill>
                <a:srgbClr val="C00000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64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Exemple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IHM avec </a:t>
            </a:r>
            <a:r>
              <a:rPr lang="en-US" dirty="0" err="1" smtClean="0"/>
              <a:t>PyQt</a:t>
            </a:r>
            <a:endParaRPr lang="en-US" dirty="0"/>
          </a:p>
        </p:txBody>
      </p:sp>
      <p:grpSp>
        <p:nvGrpSpPr>
          <p:cNvPr id="9" name="Groupe 8"/>
          <p:cNvGrpSpPr/>
          <p:nvPr/>
        </p:nvGrpSpPr>
        <p:grpSpPr>
          <a:xfrm>
            <a:off x="5940152" y="695843"/>
            <a:ext cx="3019425" cy="3864625"/>
            <a:chOff x="6053137" y="836712"/>
            <a:chExt cx="3019425" cy="386462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1713" y="836712"/>
              <a:ext cx="2962275" cy="847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3137" y="2132856"/>
              <a:ext cx="3019425" cy="990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7" name="Connecteur droit avec flèche 6"/>
            <p:cNvCxnSpPr>
              <a:stCxn id="1026" idx="2"/>
              <a:endCxn id="1027" idx="0"/>
            </p:cNvCxnSpPr>
            <p:nvPr/>
          </p:nvCxnSpPr>
          <p:spPr>
            <a:xfrm flipH="1">
              <a:off x="7562850" y="1684437"/>
              <a:ext cx="1" cy="448419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ZoneTexte 7"/>
            <p:cNvSpPr txBox="1"/>
            <p:nvPr/>
          </p:nvSpPr>
          <p:spPr>
            <a:xfrm>
              <a:off x="6156176" y="3501008"/>
              <a:ext cx="288781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>
                  <a:solidFill>
                    <a:schemeClr val="bg1"/>
                  </a:solidFill>
                </a:rPr>
                <a:t>Préciser la valeur val de </a:t>
              </a:r>
              <a:r>
                <a:rPr lang="fr-FR" dirty="0" err="1" smtClean="0">
                  <a:solidFill>
                    <a:schemeClr val="bg1"/>
                  </a:solidFill>
                </a:rPr>
                <a:t>SpinBox</a:t>
              </a:r>
              <a:r>
                <a:rPr lang="fr-FR" dirty="0" smtClean="0">
                  <a:solidFill>
                    <a:schemeClr val="bg1"/>
                  </a:solidFill>
                </a:rPr>
                <a:t>, cliquer sur le ok, la liste (range(val)) est envoyée et affichée sur </a:t>
              </a:r>
              <a:r>
                <a:rPr lang="fr-FR" dirty="0" err="1" smtClean="0">
                  <a:solidFill>
                    <a:schemeClr val="bg1"/>
                  </a:solidFill>
                </a:rPr>
                <a:t>QlineEdit</a:t>
              </a:r>
              <a:endParaRPr lang="fr-FR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Espace réservé du contenu 2"/>
          <p:cNvSpPr txBox="1">
            <a:spLocks/>
          </p:cNvSpPr>
          <p:nvPr/>
        </p:nvSpPr>
        <p:spPr>
          <a:xfrm>
            <a:off x="107504" y="1196752"/>
            <a:ext cx="5616624" cy="3705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</a:rPr>
              <a:t>import sys</a:t>
            </a:r>
          </a:p>
          <a:p>
            <a:r>
              <a:rPr lang="en-US" sz="2000" dirty="0">
                <a:solidFill>
                  <a:schemeClr val="tx1"/>
                </a:solidFill>
              </a:rPr>
              <a:t>from PyQt5 import </a:t>
            </a:r>
            <a:r>
              <a:rPr lang="en-US" sz="2000" dirty="0" err="1">
                <a:solidFill>
                  <a:schemeClr val="tx1"/>
                </a:solidFill>
              </a:rPr>
              <a:t>QtWidgets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 err="1">
                <a:solidFill>
                  <a:schemeClr val="tx1"/>
                </a:solidFill>
              </a:rPr>
              <a:t>QtCore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rgbClr val="0070C0"/>
                </a:solidFill>
              </a:rPr>
              <a:t>class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MyWidget</a:t>
            </a: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 err="1">
                <a:solidFill>
                  <a:schemeClr val="tx1"/>
                </a:solidFill>
              </a:rPr>
              <a:t>QtWidgets.QWidget</a:t>
            </a:r>
            <a:r>
              <a:rPr lang="en-US" sz="2000" dirty="0">
                <a:solidFill>
                  <a:schemeClr val="tx1"/>
                </a:solidFill>
              </a:rPr>
              <a:t>):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</a:t>
            </a:r>
            <a:r>
              <a:rPr lang="en-US" sz="2000" dirty="0" err="1" smtClean="0">
                <a:solidFill>
                  <a:srgbClr val="FF0000"/>
                </a:solidFill>
              </a:rPr>
              <a:t>mysignal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= </a:t>
            </a:r>
            <a:r>
              <a:rPr lang="en-US" sz="2000" dirty="0" err="1">
                <a:solidFill>
                  <a:srgbClr val="FF0000"/>
                </a:solidFill>
              </a:rPr>
              <a:t>QtCore.pyqtSignal</a:t>
            </a:r>
            <a:r>
              <a:rPr lang="en-US" sz="2000" dirty="0">
                <a:solidFill>
                  <a:srgbClr val="FF0000"/>
                </a:solidFill>
              </a:rPr>
              <a:t>(list)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</a:t>
            </a:r>
            <a:r>
              <a:rPr lang="en-US" sz="2000" b="1" dirty="0" err="1" smtClean="0">
                <a:solidFill>
                  <a:schemeClr val="tx2"/>
                </a:solidFill>
              </a:rPr>
              <a:t>def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__</a:t>
            </a:r>
            <a:r>
              <a:rPr lang="en-US" sz="2000" dirty="0" err="1">
                <a:solidFill>
                  <a:schemeClr val="tx1"/>
                </a:solidFill>
              </a:rPr>
              <a:t>init</a:t>
            </a:r>
            <a:r>
              <a:rPr lang="en-US" sz="2000" dirty="0">
                <a:solidFill>
                  <a:schemeClr val="tx1"/>
                </a:solidFill>
              </a:rPr>
              <a:t>__(self, parent=None):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smtClean="0">
                <a:solidFill>
                  <a:schemeClr val="tx1"/>
                </a:solidFill>
              </a:rPr>
              <a:t>super</a:t>
            </a:r>
            <a:r>
              <a:rPr lang="en-US" sz="2000" dirty="0">
                <a:solidFill>
                  <a:schemeClr val="tx1"/>
                </a:solidFill>
              </a:rPr>
              <a:t>().__</a:t>
            </a:r>
            <a:r>
              <a:rPr lang="en-US" sz="2000" dirty="0" err="1">
                <a:solidFill>
                  <a:schemeClr val="tx1"/>
                </a:solidFill>
              </a:rPr>
              <a:t>init</a:t>
            </a:r>
            <a:r>
              <a:rPr lang="en-US" sz="2000" dirty="0">
                <a:solidFill>
                  <a:schemeClr val="tx1"/>
                </a:solidFill>
              </a:rPr>
              <a:t>__(parent)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 smtClean="0">
                <a:solidFill>
                  <a:schemeClr val="tx1"/>
                </a:solidFill>
              </a:rPr>
              <a:t>self.button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= </a:t>
            </a:r>
            <a:r>
              <a:rPr lang="en-US" sz="2000" dirty="0" err="1">
                <a:solidFill>
                  <a:schemeClr val="tx1"/>
                </a:solidFill>
              </a:rPr>
              <a:t>QtWidgets.QPushButton</a:t>
            </a:r>
            <a:r>
              <a:rPr lang="en-US" sz="2000" dirty="0">
                <a:solidFill>
                  <a:schemeClr val="tx1"/>
                </a:solidFill>
              </a:rPr>
              <a:t>("OK", self)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 smtClean="0">
                <a:solidFill>
                  <a:schemeClr val="tx1"/>
                </a:solidFill>
              </a:rPr>
              <a:t>self.text</a:t>
            </a:r>
            <a:r>
              <a:rPr lang="en-US" sz="2000" dirty="0" smtClean="0">
                <a:solidFill>
                  <a:schemeClr val="tx1"/>
                </a:solidFill>
              </a:rPr>
              <a:t>=</a:t>
            </a:r>
            <a:r>
              <a:rPr lang="en-US" sz="2000" dirty="0" err="1" smtClean="0">
                <a:solidFill>
                  <a:schemeClr val="tx1"/>
                </a:solidFill>
              </a:rPr>
              <a:t>QtWidgets.QLineEdit</a:t>
            </a:r>
            <a:r>
              <a:rPr lang="en-US" sz="2000" dirty="0" smtClean="0">
                <a:solidFill>
                  <a:schemeClr val="tx1"/>
                </a:solidFill>
              </a:rPr>
              <a:t>(self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 smtClean="0">
                <a:solidFill>
                  <a:schemeClr val="tx1"/>
                </a:solidFill>
              </a:rPr>
              <a:t>self.spin</a:t>
            </a:r>
            <a:r>
              <a:rPr lang="en-US" sz="2000" dirty="0" smtClean="0">
                <a:solidFill>
                  <a:schemeClr val="tx1"/>
                </a:solidFill>
              </a:rPr>
              <a:t>=</a:t>
            </a:r>
            <a:r>
              <a:rPr lang="en-US" sz="2000" dirty="0" err="1" smtClean="0">
                <a:solidFill>
                  <a:schemeClr val="tx1"/>
                </a:solidFill>
              </a:rPr>
              <a:t>QtWidgets.QSpinBox</a:t>
            </a:r>
            <a:r>
              <a:rPr lang="en-US" sz="2000" dirty="0" smtClean="0">
                <a:solidFill>
                  <a:schemeClr val="tx1"/>
                </a:solidFill>
              </a:rPr>
              <a:t>(self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 smtClean="0">
                <a:solidFill>
                  <a:schemeClr val="tx1"/>
                </a:solidFill>
              </a:rPr>
              <a:t>self.grid</a:t>
            </a:r>
            <a:r>
              <a:rPr lang="en-US" sz="2000" dirty="0" smtClean="0">
                <a:solidFill>
                  <a:schemeClr val="tx1"/>
                </a:solidFill>
              </a:rPr>
              <a:t>=</a:t>
            </a:r>
            <a:r>
              <a:rPr lang="en-US" sz="2000" dirty="0" err="1" smtClean="0">
                <a:solidFill>
                  <a:schemeClr val="tx1"/>
                </a:solidFill>
              </a:rPr>
              <a:t>QtWidgets.QGridLayout</a:t>
            </a:r>
            <a:r>
              <a:rPr lang="en-US" sz="2000" dirty="0">
                <a:solidFill>
                  <a:schemeClr val="tx1"/>
                </a:solidFill>
              </a:rPr>
              <a:t>()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 smtClean="0">
                <a:solidFill>
                  <a:schemeClr val="tx1"/>
                </a:solidFill>
              </a:rPr>
              <a:t>self.grid.addWidget</a:t>
            </a:r>
            <a:r>
              <a:rPr lang="en-US" sz="2000" dirty="0" smtClean="0">
                <a:solidFill>
                  <a:schemeClr val="tx1"/>
                </a:solidFill>
              </a:rPr>
              <a:t>(self.button,0,1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 smtClean="0">
                <a:solidFill>
                  <a:schemeClr val="tx1"/>
                </a:solidFill>
              </a:rPr>
              <a:t>self.grid.addWidget</a:t>
            </a:r>
            <a:r>
              <a:rPr lang="en-US" sz="2000" dirty="0" smtClean="0">
                <a:solidFill>
                  <a:schemeClr val="tx1"/>
                </a:solidFill>
              </a:rPr>
              <a:t>(self.spin,0,0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 smtClean="0">
                <a:solidFill>
                  <a:schemeClr val="tx1"/>
                </a:solidFill>
              </a:rPr>
              <a:t>self.grid.addWidget</a:t>
            </a:r>
            <a:r>
              <a:rPr lang="en-US" sz="2000" dirty="0" smtClean="0">
                <a:solidFill>
                  <a:schemeClr val="tx1"/>
                </a:solidFill>
              </a:rPr>
              <a:t>(self.text,0,2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 smtClean="0">
                <a:solidFill>
                  <a:schemeClr val="tx1"/>
                </a:solidFill>
              </a:rPr>
              <a:t>self.setLayout</a:t>
            </a:r>
            <a:r>
              <a:rPr lang="en-US" sz="2000" dirty="0" smtClean="0">
                <a:solidFill>
                  <a:schemeClr val="tx1"/>
                </a:solidFill>
              </a:rPr>
              <a:t>(</a:t>
            </a:r>
            <a:r>
              <a:rPr lang="en-US" sz="2000" dirty="0" err="1" smtClean="0">
                <a:solidFill>
                  <a:schemeClr val="tx1"/>
                </a:solidFill>
              </a:rPr>
              <a:t>self.grid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 smtClean="0">
                <a:solidFill>
                  <a:schemeClr val="tx1"/>
                </a:solidFill>
              </a:rPr>
              <a:t>self.button.clicked.connect</a:t>
            </a:r>
            <a:r>
              <a:rPr lang="en-US" sz="2000" dirty="0" smtClean="0">
                <a:solidFill>
                  <a:schemeClr val="tx1"/>
                </a:solidFill>
              </a:rPr>
              <a:t>(</a:t>
            </a:r>
            <a:r>
              <a:rPr lang="en-US" sz="2000" dirty="0" err="1" smtClean="0">
                <a:solidFill>
                  <a:schemeClr val="tx1"/>
                </a:solidFill>
              </a:rPr>
              <a:t>self.OnClicked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 smtClean="0">
                <a:solidFill>
                  <a:srgbClr val="FF0000"/>
                </a:solidFill>
              </a:rPr>
              <a:t>self.mysignal.connect</a:t>
            </a:r>
            <a:r>
              <a:rPr lang="en-US" sz="2000" dirty="0" smtClean="0">
                <a:solidFill>
                  <a:srgbClr val="FF0000"/>
                </a:solidFill>
              </a:rPr>
              <a:t>(</a:t>
            </a:r>
            <a:r>
              <a:rPr lang="en-US" sz="2000" dirty="0" err="1" smtClean="0">
                <a:solidFill>
                  <a:srgbClr val="FF0000"/>
                </a:solidFill>
              </a:rPr>
              <a:t>self.OnPrint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  <a:endParaRPr lang="en-US" sz="2500" dirty="0">
              <a:solidFill>
                <a:srgbClr val="FF0000"/>
              </a:solidFill>
            </a:endParaRPr>
          </a:p>
        </p:txBody>
      </p:sp>
      <p:sp>
        <p:nvSpPr>
          <p:cNvPr id="13" name="Espace réservé du contenu 2"/>
          <p:cNvSpPr txBox="1">
            <a:spLocks/>
          </p:cNvSpPr>
          <p:nvPr/>
        </p:nvSpPr>
        <p:spPr>
          <a:xfrm>
            <a:off x="5076056" y="3049384"/>
            <a:ext cx="4392488" cy="2880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pPr marL="0" lvl="1" indent="0">
              <a:buNone/>
            </a:pPr>
            <a:r>
              <a:rPr lang="en-US" sz="1400" b="1" dirty="0" err="1">
                <a:solidFill>
                  <a:srgbClr val="0070C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def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OnClicked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(self):</a:t>
            </a:r>
          </a:p>
          <a:p>
            <a:pPr marL="266700" lvl="1" indent="-182563">
              <a:buNone/>
            </a:pP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</a:t>
            </a:r>
            <a:r>
              <a:rPr lang="en-US" sz="1400" dirty="0" err="1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val</a:t>
            </a:r>
            <a:r>
              <a:rPr lang="en-US" sz="1400" dirty="0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en-US" sz="1400" dirty="0" err="1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self.spin.value</a:t>
            </a:r>
            <a:r>
              <a:rPr lang="en-US" sz="1400" dirty="0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()</a:t>
            </a:r>
          </a:p>
          <a:p>
            <a:pPr marL="266700" lvl="1" indent="-182563">
              <a:buNone/>
            </a:pP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self.mysignal.emit</a:t>
            </a:r>
            <a:r>
              <a:rPr 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(list(range(</a:t>
            </a:r>
            <a:r>
              <a:rPr lang="en-US" sz="1400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val</a:t>
            </a:r>
            <a:r>
              <a:rPr 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)))</a:t>
            </a:r>
            <a:endParaRPr lang="en-US" sz="1400" dirty="0" smtClean="0">
              <a:solidFill>
                <a:schemeClr val="tx1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</a:t>
            </a:r>
          </a:p>
          <a:p>
            <a:r>
              <a:rPr lang="en-US" b="1" dirty="0" err="1">
                <a:solidFill>
                  <a:srgbClr val="0070C0"/>
                </a:solidFill>
              </a:rPr>
              <a:t>def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OnPrint</a:t>
            </a:r>
            <a:r>
              <a:rPr lang="en-US" dirty="0" smtClean="0">
                <a:solidFill>
                  <a:schemeClr val="tx1"/>
                </a:solidFill>
              </a:rPr>
              <a:t>(self, </a:t>
            </a:r>
            <a:r>
              <a:rPr lang="en-US" dirty="0" err="1" smtClean="0">
                <a:solidFill>
                  <a:schemeClr val="tx1"/>
                </a:solidFill>
              </a:rPr>
              <a:t>val</a:t>
            </a:r>
            <a:r>
              <a:rPr lang="en-US" dirty="0" smtClean="0">
                <a:solidFill>
                  <a:schemeClr val="tx1"/>
                </a:solidFill>
              </a:rPr>
              <a:t>):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smtClean="0">
                <a:solidFill>
                  <a:schemeClr val="tx1"/>
                </a:solidFill>
              </a:rPr>
              <a:t>s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smtClean="0">
                <a:solidFill>
                  <a:schemeClr val="tx1"/>
                </a:solidFill>
              </a:rPr>
              <a:t>''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  for </a:t>
            </a:r>
            <a:r>
              <a:rPr lang="en-US" dirty="0">
                <a:solidFill>
                  <a:schemeClr val="tx1"/>
                </a:solidFill>
              </a:rPr>
              <a:t>el in </a:t>
            </a:r>
            <a:r>
              <a:rPr lang="en-US" dirty="0" err="1">
                <a:solidFill>
                  <a:schemeClr val="tx1"/>
                </a:solidFill>
              </a:rPr>
              <a:t>val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  s</a:t>
            </a:r>
            <a:r>
              <a:rPr lang="en-US" dirty="0">
                <a:solidFill>
                  <a:schemeClr val="tx1"/>
                </a:solidFill>
              </a:rPr>
              <a:t>+=</a:t>
            </a:r>
            <a:r>
              <a:rPr lang="en-US" dirty="0" err="1">
                <a:solidFill>
                  <a:schemeClr val="tx1"/>
                </a:solidFill>
              </a:rPr>
              <a:t>str</a:t>
            </a:r>
            <a:r>
              <a:rPr lang="en-US" dirty="0">
                <a:solidFill>
                  <a:schemeClr val="tx1"/>
                </a:solidFill>
              </a:rPr>
              <a:t>(el)+' '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self.text.setText</a:t>
            </a:r>
            <a:r>
              <a:rPr lang="en-US" dirty="0" smtClean="0">
                <a:solidFill>
                  <a:schemeClr val="tx1"/>
                </a:solidFill>
              </a:rPr>
              <a:t>(s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60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5" descr="BottomLine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0384"/>
            <a:ext cx="9144000" cy="669726"/>
          </a:xfrm>
          <a:prstGeom prst="rect">
            <a:avLst/>
          </a:prstGeom>
        </p:spPr>
      </p:pic>
      <p:pic>
        <p:nvPicPr>
          <p:cNvPr id="34" name="Picture 16" descr="BottomLineD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40736"/>
            <a:ext cx="9144000" cy="44648"/>
          </a:xfrm>
          <a:prstGeom prst="rect">
            <a:avLst/>
          </a:prstGeom>
        </p:spPr>
      </p:pic>
      <p:pic>
        <p:nvPicPr>
          <p:cNvPr id="35" name="Picture 14" descr="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95" y="6317332"/>
            <a:ext cx="377791" cy="387005"/>
          </a:xfrm>
          <a:prstGeom prst="rect">
            <a:avLst/>
          </a:prstGeom>
        </p:spPr>
      </p:pic>
      <p:sp>
        <p:nvSpPr>
          <p:cNvPr id="36" name="TextBox 4"/>
          <p:cNvSpPr txBox="1"/>
          <p:nvPr/>
        </p:nvSpPr>
        <p:spPr>
          <a:xfrm>
            <a:off x="785786" y="6242442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37" name="TextBox 5"/>
          <p:cNvSpPr txBox="1"/>
          <p:nvPr/>
        </p:nvSpPr>
        <p:spPr>
          <a:xfrm>
            <a:off x="785786" y="6363293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785786" y="6542453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39" name="TextBox 9"/>
          <p:cNvSpPr txBox="1"/>
          <p:nvPr/>
        </p:nvSpPr>
        <p:spPr>
          <a:xfrm>
            <a:off x="2694634" y="6242442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40" name="TextBox 10"/>
          <p:cNvSpPr txBox="1"/>
          <p:nvPr/>
        </p:nvSpPr>
        <p:spPr>
          <a:xfrm>
            <a:off x="2694634" y="6363293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41" name="TextBox 11"/>
          <p:cNvSpPr txBox="1"/>
          <p:nvPr/>
        </p:nvSpPr>
        <p:spPr>
          <a:xfrm>
            <a:off x="7447108" y="6242442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42" name="TextBox 12"/>
          <p:cNvSpPr txBox="1"/>
          <p:nvPr/>
        </p:nvSpPr>
        <p:spPr>
          <a:xfrm>
            <a:off x="8781044" y="6392361"/>
            <a:ext cx="399468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7</a:t>
            </a:r>
            <a:endParaRPr lang="en-US" sz="1200" b="1" dirty="0">
              <a:latin typeface="TypoSlabserif-Light" pitchFamily="2" charset="0"/>
            </a:endParaRPr>
          </a:p>
        </p:txBody>
      </p:sp>
      <p:pic>
        <p:nvPicPr>
          <p:cNvPr id="43" name="Picture 18" descr="PrevArrow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200" y="6447512"/>
            <a:ext cx="213333" cy="213333"/>
          </a:xfrm>
          <a:prstGeom prst="rect">
            <a:avLst/>
          </a:prstGeom>
        </p:spPr>
      </p:pic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Création d’interface graphique (IHM)</a:t>
            </a:r>
          </a:p>
          <a:p>
            <a:pPr marL="914400" lvl="1" indent="-514350"/>
            <a:r>
              <a:rPr lang="fr-FR" dirty="0"/>
              <a:t>Généralités</a:t>
            </a:r>
          </a:p>
          <a:p>
            <a:pPr marL="914400" lvl="1" indent="-514350"/>
            <a:r>
              <a:rPr lang="fr-FR" dirty="0"/>
              <a:t>Composants graphiques de base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Présentation de QT</a:t>
            </a:r>
          </a:p>
          <a:p>
            <a:pPr lvl="1"/>
            <a:r>
              <a:rPr lang="fr-FR" dirty="0" smtClean="0"/>
              <a:t>Introduction</a:t>
            </a:r>
          </a:p>
          <a:p>
            <a:pPr lvl="1"/>
            <a:r>
              <a:rPr lang="fr-FR" dirty="0" smtClean="0"/>
              <a:t>Les principaux modules</a:t>
            </a:r>
          </a:p>
          <a:p>
            <a:pPr lvl="1"/>
            <a:r>
              <a:rPr lang="fr-FR" dirty="0" smtClean="0"/>
              <a:t>Documentation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modules de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widgets</a:t>
            </a:r>
          </a:p>
          <a:p>
            <a:pPr marL="857250" lvl="1" indent="-457200"/>
            <a:r>
              <a:rPr lang="fr-FR" dirty="0" smtClean="0"/>
              <a:t>Définition de classe graphique</a:t>
            </a:r>
          </a:p>
          <a:p>
            <a:pPr marL="857250" lvl="1" indent="-457200"/>
            <a:r>
              <a:rPr lang="fr-FR" dirty="0" smtClean="0"/>
              <a:t>Les fenêtres </a:t>
            </a:r>
          </a:p>
          <a:p>
            <a:pPr marL="857250" lvl="1" indent="-457200"/>
            <a:r>
              <a:rPr lang="fr-FR" dirty="0" smtClean="0"/>
              <a:t>Signaux et slots en Python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err="1" smtClean="0"/>
              <a:t>QTDesigner</a:t>
            </a:r>
            <a:endParaRPr lang="fr-FR" dirty="0" smtClean="0"/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8697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2251711" y="2036375"/>
            <a:ext cx="669202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spc="-400" dirty="0" smtClean="0">
                <a:solidFill>
                  <a:schemeClr val="bg1"/>
                </a:solidFill>
              </a:rPr>
              <a:t>A </a:t>
            </a:r>
            <a:r>
              <a:rPr lang="en-US" sz="8800" b="1" spc="-400" dirty="0" err="1" smtClean="0">
                <a:solidFill>
                  <a:schemeClr val="bg1"/>
                </a:solidFill>
              </a:rPr>
              <a:t>vous</a:t>
            </a:r>
            <a:r>
              <a:rPr lang="en-US" sz="8800" b="1" spc="-400" dirty="0" smtClean="0">
                <a:solidFill>
                  <a:schemeClr val="bg1"/>
                </a:solidFill>
              </a:rPr>
              <a:t> de </a:t>
            </a:r>
            <a:r>
              <a:rPr lang="en-US" sz="8800" b="1" spc="-400" dirty="0" err="1" smtClean="0">
                <a:solidFill>
                  <a:schemeClr val="bg1"/>
                </a:solidFill>
              </a:rPr>
              <a:t>jouer</a:t>
            </a:r>
            <a:endParaRPr lang="en-US" sz="8800" b="1" spc="-400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65980" y="3150871"/>
            <a:ext cx="216116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 err="1" smtClean="0">
                <a:solidFill>
                  <a:schemeClr val="bg1">
                    <a:lumMod val="75000"/>
                  </a:schemeClr>
                </a:solidFill>
                <a:latin typeface="TypoSlabserif-Light" pitchFamily="2" charset="0"/>
              </a:rPr>
              <a:t>Projet</a:t>
            </a:r>
            <a:r>
              <a:rPr lang="en-US" sz="2500" dirty="0" smtClean="0">
                <a:solidFill>
                  <a:schemeClr val="bg1">
                    <a:lumMod val="75000"/>
                  </a:schemeClr>
                </a:solidFill>
                <a:latin typeface="TypoSlabserif-Light" pitchFamily="2" charset="0"/>
              </a:rPr>
              <a:t> </a:t>
            </a:r>
            <a:r>
              <a:rPr lang="en-US" sz="2500" dirty="0" err="1" smtClean="0">
                <a:solidFill>
                  <a:schemeClr val="bg1">
                    <a:lumMod val="75000"/>
                  </a:schemeClr>
                </a:solidFill>
                <a:latin typeface="TypoSlabserif-Light" pitchFamily="2" charset="0"/>
              </a:rPr>
              <a:t>informatique</a:t>
            </a:r>
            <a:endParaRPr lang="en-US" sz="2500" dirty="0">
              <a:solidFill>
                <a:schemeClr val="bg1">
                  <a:lumMod val="75000"/>
                </a:schemeClr>
              </a:solidFill>
              <a:latin typeface="TypoSlabserif-Light" pitchFamily="2" charset="0"/>
            </a:endParaRPr>
          </a:p>
        </p:txBody>
      </p:sp>
      <p:pic>
        <p:nvPicPr>
          <p:cNvPr id="22" name="Picture 21" descr="MainTitle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06" y="1857364"/>
            <a:ext cx="1631405" cy="1804572"/>
          </a:xfrm>
          <a:prstGeom prst="rect">
            <a:avLst/>
          </a:prstGeom>
        </p:spPr>
      </p:pic>
      <p:pic>
        <p:nvPicPr>
          <p:cNvPr id="23" name="Picture 22" descr="MainTitleImageSha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76" y="3714752"/>
            <a:ext cx="1902349" cy="243428"/>
          </a:xfrm>
          <a:prstGeom prst="rect">
            <a:avLst/>
          </a:prstGeom>
        </p:spPr>
      </p:pic>
      <p:pic>
        <p:nvPicPr>
          <p:cNvPr id="24" name="Picture 23" descr="MainTitleShad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5006" y="3661936"/>
            <a:ext cx="6345466" cy="270476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709732" y="6330523"/>
            <a:ext cx="2133600" cy="365125"/>
          </a:xfrm>
        </p:spPr>
        <p:txBody>
          <a:bodyPr/>
          <a:lstStyle/>
          <a:p>
            <a:fld id="{BECFFF0D-0199-40F6-98A2-0B4E765CD128}" type="slidenum">
              <a:rPr lang="en-US" smtClean="0"/>
              <a:pPr/>
              <a:t>38</a:t>
            </a:fld>
            <a:endParaRPr 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theme/theme1.xml><?xml version="1.0" encoding="utf-8"?>
<a:theme xmlns:a="http://schemas.openxmlformats.org/drawingml/2006/main" name="DarkPowerpoint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3087</TotalTime>
  <Words>2949</Words>
  <Application>Microsoft Office PowerPoint</Application>
  <PresentationFormat>Affichage à l'écran (4:3)</PresentationFormat>
  <Paragraphs>694</Paragraphs>
  <Slides>38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39" baseType="lpstr">
      <vt:lpstr>DarkPowerpointTemplate</vt:lpstr>
      <vt:lpstr>Présentation PowerPoint</vt:lpstr>
      <vt:lpstr>Sommaire</vt:lpstr>
      <vt:lpstr>Généralités</vt:lpstr>
      <vt:lpstr>Généralités</vt:lpstr>
      <vt:lpstr>Composants graphiques de base</vt:lpstr>
      <vt:lpstr>Composants graphiques de base</vt:lpstr>
      <vt:lpstr>Composants graphiques de base</vt:lpstr>
      <vt:lpstr>Composants graphiques de base</vt:lpstr>
      <vt:lpstr>Composants graphiques de base</vt:lpstr>
      <vt:lpstr>Sommaire</vt:lpstr>
      <vt:lpstr>Introduction</vt:lpstr>
      <vt:lpstr>Les principaux modules</vt:lpstr>
      <vt:lpstr>La documentation</vt:lpstr>
      <vt:lpstr>Sommaire</vt:lpstr>
      <vt:lpstr>Modules de PyQt5</vt:lpstr>
      <vt:lpstr>Module : QtWidgets</vt:lpstr>
      <vt:lpstr>Module : QtWidgets</vt:lpstr>
      <vt:lpstr>Exemple 1 : widget simple</vt:lpstr>
      <vt:lpstr>Exemple 2 : création d’un bouton</vt:lpstr>
      <vt:lpstr> Agencement des widgets (layout)</vt:lpstr>
      <vt:lpstr>Définition d’une classe</vt:lpstr>
      <vt:lpstr>Remarques</vt:lpstr>
      <vt:lpstr>Sommaire</vt:lpstr>
      <vt:lpstr>Les fenêtres  </vt:lpstr>
      <vt:lpstr>Les fenêtres  </vt:lpstr>
      <vt:lpstr>Les fenêtres </vt:lpstr>
      <vt:lpstr>Sommaire</vt:lpstr>
      <vt:lpstr> Rappel :Structure d’un programme QT</vt:lpstr>
      <vt:lpstr>Signaux et slots en Python</vt:lpstr>
      <vt:lpstr>Signaux et slots en Python</vt:lpstr>
      <vt:lpstr>Signaux et slots en Python</vt:lpstr>
      <vt:lpstr>Signaux et slots en Python</vt:lpstr>
      <vt:lpstr>Signaux et slots en Python</vt:lpstr>
      <vt:lpstr>Signaux et slots en Python</vt:lpstr>
      <vt:lpstr>Définition un nouveau signal/slot</vt:lpstr>
      <vt:lpstr>Exemple</vt:lpstr>
      <vt:lpstr>Sommaire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ensta</dc:creator>
  <cp:lastModifiedBy>Malek</cp:lastModifiedBy>
  <cp:revision>209</cp:revision>
  <dcterms:created xsi:type="dcterms:W3CDTF">2016-03-15T18:06:02Z</dcterms:created>
  <dcterms:modified xsi:type="dcterms:W3CDTF">2018-03-14T10:25:43Z</dcterms:modified>
</cp:coreProperties>
</file>